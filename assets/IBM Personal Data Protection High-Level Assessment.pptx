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709" r:id="rId3"/>
  </p:sldMasterIdLst>
  <p:notesMasterIdLst>
    <p:notesMasterId r:id="rId37"/>
  </p:notesMasterIdLst>
  <p:sldIdLst>
    <p:sldId id="256" r:id="rId4"/>
    <p:sldId id="271" r:id="rId5"/>
    <p:sldId id="2142532839" r:id="rId6"/>
    <p:sldId id="532" r:id="rId7"/>
    <p:sldId id="291" r:id="rId8"/>
    <p:sldId id="2142532931" r:id="rId9"/>
    <p:sldId id="502" r:id="rId10"/>
    <p:sldId id="2142532947" r:id="rId11"/>
    <p:sldId id="2142532932" r:id="rId12"/>
    <p:sldId id="2142532933" r:id="rId13"/>
    <p:sldId id="2142532934" r:id="rId14"/>
    <p:sldId id="2142532937" r:id="rId15"/>
    <p:sldId id="2142532938" r:id="rId16"/>
    <p:sldId id="2147469924" r:id="rId17"/>
    <p:sldId id="2147469925" r:id="rId18"/>
    <p:sldId id="2142532939" r:id="rId19"/>
    <p:sldId id="2147469926" r:id="rId20"/>
    <p:sldId id="2147469927" r:id="rId21"/>
    <p:sldId id="2142532944" r:id="rId22"/>
    <p:sldId id="2142532945" r:id="rId23"/>
    <p:sldId id="2142532946" r:id="rId24"/>
    <p:sldId id="2147469920" r:id="rId25"/>
    <p:sldId id="2147469922" r:id="rId26"/>
    <p:sldId id="2147469929" r:id="rId27"/>
    <p:sldId id="2147469923" r:id="rId28"/>
    <p:sldId id="2147469928" r:id="rId29"/>
    <p:sldId id="2142532949" r:id="rId30"/>
    <p:sldId id="2142532922" r:id="rId31"/>
    <p:sldId id="2142532950" r:id="rId32"/>
    <p:sldId id="2142532951" r:id="rId33"/>
    <p:sldId id="297" r:id="rId34"/>
    <p:sldId id="2147469919" r:id="rId35"/>
    <p:sldId id="43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704"/>
  </p:normalViewPr>
  <p:slideViewPr>
    <p:cSldViewPr snapToGrid="0">
      <p:cViewPr>
        <p:scale>
          <a:sx n="82" d="100"/>
          <a:sy n="82" d="100"/>
        </p:scale>
        <p:origin x="1504"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06ED0-4DB2-DB41-A009-4C7E7FB2B856}" type="datetimeFigureOut">
              <a:rPr lang="en-US" smtClean="0"/>
              <a:t>9/22/25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105FD-CFD1-8D4C-BD84-7C145C7C42FD}" type="slidenum">
              <a:rPr lang="en-US" smtClean="0"/>
              <a:t>‹#›</a:t>
            </a:fld>
            <a:endParaRPr lang="en-US"/>
          </a:p>
        </p:txBody>
      </p:sp>
    </p:spTree>
    <p:extLst>
      <p:ext uri="{BB962C8B-B14F-4D97-AF65-F5344CB8AC3E}">
        <p14:creationId xmlns:p14="http://schemas.microsoft.com/office/powerpoint/2010/main" val="224650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BB0F-9D92-B2D4-4B70-4E28022AD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8860F-6DDD-11DB-409F-7CC1FF370737}"/>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1155F4DD-3F65-8AE9-C3BF-28859D47A4F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E123746-9668-2089-7CB3-2A29869185ED}"/>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BBBBBD16-240F-9E67-92B5-28B6AC26106F}"/>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mn-cs"/>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Tree>
    <p:extLst>
      <p:ext uri="{BB962C8B-B14F-4D97-AF65-F5344CB8AC3E}">
        <p14:creationId xmlns:p14="http://schemas.microsoft.com/office/powerpoint/2010/main" val="3605759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l" defTabSz="1829379" rtl="0" eaLnBrk="1" fontAlgn="auto" latinLnBrk="0" hangingPunct="1">
                <a:lnSpc>
                  <a:spcPct val="100000"/>
                </a:lnSpc>
                <a:spcBef>
                  <a:spcPts val="0"/>
                </a:spcBef>
                <a:spcAft>
                  <a:spcPts val="0"/>
                </a:spcAft>
                <a:buClrTx/>
                <a:buSzTx/>
                <a:buFontTx/>
                <a:buNone/>
                <a:tabLst/>
                <a:defRPr/>
              </a:pPr>
              <a:t>3</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2022 / © 2022 IBM Corporation</a:t>
            </a:r>
          </a:p>
        </p:txBody>
      </p:sp>
    </p:spTree>
    <p:extLst>
      <p:ext uri="{BB962C8B-B14F-4D97-AF65-F5344CB8AC3E}">
        <p14:creationId xmlns:p14="http://schemas.microsoft.com/office/powerpoint/2010/main" val="3709396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l" defTabSz="1829379" rtl="0" eaLnBrk="1" fontAlgn="auto" latinLnBrk="0" hangingPunct="1">
                <a:lnSpc>
                  <a:spcPct val="100000"/>
                </a:lnSpc>
                <a:spcBef>
                  <a:spcPts val="0"/>
                </a:spcBef>
                <a:spcAft>
                  <a:spcPts val="0"/>
                </a:spcAft>
                <a:buClrTx/>
                <a:buSzTx/>
                <a:buFontTx/>
                <a:buNone/>
                <a:tabLst/>
                <a:defRPr/>
              </a:pPr>
              <a:t>5</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2022 / © 2022 IBM Corporation</a:t>
            </a:r>
          </a:p>
        </p:txBody>
      </p:sp>
    </p:spTree>
    <p:extLst>
      <p:ext uri="{BB962C8B-B14F-4D97-AF65-F5344CB8AC3E}">
        <p14:creationId xmlns:p14="http://schemas.microsoft.com/office/powerpoint/2010/main" val="2213848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F7A2E-6C97-6C74-34F5-044CBEFFAD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3D0838-5A31-7020-654B-EA2D6557F5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288CD4-122E-1D0A-0AFF-5DD6AA16D8FC}"/>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5" name="Footer Placeholder 4">
            <a:extLst>
              <a:ext uri="{FF2B5EF4-FFF2-40B4-BE49-F238E27FC236}">
                <a16:creationId xmlns:a16="http://schemas.microsoft.com/office/drawing/2014/main" id="{2DB0720D-97D4-ED69-49E4-512FDEE06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E9F8E2-9896-B6C2-9FBA-6876FE9CDC2A}"/>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1415603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0185B-4983-D582-0EAE-FF25A521EF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9232A2-A19E-66C4-1353-56ECDF9973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1409DB-87DA-C757-A57F-CC903D7AD25F}"/>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5" name="Footer Placeholder 4">
            <a:extLst>
              <a:ext uri="{FF2B5EF4-FFF2-40B4-BE49-F238E27FC236}">
                <a16:creationId xmlns:a16="http://schemas.microsoft.com/office/drawing/2014/main" id="{6A71F46B-4F46-1AE8-B38C-19DA44710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2F3AE-95D8-C421-8641-46E4970B825D}"/>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434972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03E9E-2CD4-AA1F-30CD-73E6F8DBAF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23C159-F901-B696-F125-1022272D5C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B3BED0-16E6-6A72-F2FB-43323B9BD695}"/>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5" name="Footer Placeholder 4">
            <a:extLst>
              <a:ext uri="{FF2B5EF4-FFF2-40B4-BE49-F238E27FC236}">
                <a16:creationId xmlns:a16="http://schemas.microsoft.com/office/drawing/2014/main" id="{23ED6DA7-CF63-9452-5A26-15F650C93F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EFE215-EBFE-0E66-A797-936656C325C9}"/>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2497014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D2760-1802-1D98-7E71-5BE3B4CAC6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9D7117-927B-F7EC-9783-43F0E5E4D9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995975-3989-E629-D023-1F0426ED20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984764-848D-777B-4213-23BA253CE7A7}"/>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6" name="Footer Placeholder 5">
            <a:extLst>
              <a:ext uri="{FF2B5EF4-FFF2-40B4-BE49-F238E27FC236}">
                <a16:creationId xmlns:a16="http://schemas.microsoft.com/office/drawing/2014/main" id="{3B853F1B-BA07-CFF7-4DD4-FA2EF62318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708FD4-99FA-6EAE-98FD-48BD1434A519}"/>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8929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51460-06A8-72B4-8CC4-55D541E859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0CD196-F37F-433E-D760-E691CB53BF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FB9FDB-05F5-F7E5-FAE0-14E8293E29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E52481-D0DA-8DA7-BBC1-1E9DA93599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37181F-3D92-6F31-48B0-4F5DCB8F37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ECF92A-EE43-00D2-D290-13A490B2E5AF}"/>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8" name="Footer Placeholder 7">
            <a:extLst>
              <a:ext uri="{FF2B5EF4-FFF2-40B4-BE49-F238E27FC236}">
                <a16:creationId xmlns:a16="http://schemas.microsoft.com/office/drawing/2014/main" id="{8A5ABDA2-1797-2AFB-D548-21F9B6E425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85695C-4F7E-7E64-B849-3CE65052CDE6}"/>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728212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CF06D-C217-A9F2-9BCC-35AFBFE4DD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A5DA8A-FCA4-0BD8-AA42-A013DBAE7578}"/>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4" name="Footer Placeholder 3">
            <a:extLst>
              <a:ext uri="{FF2B5EF4-FFF2-40B4-BE49-F238E27FC236}">
                <a16:creationId xmlns:a16="http://schemas.microsoft.com/office/drawing/2014/main" id="{0D3CE11F-6584-E764-6563-11F4EC2DEA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E73410-0F70-F0AE-CBE7-D77DD0820E10}"/>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2421927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AA5D4E-C2D8-1B98-FACD-40C62E442B31}"/>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3" name="Footer Placeholder 2">
            <a:extLst>
              <a:ext uri="{FF2B5EF4-FFF2-40B4-BE49-F238E27FC236}">
                <a16:creationId xmlns:a16="http://schemas.microsoft.com/office/drawing/2014/main" id="{0ED2FE45-B255-88F1-1EC0-613FECC90F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983EA2-339C-998A-0514-9CE0F8109B80}"/>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1478906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1CBA-A3A3-1E13-72DF-20506428D4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97BF67-DF6A-8BD3-054B-C999E13F6D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40BEE1-12F6-B814-FE43-27A15355A2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0C0137-13BF-B837-58FA-FD989CD8FFB2}"/>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6" name="Footer Placeholder 5">
            <a:extLst>
              <a:ext uri="{FF2B5EF4-FFF2-40B4-BE49-F238E27FC236}">
                <a16:creationId xmlns:a16="http://schemas.microsoft.com/office/drawing/2014/main" id="{B66D93EC-D7A5-C71E-B77A-2684191CBD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E0C45D-E598-7885-1A08-DDDF2CAC902D}"/>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4290218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F268-E199-E187-84D7-42E28741A6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10E80E-3002-6FAD-C3E0-365F963745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7C7128-2AEB-B5E2-A76B-883D0A63C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18AE40-6F39-3852-829A-54759EDAD8F6}"/>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6" name="Footer Placeholder 5">
            <a:extLst>
              <a:ext uri="{FF2B5EF4-FFF2-40B4-BE49-F238E27FC236}">
                <a16:creationId xmlns:a16="http://schemas.microsoft.com/office/drawing/2014/main" id="{FE47154A-3BC3-9B7E-AFE9-1A8B9860B0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762B61-69F8-9E88-705C-516699D49998}"/>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1385025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1968B-92E6-6081-395A-7C6098B163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D4741E-4369-CFF7-42ED-B303AED7B9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3CF884-70FF-8B85-1B21-84023D3A8A5F}"/>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5" name="Footer Placeholder 4">
            <a:extLst>
              <a:ext uri="{FF2B5EF4-FFF2-40B4-BE49-F238E27FC236}">
                <a16:creationId xmlns:a16="http://schemas.microsoft.com/office/drawing/2014/main" id="{1B191EDD-B344-C03A-41FB-5A85ABBC1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292D8-4A0C-811D-B424-48A7F90F3B63}"/>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1415252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937973-C816-E29D-E6DF-E2AE3E1806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FD69B3-B02F-FC3D-D418-8C4A0A42DF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B188B4-CE6C-C60D-DF90-F211C10D7C80}"/>
              </a:ext>
            </a:extLst>
          </p:cNvPr>
          <p:cNvSpPr>
            <a:spLocks noGrp="1"/>
          </p:cNvSpPr>
          <p:nvPr>
            <p:ph type="dt" sz="half" idx="10"/>
          </p:nvPr>
        </p:nvSpPr>
        <p:spPr/>
        <p:txBody>
          <a:bodyPr/>
          <a:lstStyle/>
          <a:p>
            <a:fld id="{4C4561D7-7A7E-AE4B-828B-E061B66F7D47}" type="datetimeFigureOut">
              <a:rPr lang="en-US" smtClean="0"/>
              <a:t>9/22/25</a:t>
            </a:fld>
            <a:endParaRPr lang="en-US"/>
          </a:p>
        </p:txBody>
      </p:sp>
      <p:sp>
        <p:nvSpPr>
          <p:cNvPr id="5" name="Footer Placeholder 4">
            <a:extLst>
              <a:ext uri="{FF2B5EF4-FFF2-40B4-BE49-F238E27FC236}">
                <a16:creationId xmlns:a16="http://schemas.microsoft.com/office/drawing/2014/main" id="{827412B7-04F9-505D-FE64-568EA56D7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7EA9B0-3591-6221-EE72-C040F2E54260}"/>
              </a:ext>
            </a:extLst>
          </p:cNvPr>
          <p:cNvSpPr>
            <a:spLocks noGrp="1"/>
          </p:cNvSpPr>
          <p:nvPr>
            <p:ph type="sldNum" sz="quarter" idx="12"/>
          </p:nvPr>
        </p:nvSpPr>
        <p:spPr/>
        <p:txBody>
          <a:bodyPr/>
          <a:lstStyle/>
          <a:p>
            <a:fld id="{2D7E12E9-B968-5742-BC4A-49418C235A53}" type="slidenum">
              <a:rPr lang="en-US" smtClean="0"/>
              <a:t>‹#›</a:t>
            </a:fld>
            <a:endParaRPr lang="en-US"/>
          </a:p>
        </p:txBody>
      </p:sp>
    </p:spTree>
    <p:extLst>
      <p:ext uri="{BB962C8B-B14F-4D97-AF65-F5344CB8AC3E}">
        <p14:creationId xmlns:p14="http://schemas.microsoft.com/office/powerpoint/2010/main" val="1265770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2501573300"/>
      </p:ext>
    </p:extLst>
  </p:cSld>
  <p:clrMapOvr>
    <a:masterClrMapping/>
  </p:clrMapOvr>
  <p:transition spd="med"/>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21245201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136890029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GB"/>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337931260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263693147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GB"/>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391171362"/>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82711827"/>
      </p:ext>
    </p:extLst>
  </p:cSld>
  <p:clrMapOvr>
    <a:masterClrMapping/>
  </p:clrMapOvr>
  <p:transition spd="med"/>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7920320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4494051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9904471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GB"/>
              <a:t>Click to edit Master text styles</a:t>
            </a:r>
          </a:p>
        </p:txBody>
      </p:sp>
    </p:spTree>
    <p:extLst>
      <p:ext uri="{BB962C8B-B14F-4D97-AF65-F5344CB8AC3E}">
        <p14:creationId xmlns:p14="http://schemas.microsoft.com/office/powerpoint/2010/main" val="535281447"/>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79133250"/>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94761091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25467091"/>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3831181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3677278"/>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669998117"/>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46038455"/>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GB"/>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2412484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1265735"/>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36828530"/>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65477475"/>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6390432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63019665"/>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23473757"/>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23611803"/>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97858029"/>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84531735"/>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602623143"/>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3291064212"/>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81103134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979909906"/>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58379968"/>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09243759"/>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95989392"/>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933828749"/>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8713074"/>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558530614"/>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84606858"/>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437285305"/>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43863326"/>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GB"/>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352767078"/>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dirty="0">
                <a:latin typeface="IBM Plex Sans Light" panose="020B0403050203000203" pitchFamily="34" charset="0"/>
              </a:rPr>
              <a:t>Lorem ipsum dolor sit </a:t>
            </a:r>
            <a:r>
              <a:rPr lang="en-US" sz="1400" dirty="0" err="1">
                <a:latin typeface="IBM Plex Sans Light" panose="020B0403050203000203" pitchFamily="34" charset="0"/>
              </a:rPr>
              <a:t>amet</a:t>
            </a:r>
            <a:r>
              <a:rPr lang="en-US" sz="1400" dirty="0">
                <a:latin typeface="IBM Plex Sans Light" panose="020B0403050203000203" pitchFamily="34" charset="0"/>
              </a:rPr>
              <a:t> </a:t>
            </a:r>
            <a:r>
              <a:rPr lang="en-US" sz="1400" dirty="0" err="1">
                <a:latin typeface="IBM Plex Sans Light" panose="020B0403050203000203" pitchFamily="34" charset="0"/>
              </a:rPr>
              <a:t>donec</a:t>
            </a:r>
            <a:r>
              <a:rPr lang="en-US" sz="1400" dirty="0">
                <a:latin typeface="IBM Plex Sans Light" panose="020B0403050203000203" pitchFamily="34" charset="0"/>
              </a:rPr>
              <a:t> </a:t>
            </a:r>
            <a:r>
              <a:rPr lang="en-US" sz="1400" dirty="0" err="1">
                <a:latin typeface="IBM Plex Sans Light" panose="020B0403050203000203" pitchFamily="34" charset="0"/>
              </a:rPr>
              <a:t>quam</a:t>
            </a:r>
            <a:r>
              <a:rPr lang="en-US" sz="1400" dirty="0">
                <a:latin typeface="IBM Plex Sans Light" panose="020B0403050203000203" pitchFamily="34" charset="0"/>
              </a:rPr>
              <a:t> </a:t>
            </a:r>
            <a:r>
              <a:rPr lang="en-US" sz="1400" dirty="0" err="1">
                <a:latin typeface="IBM Plex Sans Light" panose="020B0403050203000203" pitchFamily="34" charset="0"/>
              </a:rPr>
              <a:t>felis</a:t>
            </a:r>
            <a:r>
              <a:rPr lang="en-US" sz="1400" dirty="0">
                <a:latin typeface="IBM Plex Sans Light" panose="020B0403050203000203" pitchFamily="34" charset="0"/>
              </a:rPr>
              <a:t> </a:t>
            </a:r>
            <a:r>
              <a:rPr lang="en-US" sz="1400" dirty="0" err="1">
                <a:latin typeface="IBM Plex Sans Light" panose="020B0403050203000203" pitchFamily="34" charset="0"/>
              </a:rPr>
              <a:t>ultricies</a:t>
            </a:r>
            <a:r>
              <a:rPr lang="en-US" sz="1400" dirty="0">
                <a:latin typeface="IBM Plex Sans Light" panose="020B0403050203000203" pitchFamily="34" charset="0"/>
              </a:rPr>
              <a:t> </a:t>
            </a:r>
            <a:r>
              <a:rPr lang="en-US" sz="1400" dirty="0" err="1">
                <a:latin typeface="IBM Plex Sans Light" panose="020B0403050203000203" pitchFamily="34" charset="0"/>
              </a:rPr>
              <a:t>nec</a:t>
            </a:r>
            <a:r>
              <a:rPr lang="en-US" sz="1400" dirty="0">
                <a:latin typeface="IBM Plex Sans Light" panose="020B0403050203000203" pitchFamily="34" charset="0"/>
              </a:rPr>
              <a:t> </a:t>
            </a:r>
            <a:r>
              <a:rPr lang="en-US" sz="1400" dirty="0" err="1">
                <a:latin typeface="IBM Plex Sans Light" panose="020B0403050203000203" pitchFamily="34" charset="0"/>
              </a:rPr>
              <a:t>pellentesque</a:t>
            </a:r>
            <a:r>
              <a:rPr lang="en-US" sz="1400" dirty="0">
                <a:latin typeface="IBM Plex Sans Light" panose="020B0403050203000203" pitchFamily="34" charset="0"/>
              </a:rPr>
              <a:t> </a:t>
            </a:r>
            <a:r>
              <a:rPr lang="en-US" sz="1400" dirty="0" err="1">
                <a:latin typeface="IBM Plex Sans Light" panose="020B0403050203000203" pitchFamily="34" charset="0"/>
              </a:rPr>
              <a:t>eu</a:t>
            </a:r>
            <a:r>
              <a:rPr lang="en-US" sz="1400" dirty="0">
                <a:latin typeface="IBM Plex Sans Light" panose="020B0403050203000203" pitchFamily="34" charset="0"/>
              </a:rPr>
              <a:t> </a:t>
            </a:r>
            <a:r>
              <a:rPr lang="en-US" sz="1400" dirty="0" err="1">
                <a:latin typeface="IBM Plex Sans Light" panose="020B0403050203000203" pitchFamily="34" charset="0"/>
              </a:rPr>
              <a:t>pretium</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sem. </a:t>
            </a:r>
            <a:r>
              <a:rPr lang="en-US" sz="1400" dirty="0" err="1">
                <a:latin typeface="IBM Plex Sans Light" panose="020B0403050203000203" pitchFamily="34" charset="0"/>
              </a:rPr>
              <a:t>Nulla</a:t>
            </a:r>
            <a:r>
              <a:rPr lang="en-US" sz="1400" dirty="0">
                <a:latin typeface="IBM Plex Sans Light" panose="020B0403050203000203" pitchFamily="34" charset="0"/>
              </a:rPr>
              <a:t> </a:t>
            </a:r>
            <a:r>
              <a:rPr lang="en-US" sz="1400" dirty="0" err="1">
                <a:latin typeface="IBM Plex Sans Light" panose="020B0403050203000203" pitchFamily="34" charset="0"/>
              </a:rPr>
              <a:t>conset</a:t>
            </a:r>
            <a:r>
              <a:rPr lang="en-US" sz="1400" dirty="0">
                <a:latin typeface="IBM Plex Sans Light" panose="020B0403050203000203" pitchFamily="34" charset="0"/>
              </a:rPr>
              <a:t> </a:t>
            </a:r>
            <a:r>
              <a:rPr lang="en-US" sz="1400" dirty="0" err="1">
                <a:latin typeface="IBM Plex Sans Light" panose="020B0403050203000203" pitchFamily="34" charset="0"/>
              </a:rPr>
              <a:t>massa</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a:t>
            </a:r>
            <a:r>
              <a:rPr lang="en-US" sz="1400" dirty="0" err="1">
                <a:latin typeface="IBM Plex Sans Light" panose="020B0403050203000203" pitchFamily="34" charset="0"/>
              </a:rPr>
              <a:t>enim</a:t>
            </a:r>
            <a:r>
              <a:rPr lang="en-US" sz="14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4020611961"/>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06672843"/>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80604690"/>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3389213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89745611"/>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305400979"/>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3819405398"/>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sp>
        <p:nvSpPr>
          <p:cNvPr id="7" name="Title 1">
            <a:extLst>
              <a:ext uri="{FF2B5EF4-FFF2-40B4-BE49-F238E27FC236}">
                <a16:creationId xmlns:a16="http://schemas.microsoft.com/office/drawing/2014/main" id="{184617A5-E44D-86DD-8C8E-5D85DFCA435B}"/>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665764979"/>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1098841553"/>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6AD06EA-1AAE-9258-F68E-D0D307454A33}"/>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3500617228"/>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a:solidFill>
                  <a:schemeClr val="tx2"/>
                </a:solidFill>
              </a:defRPr>
            </a:lvl1pPr>
          </a:lstStyle>
          <a:p>
            <a:r>
              <a:rPr lang="en-US"/>
              <a:t>Click to edit Master title style</a:t>
            </a:r>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288888" y="6263482"/>
            <a:ext cx="819043" cy="304800"/>
          </a:xfrm>
          <a:prstGeom prst="rect">
            <a:avLst/>
          </a:prstGeom>
        </p:spPr>
      </p:pic>
    </p:spTree>
    <p:extLst>
      <p:ext uri="{BB962C8B-B14F-4D97-AF65-F5344CB8AC3E}">
        <p14:creationId xmlns:p14="http://schemas.microsoft.com/office/powerpoint/2010/main" val="2896384284"/>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9">
                <a:solidFill>
                  <a:schemeClr val="tx2"/>
                </a:solidFill>
              </a:defRPr>
            </a:lvl1pPr>
          </a:lstStyle>
          <a:p>
            <a:r>
              <a:rPr lang="en-US"/>
              <a:t>Click to edit Master title style</a:t>
            </a:r>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288888" y="6263482"/>
            <a:ext cx="819043" cy="304800"/>
          </a:xfrm>
          <a:prstGeom prst="rect">
            <a:avLst/>
          </a:prstGeom>
        </p:spPr>
      </p:pic>
    </p:spTree>
    <p:extLst>
      <p:ext uri="{BB962C8B-B14F-4D97-AF65-F5344CB8AC3E}">
        <p14:creationId xmlns:p14="http://schemas.microsoft.com/office/powerpoint/2010/main" val="142492086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2477765" cy="2286794"/>
          </a:xfrm>
        </p:spPr>
        <p:txBody>
          <a:bodyPr/>
          <a:lstStyle>
            <a:lvl1pPr>
              <a:lnSpc>
                <a:spcPct val="100000"/>
              </a:lnSpc>
              <a:defRPr sz="31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4379655"/>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3199">
                <a:solidFill>
                  <a:schemeClr val="tx2"/>
                </a:solidFill>
              </a:defRPr>
            </a:lvl1pPr>
          </a:lstStyle>
          <a:p>
            <a:r>
              <a:rPr lang="en-US"/>
              <a:t>Click to edit Master title style</a:t>
            </a:r>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50675585"/>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0" y="210312"/>
            <a:ext cx="8569797" cy="4095750"/>
          </a:xfrm>
        </p:spPr>
        <p:txBody>
          <a:bodyPr/>
          <a:lstStyle>
            <a:lvl1pPr>
              <a:defRPr sz="8598" b="0" i="0">
                <a:solidFill>
                  <a:schemeClr val="tx2"/>
                </a:solidFill>
                <a:latin typeface="IBM Plex Sans ExtraLight" panose="020B0303050203000203" pitchFamily="34" charset="0"/>
              </a:defRPr>
            </a:lvl1pPr>
          </a:lstStyle>
          <a:p>
            <a:r>
              <a:rPr lang="en-US"/>
              <a:t>Click to edit Master title style</a:t>
            </a:r>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44841369"/>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73297486"/>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210312"/>
            <a:ext cx="7330121" cy="4858544"/>
          </a:xfrm>
        </p:spPr>
        <p:txBody>
          <a:bodyPr/>
          <a:lstStyle>
            <a:lvl1pPr>
              <a:lnSpc>
                <a:spcPct val="100000"/>
              </a:lnSpc>
              <a:defRPr sz="4299">
                <a:solidFill>
                  <a:schemeClr val="tx2"/>
                </a:solidFill>
              </a:defRPr>
            </a:lvl1pPr>
          </a:lstStyle>
          <a:p>
            <a:r>
              <a:rPr lang="en-US"/>
              <a:t>Click to edit Master title style</a:t>
            </a:r>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67109896"/>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8" y="4649724"/>
            <a:ext cx="5524575" cy="1771650"/>
          </a:xfrm>
        </p:spPr>
        <p:txBody>
          <a:bodyPr anchor="b"/>
          <a:lstStyle>
            <a:lvl1pPr>
              <a:lnSpc>
                <a:spcPct val="90000"/>
              </a:lnSpc>
              <a:spcBef>
                <a:spcPts val="0"/>
              </a:spcBef>
              <a:defRPr sz="12897" b="0" i="0">
                <a:solidFill>
                  <a:schemeClr val="accent1"/>
                </a:solidFill>
                <a:latin typeface="IBM Plex Sans ExtraLight" panose="020B0303050203000203" pitchFamily="34" charset="0"/>
              </a:defRPr>
            </a:lvl1pPr>
          </a:lstStyle>
          <a:p>
            <a:r>
              <a:rPr lang="en-US"/>
              <a:t>↗︎00M</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19" y="4648200"/>
            <a:ext cx="5523781" cy="1771650"/>
          </a:xfrm>
        </p:spPr>
        <p:txBody>
          <a:bodyPr anchor="b"/>
          <a:lstStyle>
            <a:lvl1pPr>
              <a:lnSpc>
                <a:spcPct val="90000"/>
              </a:lnSpc>
              <a:spcBef>
                <a:spcPts val="0"/>
              </a:spcBef>
              <a:defRPr sz="12897" b="0" i="0">
                <a:solidFill>
                  <a:schemeClr val="accent1"/>
                </a:solidFill>
                <a:latin typeface="IBM Plex Sans ExtraLight" panose="020B0303050203000203" pitchFamily="34" charset="0"/>
              </a:defRPr>
            </a:lvl1pPr>
          </a:lstStyle>
          <a:p>
            <a:r>
              <a:rPr lang="en-US"/>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02240184"/>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9">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9">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7"/>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7"/>
            <a:ext cx="2474590" cy="951707"/>
          </a:xfrm>
        </p:spPr>
        <p:txBody>
          <a:bodyPr/>
          <a:lstStyle>
            <a:lvl1pPr>
              <a:lnSpc>
                <a:spcPct val="90000"/>
              </a:lnSpc>
              <a:defRPr sz="6499">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89659952"/>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9">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p:spPr>
        <p:txBody>
          <a:bodyPr/>
          <a:lstStyle>
            <a:lvl1pPr>
              <a:lnSpc>
                <a:spcPct val="100000"/>
              </a:lnSpc>
              <a:defRPr sz="42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89412475"/>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p:spPr>
        <p:txBody>
          <a:bodyPr/>
          <a:lstStyle>
            <a:lvl1pPr>
              <a:lnSpc>
                <a:spcPct val="90000"/>
              </a:lnSpc>
              <a:defRPr sz="6499">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0002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6"/>
            <a:ext cx="2475384" cy="1428753"/>
          </a:xfrm>
        </p:spPr>
        <p:txBody>
          <a:bodyPr/>
          <a:lstStyle>
            <a:lvl1pPr>
              <a:lnSpc>
                <a:spcPct val="90000"/>
              </a:lnSpc>
              <a:defRPr sz="6499">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0957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201668"/>
            <a:ext cx="2475383" cy="1428753"/>
          </a:xfrm>
        </p:spPr>
        <p:txBody>
          <a:bodyPr/>
          <a:lstStyle>
            <a:lvl1pPr>
              <a:lnSpc>
                <a:spcPct val="90000"/>
              </a:lnSpc>
              <a:defRPr sz="6499">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9739556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99"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73762448"/>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07582164"/>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77540766"/>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3" y="1714500"/>
            <a:ext cx="2476177"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26054338"/>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4" y="192024"/>
            <a:ext cx="2477765" cy="570706"/>
          </a:xfrm>
        </p:spPr>
        <p:txBody>
          <a:bodyPr/>
          <a:lstStyle>
            <a:lvl1pPr>
              <a:lnSpc>
                <a:spcPct val="100000"/>
              </a:lnSpc>
              <a:spcBef>
                <a:spcPts val="0"/>
              </a:spcBef>
              <a:defRPr sz="31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5047593"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71846978"/>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19" y="1714500"/>
            <a:ext cx="5047593"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98922806"/>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01695031"/>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00866144"/>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9" y="192024"/>
            <a:ext cx="5519019" cy="2286794"/>
          </a:xfrm>
        </p:spPr>
        <p:txBody>
          <a:bodyPr rIns="457200"/>
          <a:lstStyle>
            <a:lvl1pPr>
              <a:lnSpc>
                <a:spcPct val="100000"/>
              </a:lnSpc>
              <a:defRPr>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10804571"/>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000"/>
          </a:xfrm>
        </p:spPr>
        <p:txBody>
          <a:bodyPr rIns="0"/>
          <a:lstStyle>
            <a:lvl1pPr>
              <a:lnSpc>
                <a:spcPct val="100000"/>
              </a:lnSpc>
              <a:defRPr sz="14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80633906"/>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7"/>
          </a:xfrm>
        </p:spPr>
        <p:txBody>
          <a:bodyPr/>
          <a:lstStyle>
            <a:lvl1pPr>
              <a:lnSpc>
                <a:spcPct val="100000"/>
              </a:lnSpc>
              <a:defRPr sz="31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570706"/>
          </a:xfrm>
        </p:spPr>
        <p:txBody>
          <a:bodyPr/>
          <a:lstStyle>
            <a:lvl1pPr>
              <a:lnSpc>
                <a:spcPct val="100000"/>
              </a:lnSpc>
              <a:spcBef>
                <a:spcPts val="0"/>
              </a:spcBef>
              <a:defRPr sz="31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19" y="288036"/>
            <a:ext cx="457776" cy="457200"/>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3" y="288036"/>
            <a:ext cx="457776" cy="457200"/>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05579601"/>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
            <a:extLst>
              <a:ext uri="{FF2B5EF4-FFF2-40B4-BE49-F238E27FC236}">
                <a16:creationId xmlns:a16="http://schemas.microsoft.com/office/drawing/2014/main" id="{00A530A6-2F26-DA70-D0D9-6DD90453CEC1}"/>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83978091"/>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570706"/>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54054464"/>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10000"/>
              </a:lnSpc>
              <a:defRPr sz="3199">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53092559"/>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288036"/>
            <a:ext cx="2477765" cy="2286794"/>
          </a:xfrm>
        </p:spPr>
        <p:txBody>
          <a:bodyPr/>
          <a:lstStyle>
            <a:lvl1pPr>
              <a:lnSpc>
                <a:spcPct val="100000"/>
              </a:lnSpc>
              <a:defRPr sz="1400">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84917900"/>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024"/>
            <a:ext cx="5524575" cy="2286794"/>
          </a:xfrm>
        </p:spPr>
        <p:txBody>
          <a:bodyPr rIns="457200"/>
          <a:lstStyle>
            <a:lvl1pPr>
              <a:lnSpc>
                <a:spcPct val="100000"/>
              </a:lnSpc>
              <a:defRPr>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65036851"/>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7" name="Straight Connector 6" descr="Vertical column divider ">
            <a:extLst>
              <a:ext uri="{FF2B5EF4-FFF2-40B4-BE49-F238E27FC236}">
                <a16:creationId xmlns:a16="http://schemas.microsoft.com/office/drawing/2014/main" id="{1F6D0C9D-C937-48E3-BE84-3DA0D1BC274C}"/>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8" name="Straight Connector 7" descr="Vertical column divider ">
            <a:extLst>
              <a:ext uri="{FF2B5EF4-FFF2-40B4-BE49-F238E27FC236}">
                <a16:creationId xmlns:a16="http://schemas.microsoft.com/office/drawing/2014/main" id="{0B31714F-DB23-BEBB-75A7-6BFF47AECDDF}"/>
              </a:ext>
            </a:extLst>
          </p:cNvPr>
          <p:cNvCxnSpPr/>
          <p:nvPr userDrawn="1"/>
        </p:nvCxnSpPr>
        <p:spPr bwMode="auto">
          <a:xfrm>
            <a:off x="9146201"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3" name="Straight Connector 2" descr="Horizontal row divider">
            <a:extLst>
              <a:ext uri="{FF2B5EF4-FFF2-40B4-BE49-F238E27FC236}">
                <a16:creationId xmlns:a16="http://schemas.microsoft.com/office/drawing/2014/main" id="{3D492FDB-9D55-98D5-E9DE-229473DD5942}"/>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34607907"/>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p>
        </p:txBody>
      </p:sp>
      <p:cxnSp>
        <p:nvCxnSpPr>
          <p:cNvPr id="24" name="Straight Connector 23" descr="Vertical column divider">
            <a:extLst>
              <a:ext uri="{FF2B5EF4-FFF2-40B4-BE49-F238E27FC236}">
                <a16:creationId xmlns:a16="http://schemas.microsoft.com/office/drawing/2014/main" id="{B5CBE6E3-0E18-8A57-578D-D314948AF14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6"/>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a:t>Icon</a:t>
            </a:r>
          </a:p>
        </p:txBody>
      </p:sp>
      <p:cxnSp>
        <p:nvCxnSpPr>
          <p:cNvPr id="23" name="Straight Connector 22" descr="Horizontal row divider">
            <a:extLst>
              <a:ext uri="{FF2B5EF4-FFF2-40B4-BE49-F238E27FC236}">
                <a16:creationId xmlns:a16="http://schemas.microsoft.com/office/drawing/2014/main" id="{252CDB94-BA57-B58F-95F0-D406FE34BB4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0"/>
            <a:ext cx="2475384" cy="189634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16686621"/>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a:solidFill>
                  <a:schemeClr val="tx2"/>
                </a:solidFill>
              </a:defRPr>
            </a:lvl1pPr>
          </a:lstStyle>
          <a:p>
            <a:r>
              <a:rPr lang="en-US"/>
              <a:t>Click to edit Master title style</a:t>
            </a:r>
          </a:p>
        </p:txBody>
      </p:sp>
      <p:cxnSp>
        <p:nvCxnSpPr>
          <p:cNvPr id="20" name="Straight Connector 19" descr="Vertical column divider">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94079644"/>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6"/>
            <a:ext cx="2474590" cy="1706563"/>
          </a:xfrm>
        </p:spPr>
        <p:txBody>
          <a:bodyPr rIns="0"/>
          <a:lstStyle>
            <a:lvl1pPr>
              <a:lnSpc>
                <a:spcPct val="110000"/>
              </a:lnSpc>
              <a:defRPr sz="1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cxnSp>
        <p:nvCxnSpPr>
          <p:cNvPr id="16" name="Straight Connector 15" descr="Horizontal row divider">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descr="Vertical column divider">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59169660"/>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2819758667"/>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009019744"/>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5"/>
            <a:ext cx="8574559" cy="6289675"/>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3346129227"/>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823116360"/>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412228595"/>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60253749"/>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03094722"/>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21430385"/>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71082325"/>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4" y="6402388"/>
            <a:ext cx="2477765" cy="1905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74061033"/>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2587925052"/>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itle only ">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5329" y="224689"/>
            <a:ext cx="11601780" cy="838369"/>
          </a:xfrm>
        </p:spPr>
        <p:txBody>
          <a:bodyPr/>
          <a:lstStyle>
            <a:lvl1pPr>
              <a:defRPr>
                <a:solidFill>
                  <a:schemeClr val="tx1"/>
                </a:solidFill>
              </a:defRPr>
            </a:lvl1pPr>
          </a:lstStyle>
          <a:p>
            <a:r>
              <a:rPr lang="en-US"/>
              <a:t>Click to edit Master title style</a:t>
            </a:r>
          </a:p>
        </p:txBody>
      </p:sp>
      <p:sp>
        <p:nvSpPr>
          <p:cNvPr id="7" name="Footer Placeholder 6">
            <a:extLst>
              <a:ext uri="{FF2B5EF4-FFF2-40B4-BE49-F238E27FC236}">
                <a16:creationId xmlns:a16="http://schemas.microsoft.com/office/drawing/2014/main" id="{D6740B17-FB66-2942-A1CB-AD04BD4F8789}"/>
              </a:ext>
            </a:extLst>
          </p:cNvPr>
          <p:cNvSpPr>
            <a:spLocks noGrp="1"/>
          </p:cNvSpPr>
          <p:nvPr>
            <p:ph type="ftr" sz="quarter" idx="10"/>
          </p:nvPr>
        </p:nvSpPr>
        <p:spPr/>
        <p:txBody>
          <a:bodyPr/>
          <a:lstStyle/>
          <a:p>
            <a:r>
              <a:rPr lang="en-US"/>
              <a:t>IBM Security / © 2022 IBM Corporation</a:t>
            </a:r>
          </a:p>
        </p:txBody>
      </p:sp>
      <p:sp>
        <p:nvSpPr>
          <p:cNvPr id="8" name="Slide Number Placeholder 7">
            <a:extLst>
              <a:ext uri="{FF2B5EF4-FFF2-40B4-BE49-F238E27FC236}">
                <a16:creationId xmlns:a16="http://schemas.microsoft.com/office/drawing/2014/main" id="{3F61BFB1-D3E4-314C-B5DF-41BCF21B4C7E}"/>
              </a:ext>
            </a:extLst>
          </p:cNvP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613223583"/>
      </p:ext>
    </p:extLst>
  </p:cSld>
  <p:clrMapOvr>
    <a:overrideClrMapping bg1="dk1" tx1="lt1" bg2="dk2" tx2="lt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lvl1pPr>
              <a:defRPr>
                <a:solidFill>
                  <a:schemeClr val="tx1"/>
                </a:solidFill>
              </a:defRPr>
            </a:lvl1pPr>
          </a:lstStyle>
          <a:p>
            <a:r>
              <a:rPr lang="en-US"/>
              <a:t>Click icon to add picture</a:t>
            </a:r>
          </a:p>
        </p:txBody>
      </p:sp>
      <p:sp>
        <p:nvSpPr>
          <p:cNvPr id="6" name="Text Placeholder"/>
          <p:cNvSpPr>
            <a:spLocks noGrp="1"/>
          </p:cNvSpPr>
          <p:nvPr>
            <p:ph type="body" sz="quarter" idx="12"/>
          </p:nvPr>
        </p:nvSpPr>
        <p:spPr>
          <a:xfrm>
            <a:off x="-3" y="3429000"/>
            <a:ext cx="3048004" cy="342900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333">
                <a:solidFill>
                  <a:schemeClr val="tx1"/>
                </a:solidFill>
              </a:defRPr>
            </a:lvl2pPr>
            <a:lvl3pPr>
              <a:buClr>
                <a:srgbClr val="001141"/>
              </a:buClr>
              <a:defRPr sz="1333">
                <a:solidFill>
                  <a:schemeClr val="tx1"/>
                </a:solidFill>
              </a:defRPr>
            </a:lvl3pPr>
            <a:lvl4pPr>
              <a:buClr>
                <a:srgbClr val="001141"/>
              </a:buClr>
              <a:defRPr sz="1333">
                <a:solidFill>
                  <a:schemeClr val="tx1"/>
                </a:solidFill>
              </a:defRPr>
            </a:lvl4pPr>
            <a:lvl5pPr>
              <a:buClr>
                <a:srgbClr val="001141"/>
              </a:buClr>
              <a:defRPr sz="1333">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13175856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79502"/>
            <a:ext cx="2450592" cy="4336288"/>
          </a:xfrm>
        </p:spPr>
        <p:txBody>
          <a:bodyPr/>
          <a:lstStyle>
            <a:lvl1pPr>
              <a:spcBef>
                <a:spcPts val="400"/>
              </a:spcBef>
              <a:defRPr sz="1866">
                <a:solidFill>
                  <a:schemeClr val="tx1"/>
                </a:solidFill>
              </a:defRPr>
            </a:lvl1pPr>
            <a:lvl2pPr>
              <a:spcBef>
                <a:spcPts val="1466"/>
              </a:spcBef>
              <a:defRPr sz="1866">
                <a:solidFill>
                  <a:schemeClr val="tx1"/>
                </a:solidFill>
              </a:defRPr>
            </a:lvl2pPr>
            <a:lvl3pPr>
              <a:spcBef>
                <a:spcPts val="1466"/>
              </a:spcBef>
              <a:defRPr sz="1866">
                <a:solidFill>
                  <a:schemeClr val="tx1"/>
                </a:solidFill>
              </a:defRPr>
            </a:lvl3pPr>
            <a:lvl4pPr>
              <a:spcBef>
                <a:spcPts val="1466"/>
              </a:spcBef>
              <a:defRPr sz="1866">
                <a:solidFill>
                  <a:schemeClr val="tx1"/>
                </a:solidFill>
              </a:defRPr>
            </a:lvl4pPr>
            <a:lvl5pPr>
              <a:spcBef>
                <a:spcPts val="1466"/>
              </a:spcBef>
              <a:defRPr sz="1866">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en-US"/>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06216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9" Type="http://schemas.openxmlformats.org/officeDocument/2006/relationships/slideLayout" Target="../slideLayouts/slideLayout98.xml"/><Relationship Id="rId21" Type="http://schemas.openxmlformats.org/officeDocument/2006/relationships/slideLayout" Target="../slideLayouts/slideLayout80.xml"/><Relationship Id="rId34" Type="http://schemas.openxmlformats.org/officeDocument/2006/relationships/slideLayout" Target="../slideLayouts/slideLayout93.xml"/><Relationship Id="rId42" Type="http://schemas.openxmlformats.org/officeDocument/2006/relationships/slideLayout" Target="../slideLayouts/slideLayout101.xml"/><Relationship Id="rId47" Type="http://schemas.openxmlformats.org/officeDocument/2006/relationships/slideLayout" Target="../slideLayouts/slideLayout106.xml"/><Relationship Id="rId50" Type="http://schemas.openxmlformats.org/officeDocument/2006/relationships/theme" Target="../theme/theme3.xml"/><Relationship Id="rId7" Type="http://schemas.openxmlformats.org/officeDocument/2006/relationships/slideLayout" Target="../slideLayouts/slideLayout6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9" Type="http://schemas.openxmlformats.org/officeDocument/2006/relationships/slideLayout" Target="../slideLayouts/slideLayout88.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40" Type="http://schemas.openxmlformats.org/officeDocument/2006/relationships/slideLayout" Target="../slideLayouts/slideLayout99.xml"/><Relationship Id="rId45" Type="http://schemas.openxmlformats.org/officeDocument/2006/relationships/slideLayout" Target="../slideLayouts/slideLayout104.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49" Type="http://schemas.openxmlformats.org/officeDocument/2006/relationships/slideLayout" Target="../slideLayouts/slideLayout108.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31" Type="http://schemas.openxmlformats.org/officeDocument/2006/relationships/slideLayout" Target="../slideLayouts/slideLayout90.xml"/><Relationship Id="rId44" Type="http://schemas.openxmlformats.org/officeDocument/2006/relationships/slideLayout" Target="../slideLayouts/slideLayout103.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43" Type="http://schemas.openxmlformats.org/officeDocument/2006/relationships/slideLayout" Target="../slideLayouts/slideLayout102.xml"/><Relationship Id="rId48" Type="http://schemas.openxmlformats.org/officeDocument/2006/relationships/slideLayout" Target="../slideLayouts/slideLayout107.xml"/><Relationship Id="rId8" Type="http://schemas.openxmlformats.org/officeDocument/2006/relationships/slideLayout" Target="../slideLayouts/slideLayout67.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 Id="rId46" Type="http://schemas.openxmlformats.org/officeDocument/2006/relationships/slideLayout" Target="../slideLayouts/slideLayout105.xml"/><Relationship Id="rId20" Type="http://schemas.openxmlformats.org/officeDocument/2006/relationships/slideLayout" Target="../slideLayouts/slideLayout79.xml"/><Relationship Id="rId41" Type="http://schemas.openxmlformats.org/officeDocument/2006/relationships/slideLayout" Target="../slideLayouts/slideLayout100.xml"/><Relationship Id="rId1" Type="http://schemas.openxmlformats.org/officeDocument/2006/relationships/slideLayout" Target="../slideLayouts/slideLayout60.xml"/><Relationship Id="rId6"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832616-09C6-8A87-0CDE-77E222109C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7E1D5C-5372-12A5-CE3C-E17D940637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FBF828-8055-2F90-699B-1D6A1B3D71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4561D7-7A7E-AE4B-828B-E061B66F7D47}" type="datetimeFigureOut">
              <a:rPr lang="en-US" smtClean="0"/>
              <a:t>9/22/25</a:t>
            </a:fld>
            <a:endParaRPr lang="en-US"/>
          </a:p>
        </p:txBody>
      </p:sp>
      <p:sp>
        <p:nvSpPr>
          <p:cNvPr id="5" name="Footer Placeholder 4">
            <a:extLst>
              <a:ext uri="{FF2B5EF4-FFF2-40B4-BE49-F238E27FC236}">
                <a16:creationId xmlns:a16="http://schemas.microsoft.com/office/drawing/2014/main" id="{1451988A-0D4F-3B57-F212-1C21EEED4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ADDA91-6598-DACD-5163-842AB6F8F1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7E12E9-B968-5742-BC4A-49418C235A53}" type="slidenum">
              <a:rPr lang="en-US" smtClean="0"/>
              <a:t>‹#›</a:t>
            </a:fld>
            <a:endParaRPr lang="en-US"/>
          </a:p>
        </p:txBody>
      </p:sp>
    </p:spTree>
    <p:extLst>
      <p:ext uri="{BB962C8B-B14F-4D97-AF65-F5344CB8AC3E}">
        <p14:creationId xmlns:p14="http://schemas.microsoft.com/office/powerpoint/2010/main" val="799681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10745824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8" name="Title Text"/>
          <p:cNvSpPr txBox="1">
            <a:spLocks noGrp="1"/>
          </p:cNvSpPr>
          <p:nvPr>
            <p:ph type="title"/>
          </p:nvPr>
        </p:nvSpPr>
        <p:spPr>
          <a:xfrm>
            <a:off x="287300" y="288925"/>
            <a:ext cx="11293592"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5"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
        <p:nvSpPr>
          <p:cNvPr id="47" name="Slide Number"/>
          <p:cNvSpPr txBox="1">
            <a:spLocks noGrp="1"/>
          </p:cNvSpPr>
          <p:nvPr>
            <p:ph type="sldNum" sz="quarter" idx="2"/>
          </p:nvPr>
        </p:nvSpPr>
        <p:spPr>
          <a:xfrm>
            <a:off x="11769264" y="6469380"/>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8118567"/>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5.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4.xml"/></Relationships>
</file>

<file path=ppt/slides/_rels/slide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6.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07.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5.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03.xml"/><Relationship Id="rId6" Type="http://schemas.openxmlformats.org/officeDocument/2006/relationships/image" Target="../media/image6.emf"/><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9.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1.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8.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9.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0.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1.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3.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4.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5.emf"/><Relationship Id="rId7" Type="http://schemas.openxmlformats.org/officeDocument/2006/relationships/image" Target="../media/image6.emf"/><Relationship Id="rId2" Type="http://schemas.openxmlformats.org/officeDocument/2006/relationships/image" Target="../media/image14.emf"/><Relationship Id="rId1" Type="http://schemas.openxmlformats.org/officeDocument/2006/relationships/slideLayout" Target="../slideLayouts/slideLayout103.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03.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03.xml"/></Relationships>
</file>

<file path=ppt/slides/_rels/slide31.xml.rels><?xml version="1.0" encoding="UTF-8" standalone="yes"?>
<Relationships xmlns="http://schemas.openxmlformats.org/package/2006/relationships"><Relationship Id="rId3" Type="http://schemas.openxmlformats.org/officeDocument/2006/relationships/hyperlink" Target="https://tools.totaleconomicimpact.com/signin.aspx?t=ibm" TargetMode="External"/><Relationship Id="rId2" Type="http://schemas.openxmlformats.org/officeDocument/2006/relationships/image" Target="../media/image21.jpeg"/><Relationship Id="rId1" Type="http://schemas.openxmlformats.org/officeDocument/2006/relationships/slideLayout" Target="../slideLayouts/slideLayout108.xml"/><Relationship Id="rId5" Type="http://schemas.openxmlformats.org/officeDocument/2006/relationships/image" Target="../media/image22.emf"/><Relationship Id="rId4" Type="http://schemas.openxmlformats.org/officeDocument/2006/relationships/hyperlink" Target="https://www.ibm.com/data-privacy"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ark purple ring">
            <a:extLst>
              <a:ext uri="{FF2B5EF4-FFF2-40B4-BE49-F238E27FC236}">
                <a16:creationId xmlns:a16="http://schemas.microsoft.com/office/drawing/2014/main" id="{DF58DF5F-4CD4-3426-7D3D-59D49FC22014}"/>
              </a:ext>
            </a:extLst>
          </p:cNvPr>
          <p:cNvPicPr>
            <a:picLocks noChangeAspect="1"/>
          </p:cNvPicPr>
          <p:nvPr/>
        </p:nvPicPr>
        <p:blipFill>
          <a:blip r:embed="rId2"/>
          <a:stretch>
            <a:fillRect/>
          </a:stretch>
        </p:blipFill>
        <p:spPr>
          <a:xfrm>
            <a:off x="0" y="0"/>
            <a:ext cx="12194382" cy="6858000"/>
          </a:xfrm>
          <a:prstGeom prst="rect">
            <a:avLst/>
          </a:prstGeom>
        </p:spPr>
      </p:pic>
      <p:sp>
        <p:nvSpPr>
          <p:cNvPr id="2" name="Title 1">
            <a:extLst>
              <a:ext uri="{FF2B5EF4-FFF2-40B4-BE49-F238E27FC236}">
                <a16:creationId xmlns:a16="http://schemas.microsoft.com/office/drawing/2014/main" id="{F5B32837-6AEC-05EA-23AB-0DC785E378AC}"/>
              </a:ext>
            </a:extLst>
          </p:cNvPr>
          <p:cNvSpPr>
            <a:spLocks noGrp="1"/>
          </p:cNvSpPr>
          <p:nvPr>
            <p:ph type="ctrTitle"/>
          </p:nvPr>
        </p:nvSpPr>
        <p:spPr>
          <a:xfrm>
            <a:off x="160103" y="1473200"/>
            <a:ext cx="7142397" cy="3911600"/>
          </a:xfrm>
          <a:solidFill>
            <a:schemeClr val="bg2">
              <a:alpha val="28982"/>
            </a:schemeClr>
          </a:solidFill>
          <a:ln>
            <a:noFill/>
          </a:ln>
        </p:spPr>
        <p:txBody>
          <a:bodyPr anchor="t">
            <a:normAutofit/>
          </a:bodyPr>
          <a:lstStyle/>
          <a:p>
            <a:pPr algn="l"/>
            <a:r>
              <a:rPr lang="en-US" sz="3600" b="1" dirty="0">
                <a:solidFill>
                  <a:schemeClr val="bg1"/>
                </a:solidFill>
                <a:latin typeface="IBM Plex Sans" panose="020B0503050203000203" pitchFamily="34" charset="0"/>
              </a:rPr>
              <a:t>High-Level Personal Data Protection (PDP) Assessment</a:t>
            </a:r>
            <a:br>
              <a:rPr lang="en-US" sz="3600" b="1" dirty="0">
                <a:solidFill>
                  <a:schemeClr val="bg1"/>
                </a:solidFill>
                <a:latin typeface="IBM Plex Sans" panose="020B0503050203000203" pitchFamily="34" charset="0"/>
              </a:rPr>
            </a:br>
            <a:br>
              <a:rPr lang="en-US" sz="3600" b="1" dirty="0">
                <a:solidFill>
                  <a:schemeClr val="bg1"/>
                </a:solidFill>
                <a:latin typeface="IBM Plex Sans" panose="020B0503050203000203" pitchFamily="34" charset="0"/>
              </a:rPr>
            </a:br>
            <a:r>
              <a:rPr lang="en-US" sz="2700" dirty="0">
                <a:solidFill>
                  <a:schemeClr val="bg1"/>
                </a:solidFill>
                <a:latin typeface="IBM Plex Sans" panose="020B0503050203000203" pitchFamily="34" charset="0"/>
              </a:rPr>
              <a:t>Helping Organizations Understand Their Current Readiness</a:t>
            </a:r>
            <a:br>
              <a:rPr lang="en-US" sz="2700" dirty="0">
                <a:solidFill>
                  <a:schemeClr val="bg1"/>
                </a:solidFill>
                <a:latin typeface="IBM Plex Sans" panose="020B0503050203000203" pitchFamily="34" charset="0"/>
              </a:rPr>
            </a:br>
            <a:br>
              <a:rPr lang="en-US" sz="2700" dirty="0">
                <a:solidFill>
                  <a:schemeClr val="bg1"/>
                </a:solidFill>
                <a:latin typeface="IBM Plex Sans" panose="020B0503050203000203" pitchFamily="34" charset="0"/>
              </a:rPr>
            </a:br>
            <a:br>
              <a:rPr lang="en-US" sz="2700" dirty="0">
                <a:solidFill>
                  <a:schemeClr val="bg1"/>
                </a:solidFill>
                <a:latin typeface="IBM Plex Sans" panose="020B0503050203000203" pitchFamily="34" charset="0"/>
              </a:rPr>
            </a:br>
            <a:r>
              <a:rPr lang="en-US" sz="2000" i="1" dirty="0">
                <a:solidFill>
                  <a:schemeClr val="bg1"/>
                </a:solidFill>
                <a:latin typeface="IBM Plex Sans" panose="020B0503050203000203" pitchFamily="34" charset="0"/>
              </a:rPr>
              <a:t>September 2025</a:t>
            </a:r>
            <a:endParaRPr lang="en-US" sz="3600" i="1" dirty="0">
              <a:solidFill>
                <a:schemeClr val="bg1"/>
              </a:solidFill>
              <a:latin typeface="IBM Plex Sans" panose="020B0503050203000203" pitchFamily="34" charset="0"/>
            </a:endParaRPr>
          </a:p>
        </p:txBody>
      </p:sp>
      <p:pic>
        <p:nvPicPr>
          <p:cNvPr id="7" name="Picture 6" descr="A blue and black striped logo&#10;&#10;AI-generated content may be incorrect.">
            <a:extLst>
              <a:ext uri="{FF2B5EF4-FFF2-40B4-BE49-F238E27FC236}">
                <a16:creationId xmlns:a16="http://schemas.microsoft.com/office/drawing/2014/main" id="{3D778804-4A50-68DE-89B9-7B78A7BE2E16}"/>
              </a:ext>
            </a:extLst>
          </p:cNvPr>
          <p:cNvPicPr>
            <a:picLocks noChangeAspect="1"/>
          </p:cNvPicPr>
          <p:nvPr/>
        </p:nvPicPr>
        <p:blipFill>
          <a:blip r:embed="rId3"/>
          <a:stretch>
            <a:fillRect/>
          </a:stretch>
        </p:blipFill>
        <p:spPr>
          <a:xfrm>
            <a:off x="11183703" y="6281420"/>
            <a:ext cx="805097" cy="322039"/>
          </a:xfrm>
          <a:prstGeom prst="rect">
            <a:avLst/>
          </a:prstGeom>
        </p:spPr>
      </p:pic>
    </p:spTree>
    <p:extLst>
      <p:ext uri="{BB962C8B-B14F-4D97-AF65-F5344CB8AC3E}">
        <p14:creationId xmlns:p14="http://schemas.microsoft.com/office/powerpoint/2010/main" val="2034375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CEAAF-EA7D-3B79-EB0D-F111C45C29C5}"/>
            </a:ext>
          </a:extLst>
        </p:cNvPr>
        <p:cNvGrpSpPr/>
        <p:nvPr/>
      </p:nvGrpSpPr>
      <p:grpSpPr>
        <a:xfrm>
          <a:off x="0" y="0"/>
          <a:ext cx="0" cy="0"/>
          <a:chOff x="0" y="0"/>
          <a:chExt cx="0" cy="0"/>
        </a:xfrm>
      </p:grpSpPr>
      <p:sp>
        <p:nvSpPr>
          <p:cNvPr id="66" name="Rectangle 65" descr="Vertical half slide background in gray 10">
            <a:extLst>
              <a:ext uri="{FF2B5EF4-FFF2-40B4-BE49-F238E27FC236}">
                <a16:creationId xmlns:a16="http://schemas.microsoft.com/office/drawing/2014/main" id="{74B289F7-4C8F-2551-3AAD-0D0023749CB1}"/>
              </a:ext>
            </a:extLst>
          </p:cNvPr>
          <p:cNvSpPr/>
          <p:nvPr/>
        </p:nvSpPr>
        <p:spPr bwMode="auto">
          <a:xfrm>
            <a:off x="-2" y="448"/>
            <a:ext cx="3886201" cy="6857552"/>
          </a:xfrm>
          <a:prstGeom prst="rect">
            <a:avLst/>
          </a:prstGeom>
          <a:solidFill>
            <a:srgbClr val="F2F2F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FFFFFF"/>
              </a:solidFill>
              <a:effectLst/>
              <a:uLnTx/>
              <a:uFillTx/>
              <a:latin typeface="IBM Plex Sans Light" panose="020B0403050203000203" pitchFamily="34" charset="0"/>
              <a:ea typeface="+mn-ea"/>
              <a:cs typeface="+mn-cs"/>
            </a:endParaRPr>
          </a:p>
        </p:txBody>
      </p:sp>
      <p:sp>
        <p:nvSpPr>
          <p:cNvPr id="59" name="Rectangle 58">
            <a:extLst>
              <a:ext uri="{FF2B5EF4-FFF2-40B4-BE49-F238E27FC236}">
                <a16:creationId xmlns:a16="http://schemas.microsoft.com/office/drawing/2014/main" id="{ABE4CE7C-9668-1942-CE45-2836E88F1178}"/>
              </a:ext>
            </a:extLst>
          </p:cNvPr>
          <p:cNvSpPr/>
          <p:nvPr/>
        </p:nvSpPr>
        <p:spPr bwMode="auto">
          <a:xfrm>
            <a:off x="0" y="16687"/>
            <a:ext cx="12192000" cy="121592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dirty="0">
              <a:ln>
                <a:noFill/>
              </a:ln>
              <a:solidFill>
                <a:srgbClr val="FFFFFF"/>
              </a:solidFill>
              <a:effectLst/>
              <a:uLnTx/>
              <a:uFillTx/>
              <a:latin typeface="IBM Plex Sans Light" panose="020B0403050203000203" pitchFamily="34" charset="0"/>
              <a:ea typeface="+mn-ea"/>
              <a:cs typeface="+mn-cs"/>
            </a:endParaRPr>
          </a:p>
        </p:txBody>
      </p:sp>
      <p:sp>
        <p:nvSpPr>
          <p:cNvPr id="20" name="Title 1">
            <a:extLst>
              <a:ext uri="{FF2B5EF4-FFF2-40B4-BE49-F238E27FC236}">
                <a16:creationId xmlns:a16="http://schemas.microsoft.com/office/drawing/2014/main" id="{E4B0B9FD-2FD7-2884-A699-4293BF0A3E18}"/>
              </a:ext>
            </a:extLst>
          </p:cNvPr>
          <p:cNvSpPr>
            <a:spLocks noGrp="1"/>
          </p:cNvSpPr>
          <p:nvPr>
            <p:ph type="title"/>
          </p:nvPr>
        </p:nvSpPr>
        <p:spPr>
          <a:xfrm>
            <a:off x="287963" y="288409"/>
            <a:ext cx="6252322" cy="775603"/>
          </a:xfrm>
        </p:spPr>
        <p:txBody>
          <a:bodyPr lIns="0" tIns="0" rIns="228570" bIns="0" anchor="t"/>
          <a:lstStyle/>
          <a:p>
            <a:r>
              <a:rPr lang="en-US" sz="2200" dirty="0">
                <a:solidFill>
                  <a:srgbClr val="000000"/>
                </a:solidFill>
                <a:latin typeface="IBM Plex Sans Light" panose="020B0403050203000203" pitchFamily="34" charset="0"/>
              </a:rPr>
              <a:t>Our Approach: </a:t>
            </a:r>
            <a:r>
              <a:rPr lang="en-US" sz="2200" b="1" dirty="0">
                <a:solidFill>
                  <a:srgbClr val="0F62FE"/>
                </a:solidFill>
                <a:latin typeface="IBM Plex Sans Light" panose="020B0403050203000203" pitchFamily="34" charset="0"/>
              </a:rPr>
              <a:t>High-Level Free Assessment</a:t>
            </a:r>
          </a:p>
        </p:txBody>
      </p:sp>
      <p:cxnSp>
        <p:nvCxnSpPr>
          <p:cNvPr id="61" name="Straight Connector 60">
            <a:extLst>
              <a:ext uri="{FF2B5EF4-FFF2-40B4-BE49-F238E27FC236}">
                <a16:creationId xmlns:a16="http://schemas.microsoft.com/office/drawing/2014/main" id="{DBC65904-D9E8-FD64-3C44-C2F622A3E9F8}"/>
              </a:ext>
            </a:extLst>
          </p:cNvPr>
          <p:cNvCxnSpPr/>
          <p:nvPr/>
        </p:nvCxnSpPr>
        <p:spPr bwMode="auto">
          <a:xfrm>
            <a:off x="0" y="1232614"/>
            <a:ext cx="12192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5" name="Text Placeholder 3">
            <a:extLst>
              <a:ext uri="{FF2B5EF4-FFF2-40B4-BE49-F238E27FC236}">
                <a16:creationId xmlns:a16="http://schemas.microsoft.com/office/drawing/2014/main" id="{9C6D9508-F557-6FBA-015E-54DE643FEA5A}"/>
              </a:ext>
            </a:extLst>
          </p:cNvPr>
          <p:cNvSpPr txBox="1">
            <a:spLocks/>
          </p:cNvSpPr>
          <p:nvPr/>
        </p:nvSpPr>
        <p:spPr>
          <a:xfrm>
            <a:off x="106513" y="1401216"/>
            <a:ext cx="3779686" cy="40696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1218956" rtl="0" eaLnBrk="1" fontAlgn="auto" latinLnBrk="0" hangingPunct="1">
              <a:lnSpc>
                <a:spcPct val="11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latin typeface="IBM Plex Sans Light" panose="020B0403050203000203" pitchFamily="34" charset="0"/>
                <a:ea typeface="+mj-ea"/>
                <a:cs typeface="+mj-cs"/>
                <a:sym typeface="IBM Plex Sans Light"/>
              </a:rPr>
              <a:t>Why Personal Data Protection “MATTERS”?</a:t>
            </a:r>
          </a:p>
        </p:txBody>
      </p:sp>
      <p:sp>
        <p:nvSpPr>
          <p:cNvPr id="10" name="Text Placeholder 3">
            <a:extLst>
              <a:ext uri="{FF2B5EF4-FFF2-40B4-BE49-F238E27FC236}">
                <a16:creationId xmlns:a16="http://schemas.microsoft.com/office/drawing/2014/main" id="{BF0AC7C2-8C79-6AE1-72FC-F9ED0DE419A0}"/>
              </a:ext>
            </a:extLst>
          </p:cNvPr>
          <p:cNvSpPr txBox="1">
            <a:spLocks/>
          </p:cNvSpPr>
          <p:nvPr/>
        </p:nvSpPr>
        <p:spPr>
          <a:xfrm>
            <a:off x="106513" y="2099363"/>
            <a:ext cx="3614587" cy="428965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1218956" rtl="0" eaLnBrk="1" fontAlgn="auto" latinLnBrk="0" hangingPunct="1">
              <a:lnSpc>
                <a:spcPct val="110000"/>
              </a:lnSpc>
              <a:spcBef>
                <a:spcPts val="0"/>
              </a:spcBef>
              <a:spcAft>
                <a:spcPts val="0"/>
              </a:spcAft>
              <a:buClrTx/>
              <a:buSzTx/>
              <a:buFontTx/>
              <a:buNone/>
              <a:tabLst/>
              <a:defRPr/>
            </a:pP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Organizations today face rising expectations from regulators, customers, and partners around how personal data is </a:t>
            </a:r>
            <a:r>
              <a:rPr kumimoji="0" lang="en-US" sz="1300" b="1" i="0" u="none" strike="noStrike" kern="0" cap="none" spc="0" normalizeH="0" baseline="0" noProof="0" dirty="0">
                <a:ln>
                  <a:noFill/>
                </a:ln>
                <a:solidFill>
                  <a:srgbClr val="0F62FE"/>
                </a:solidFill>
                <a:effectLst/>
                <a:uLnTx/>
                <a:uFillTx/>
                <a:latin typeface="IBM Plex Sans Light" panose="020B0403050203000203" pitchFamily="34" charset="0"/>
                <a:ea typeface="+mj-ea"/>
                <a:cs typeface="+mj-cs"/>
                <a:sym typeface="IBM Plex Sans Light"/>
              </a:rPr>
              <a:t>collected, stored, and used</a:t>
            </a: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a:t>
            </a:r>
          </a:p>
          <a:p>
            <a:pPr marL="0" marR="0" lvl="0" indent="0" defTabSz="1218956" rtl="0" eaLnBrk="1" fontAlgn="auto" latinLnBrk="0" hangingPunct="1">
              <a:lnSpc>
                <a:spcPct val="110000"/>
              </a:lnSpc>
              <a:spcBef>
                <a:spcPts val="0"/>
              </a:spcBef>
              <a:spcAft>
                <a:spcPts val="0"/>
              </a:spcAft>
              <a:buClrTx/>
              <a:buSzTx/>
              <a:buFontTx/>
              <a:buNone/>
              <a:tabLst/>
              <a:defRPr/>
            </a:pPr>
            <a:endPar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defTabSz="1218956" rtl="0" eaLnBrk="1" fontAlgn="auto" latinLnBrk="0" hangingPunct="1">
              <a:lnSpc>
                <a:spcPct val="110000"/>
              </a:lnSpc>
              <a:spcBef>
                <a:spcPts val="0"/>
              </a:spcBef>
              <a:spcAft>
                <a:spcPts val="0"/>
              </a:spcAft>
              <a:buClrTx/>
              <a:buSzTx/>
              <a:buFontTx/>
              <a:buNone/>
              <a:tabLst/>
              <a:defRPr/>
            </a:pP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Failure to protect data leads not only to regulatory fines but also long-lasting reputational damage and loss of customer trust.</a:t>
            </a:r>
          </a:p>
          <a:p>
            <a:pPr marL="0" marR="0" lvl="0" indent="0" defTabSz="1218956" rtl="0" eaLnBrk="1" fontAlgn="auto" latinLnBrk="0" hangingPunct="1">
              <a:lnSpc>
                <a:spcPct val="110000"/>
              </a:lnSpc>
              <a:spcBef>
                <a:spcPts val="0"/>
              </a:spcBef>
              <a:spcAft>
                <a:spcPts val="0"/>
              </a:spcAft>
              <a:buClrTx/>
              <a:buSzTx/>
              <a:buFontTx/>
              <a:buNone/>
              <a:tabLst/>
              <a:defRPr/>
            </a:pPr>
            <a:endPar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algn="ctr" defTabSz="1218956" rtl="0" eaLnBrk="1" fontAlgn="auto" latinLnBrk="0" hangingPunct="1">
              <a:lnSpc>
                <a:spcPct val="110000"/>
              </a:lnSpc>
              <a:spcBef>
                <a:spcPts val="0"/>
              </a:spcBef>
              <a:spcAft>
                <a:spcPts val="0"/>
              </a:spcAft>
              <a:buClrTx/>
              <a:buSzTx/>
              <a:buFontTx/>
              <a:buNone/>
              <a:tabLst/>
              <a:defRPr/>
            </a:pPr>
            <a:endPar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defTabSz="1218956" rtl="0" eaLnBrk="1" fontAlgn="auto" latinLnBrk="0" hangingPunct="1">
              <a:lnSpc>
                <a:spcPct val="110000"/>
              </a:lnSpc>
              <a:spcBef>
                <a:spcPts val="0"/>
              </a:spcBef>
              <a:spcAft>
                <a:spcPts val="0"/>
              </a:spcAft>
              <a:buClrTx/>
              <a:buSzTx/>
              <a:buFontTx/>
              <a:buNone/>
              <a:tabLst/>
              <a:defRPr/>
            </a:pPr>
            <a:endParaRPr lang="en-US" sz="1300" kern="0" dirty="0">
              <a:solidFill>
                <a:srgbClr val="000000"/>
              </a:solidFill>
              <a:latin typeface="IBM Plex Sans Light" panose="020B0403050203000203" pitchFamily="34" charset="0"/>
            </a:endParaRPr>
          </a:p>
          <a:p>
            <a:pPr marL="0" marR="0" lvl="0" indent="0" defTabSz="1218956" rtl="0" eaLnBrk="1" fontAlgn="auto" latinLnBrk="0" hangingPunct="1">
              <a:lnSpc>
                <a:spcPct val="110000"/>
              </a:lnSpc>
              <a:spcBef>
                <a:spcPts val="0"/>
              </a:spcBef>
              <a:spcAft>
                <a:spcPts val="0"/>
              </a:spcAft>
              <a:buClrTx/>
              <a:buSzTx/>
              <a:buFontTx/>
              <a:buNone/>
              <a:tabLst/>
              <a:defRPr/>
            </a:pP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The financial impact of breaches is increasing due to more sophisticated cyberattacks, growing data volumes, and integration of AI systems that create new risks.</a:t>
            </a:r>
          </a:p>
          <a:p>
            <a:pPr marL="0" marR="0" lvl="0" indent="0" defTabSz="1218956" rtl="0" eaLnBrk="1" fontAlgn="auto" latinLnBrk="0" hangingPunct="1">
              <a:lnSpc>
                <a:spcPct val="110000"/>
              </a:lnSpc>
              <a:spcBef>
                <a:spcPts val="0"/>
              </a:spcBef>
              <a:spcAft>
                <a:spcPts val="0"/>
              </a:spcAft>
              <a:buClrTx/>
              <a:buSzTx/>
              <a:buFontTx/>
              <a:buNone/>
              <a:tabLst/>
              <a:defRPr/>
            </a:pPr>
            <a:endPar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defTabSz="1218956" rtl="0" eaLnBrk="1" fontAlgn="auto" latinLnBrk="0" hangingPunct="1">
              <a:lnSpc>
                <a:spcPct val="110000"/>
              </a:lnSpc>
              <a:spcBef>
                <a:spcPts val="0"/>
              </a:spcBef>
              <a:spcAft>
                <a:spcPts val="0"/>
              </a:spcAft>
              <a:buClrTx/>
              <a:buSzTx/>
              <a:buFontTx/>
              <a:buNone/>
              <a:tabLst/>
              <a:defRPr/>
            </a:pP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Data protection is not just about </a:t>
            </a:r>
            <a:r>
              <a:rPr kumimoji="0" lang="en-US" sz="1300" b="1" i="0" u="none" strike="noStrike" kern="0" cap="none" spc="0" normalizeH="0" baseline="0" noProof="0" dirty="0">
                <a:ln>
                  <a:noFill/>
                </a:ln>
                <a:solidFill>
                  <a:srgbClr val="0F62FE"/>
                </a:solidFill>
                <a:effectLst/>
                <a:uLnTx/>
                <a:uFillTx/>
                <a:latin typeface="IBM Plex Sans Light" panose="020B0403050203000203" pitchFamily="34" charset="0"/>
                <a:ea typeface="+mj-ea"/>
                <a:cs typeface="+mj-cs"/>
                <a:sym typeface="IBM Plex Sans Light"/>
              </a:rPr>
              <a:t>compliance</a:t>
            </a: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 — it </a:t>
            </a:r>
            <a:r>
              <a:rPr kumimoji="0" lang="en-US" sz="1300" b="1" i="0" u="none" strike="noStrike" kern="0" cap="none" spc="0" normalizeH="0" baseline="0" noProof="0" dirty="0">
                <a:ln>
                  <a:noFill/>
                </a:ln>
                <a:solidFill>
                  <a:srgbClr val="0F62FE"/>
                </a:solidFill>
                <a:effectLst/>
                <a:uLnTx/>
                <a:uFillTx/>
                <a:latin typeface="IBM Plex Sans Light" panose="020B0403050203000203" pitchFamily="34" charset="0"/>
                <a:ea typeface="+mj-ea"/>
                <a:cs typeface="+mj-cs"/>
                <a:sym typeface="IBM Plex Sans Light"/>
              </a:rPr>
              <a:t>enables innovation, secure data sharing, and building customer confidence</a:t>
            </a: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 as a competitive differentiator.</a:t>
            </a:r>
          </a:p>
          <a:p>
            <a:pPr marL="0" marR="0" lvl="0" indent="0" defTabSz="1218956" rtl="0" eaLnBrk="1" fontAlgn="auto" latinLnBrk="0" hangingPunct="1">
              <a:lnSpc>
                <a:spcPct val="110000"/>
              </a:lnSpc>
              <a:spcBef>
                <a:spcPts val="0"/>
              </a:spcBef>
              <a:spcAft>
                <a:spcPts val="0"/>
              </a:spcAft>
              <a:buClrTx/>
              <a:buSzTx/>
              <a:buFontTx/>
              <a:buNone/>
              <a:tabLst/>
              <a:defRPr/>
            </a:pPr>
            <a:endPar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p:txBody>
      </p:sp>
      <p:sp>
        <p:nvSpPr>
          <p:cNvPr id="3" name="Chevron 2">
            <a:extLst>
              <a:ext uri="{FF2B5EF4-FFF2-40B4-BE49-F238E27FC236}">
                <a16:creationId xmlns:a16="http://schemas.microsoft.com/office/drawing/2014/main" id="{D2A128BF-A8D3-BD21-6F44-5E166938F481}"/>
              </a:ext>
            </a:extLst>
          </p:cNvPr>
          <p:cNvSpPr/>
          <p:nvPr/>
        </p:nvSpPr>
        <p:spPr bwMode="auto">
          <a:xfrm rot="5400000">
            <a:off x="1617268" y="3980894"/>
            <a:ext cx="277011" cy="514348"/>
          </a:xfrm>
          <a:prstGeom prst="chevron">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 name="Chevron 3">
            <a:extLst>
              <a:ext uri="{FF2B5EF4-FFF2-40B4-BE49-F238E27FC236}">
                <a16:creationId xmlns:a16="http://schemas.microsoft.com/office/drawing/2014/main" id="{496B990A-0E87-9A75-D759-472E901FD976}"/>
              </a:ext>
            </a:extLst>
          </p:cNvPr>
          <p:cNvSpPr/>
          <p:nvPr/>
        </p:nvSpPr>
        <p:spPr bwMode="auto">
          <a:xfrm rot="5400000">
            <a:off x="1617268" y="4170936"/>
            <a:ext cx="277011" cy="514348"/>
          </a:xfrm>
          <a:prstGeom prst="chevron">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 name="Text Placeholder 3">
            <a:extLst>
              <a:ext uri="{FF2B5EF4-FFF2-40B4-BE49-F238E27FC236}">
                <a16:creationId xmlns:a16="http://schemas.microsoft.com/office/drawing/2014/main" id="{A2710BCF-9FCF-D4C9-B88D-846D14346044}"/>
              </a:ext>
            </a:extLst>
          </p:cNvPr>
          <p:cNvSpPr txBox="1">
            <a:spLocks/>
          </p:cNvSpPr>
          <p:nvPr/>
        </p:nvSpPr>
        <p:spPr>
          <a:xfrm>
            <a:off x="3992714" y="1401216"/>
            <a:ext cx="6865786" cy="40696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1218956" rtl="0" eaLnBrk="1" fontAlgn="auto" latinLnBrk="0" hangingPunct="1">
              <a:lnSpc>
                <a:spcPct val="11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latin typeface="IBM Plex Sans Light" panose="020B0403050203000203" pitchFamily="34" charset="0"/>
                <a:ea typeface="+mj-ea"/>
                <a:cs typeface="+mj-cs"/>
                <a:sym typeface="IBM Plex Sans Light"/>
              </a:rPr>
              <a:t>Our Complimentary High-Level PDP Assessment — WHAT &amp; WHY</a:t>
            </a:r>
          </a:p>
        </p:txBody>
      </p:sp>
      <p:sp>
        <p:nvSpPr>
          <p:cNvPr id="7" name="Text Placeholder 3">
            <a:extLst>
              <a:ext uri="{FF2B5EF4-FFF2-40B4-BE49-F238E27FC236}">
                <a16:creationId xmlns:a16="http://schemas.microsoft.com/office/drawing/2014/main" id="{C97DF662-9C08-BBD8-4BCD-D80BC3FAF565}"/>
              </a:ext>
            </a:extLst>
          </p:cNvPr>
          <p:cNvSpPr txBox="1">
            <a:spLocks/>
          </p:cNvSpPr>
          <p:nvPr/>
        </p:nvSpPr>
        <p:spPr>
          <a:xfrm>
            <a:off x="3992714" y="1900480"/>
            <a:ext cx="7907186" cy="1347797"/>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285750" marR="0" lvl="0" indent="-285750" defTabSz="1218956"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300" b="1"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Purpose</a:t>
            </a: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 provide a quick, actionable snapshot of PDP readiness (high-level, non-invasive)</a:t>
            </a:r>
          </a:p>
          <a:p>
            <a:pPr marL="285750" marR="0" lvl="0" indent="-285750" defTabSz="1218956"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300" b="1"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Duration</a:t>
            </a: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 typically 1 - 2 days workshops</a:t>
            </a:r>
          </a:p>
          <a:p>
            <a:pPr marL="285750" marR="0" lvl="0" indent="-285750" defTabSz="1218956"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300" b="1"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Deliverable</a:t>
            </a:r>
            <a:r>
              <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rPr>
              <a:t>: Findings report, maturity snapshot, prioritized technology recommendations</a:t>
            </a:r>
          </a:p>
          <a:p>
            <a:pPr marL="285750" marR="0" lvl="0" indent="-285750" defTabSz="1218956"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defTabSz="1218956" rtl="0" eaLnBrk="1" fontAlgn="auto" latinLnBrk="0" hangingPunct="1">
              <a:lnSpc>
                <a:spcPct val="110000"/>
              </a:lnSpc>
              <a:spcBef>
                <a:spcPts val="0"/>
              </a:spcBef>
              <a:spcAft>
                <a:spcPts val="0"/>
              </a:spcAft>
              <a:buClrTx/>
              <a:buSzTx/>
              <a:buFontTx/>
              <a:buNone/>
              <a:tabLst/>
              <a:defRPr/>
            </a:pPr>
            <a:r>
              <a:rPr kumimoji="0" lang="en-US" sz="1300" b="1" i="0" u="none" strike="noStrike" kern="0" cap="none" spc="0" normalizeH="0" baseline="0" noProof="0" dirty="0">
                <a:ln>
                  <a:noFill/>
                </a:ln>
                <a:solidFill>
                  <a:srgbClr val="0F62FE"/>
                </a:solidFill>
                <a:effectLst/>
                <a:uLnTx/>
                <a:uFillTx/>
                <a:latin typeface="IBM Plex Sans Light" panose="020B0403050203000203" pitchFamily="34" charset="0"/>
                <a:ea typeface="+mj-ea"/>
                <a:cs typeface="+mj-cs"/>
                <a:sym typeface="IBM Plex Sans Light"/>
              </a:rPr>
              <a:t>No-cost, limited-scope engagement intended to identify immediate risks and opportunities</a:t>
            </a:r>
          </a:p>
          <a:p>
            <a:pPr marL="0" marR="0" lvl="0" indent="0" defTabSz="1218956" rtl="0" eaLnBrk="1" fontAlgn="auto" latinLnBrk="0" hangingPunct="1">
              <a:lnSpc>
                <a:spcPct val="110000"/>
              </a:lnSpc>
              <a:spcBef>
                <a:spcPts val="0"/>
              </a:spcBef>
              <a:spcAft>
                <a:spcPts val="0"/>
              </a:spcAft>
              <a:buClrTx/>
              <a:buSzTx/>
              <a:buFontTx/>
              <a:buNone/>
              <a:tabLst/>
              <a:defRPr/>
            </a:pPr>
            <a:endParaRPr lang="en-US" sz="1300" b="1" kern="0" dirty="0">
              <a:solidFill>
                <a:srgbClr val="0F62FE"/>
              </a:solidFill>
              <a:latin typeface="IBM Plex Sans Light" panose="020B0403050203000203" pitchFamily="34" charset="0"/>
            </a:endParaRPr>
          </a:p>
          <a:p>
            <a:pPr marL="0" marR="0" lvl="0" indent="0" defTabSz="1218956" rtl="0" eaLnBrk="1" fontAlgn="auto" latinLnBrk="0" hangingPunct="1">
              <a:lnSpc>
                <a:spcPct val="110000"/>
              </a:lnSpc>
              <a:spcBef>
                <a:spcPts val="0"/>
              </a:spcBef>
              <a:spcAft>
                <a:spcPts val="0"/>
              </a:spcAft>
              <a:buClrTx/>
              <a:buSzTx/>
              <a:buFontTx/>
              <a:buNone/>
              <a:tabLst/>
              <a:defRPr/>
            </a:pPr>
            <a:endParaRPr kumimoji="0" lang="en-US" sz="1300" b="1" i="0" u="none" strike="noStrike" kern="0" cap="none" spc="0" normalizeH="0" baseline="0" noProof="0" dirty="0">
              <a:ln>
                <a:noFill/>
              </a:ln>
              <a:solidFill>
                <a:srgbClr val="0F62FE"/>
              </a:solidFill>
              <a:effectLst/>
              <a:uLnTx/>
              <a:uFillTx/>
              <a:latin typeface="IBM Plex Sans Light" panose="020B0403050203000203" pitchFamily="34" charset="0"/>
              <a:ea typeface="+mj-ea"/>
              <a:cs typeface="+mj-cs"/>
              <a:sym typeface="IBM Plex Sans Light"/>
            </a:endParaRPr>
          </a:p>
          <a:p>
            <a:pPr marL="0" marR="0" lvl="0" indent="0" defTabSz="1218956" rtl="0" eaLnBrk="1" fontAlgn="auto" latinLnBrk="0" hangingPunct="1">
              <a:lnSpc>
                <a:spcPct val="110000"/>
              </a:lnSpc>
              <a:spcBef>
                <a:spcPts val="0"/>
              </a:spcBef>
              <a:spcAft>
                <a:spcPts val="0"/>
              </a:spcAft>
              <a:buClrTx/>
              <a:buSzTx/>
              <a:buFontTx/>
              <a:buNone/>
              <a:tabLst/>
              <a:defRPr/>
            </a:pPr>
            <a:endParaRPr kumimoji="0" lang="en-US" sz="130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p:txBody>
      </p:sp>
      <p:sp>
        <p:nvSpPr>
          <p:cNvPr id="8" name="Text Placeholder 3">
            <a:extLst>
              <a:ext uri="{FF2B5EF4-FFF2-40B4-BE49-F238E27FC236}">
                <a16:creationId xmlns:a16="http://schemas.microsoft.com/office/drawing/2014/main" id="{F87DEE34-D4A4-BE1D-AC21-F8F7B1D56991}"/>
              </a:ext>
            </a:extLst>
          </p:cNvPr>
          <p:cNvSpPr txBox="1">
            <a:spLocks/>
          </p:cNvSpPr>
          <p:nvPr/>
        </p:nvSpPr>
        <p:spPr>
          <a:xfrm>
            <a:off x="3992714" y="5015760"/>
            <a:ext cx="6014886" cy="40696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1218956" rtl="0" eaLnBrk="1" fontAlgn="auto" latinLnBrk="0" hangingPunct="1">
              <a:lnSpc>
                <a:spcPct val="11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latin typeface="IBM Plex Sans Light" panose="020B0403050203000203" pitchFamily="34" charset="0"/>
                <a:ea typeface="+mj-ea"/>
                <a:cs typeface="+mj-cs"/>
                <a:sym typeface="IBM Plex Sans Light"/>
              </a:rPr>
              <a:t>7 Dimensions Covered (High-Level)</a:t>
            </a:r>
          </a:p>
        </p:txBody>
      </p:sp>
      <p:sp>
        <p:nvSpPr>
          <p:cNvPr id="9" name="Rounded Rectangle 8">
            <a:extLst>
              <a:ext uri="{FF2B5EF4-FFF2-40B4-BE49-F238E27FC236}">
                <a16:creationId xmlns:a16="http://schemas.microsoft.com/office/drawing/2014/main" id="{AD1349C2-8F1B-0B1D-CDC4-4F75EF6CB621}"/>
              </a:ext>
            </a:extLst>
          </p:cNvPr>
          <p:cNvSpPr/>
          <p:nvPr/>
        </p:nvSpPr>
        <p:spPr>
          <a:xfrm>
            <a:off x="4218940" y="5460612"/>
            <a:ext cx="1908000" cy="43200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dirty="0"/>
              <a:t>Privacy Practices</a:t>
            </a:r>
          </a:p>
        </p:txBody>
      </p:sp>
      <p:sp>
        <p:nvSpPr>
          <p:cNvPr id="12" name="Rounded Rectangle 11">
            <a:extLst>
              <a:ext uri="{FF2B5EF4-FFF2-40B4-BE49-F238E27FC236}">
                <a16:creationId xmlns:a16="http://schemas.microsoft.com/office/drawing/2014/main" id="{8F19E0CF-C824-50BC-0F43-6C14E989D4FB}"/>
              </a:ext>
            </a:extLst>
          </p:cNvPr>
          <p:cNvSpPr/>
          <p:nvPr/>
        </p:nvSpPr>
        <p:spPr>
          <a:xfrm>
            <a:off x="4218940" y="5977029"/>
            <a:ext cx="1908000" cy="43200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dirty="0"/>
              <a:t>Privacy Impact</a:t>
            </a:r>
          </a:p>
        </p:txBody>
      </p:sp>
      <p:sp>
        <p:nvSpPr>
          <p:cNvPr id="15" name="Rounded Rectangle 14">
            <a:extLst>
              <a:ext uri="{FF2B5EF4-FFF2-40B4-BE49-F238E27FC236}">
                <a16:creationId xmlns:a16="http://schemas.microsoft.com/office/drawing/2014/main" id="{3F6D06EC-CB0A-C557-1E37-79F1CF11DB16}"/>
              </a:ext>
            </a:extLst>
          </p:cNvPr>
          <p:cNvSpPr/>
          <p:nvPr/>
        </p:nvSpPr>
        <p:spPr>
          <a:xfrm>
            <a:off x="6263277" y="5977029"/>
            <a:ext cx="1908000" cy="43200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dirty="0"/>
              <a:t>Data Governance</a:t>
            </a:r>
          </a:p>
        </p:txBody>
      </p:sp>
      <p:sp>
        <p:nvSpPr>
          <p:cNvPr id="17" name="Rounded Rectangle 16">
            <a:extLst>
              <a:ext uri="{FF2B5EF4-FFF2-40B4-BE49-F238E27FC236}">
                <a16:creationId xmlns:a16="http://schemas.microsoft.com/office/drawing/2014/main" id="{67D0C88C-B9A5-5C83-13EE-F966C3FD2512}"/>
              </a:ext>
            </a:extLst>
          </p:cNvPr>
          <p:cNvSpPr/>
          <p:nvPr/>
        </p:nvSpPr>
        <p:spPr>
          <a:xfrm>
            <a:off x="6263277" y="5451457"/>
            <a:ext cx="1908000" cy="43200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dirty="0"/>
              <a:t>Data Processing</a:t>
            </a:r>
          </a:p>
        </p:txBody>
      </p:sp>
      <p:sp>
        <p:nvSpPr>
          <p:cNvPr id="19" name="Rounded Rectangle 18">
            <a:extLst>
              <a:ext uri="{FF2B5EF4-FFF2-40B4-BE49-F238E27FC236}">
                <a16:creationId xmlns:a16="http://schemas.microsoft.com/office/drawing/2014/main" id="{5B08AE7F-E57B-C188-8A53-E56E59FFE0C9}"/>
              </a:ext>
            </a:extLst>
          </p:cNvPr>
          <p:cNvSpPr/>
          <p:nvPr/>
        </p:nvSpPr>
        <p:spPr>
          <a:xfrm>
            <a:off x="8237388" y="5455228"/>
            <a:ext cx="1908000" cy="43200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dirty="0"/>
              <a:t>Process &amp; Risk Mgmt.</a:t>
            </a:r>
          </a:p>
        </p:txBody>
      </p:sp>
      <p:sp>
        <p:nvSpPr>
          <p:cNvPr id="21" name="Rounded Rectangle 20">
            <a:extLst>
              <a:ext uri="{FF2B5EF4-FFF2-40B4-BE49-F238E27FC236}">
                <a16:creationId xmlns:a16="http://schemas.microsoft.com/office/drawing/2014/main" id="{3CE3E10F-21DD-4182-51DD-35ACF3D95324}"/>
              </a:ext>
            </a:extLst>
          </p:cNvPr>
          <p:cNvSpPr/>
          <p:nvPr/>
        </p:nvSpPr>
        <p:spPr>
          <a:xfrm>
            <a:off x="8237388" y="5977029"/>
            <a:ext cx="1908000" cy="43200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dirty="0"/>
              <a:t>People Readiness</a:t>
            </a:r>
          </a:p>
        </p:txBody>
      </p:sp>
      <p:sp>
        <p:nvSpPr>
          <p:cNvPr id="23" name="Rounded Rectangle 22">
            <a:extLst>
              <a:ext uri="{FF2B5EF4-FFF2-40B4-BE49-F238E27FC236}">
                <a16:creationId xmlns:a16="http://schemas.microsoft.com/office/drawing/2014/main" id="{D873C9A0-C36D-945E-FCB6-BC4655066580}"/>
              </a:ext>
            </a:extLst>
          </p:cNvPr>
          <p:cNvSpPr/>
          <p:nvPr/>
        </p:nvSpPr>
        <p:spPr>
          <a:xfrm>
            <a:off x="10207011" y="5431338"/>
            <a:ext cx="1908000" cy="43200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rPr dirty="0"/>
              <a:t>Technology (</a:t>
            </a:r>
            <a:r>
              <a:rPr b="1" dirty="0"/>
              <a:t>Focus</a:t>
            </a:r>
            <a:r>
              <a:rPr dirty="0"/>
              <a:t>)</a:t>
            </a:r>
          </a:p>
        </p:txBody>
      </p:sp>
      <p:pic>
        <p:nvPicPr>
          <p:cNvPr id="27" name="Picture 26" descr="A blue and black striped logo&#10;&#10;AI-generated content may be incorrect.">
            <a:extLst>
              <a:ext uri="{FF2B5EF4-FFF2-40B4-BE49-F238E27FC236}">
                <a16:creationId xmlns:a16="http://schemas.microsoft.com/office/drawing/2014/main" id="{FC6D1235-3903-6A9C-A5F2-861C3CF093A5}"/>
              </a:ext>
            </a:extLst>
          </p:cNvPr>
          <p:cNvPicPr>
            <a:picLocks noChangeAspect="1"/>
          </p:cNvPicPr>
          <p:nvPr/>
        </p:nvPicPr>
        <p:blipFill>
          <a:blip r:embed="rId3"/>
          <a:stretch>
            <a:fillRect/>
          </a:stretch>
        </p:blipFill>
        <p:spPr>
          <a:xfrm>
            <a:off x="11271261" y="6385630"/>
            <a:ext cx="805097" cy="322039"/>
          </a:xfrm>
          <a:prstGeom prst="rect">
            <a:avLst/>
          </a:prstGeom>
        </p:spPr>
      </p:pic>
      <p:sp>
        <p:nvSpPr>
          <p:cNvPr id="28" name="Rounded Rectangle 1">
            <a:extLst>
              <a:ext uri="{FF2B5EF4-FFF2-40B4-BE49-F238E27FC236}">
                <a16:creationId xmlns:a16="http://schemas.microsoft.com/office/drawing/2014/main" id="{2ED85023-A54B-4780-4C18-D90EB145A4A1}"/>
              </a:ext>
            </a:extLst>
          </p:cNvPr>
          <p:cNvSpPr/>
          <p:nvPr/>
        </p:nvSpPr>
        <p:spPr bwMode="auto">
          <a:xfrm>
            <a:off x="4738105" y="3128388"/>
            <a:ext cx="1930958" cy="680059"/>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System Font Regular"/>
              <a:buNone/>
              <a:tabLst/>
            </a:pPr>
            <a:r>
              <a:rPr kumimoji="0" lang="en-US" sz="1200" i="0" u="none" strike="noStrike" cap="none" normalizeH="0" baseline="0">
                <a:ln>
                  <a:noFill/>
                </a:ln>
                <a:solidFill>
                  <a:schemeClr val="tx1"/>
                </a:solidFill>
                <a:effectLst/>
                <a:latin typeface="IBM Plex Sans" panose="020B0503050203000203" pitchFamily="34" charset="0"/>
              </a:rPr>
              <a:t>Brainstorming</a:t>
            </a:r>
            <a:r>
              <a:rPr kumimoji="0" lang="en-US" sz="1200" b="1" i="0" u="none" strike="noStrike" cap="none" normalizeH="0" baseline="0">
                <a:ln>
                  <a:noFill/>
                </a:ln>
                <a:solidFill>
                  <a:schemeClr val="tx1"/>
                </a:solidFill>
                <a:effectLst/>
                <a:latin typeface="IBM Plex Sans" panose="020B0503050203000203" pitchFamily="34" charset="0"/>
              </a:rPr>
              <a:t> </a:t>
            </a:r>
            <a:r>
              <a:rPr kumimoji="0" lang="en-US" sz="1200" b="0" i="0" u="none" strike="noStrike" cap="none" normalizeH="0" baseline="0">
                <a:ln>
                  <a:noFill/>
                </a:ln>
                <a:solidFill>
                  <a:schemeClr val="tx1"/>
                </a:solidFill>
                <a:effectLst/>
                <a:latin typeface="IBM Plex Sans" panose="020B0503050203000203" pitchFamily="34" charset="0"/>
              </a:rPr>
              <a:t>– using MIRO</a:t>
            </a:r>
          </a:p>
        </p:txBody>
      </p:sp>
      <p:sp>
        <p:nvSpPr>
          <p:cNvPr id="29" name="Rounded Rectangle 3">
            <a:extLst>
              <a:ext uri="{FF2B5EF4-FFF2-40B4-BE49-F238E27FC236}">
                <a16:creationId xmlns:a16="http://schemas.microsoft.com/office/drawing/2014/main" id="{F8794324-F3E0-C9CB-7CE5-CEDDBDE582D3}"/>
              </a:ext>
            </a:extLst>
          </p:cNvPr>
          <p:cNvSpPr/>
          <p:nvPr/>
        </p:nvSpPr>
        <p:spPr bwMode="auto">
          <a:xfrm>
            <a:off x="7039204" y="3128388"/>
            <a:ext cx="1930958" cy="680059"/>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System Font Regular"/>
              <a:buNone/>
              <a:tabLst/>
            </a:pPr>
            <a:r>
              <a:rPr kumimoji="0" lang="en-US" sz="1200" i="0" u="none" strike="noStrike" cap="none" normalizeH="0" baseline="0">
                <a:ln>
                  <a:noFill/>
                </a:ln>
                <a:solidFill>
                  <a:schemeClr val="tx1"/>
                </a:solidFill>
                <a:effectLst/>
                <a:latin typeface="IBM Plex Sans" panose="020B0503050203000203" pitchFamily="34" charset="0"/>
              </a:rPr>
              <a:t>Conduct Interview</a:t>
            </a:r>
            <a:r>
              <a:rPr kumimoji="0" lang="en-US" sz="1200" b="1" i="0" u="none" strike="noStrike" cap="none" normalizeH="0" baseline="0">
                <a:ln>
                  <a:noFill/>
                </a:ln>
                <a:solidFill>
                  <a:schemeClr val="tx1"/>
                </a:solidFill>
                <a:effectLst/>
                <a:latin typeface="IBM Plex Sans" panose="020B0503050203000203" pitchFamily="34" charset="0"/>
              </a:rPr>
              <a:t> </a:t>
            </a:r>
            <a:r>
              <a:rPr kumimoji="0" lang="en-US" sz="1200" i="0" u="none" strike="noStrike" cap="none" normalizeH="0" baseline="0">
                <a:ln>
                  <a:noFill/>
                </a:ln>
                <a:solidFill>
                  <a:schemeClr val="tx1"/>
                </a:solidFill>
                <a:effectLst/>
                <a:latin typeface="IBM Plex Sans" panose="020B0503050203000203" pitchFamily="34" charset="0"/>
              </a:rPr>
              <a:t>– consists of 3 groups of question</a:t>
            </a:r>
          </a:p>
        </p:txBody>
      </p:sp>
      <p:sp>
        <p:nvSpPr>
          <p:cNvPr id="30" name="Rounded Rectangle 11">
            <a:extLst>
              <a:ext uri="{FF2B5EF4-FFF2-40B4-BE49-F238E27FC236}">
                <a16:creationId xmlns:a16="http://schemas.microsoft.com/office/drawing/2014/main" id="{71D7C66A-40C3-4FFE-F9BB-8B4F56EC21A5}"/>
              </a:ext>
            </a:extLst>
          </p:cNvPr>
          <p:cNvSpPr/>
          <p:nvPr/>
        </p:nvSpPr>
        <p:spPr bwMode="auto">
          <a:xfrm>
            <a:off x="9340303" y="3128388"/>
            <a:ext cx="1930958" cy="680059"/>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System Font Regular"/>
              <a:buNone/>
              <a:tabLst/>
            </a:pPr>
            <a:r>
              <a:rPr kumimoji="0" lang="en-US" sz="1200" i="0" u="none" strike="noStrike" cap="none" normalizeH="0" baseline="0">
                <a:ln>
                  <a:noFill/>
                </a:ln>
                <a:solidFill>
                  <a:schemeClr val="tx1"/>
                </a:solidFill>
                <a:effectLst/>
                <a:latin typeface="IBM Plex Sans" panose="020B0503050203000203" pitchFamily="34" charset="0"/>
              </a:rPr>
              <a:t>Prepare Assessment Report – by IBM</a:t>
            </a:r>
          </a:p>
        </p:txBody>
      </p:sp>
      <p:sp>
        <p:nvSpPr>
          <p:cNvPr id="31" name="Rounded Rectangle 13">
            <a:extLst>
              <a:ext uri="{FF2B5EF4-FFF2-40B4-BE49-F238E27FC236}">
                <a16:creationId xmlns:a16="http://schemas.microsoft.com/office/drawing/2014/main" id="{50B23E1A-6D60-1F31-5467-ABFC58148B95}"/>
              </a:ext>
            </a:extLst>
          </p:cNvPr>
          <p:cNvSpPr/>
          <p:nvPr/>
        </p:nvSpPr>
        <p:spPr bwMode="auto">
          <a:xfrm>
            <a:off x="9340303" y="3975979"/>
            <a:ext cx="1930958" cy="680059"/>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System Font Regular"/>
              <a:buNone/>
              <a:tabLst/>
            </a:pPr>
            <a:r>
              <a:rPr kumimoji="0" lang="en-US" sz="1200" i="0" u="none" strike="noStrike" cap="none" normalizeH="0" baseline="0">
                <a:ln>
                  <a:noFill/>
                </a:ln>
                <a:solidFill>
                  <a:schemeClr val="tx1"/>
                </a:solidFill>
                <a:effectLst/>
                <a:latin typeface="IBM Plex Sans" panose="020B0503050203000203" pitchFamily="34" charset="0"/>
              </a:rPr>
              <a:t>Present Assessment Report &amp; Recommend Next Step</a:t>
            </a:r>
            <a:r>
              <a:rPr kumimoji="0" lang="en-US" sz="1200" b="1" i="0" u="none" strike="noStrike" cap="none" normalizeH="0" baseline="0">
                <a:ln>
                  <a:noFill/>
                </a:ln>
                <a:solidFill>
                  <a:schemeClr val="tx1"/>
                </a:solidFill>
                <a:effectLst/>
                <a:latin typeface="IBM Plex Sans" panose="020B0503050203000203" pitchFamily="34" charset="0"/>
              </a:rPr>
              <a:t> –</a:t>
            </a:r>
            <a:r>
              <a:rPr kumimoji="0" lang="en-US" sz="1200" i="0" u="none" strike="noStrike" cap="none" normalizeH="0" baseline="0">
                <a:ln>
                  <a:noFill/>
                </a:ln>
                <a:solidFill>
                  <a:schemeClr val="tx1"/>
                </a:solidFill>
                <a:effectLst/>
                <a:latin typeface="IBM Plex Sans" panose="020B0503050203000203" pitchFamily="34" charset="0"/>
              </a:rPr>
              <a:t> by IBM</a:t>
            </a:r>
          </a:p>
          <a:p>
            <a:pPr marL="0" marR="0" indent="0" algn="l" defTabSz="914400" rtl="0" eaLnBrk="1" fontAlgn="base" latinLnBrk="0" hangingPunct="1">
              <a:lnSpc>
                <a:spcPct val="100000"/>
              </a:lnSpc>
              <a:spcBef>
                <a:spcPct val="0"/>
              </a:spcBef>
              <a:spcAft>
                <a:spcPct val="0"/>
              </a:spcAft>
              <a:buClrTx/>
              <a:buSzTx/>
              <a:buFont typeface="System Font Regular"/>
              <a:buNone/>
              <a:tabLst/>
            </a:pPr>
            <a:endParaRPr kumimoji="0" lang="en-US" sz="1200" i="0" u="none" strike="noStrike" cap="none" normalizeH="0" baseline="0">
              <a:ln>
                <a:noFill/>
              </a:ln>
              <a:solidFill>
                <a:schemeClr val="tx1"/>
              </a:solidFill>
              <a:effectLst/>
              <a:latin typeface="IBM Plex Sans" panose="020B0503050203000203" pitchFamily="34" charset="0"/>
            </a:endParaRPr>
          </a:p>
        </p:txBody>
      </p:sp>
      <p:sp>
        <p:nvSpPr>
          <p:cNvPr id="32" name="Rounded Rectangle 16">
            <a:extLst>
              <a:ext uri="{FF2B5EF4-FFF2-40B4-BE49-F238E27FC236}">
                <a16:creationId xmlns:a16="http://schemas.microsoft.com/office/drawing/2014/main" id="{8C325CA8-B150-59BA-92D4-DEA42CCE3A58}"/>
              </a:ext>
            </a:extLst>
          </p:cNvPr>
          <p:cNvSpPr/>
          <p:nvPr/>
        </p:nvSpPr>
        <p:spPr bwMode="auto">
          <a:xfrm>
            <a:off x="7017275" y="3970707"/>
            <a:ext cx="1930958" cy="680059"/>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System Font Regular"/>
              <a:buNone/>
              <a:tabLst/>
            </a:pPr>
            <a:r>
              <a:rPr kumimoji="0" lang="en-US" sz="1200" i="0" u="none" strike="noStrike" cap="none" normalizeH="0" baseline="0">
                <a:ln>
                  <a:noFill/>
                </a:ln>
                <a:solidFill>
                  <a:schemeClr val="tx1"/>
                </a:solidFill>
                <a:effectLst/>
                <a:latin typeface="IBM Plex Sans" panose="020B0503050203000203" pitchFamily="34" charset="0"/>
              </a:rPr>
              <a:t>Initiate Deep Dive Discussion – for selected initiatives</a:t>
            </a:r>
          </a:p>
        </p:txBody>
      </p:sp>
      <p:grpSp>
        <p:nvGrpSpPr>
          <p:cNvPr id="33" name="Group 32">
            <a:extLst>
              <a:ext uri="{FF2B5EF4-FFF2-40B4-BE49-F238E27FC236}">
                <a16:creationId xmlns:a16="http://schemas.microsoft.com/office/drawing/2014/main" id="{2B7E236D-CF75-0DD6-3BAC-3CA783758ECA}"/>
              </a:ext>
            </a:extLst>
          </p:cNvPr>
          <p:cNvGrpSpPr/>
          <p:nvPr/>
        </p:nvGrpSpPr>
        <p:grpSpPr>
          <a:xfrm>
            <a:off x="5938290" y="3922412"/>
            <a:ext cx="728354" cy="728354"/>
            <a:chOff x="21675462" y="7218830"/>
            <a:chExt cx="1087021" cy="1087021"/>
          </a:xfrm>
        </p:grpSpPr>
        <p:sp>
          <p:nvSpPr>
            <p:cNvPr id="49" name="Oval 48">
              <a:extLst>
                <a:ext uri="{FF2B5EF4-FFF2-40B4-BE49-F238E27FC236}">
                  <a16:creationId xmlns:a16="http://schemas.microsoft.com/office/drawing/2014/main" id="{31312CA9-0DF9-501B-BB15-CF710487B985}"/>
                </a:ext>
              </a:extLst>
            </p:cNvPr>
            <p:cNvSpPr/>
            <p:nvPr/>
          </p:nvSpPr>
          <p:spPr bwMode="auto">
            <a:xfrm>
              <a:off x="21675462" y="7218830"/>
              <a:ext cx="1087021" cy="108702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ID" sz="1100" b="0" i="0" u="none" strike="noStrike" cap="none" normalizeH="0" baseline="0">
                <a:ln>
                  <a:noFill/>
                </a:ln>
                <a:solidFill>
                  <a:schemeClr val="bg1"/>
                </a:solidFill>
                <a:effectLst/>
                <a:latin typeface="IBM Plex Sans" panose="020B0503050203000203" pitchFamily="34" charset="0"/>
              </a:endParaRPr>
            </a:p>
          </p:txBody>
        </p:sp>
        <p:pic>
          <p:nvPicPr>
            <p:cNvPr id="54" name="Picture 53" descr="Security as a service, Blue 60 pictogram">
              <a:extLst>
                <a:ext uri="{FF2B5EF4-FFF2-40B4-BE49-F238E27FC236}">
                  <a16:creationId xmlns:a16="http://schemas.microsoft.com/office/drawing/2014/main" id="{C7847295-FBDD-8221-988A-B19A045A5D15}"/>
                </a:ext>
              </a:extLst>
            </p:cNvPr>
            <p:cNvPicPr>
              <a:picLocks noChangeAspect="1"/>
            </p:cNvPicPr>
            <p:nvPr/>
          </p:nvPicPr>
          <p:blipFill>
            <a:blip r:embed="rId4"/>
            <a:srcRect/>
            <a:stretch/>
          </p:blipFill>
          <p:spPr>
            <a:xfrm>
              <a:off x="21827893" y="7371261"/>
              <a:ext cx="782158" cy="782158"/>
            </a:xfrm>
            <a:prstGeom prst="rect">
              <a:avLst/>
            </a:prstGeom>
          </p:spPr>
        </p:pic>
      </p:grpSp>
      <p:sp>
        <p:nvSpPr>
          <p:cNvPr id="55" name="Isosceles Triangle 81">
            <a:extLst>
              <a:ext uri="{FF2B5EF4-FFF2-40B4-BE49-F238E27FC236}">
                <a16:creationId xmlns:a16="http://schemas.microsoft.com/office/drawing/2014/main" id="{5B78BDE7-69C5-774F-71EE-02C33B5C55F6}"/>
              </a:ext>
            </a:extLst>
          </p:cNvPr>
          <p:cNvSpPr/>
          <p:nvPr/>
        </p:nvSpPr>
        <p:spPr bwMode="auto">
          <a:xfrm rot="5400000">
            <a:off x="6762071" y="3421298"/>
            <a:ext cx="197542" cy="94240"/>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ID" sz="1100" b="0" i="0" u="none" strike="noStrike" cap="none" normalizeH="0" baseline="0">
              <a:ln>
                <a:noFill/>
              </a:ln>
              <a:solidFill>
                <a:schemeClr val="bg1"/>
              </a:solidFill>
              <a:effectLst/>
              <a:latin typeface="IBM Plex Sans" panose="020B0503050203000203" pitchFamily="34" charset="0"/>
            </a:endParaRPr>
          </a:p>
        </p:txBody>
      </p:sp>
      <p:sp>
        <p:nvSpPr>
          <p:cNvPr id="56" name="Isosceles Triangle 83">
            <a:extLst>
              <a:ext uri="{FF2B5EF4-FFF2-40B4-BE49-F238E27FC236}">
                <a16:creationId xmlns:a16="http://schemas.microsoft.com/office/drawing/2014/main" id="{35848E8D-75B4-536C-06AD-4DA40363EB15}"/>
              </a:ext>
            </a:extLst>
          </p:cNvPr>
          <p:cNvSpPr/>
          <p:nvPr/>
        </p:nvSpPr>
        <p:spPr bwMode="auto">
          <a:xfrm rot="10800000">
            <a:off x="10207011" y="3834904"/>
            <a:ext cx="197542" cy="94240"/>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ID" sz="1100" b="0" i="0" u="none" strike="noStrike" cap="none" normalizeH="0" baseline="0">
              <a:ln>
                <a:noFill/>
              </a:ln>
              <a:solidFill>
                <a:schemeClr val="bg1"/>
              </a:solidFill>
              <a:effectLst/>
              <a:latin typeface="IBM Plex Sans" panose="020B0503050203000203" pitchFamily="34" charset="0"/>
            </a:endParaRPr>
          </a:p>
        </p:txBody>
      </p:sp>
      <p:sp>
        <p:nvSpPr>
          <p:cNvPr id="57" name="Isosceles Triangle 84">
            <a:extLst>
              <a:ext uri="{FF2B5EF4-FFF2-40B4-BE49-F238E27FC236}">
                <a16:creationId xmlns:a16="http://schemas.microsoft.com/office/drawing/2014/main" id="{852B4FEB-08E1-3B65-A9A6-EC1A15496354}"/>
              </a:ext>
            </a:extLst>
          </p:cNvPr>
          <p:cNvSpPr/>
          <p:nvPr/>
        </p:nvSpPr>
        <p:spPr bwMode="auto">
          <a:xfrm rot="16200000">
            <a:off x="9045497" y="4268888"/>
            <a:ext cx="197542" cy="94240"/>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ID" sz="1100" b="0" i="0" u="none" strike="noStrike" cap="none" normalizeH="0" baseline="0">
              <a:ln>
                <a:noFill/>
              </a:ln>
              <a:solidFill>
                <a:schemeClr val="bg1"/>
              </a:solidFill>
              <a:effectLst/>
              <a:latin typeface="IBM Plex Sans" panose="020B0503050203000203" pitchFamily="34" charset="0"/>
            </a:endParaRPr>
          </a:p>
        </p:txBody>
      </p:sp>
      <p:sp>
        <p:nvSpPr>
          <p:cNvPr id="63" name="Isosceles Triangle 81">
            <a:extLst>
              <a:ext uri="{FF2B5EF4-FFF2-40B4-BE49-F238E27FC236}">
                <a16:creationId xmlns:a16="http://schemas.microsoft.com/office/drawing/2014/main" id="{CF4F454C-43CA-AC08-E2A8-58D4B6803E41}"/>
              </a:ext>
            </a:extLst>
          </p:cNvPr>
          <p:cNvSpPr/>
          <p:nvPr/>
        </p:nvSpPr>
        <p:spPr bwMode="auto">
          <a:xfrm rot="5400000">
            <a:off x="9049753" y="3421610"/>
            <a:ext cx="197542" cy="94240"/>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ID" sz="1100" b="0" i="0" u="none" strike="noStrike" cap="none" normalizeH="0" baseline="0">
              <a:ln>
                <a:noFill/>
              </a:ln>
              <a:solidFill>
                <a:schemeClr val="bg1"/>
              </a:solidFill>
              <a:effectLst/>
              <a:latin typeface="IBM Plex Sans" panose="020B0503050203000203" pitchFamily="34" charset="0"/>
            </a:endParaRPr>
          </a:p>
        </p:txBody>
      </p:sp>
      <p:sp>
        <p:nvSpPr>
          <p:cNvPr id="64" name="Isosceles Triangle 84">
            <a:extLst>
              <a:ext uri="{FF2B5EF4-FFF2-40B4-BE49-F238E27FC236}">
                <a16:creationId xmlns:a16="http://schemas.microsoft.com/office/drawing/2014/main" id="{66A0F1CA-72F5-E293-6105-87A109F5BEAA}"/>
              </a:ext>
            </a:extLst>
          </p:cNvPr>
          <p:cNvSpPr/>
          <p:nvPr/>
        </p:nvSpPr>
        <p:spPr bwMode="auto">
          <a:xfrm rot="16200000">
            <a:off x="6717482" y="4268889"/>
            <a:ext cx="197542" cy="94240"/>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ID" sz="1100" b="0" i="0" u="none" strike="noStrike" cap="none" normalizeH="0" baseline="0">
              <a:ln>
                <a:noFill/>
              </a:ln>
              <a:solidFill>
                <a:schemeClr val="bg1"/>
              </a:solidFill>
              <a:effectLst/>
              <a:latin typeface="IBM Plex Sans" panose="020B0503050203000203" pitchFamily="34" charset="0"/>
            </a:endParaRPr>
          </a:p>
        </p:txBody>
      </p:sp>
    </p:spTree>
    <p:extLst>
      <p:ext uri="{BB962C8B-B14F-4D97-AF65-F5344CB8AC3E}">
        <p14:creationId xmlns:p14="http://schemas.microsoft.com/office/powerpoint/2010/main" val="365092258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7B690C-9D17-98A7-45F7-4EFA635AEC4C}"/>
              </a:ext>
            </a:extLst>
          </p:cNvPr>
          <p:cNvSpPr>
            <a:spLocks noGrp="1"/>
          </p:cNvSpPr>
          <p:nvPr>
            <p:ph type="title"/>
          </p:nvPr>
        </p:nvSpPr>
        <p:spPr>
          <a:xfrm>
            <a:off x="287999" y="192445"/>
            <a:ext cx="5892922" cy="5238830"/>
          </a:xfrm>
        </p:spPr>
        <p:txBody>
          <a:bodyPr/>
          <a:lstStyle/>
          <a:p>
            <a:r>
              <a:rPr lang="en-US" dirty="0">
                <a:solidFill>
                  <a:schemeClr val="accent1"/>
                </a:solidFill>
              </a:rPr>
              <a:t>IBM High-Level Privacy </a:t>
            </a:r>
            <a:br>
              <a:rPr lang="en-US" dirty="0">
                <a:solidFill>
                  <a:schemeClr val="accent1"/>
                </a:solidFill>
              </a:rPr>
            </a:br>
            <a:r>
              <a:rPr lang="en-US" dirty="0">
                <a:solidFill>
                  <a:schemeClr val="accent1"/>
                </a:solidFill>
              </a:rPr>
              <a:t>Assessment Report </a:t>
            </a:r>
            <a:r>
              <a:rPr lang="en-US" dirty="0"/>
              <a:t>for Company A</a:t>
            </a:r>
            <a:br>
              <a:rPr lang="en-US" dirty="0"/>
            </a:br>
            <a:br>
              <a:rPr lang="en-US" dirty="0"/>
            </a:br>
            <a:br>
              <a:rPr lang="en-US" dirty="0"/>
            </a:br>
            <a:br>
              <a:rPr lang="en-US" dirty="0"/>
            </a:br>
            <a:br>
              <a:rPr lang="en-US" dirty="0"/>
            </a:br>
            <a:r>
              <a:rPr lang="en-US" sz="2400" dirty="0"/>
              <a:t>August 2025</a:t>
            </a:r>
            <a:endParaRPr lang="en-US" dirty="0"/>
          </a:p>
        </p:txBody>
      </p:sp>
      <p:pic>
        <p:nvPicPr>
          <p:cNvPr id="6" name="Picture Placeholder 5" descr="Illustration of cyan arrows flowing to the upper right corner of slide">
            <a:extLst>
              <a:ext uri="{FF2B5EF4-FFF2-40B4-BE49-F238E27FC236}">
                <a16:creationId xmlns:a16="http://schemas.microsoft.com/office/drawing/2014/main" id="{23CEE5CD-E831-3DFC-F207-808C15690E91}"/>
              </a:ext>
            </a:extLst>
          </p:cNvPr>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a:stretch/>
        </p:blipFill>
        <p:spPr/>
      </p:pic>
      <p:sp>
        <p:nvSpPr>
          <p:cNvPr id="2" name="TextBox 1" descr="IBM 8-bar logo in black">
            <a:extLst>
              <a:ext uri="{FF2B5EF4-FFF2-40B4-BE49-F238E27FC236}">
                <a16:creationId xmlns:a16="http://schemas.microsoft.com/office/drawing/2014/main" id="{47FF669D-AFD9-83C3-6B35-1F5CF8033F7D}"/>
              </a:ext>
            </a:extLst>
          </p:cNvPr>
          <p:cNvSpPr txBox="1"/>
          <p:nvPr/>
        </p:nvSpPr>
        <p:spPr>
          <a:xfrm>
            <a:off x="444442" y="6375016"/>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rtlCol="0">
            <a:noAutofit/>
          </a:bodyPr>
          <a:lstStyle/>
          <a:p>
            <a:pPr marL="222188" indent="-223330" defTabSz="1218956">
              <a:spcBef>
                <a:spcPts val="1450"/>
              </a:spcBef>
              <a:buSzPct val="100000"/>
              <a:buFontTx/>
              <a:buChar char="–"/>
            </a:pPr>
            <a:endParaRPr lang="en-US" kern="0">
              <a:solidFill>
                <a:srgbClr val="000000"/>
              </a:solidFill>
              <a:latin typeface="IBM Plex Sans Light"/>
              <a:sym typeface="IBM Plex Sans Light"/>
            </a:endParaRPr>
          </a:p>
        </p:txBody>
      </p:sp>
    </p:spTree>
    <p:extLst>
      <p:ext uri="{BB962C8B-B14F-4D97-AF65-F5344CB8AC3E}">
        <p14:creationId xmlns:p14="http://schemas.microsoft.com/office/powerpoint/2010/main" val="41378857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649892E-67DB-FCDF-F47E-27298CE331AF}"/>
              </a:ext>
            </a:extLst>
          </p:cNvPr>
          <p:cNvSpPr>
            <a:spLocks noGrp="1"/>
          </p:cNvSpPr>
          <p:nvPr>
            <p:ph type="title"/>
          </p:nvPr>
        </p:nvSpPr>
        <p:spPr>
          <a:xfrm>
            <a:off x="211809" y="192446"/>
            <a:ext cx="3045317" cy="2286496"/>
          </a:xfrm>
        </p:spPr>
        <p:txBody>
          <a:bodyPr/>
          <a:lstStyle/>
          <a:p>
            <a:r>
              <a:rPr lang="en-US" sz="2699"/>
              <a:t>Content</a:t>
            </a:r>
            <a:endParaRPr lang="en-RO" sz="2699"/>
          </a:p>
        </p:txBody>
      </p:sp>
      <p:sp>
        <p:nvSpPr>
          <p:cNvPr id="9" name="Text Placeholder 8">
            <a:extLst>
              <a:ext uri="{FF2B5EF4-FFF2-40B4-BE49-F238E27FC236}">
                <a16:creationId xmlns:a16="http://schemas.microsoft.com/office/drawing/2014/main" id="{B24CFE88-85F2-46DB-6138-1ADD70A954BF}"/>
              </a:ext>
            </a:extLst>
          </p:cNvPr>
          <p:cNvSpPr>
            <a:spLocks noGrp="1"/>
          </p:cNvSpPr>
          <p:nvPr>
            <p:ph type="body" sz="quarter" idx="10"/>
          </p:nvPr>
        </p:nvSpPr>
        <p:spPr>
          <a:xfrm>
            <a:off x="4180931" y="288445"/>
            <a:ext cx="7723071" cy="5715049"/>
          </a:xfrm>
        </p:spPr>
        <p:txBody>
          <a:bodyPr/>
          <a:lstStyle/>
          <a:p>
            <a:pPr>
              <a:lnSpc>
                <a:spcPct val="150000"/>
              </a:lnSpc>
            </a:pPr>
            <a:r>
              <a:rPr lang="en-GB" sz="2200"/>
              <a:t>01.</a:t>
            </a:r>
            <a:r>
              <a:rPr lang="en-US" sz="2200"/>
              <a:t>	</a:t>
            </a:r>
            <a:r>
              <a:rPr lang="en-GB" sz="2200"/>
              <a:t>General Background</a:t>
            </a:r>
          </a:p>
          <a:p>
            <a:pPr>
              <a:lnSpc>
                <a:spcPct val="150000"/>
              </a:lnSpc>
            </a:pPr>
            <a:r>
              <a:rPr lang="en-GB" sz="2200"/>
              <a:t>02.</a:t>
            </a:r>
            <a:r>
              <a:rPr lang="en-US" sz="2200"/>
              <a:t>	</a:t>
            </a:r>
            <a:r>
              <a:rPr lang="en-GB" sz="2200"/>
              <a:t>User Feedback</a:t>
            </a:r>
          </a:p>
          <a:p>
            <a:pPr>
              <a:lnSpc>
                <a:spcPct val="150000"/>
              </a:lnSpc>
            </a:pPr>
            <a:r>
              <a:rPr lang="en-GB" sz="2200"/>
              <a:t>03.</a:t>
            </a:r>
            <a:r>
              <a:rPr lang="en-US" sz="2200"/>
              <a:t>	</a:t>
            </a:r>
            <a:r>
              <a:rPr lang="en-GB" sz="2200"/>
              <a:t>Assessment Result</a:t>
            </a:r>
          </a:p>
          <a:p>
            <a:pPr>
              <a:lnSpc>
                <a:spcPct val="150000"/>
              </a:lnSpc>
            </a:pPr>
            <a:r>
              <a:rPr lang="en-GB" sz="2200"/>
              <a:t>04.	Key Findings</a:t>
            </a:r>
          </a:p>
          <a:p>
            <a:pPr>
              <a:lnSpc>
                <a:spcPct val="150000"/>
              </a:lnSpc>
            </a:pPr>
            <a:r>
              <a:rPr lang="en-GB" sz="2200"/>
              <a:t>05.</a:t>
            </a:r>
            <a:r>
              <a:rPr lang="en-US" sz="2200"/>
              <a:t>	</a:t>
            </a:r>
            <a:r>
              <a:rPr lang="en-GB" sz="2200"/>
              <a:t>Recommendations</a:t>
            </a:r>
          </a:p>
          <a:p>
            <a:pPr>
              <a:lnSpc>
                <a:spcPct val="150000"/>
              </a:lnSpc>
            </a:pPr>
            <a:r>
              <a:rPr lang="en-GB" sz="2200"/>
              <a:t>06.	Potential Solutions</a:t>
            </a:r>
          </a:p>
        </p:txBody>
      </p:sp>
      <p:pic>
        <p:nvPicPr>
          <p:cNvPr id="7" name="Picture 6" descr="Illustration showing outlines of various sized 2D nested boxes with arrow pointing to upper right corner">
            <a:extLst>
              <a:ext uri="{FF2B5EF4-FFF2-40B4-BE49-F238E27FC236}">
                <a16:creationId xmlns:a16="http://schemas.microsoft.com/office/drawing/2014/main" id="{B19CCFBC-A352-52A9-ED28-78D29329B9BC}"/>
              </a:ext>
            </a:extLst>
          </p:cNvPr>
          <p:cNvPicPr>
            <a:picLocks noChangeAspect="1"/>
          </p:cNvPicPr>
          <p:nvPr/>
        </p:nvPicPr>
        <p:blipFill>
          <a:blip r:embed="rId2"/>
          <a:stretch>
            <a:fillRect/>
          </a:stretch>
        </p:blipFill>
        <p:spPr>
          <a:xfrm>
            <a:off x="211110" y="2571861"/>
            <a:ext cx="3432496" cy="3432496"/>
          </a:xfrm>
          <a:prstGeom prst="rect">
            <a:avLst/>
          </a:prstGeom>
        </p:spPr>
      </p:pic>
      <p:sp>
        <p:nvSpPr>
          <p:cNvPr id="6" name="Footer Placeholder 5">
            <a:extLst>
              <a:ext uri="{FF2B5EF4-FFF2-40B4-BE49-F238E27FC236}">
                <a16:creationId xmlns:a16="http://schemas.microsoft.com/office/drawing/2014/main" id="{54EF707B-896A-1785-FE4A-C91D92CE71DD}"/>
              </a:ext>
            </a:extLst>
          </p:cNvPr>
          <p:cNvSpPr>
            <a:spLocks noGrp="1"/>
          </p:cNvSpPr>
          <p:nvPr>
            <p:ph type="ftr" sz="quarter" idx="18"/>
          </p:nvPr>
        </p:nvSpPr>
        <p:spPr/>
        <p:txBody>
          <a:bodyPr/>
          <a:lstStyle/>
          <a:p>
            <a:pPr defTabSz="914507"/>
            <a:r>
              <a:rPr lang="en-US">
                <a:solidFill>
                  <a:srgbClr val="000000"/>
                </a:solidFill>
              </a:rPr>
              <a:t>IBM Confidential</a:t>
            </a:r>
          </a:p>
        </p:txBody>
      </p:sp>
      <p:sp>
        <p:nvSpPr>
          <p:cNvPr id="3" name="Slide Number Placeholder 2">
            <a:extLst>
              <a:ext uri="{FF2B5EF4-FFF2-40B4-BE49-F238E27FC236}">
                <a16:creationId xmlns:a16="http://schemas.microsoft.com/office/drawing/2014/main" id="{AA7DD528-E455-E677-5D34-EC8A701A45D7}"/>
              </a:ext>
            </a:extLst>
          </p:cNvPr>
          <p:cNvSpPr>
            <a:spLocks noGrp="1"/>
          </p:cNvSpPr>
          <p:nvPr>
            <p:ph type="sldNum" sz="quarter" idx="4"/>
          </p:nvPr>
        </p:nvSpPr>
        <p:spPr>
          <a:xfrm>
            <a:off x="5890660" y="3203953"/>
            <a:ext cx="60915" cy="123111"/>
          </a:xfrm>
        </p:spPr>
        <p:txBody>
          <a:bodyPr/>
          <a:lstStyle/>
          <a:p>
            <a:pPr defTabSz="914507"/>
            <a:fld id="{86CB4B4D-7CA3-9044-876B-883B54F8677D}" type="slidenum">
              <a:rPr lang="en-US">
                <a:solidFill>
                  <a:srgbClr val="000000"/>
                </a:solidFill>
              </a:rPr>
              <a:pPr defTabSz="914507"/>
              <a:t>4</a:t>
            </a:fld>
            <a:endParaRPr lang="en-US">
              <a:solidFill>
                <a:srgbClr val="000000"/>
              </a:solidFill>
            </a:endParaRPr>
          </a:p>
        </p:txBody>
      </p:sp>
    </p:spTree>
    <p:extLst>
      <p:ext uri="{BB962C8B-B14F-4D97-AF65-F5344CB8AC3E}">
        <p14:creationId xmlns:p14="http://schemas.microsoft.com/office/powerpoint/2010/main" val="37445750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descr="picture placeholder">
            <a:extLst>
              <a:ext uri="{FF2B5EF4-FFF2-40B4-BE49-F238E27FC236}">
                <a16:creationId xmlns:a16="http://schemas.microsoft.com/office/drawing/2014/main" id="{4D944BD1-5150-5D4A-8F52-597FA4B0B9DC}"/>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a:ext>
            </a:extLst>
          </a:blip>
          <a:srcRect/>
          <a:stretch/>
        </p:blipFill>
        <p:spPr/>
      </p:pic>
      <p:sp>
        <p:nvSpPr>
          <p:cNvPr id="12" name="Text Placeholder">
            <a:extLst>
              <a:ext uri="{FF2B5EF4-FFF2-40B4-BE49-F238E27FC236}">
                <a16:creationId xmlns:a16="http://schemas.microsoft.com/office/drawing/2014/main" id="{3B1400C6-32C5-3C41-AC3B-A3E338C4A551}"/>
              </a:ext>
            </a:extLst>
          </p:cNvPr>
          <p:cNvSpPr>
            <a:spLocks noGrp="1"/>
          </p:cNvSpPr>
          <p:nvPr>
            <p:ph type="body" sz="quarter" idx="12"/>
          </p:nvPr>
        </p:nvSpPr>
        <p:spPr/>
        <p:txBody>
          <a:bodyPr lIns="359953" tIns="201168" rIns="228600" bIns="228600"/>
          <a:lstStyle/>
          <a:p>
            <a:pPr lvl="0"/>
            <a:r>
              <a:rPr lang="en-US">
                <a:solidFill>
                  <a:schemeClr val="bg1"/>
                </a:solidFill>
              </a:rPr>
              <a:t>Privacy compliance should be a practice as fundamental to the business as customer service. Privacy is an essential element of being a good business partner.</a:t>
            </a:r>
          </a:p>
        </p:txBody>
      </p:sp>
      <p:sp>
        <p:nvSpPr>
          <p:cNvPr id="6" name="Slide Number Placeholder"/>
          <p:cNvSpPr>
            <a:spLocks noGrp="1"/>
          </p:cNvSpPr>
          <p:nvPr>
            <p:ph type="sldNum" sz="quarter" idx="11"/>
          </p:nvPr>
        </p:nvSpPr>
        <p:spPr>
          <a:xfrm>
            <a:off x="11843785" y="6468968"/>
            <a:ext cx="60915" cy="123111"/>
          </a:xfrm>
        </p:spPr>
        <p:txBody>
          <a:bodyPr/>
          <a:lstStyle/>
          <a:p>
            <a:pPr defTabSz="914507"/>
            <a:fld id="{59395FB3-9C97-154F-86B2-7E381B951268}" type="slidenum">
              <a:rPr lang="en-US">
                <a:solidFill>
                  <a:srgbClr val="000000"/>
                </a:solidFill>
              </a:rPr>
              <a:pPr defTabSz="914507"/>
              <a:t>5</a:t>
            </a:fld>
            <a:endParaRPr lang="en-US">
              <a:solidFill>
                <a:srgbClr val="000000"/>
              </a:solidFill>
            </a:endParaRPr>
          </a:p>
        </p:txBody>
      </p:sp>
      <p:sp>
        <p:nvSpPr>
          <p:cNvPr id="2" name="Footer Placeholder 3">
            <a:extLst>
              <a:ext uri="{FF2B5EF4-FFF2-40B4-BE49-F238E27FC236}">
                <a16:creationId xmlns:a16="http://schemas.microsoft.com/office/drawing/2014/main" id="{DECF7023-C810-CC9B-A52D-416A3E565B6B}"/>
              </a:ext>
            </a:extLst>
          </p:cNvPr>
          <p:cNvSpPr txBox="1">
            <a:spLocks/>
          </p:cNvSpPr>
          <p:nvPr/>
        </p:nvSpPr>
        <p:spPr>
          <a:xfrm>
            <a:off x="287999" y="6400413"/>
            <a:ext cx="2477765" cy="190475"/>
          </a:xfrm>
          <a:prstGeom prst="rect">
            <a:avLst/>
          </a:prstGeom>
          <a:solidFill>
            <a:schemeClr val="tx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09714" tIns="100571" rIns="114285" bIns="114285"/>
          <a:lstStyle>
            <a:lvl1pPr marL="0" marR="0" indent="0" algn="l" defTabSz="2438400" rtl="0" eaLnBrk="1" latinLnBrk="0" hangingPunct="1">
              <a:lnSpc>
                <a:spcPct val="110000"/>
              </a:lnSpc>
              <a:spcBef>
                <a:spcPts val="0"/>
              </a:spcBef>
              <a:spcAft>
                <a:spcPts val="0"/>
              </a:spcAft>
              <a:buClr>
                <a:srgbClr val="001141"/>
              </a:buClr>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
                <a:srgbClr val="001141"/>
              </a:buClr>
              <a:buSzPct val="100000"/>
              <a:buFontTx/>
              <a:buChar char="–"/>
              <a:tabLst/>
              <a:defRPr sz="2667"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
                <a:srgbClr val="001141"/>
              </a:buClr>
              <a:buSzPct val="100000"/>
              <a:buFontTx/>
              <a:buChar char="•"/>
              <a:tabLst/>
              <a:defRPr sz="2667"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
                <a:srgbClr val="001141"/>
              </a:buClr>
              <a:buSzPct val="100000"/>
              <a:buFontTx/>
              <a:buChar char="–"/>
              <a:tabLst/>
              <a:defRPr sz="2667"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
                <a:srgbClr val="001141"/>
              </a:buClr>
              <a:buSzPct val="100000"/>
              <a:buFont typeface="Arial" panose="020B0604020202020204" pitchFamily="34" charset="0"/>
              <a:buChar char="•"/>
              <a:tabLst/>
              <a:defRPr sz="2667"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956"/>
            <a:r>
              <a:rPr lang="en-US" sz="800" kern="0">
                <a:solidFill>
                  <a:srgbClr val="FFFFFF"/>
                </a:solidFill>
                <a:latin typeface="IBM Plex Sans" panose="020B0503050203000203" pitchFamily="34" charset="0"/>
                <a:ea typeface="Times New Roman" panose="02020603050405020304" pitchFamily="18" charset="0"/>
              </a:rPr>
              <a:t>IBM Confidential</a:t>
            </a:r>
          </a:p>
        </p:txBody>
      </p:sp>
    </p:spTree>
    <p:extLst>
      <p:ext uri="{BB962C8B-B14F-4D97-AF65-F5344CB8AC3E}">
        <p14:creationId xmlns:p14="http://schemas.microsoft.com/office/powerpoint/2010/main" val="2001728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descr="Vertical 3/4 slide background in yellow 10 ">
            <a:extLst>
              <a:ext uri="{FF2B5EF4-FFF2-40B4-BE49-F238E27FC236}">
                <a16:creationId xmlns:a16="http://schemas.microsoft.com/office/drawing/2014/main" id="{DFEF969E-C129-30FB-AA3B-C0DEF7387E64}"/>
              </a:ext>
            </a:extLst>
          </p:cNvPr>
          <p:cNvSpPr/>
          <p:nvPr/>
        </p:nvSpPr>
        <p:spPr bwMode="auto">
          <a:xfrm>
            <a:off x="3047604" y="447"/>
            <a:ext cx="9144397" cy="6857107"/>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RO" sz="700">
              <a:solidFill>
                <a:srgbClr val="FFFFFF"/>
              </a:solidFill>
              <a:latin typeface="IBM Plex Sans Light"/>
            </a:endParaRPr>
          </a:p>
        </p:txBody>
      </p:sp>
      <p:sp>
        <p:nvSpPr>
          <p:cNvPr id="2" name="Title 1">
            <a:extLst>
              <a:ext uri="{FF2B5EF4-FFF2-40B4-BE49-F238E27FC236}">
                <a16:creationId xmlns:a16="http://schemas.microsoft.com/office/drawing/2014/main" id="{5F01F7EF-6B29-9148-344E-7EE704E473A3}"/>
              </a:ext>
            </a:extLst>
          </p:cNvPr>
          <p:cNvSpPr>
            <a:spLocks noGrp="1"/>
          </p:cNvSpPr>
          <p:nvPr>
            <p:ph type="title"/>
          </p:nvPr>
        </p:nvSpPr>
        <p:spPr>
          <a:xfrm>
            <a:off x="211809" y="288445"/>
            <a:ext cx="2474590" cy="762695"/>
          </a:xfrm>
        </p:spPr>
        <p:txBody>
          <a:bodyPr/>
          <a:lstStyle/>
          <a:p>
            <a:r>
              <a:rPr lang="en-GB" sz="2699"/>
              <a:t>General Background</a:t>
            </a:r>
            <a:endParaRPr lang="en-RO" sz="2699"/>
          </a:p>
        </p:txBody>
      </p:sp>
      <p:sp>
        <p:nvSpPr>
          <p:cNvPr id="4" name="Text Placeholder 3">
            <a:extLst>
              <a:ext uri="{FF2B5EF4-FFF2-40B4-BE49-F238E27FC236}">
                <a16:creationId xmlns:a16="http://schemas.microsoft.com/office/drawing/2014/main" id="{1F9B9B64-831E-004E-34DC-0F81C20C4701}"/>
              </a:ext>
            </a:extLst>
          </p:cNvPr>
          <p:cNvSpPr>
            <a:spLocks noGrp="1"/>
          </p:cNvSpPr>
          <p:nvPr>
            <p:ph type="body" sz="quarter" idx="11"/>
          </p:nvPr>
        </p:nvSpPr>
        <p:spPr>
          <a:xfrm>
            <a:off x="211809" y="1714723"/>
            <a:ext cx="2477765" cy="4285692"/>
          </a:xfrm>
        </p:spPr>
        <p:txBody>
          <a:bodyPr/>
          <a:lstStyle/>
          <a:p>
            <a:pPr>
              <a:lnSpc>
                <a:spcPct val="100000"/>
              </a:lnSpc>
            </a:pPr>
            <a:r>
              <a:rPr lang="en-US" sz="2200" dirty="0">
                <a:latin typeface="+mj-lt"/>
              </a:rPr>
              <a:t>IBM conducted a privacy high-level assessment for Company A </a:t>
            </a:r>
            <a:r>
              <a:rPr lang="en-US" sz="2200" dirty="0">
                <a:solidFill>
                  <a:schemeClr val="accent1"/>
                </a:solidFill>
                <a:latin typeface="+mj-lt"/>
              </a:rPr>
              <a:t>July 28, 2025</a:t>
            </a:r>
          </a:p>
        </p:txBody>
      </p:sp>
      <p:sp>
        <p:nvSpPr>
          <p:cNvPr id="5" name="Text Placeholder 4">
            <a:extLst>
              <a:ext uri="{FF2B5EF4-FFF2-40B4-BE49-F238E27FC236}">
                <a16:creationId xmlns:a16="http://schemas.microsoft.com/office/drawing/2014/main" id="{350D1E70-8532-FF51-2AE2-4D02DAECD50D}"/>
              </a:ext>
            </a:extLst>
          </p:cNvPr>
          <p:cNvSpPr>
            <a:spLocks noGrp="1"/>
          </p:cNvSpPr>
          <p:nvPr>
            <p:ph type="body" sz="quarter" idx="12"/>
          </p:nvPr>
        </p:nvSpPr>
        <p:spPr/>
        <p:txBody>
          <a:bodyPr/>
          <a:lstStyle/>
          <a:p>
            <a:pPr>
              <a:lnSpc>
                <a:spcPct val="100000"/>
              </a:lnSpc>
            </a:pPr>
            <a:r>
              <a:rPr lang="en-GB" sz="2200" dirty="0">
                <a:latin typeface="IBM Plex Sans Light" panose="020B0403050203000203" pitchFamily="34" charset="0"/>
              </a:rPr>
              <a:t>Participant</a:t>
            </a:r>
          </a:p>
          <a:p>
            <a:endParaRPr lang="en-GB" sz="1400" dirty="0">
              <a:latin typeface="IBM Plex Sans Light" panose="020B0403050203000203" pitchFamily="34" charset="0"/>
            </a:endParaRPr>
          </a:p>
          <a:p>
            <a:endParaRPr lang="en-GB" sz="1400" dirty="0">
              <a:latin typeface="IBM Plex Sans Light" panose="020B0403050203000203" pitchFamily="34" charset="0"/>
            </a:endParaRPr>
          </a:p>
          <a:p>
            <a:r>
              <a:rPr lang="en-US" sz="1200" dirty="0"/>
              <a:t>Company A </a:t>
            </a:r>
            <a:r>
              <a:rPr lang="en-US" sz="1200" dirty="0">
                <a:latin typeface="IBM Plex Sans Medium" panose="020B0603050203000203" pitchFamily="34" charset="0"/>
                <a:cs typeface="Arial"/>
              </a:rPr>
              <a:t>:</a:t>
            </a:r>
          </a:p>
          <a:p>
            <a:pPr marL="171416" indent="-171416">
              <a:buFont typeface="Arial" panose="020B0604020202020204" pitchFamily="34" charset="0"/>
              <a:buChar char="•"/>
            </a:pPr>
            <a:r>
              <a:rPr lang="en-US" sz="1200" dirty="0">
                <a:latin typeface="IBM Plex Sans Light" panose="020B0403050203000203" pitchFamily="34" charset="0"/>
              </a:rPr>
              <a:t>IT Development &amp; Operation Team</a:t>
            </a:r>
          </a:p>
          <a:p>
            <a:pPr marL="171416" indent="-171416">
              <a:buFont typeface="Arial" panose="020B0604020202020204" pitchFamily="34" charset="0"/>
              <a:buChar char="•"/>
            </a:pPr>
            <a:r>
              <a:rPr lang="en-US" sz="1200" dirty="0">
                <a:latin typeface="IBM Plex Sans Light" panose="020B0403050203000203" pitchFamily="34" charset="0"/>
              </a:rPr>
              <a:t>IT Strategy Partnership, Architecture, &amp; Cybersecurity Governance</a:t>
            </a:r>
          </a:p>
          <a:p>
            <a:pPr marL="171416" indent="-171416">
              <a:buFont typeface="Arial" panose="020B0604020202020204" pitchFamily="34" charset="0"/>
              <a:buChar char="•"/>
            </a:pPr>
            <a:endParaRPr lang="en-US" sz="1200" dirty="0">
              <a:latin typeface="IBM Plex Sans Light" panose="020B0403050203000203" pitchFamily="34" charset="0"/>
            </a:endParaRPr>
          </a:p>
          <a:p>
            <a:r>
              <a:rPr lang="en-US" sz="1200" dirty="0">
                <a:latin typeface="IBM Plex Sans Medium" panose="020B0603050203000203" pitchFamily="34" charset="0"/>
              </a:rPr>
              <a:t>IBM:</a:t>
            </a:r>
          </a:p>
          <a:p>
            <a:pPr marL="142846" indent="-142846">
              <a:buFont typeface="Arial" panose="020B0604020202020204" pitchFamily="34" charset="0"/>
              <a:buChar char="•"/>
            </a:pPr>
            <a:r>
              <a:rPr lang="en-US" sz="1200" dirty="0">
                <a:latin typeface="IBM Plex Sans Light" panose="020B0403050203000203" pitchFamily="34" charset="0"/>
              </a:rPr>
              <a:t>Client Engineering Team</a:t>
            </a:r>
          </a:p>
          <a:p>
            <a:endParaRPr lang="en-GB" sz="1400" dirty="0">
              <a:latin typeface="IBM Plex Sans Light" panose="020B0403050203000203" pitchFamily="34" charset="0"/>
            </a:endParaRPr>
          </a:p>
          <a:p>
            <a:endParaRPr lang="en-RO"/>
          </a:p>
        </p:txBody>
      </p:sp>
      <p:cxnSp>
        <p:nvCxnSpPr>
          <p:cNvPr id="8" name="Straight Connector 7" descr="Vertical column divider line">
            <a:extLst>
              <a:ext uri="{FF2B5EF4-FFF2-40B4-BE49-F238E27FC236}">
                <a16:creationId xmlns:a16="http://schemas.microsoft.com/office/drawing/2014/main" id="{1BA7334C-DCBF-DF5C-F656-9960C8095B5D}"/>
              </a:ext>
            </a:extLst>
          </p:cNvPr>
          <p:cNvCxnSpPr>
            <a:cxnSpLocks/>
          </p:cNvCxnSpPr>
          <p:nvPr/>
        </p:nvCxnSpPr>
        <p:spPr bwMode="auto">
          <a:xfrm flipV="1">
            <a:off x="6095207" y="1718625"/>
            <a:ext cx="0" cy="428179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51F22B14-8F0A-3A30-DC67-C43F16B03235}"/>
              </a:ext>
            </a:extLst>
          </p:cNvPr>
          <p:cNvSpPr>
            <a:spLocks noGrp="1"/>
          </p:cNvSpPr>
          <p:nvPr>
            <p:ph type="body" sz="quarter" idx="13"/>
          </p:nvPr>
        </p:nvSpPr>
        <p:spPr/>
        <p:txBody>
          <a:bodyPr/>
          <a:lstStyle/>
          <a:p>
            <a:pPr>
              <a:lnSpc>
                <a:spcPct val="100000"/>
              </a:lnSpc>
            </a:pPr>
            <a:r>
              <a:rPr lang="en-GB" sz="2200">
                <a:latin typeface="IBM Plex Sans Light" panose="020B0403050203000203" pitchFamily="34" charset="0"/>
              </a:rPr>
              <a:t>Activities</a:t>
            </a:r>
          </a:p>
          <a:p>
            <a:endParaRPr lang="en-GB" sz="1400">
              <a:latin typeface="IBM Plex Sans Light" panose="020B0403050203000203" pitchFamily="34" charset="0"/>
            </a:endParaRPr>
          </a:p>
          <a:p>
            <a:endParaRPr lang="en-GB" sz="1400">
              <a:latin typeface="IBM Plex Sans Light" panose="020B0403050203000203" pitchFamily="34" charset="0"/>
            </a:endParaRPr>
          </a:p>
          <a:p>
            <a:pPr marL="171416" indent="-171416">
              <a:buFont typeface="Arial" panose="020B0604020202020204" pitchFamily="34" charset="0"/>
              <a:buChar char="•"/>
            </a:pPr>
            <a:r>
              <a:rPr lang="en-US" sz="1200">
                <a:latin typeface="IBM Plex Sans Light" panose="020B0403050203000203" pitchFamily="34" charset="0"/>
                <a:cs typeface="Arial"/>
              </a:rPr>
              <a:t>Privacy readiness survey of selected Business Unit representatives</a:t>
            </a:r>
          </a:p>
          <a:p>
            <a:pPr marL="171416" indent="-171416">
              <a:buFont typeface="Arial" panose="020B0604020202020204" pitchFamily="34" charset="0"/>
              <a:buChar char="•"/>
            </a:pPr>
            <a:r>
              <a:rPr lang="en-US" sz="1200">
                <a:latin typeface="IBM Plex Sans Light" panose="020B0403050203000203" pitchFamily="34" charset="0"/>
                <a:cs typeface="Arial"/>
              </a:rPr>
              <a:t>Interview in the area of privacy that is categorized into privacy impact, data governance, process management, people, and technology</a:t>
            </a:r>
          </a:p>
          <a:p>
            <a:pPr marL="171416" indent="-171416">
              <a:buFont typeface="Arial" panose="020B0604020202020204" pitchFamily="34" charset="0"/>
              <a:buChar char="•"/>
            </a:pPr>
            <a:r>
              <a:rPr lang="en-US" sz="1200">
                <a:latin typeface="IBM Plex Sans Light" panose="020B0403050203000203" pitchFamily="34" charset="0"/>
                <a:cs typeface="Arial"/>
              </a:rPr>
              <a:t>Gap analysis to compare subject responses with best practices from each subject</a:t>
            </a:r>
          </a:p>
          <a:p>
            <a:pPr marL="171416" indent="-171416">
              <a:buFont typeface="Arial" panose="020B0604020202020204" pitchFamily="34" charset="0"/>
              <a:buChar char="•"/>
            </a:pPr>
            <a:r>
              <a:rPr lang="en-US" sz="1200">
                <a:latin typeface="IBM Plex Sans Light" panose="020B0403050203000203" pitchFamily="34" charset="0"/>
                <a:cs typeface="Arial"/>
              </a:rPr>
              <a:t>Maturity scoring</a:t>
            </a:r>
          </a:p>
          <a:p>
            <a:pPr marL="171416" indent="-171416">
              <a:buFont typeface="Arial" panose="020B0604020202020204" pitchFamily="34" charset="0"/>
              <a:buChar char="•"/>
            </a:pPr>
            <a:r>
              <a:rPr lang="en-US" sz="1200">
                <a:latin typeface="IBM Plex Sans Light" panose="020B0403050203000203" pitchFamily="34" charset="0"/>
                <a:cs typeface="Arial"/>
              </a:rPr>
              <a:t>Propose recommendations and solutions</a:t>
            </a:r>
          </a:p>
          <a:p>
            <a:pPr marL="171416" indent="-171416">
              <a:buFont typeface="Arial" panose="020B0604020202020204" pitchFamily="34" charset="0"/>
              <a:buChar char="•"/>
            </a:pPr>
            <a:endParaRPr lang="en-US" sz="1200">
              <a:latin typeface="IBM Plex Sans Light" panose="020B0403050203000203" pitchFamily="34" charset="0"/>
              <a:cs typeface="Arial"/>
            </a:endParaRPr>
          </a:p>
          <a:p>
            <a:endParaRPr lang="en-GB" sz="1400">
              <a:latin typeface="IBM Plex Sans Light" panose="020B0403050203000203" pitchFamily="34" charset="0"/>
            </a:endParaRPr>
          </a:p>
          <a:p>
            <a:endParaRPr lang="en-GB" sz="1400">
              <a:latin typeface="IBM Plex Sans Light" panose="020B0403050203000203" pitchFamily="34" charset="0"/>
            </a:endParaRPr>
          </a:p>
          <a:p>
            <a:endParaRPr lang="en-RO" sz="1400"/>
          </a:p>
          <a:p>
            <a:endParaRPr lang="en-RO"/>
          </a:p>
        </p:txBody>
      </p:sp>
      <p:cxnSp>
        <p:nvCxnSpPr>
          <p:cNvPr id="10" name="Straight Connector 9" descr="Vertical column divider line">
            <a:extLst>
              <a:ext uri="{FF2B5EF4-FFF2-40B4-BE49-F238E27FC236}">
                <a16:creationId xmlns:a16="http://schemas.microsoft.com/office/drawing/2014/main" id="{B124FB5C-4FAC-408B-AEA1-A34ED48F8A78}"/>
              </a:ext>
            </a:extLst>
          </p:cNvPr>
          <p:cNvCxnSpPr>
            <a:cxnSpLocks/>
          </p:cNvCxnSpPr>
          <p:nvPr/>
        </p:nvCxnSpPr>
        <p:spPr bwMode="auto">
          <a:xfrm flipV="1">
            <a:off x="9142810" y="1718625"/>
            <a:ext cx="0" cy="428179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7D51A587-91D5-0E73-DA53-D6F7A1E20098}"/>
              </a:ext>
            </a:extLst>
          </p:cNvPr>
          <p:cNvSpPr>
            <a:spLocks noGrp="1"/>
          </p:cNvSpPr>
          <p:nvPr>
            <p:ph type="body" sz="quarter" idx="14"/>
          </p:nvPr>
        </p:nvSpPr>
        <p:spPr/>
        <p:txBody>
          <a:bodyPr/>
          <a:lstStyle/>
          <a:p>
            <a:pPr>
              <a:lnSpc>
                <a:spcPct val="100000"/>
              </a:lnSpc>
            </a:pPr>
            <a:r>
              <a:rPr lang="en-GB" sz="2200">
                <a:latin typeface="IBM Plex Sans Light" panose="020B0403050203000203" pitchFamily="34" charset="0"/>
              </a:rPr>
              <a:t>Process Flow</a:t>
            </a:r>
          </a:p>
          <a:p>
            <a:endParaRPr lang="en-GB" sz="1400">
              <a:latin typeface="IBM Plex Sans Light" panose="020B0403050203000203" pitchFamily="34" charset="0"/>
            </a:endParaRPr>
          </a:p>
          <a:p>
            <a:endParaRPr lang="en-GB" sz="1400">
              <a:latin typeface="IBM Plex Sans Light" panose="020B0403050203000203" pitchFamily="34" charset="0"/>
            </a:endParaRPr>
          </a:p>
          <a:p>
            <a:endParaRPr lang="en-GB" sz="1400">
              <a:latin typeface="IBM Plex Sans Light" panose="020B0403050203000203" pitchFamily="34" charset="0"/>
            </a:endParaRPr>
          </a:p>
          <a:p>
            <a:endParaRPr lang="en-GB" sz="1400">
              <a:latin typeface="IBM Plex Sans Light" panose="020B0403050203000203" pitchFamily="34" charset="0"/>
            </a:endParaRPr>
          </a:p>
          <a:p>
            <a:endParaRPr lang="en-RO" sz="1400"/>
          </a:p>
          <a:p>
            <a:endParaRPr lang="en-RO"/>
          </a:p>
        </p:txBody>
      </p:sp>
      <p:sp>
        <p:nvSpPr>
          <p:cNvPr id="23" name="Slide Number Placeholder 7">
            <a:extLst>
              <a:ext uri="{FF2B5EF4-FFF2-40B4-BE49-F238E27FC236}">
                <a16:creationId xmlns:a16="http://schemas.microsoft.com/office/drawing/2014/main" id="{AC850ADB-230C-329B-2B03-1948043FBD08}"/>
              </a:ext>
            </a:extLst>
          </p:cNvPr>
          <p:cNvSpPr>
            <a:spLocks noGrp="1"/>
          </p:cNvSpPr>
          <p:nvPr>
            <p:ph type="sldNum" sz="quarter" idx="4"/>
          </p:nvPr>
        </p:nvSpPr>
        <p:spPr>
          <a:xfrm>
            <a:off x="5890660" y="3203953"/>
            <a:ext cx="60915" cy="123111"/>
          </a:xfrm>
        </p:spPr>
        <p:txBody>
          <a:bodyPr/>
          <a:lstStyle/>
          <a:p>
            <a:pPr defTabSz="914507"/>
            <a:fld id="{59395FB3-9C97-154F-86B2-7E381B951268}" type="slidenum">
              <a:rPr lang="en-US">
                <a:solidFill>
                  <a:srgbClr val="000000"/>
                </a:solidFill>
              </a:rPr>
              <a:pPr defTabSz="914507"/>
              <a:t>6</a:t>
            </a:fld>
            <a:endParaRPr lang="en-US">
              <a:solidFill>
                <a:srgbClr val="000000"/>
              </a:solidFill>
            </a:endParaRPr>
          </a:p>
        </p:txBody>
      </p:sp>
      <p:sp>
        <p:nvSpPr>
          <p:cNvPr id="12" name="Rounded Rectangle 1">
            <a:extLst>
              <a:ext uri="{FF2B5EF4-FFF2-40B4-BE49-F238E27FC236}">
                <a16:creationId xmlns:a16="http://schemas.microsoft.com/office/drawing/2014/main" id="{8578DCC4-4B7D-998F-F86C-7500D86185F8}"/>
              </a:ext>
            </a:extLst>
          </p:cNvPr>
          <p:cNvSpPr/>
          <p:nvPr/>
        </p:nvSpPr>
        <p:spPr bwMode="auto">
          <a:xfrm>
            <a:off x="9321446" y="2536237"/>
            <a:ext cx="1238696" cy="436253"/>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r>
              <a:rPr lang="en-US" sz="800">
                <a:solidFill>
                  <a:srgbClr val="000000"/>
                </a:solidFill>
                <a:latin typeface="IBM Plex Sans Medium" panose="020B0603050203000203" pitchFamily="34" charset="0"/>
              </a:rPr>
              <a:t>Brainstorming</a:t>
            </a:r>
            <a:r>
              <a:rPr lang="en-US" sz="800" b="1">
                <a:solidFill>
                  <a:srgbClr val="000000"/>
                </a:solidFill>
                <a:latin typeface="IBM Plex Sans Light"/>
              </a:rPr>
              <a:t> </a:t>
            </a:r>
            <a:r>
              <a:rPr lang="en-US" sz="800">
                <a:solidFill>
                  <a:srgbClr val="000000"/>
                </a:solidFill>
                <a:latin typeface="IBM Plex Sans Light"/>
              </a:rPr>
              <a:t>– using MIRO</a:t>
            </a:r>
          </a:p>
        </p:txBody>
      </p:sp>
      <p:sp>
        <p:nvSpPr>
          <p:cNvPr id="13" name="Rounded Rectangle 3">
            <a:extLst>
              <a:ext uri="{FF2B5EF4-FFF2-40B4-BE49-F238E27FC236}">
                <a16:creationId xmlns:a16="http://schemas.microsoft.com/office/drawing/2014/main" id="{3B91F7CA-BB94-61BF-130F-B500A51DED1B}"/>
              </a:ext>
            </a:extLst>
          </p:cNvPr>
          <p:cNvSpPr/>
          <p:nvPr/>
        </p:nvSpPr>
        <p:spPr bwMode="auto">
          <a:xfrm>
            <a:off x="10797585" y="2536237"/>
            <a:ext cx="1238696" cy="436253"/>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r>
              <a:rPr lang="en-US" sz="800">
                <a:solidFill>
                  <a:srgbClr val="000000"/>
                </a:solidFill>
                <a:latin typeface="IBM Plex Sans Medium" panose="020B0603050203000203" pitchFamily="34" charset="0"/>
              </a:rPr>
              <a:t>Conduct Interview</a:t>
            </a:r>
            <a:r>
              <a:rPr lang="en-US" sz="800" b="1">
                <a:solidFill>
                  <a:srgbClr val="000000"/>
                </a:solidFill>
                <a:latin typeface="IBM Plex Sans Light"/>
              </a:rPr>
              <a:t> </a:t>
            </a:r>
            <a:r>
              <a:rPr lang="en-US" sz="800">
                <a:solidFill>
                  <a:srgbClr val="000000"/>
                </a:solidFill>
                <a:latin typeface="IBM Plex Sans Light"/>
              </a:rPr>
              <a:t>– consists of 3 groups of question</a:t>
            </a:r>
          </a:p>
        </p:txBody>
      </p:sp>
      <p:sp>
        <p:nvSpPr>
          <p:cNvPr id="14" name="Rounded Rectangle 11">
            <a:extLst>
              <a:ext uri="{FF2B5EF4-FFF2-40B4-BE49-F238E27FC236}">
                <a16:creationId xmlns:a16="http://schemas.microsoft.com/office/drawing/2014/main" id="{D05F4957-5640-6294-FA62-7CF7E4618D09}"/>
              </a:ext>
            </a:extLst>
          </p:cNvPr>
          <p:cNvSpPr/>
          <p:nvPr/>
        </p:nvSpPr>
        <p:spPr bwMode="auto">
          <a:xfrm>
            <a:off x="10787804" y="3126407"/>
            <a:ext cx="1238696" cy="436253"/>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r>
              <a:rPr lang="en-US" sz="800">
                <a:solidFill>
                  <a:srgbClr val="000000"/>
                </a:solidFill>
                <a:latin typeface="IBM Plex Sans Medium" panose="020B0603050203000203" pitchFamily="34" charset="0"/>
              </a:rPr>
              <a:t>Prepare Assessment Report </a:t>
            </a:r>
            <a:r>
              <a:rPr lang="en-US" sz="800">
                <a:solidFill>
                  <a:srgbClr val="000000"/>
                </a:solidFill>
                <a:latin typeface="IBM Plex Sans Light"/>
              </a:rPr>
              <a:t>– by IBM</a:t>
            </a:r>
          </a:p>
        </p:txBody>
      </p:sp>
      <p:sp>
        <p:nvSpPr>
          <p:cNvPr id="15" name="Rounded Rectangle 13">
            <a:extLst>
              <a:ext uri="{FF2B5EF4-FFF2-40B4-BE49-F238E27FC236}">
                <a16:creationId xmlns:a16="http://schemas.microsoft.com/office/drawing/2014/main" id="{922BD94A-D26A-44C4-E309-190F052B2B8B}"/>
              </a:ext>
            </a:extLst>
          </p:cNvPr>
          <p:cNvSpPr/>
          <p:nvPr/>
        </p:nvSpPr>
        <p:spPr bwMode="auto">
          <a:xfrm>
            <a:off x="9320440" y="3126407"/>
            <a:ext cx="1238696" cy="436253"/>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r>
              <a:rPr lang="en-US" sz="800">
                <a:solidFill>
                  <a:srgbClr val="000000"/>
                </a:solidFill>
                <a:latin typeface="IBM Plex Sans Medium" panose="020B0603050203000203" pitchFamily="34" charset="0"/>
              </a:rPr>
              <a:t>Present Assessment Report &amp; Recommend Next Step</a:t>
            </a:r>
            <a:r>
              <a:rPr lang="en-US" sz="800" b="1">
                <a:solidFill>
                  <a:srgbClr val="000000"/>
                </a:solidFill>
                <a:latin typeface="IBM Plex Sans Light"/>
              </a:rPr>
              <a:t> –</a:t>
            </a:r>
            <a:r>
              <a:rPr lang="en-US" sz="800">
                <a:solidFill>
                  <a:srgbClr val="000000"/>
                </a:solidFill>
                <a:latin typeface="IBM Plex Sans Light"/>
              </a:rPr>
              <a:t> by IBM</a:t>
            </a:r>
          </a:p>
          <a:p>
            <a:pPr defTabSz="457109" fontAlgn="base">
              <a:spcBef>
                <a:spcPct val="0"/>
              </a:spcBef>
              <a:spcAft>
                <a:spcPct val="0"/>
              </a:spcAft>
            </a:pPr>
            <a:endParaRPr lang="en-US" sz="800">
              <a:solidFill>
                <a:srgbClr val="000000"/>
              </a:solidFill>
              <a:latin typeface="IBM Plex Sans Light"/>
            </a:endParaRPr>
          </a:p>
        </p:txBody>
      </p:sp>
      <p:sp>
        <p:nvSpPr>
          <p:cNvPr id="16" name="Rounded Rectangle 16">
            <a:extLst>
              <a:ext uri="{FF2B5EF4-FFF2-40B4-BE49-F238E27FC236}">
                <a16:creationId xmlns:a16="http://schemas.microsoft.com/office/drawing/2014/main" id="{164B5F8B-1F04-A2F9-A844-427190C664F0}"/>
              </a:ext>
            </a:extLst>
          </p:cNvPr>
          <p:cNvSpPr/>
          <p:nvPr/>
        </p:nvSpPr>
        <p:spPr bwMode="auto">
          <a:xfrm>
            <a:off x="9316567" y="3716578"/>
            <a:ext cx="1238696" cy="436253"/>
          </a:xfrm>
          <a:prstGeom prst="rect">
            <a:avLst/>
          </a:prstGeom>
          <a:solidFill>
            <a:schemeClr val="bg1"/>
          </a:solidFill>
          <a:ln w="1905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r>
              <a:rPr lang="en-US" sz="800">
                <a:solidFill>
                  <a:srgbClr val="000000"/>
                </a:solidFill>
                <a:latin typeface="IBM Plex Sans Medium" panose="020B0603050203000203" pitchFamily="34" charset="0"/>
              </a:rPr>
              <a:t>Initiate Deep Dive Discussion</a:t>
            </a:r>
            <a:r>
              <a:rPr lang="en-US" sz="800">
                <a:solidFill>
                  <a:srgbClr val="000000"/>
                </a:solidFill>
                <a:latin typeface="IBM Plex Sans Light"/>
              </a:rPr>
              <a:t> – for selected initiatives</a:t>
            </a:r>
          </a:p>
        </p:txBody>
      </p:sp>
      <p:grpSp>
        <p:nvGrpSpPr>
          <p:cNvPr id="89" name="Group 88">
            <a:extLst>
              <a:ext uri="{FF2B5EF4-FFF2-40B4-BE49-F238E27FC236}">
                <a16:creationId xmlns:a16="http://schemas.microsoft.com/office/drawing/2014/main" id="{65D24F45-A91A-550A-C9D2-42FFEC8E5439}"/>
              </a:ext>
            </a:extLst>
          </p:cNvPr>
          <p:cNvGrpSpPr/>
          <p:nvPr/>
        </p:nvGrpSpPr>
        <p:grpSpPr>
          <a:xfrm>
            <a:off x="10817273" y="3685597"/>
            <a:ext cx="467234" cy="467234"/>
            <a:chOff x="21675462" y="7218830"/>
            <a:chExt cx="1087021" cy="1087021"/>
          </a:xfrm>
        </p:grpSpPr>
        <p:sp>
          <p:nvSpPr>
            <p:cNvPr id="88" name="Oval 87">
              <a:extLst>
                <a:ext uri="{FF2B5EF4-FFF2-40B4-BE49-F238E27FC236}">
                  <a16:creationId xmlns:a16="http://schemas.microsoft.com/office/drawing/2014/main" id="{A855B754-5999-40D5-2AAF-0086D7856C84}"/>
                </a:ext>
              </a:extLst>
            </p:cNvPr>
            <p:cNvSpPr/>
            <p:nvPr/>
          </p:nvSpPr>
          <p:spPr bwMode="auto">
            <a:xfrm>
              <a:off x="21675462" y="7218830"/>
              <a:ext cx="1087021" cy="108702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pic>
          <p:nvPicPr>
            <p:cNvPr id="81" name="Picture 80" descr="Security as a service, Blue 60 pictogram">
              <a:extLst>
                <a:ext uri="{FF2B5EF4-FFF2-40B4-BE49-F238E27FC236}">
                  <a16:creationId xmlns:a16="http://schemas.microsoft.com/office/drawing/2014/main" id="{CCA73759-D80F-7012-4633-A03B8BC42156}"/>
                </a:ext>
              </a:extLst>
            </p:cNvPr>
            <p:cNvPicPr>
              <a:picLocks noChangeAspect="1"/>
            </p:cNvPicPr>
            <p:nvPr/>
          </p:nvPicPr>
          <p:blipFill>
            <a:blip r:embed="rId2"/>
            <a:srcRect/>
            <a:stretch/>
          </p:blipFill>
          <p:spPr>
            <a:xfrm>
              <a:off x="21827893" y="7371261"/>
              <a:ext cx="782158" cy="782158"/>
            </a:xfrm>
            <a:prstGeom prst="rect">
              <a:avLst/>
            </a:prstGeom>
          </p:spPr>
        </p:pic>
      </p:grpSp>
      <p:sp>
        <p:nvSpPr>
          <p:cNvPr id="82" name="Isosceles Triangle 81">
            <a:extLst>
              <a:ext uri="{FF2B5EF4-FFF2-40B4-BE49-F238E27FC236}">
                <a16:creationId xmlns:a16="http://schemas.microsoft.com/office/drawing/2014/main" id="{11A8BE9F-B1FF-830D-89D2-7EBAD922F816}"/>
              </a:ext>
            </a:extLst>
          </p:cNvPr>
          <p:cNvSpPr/>
          <p:nvPr/>
        </p:nvSpPr>
        <p:spPr bwMode="auto">
          <a:xfrm rot="5400000">
            <a:off x="10619806" y="2724136"/>
            <a:ext cx="126721" cy="60454"/>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84" name="Isosceles Triangle 83">
            <a:extLst>
              <a:ext uri="{FF2B5EF4-FFF2-40B4-BE49-F238E27FC236}">
                <a16:creationId xmlns:a16="http://schemas.microsoft.com/office/drawing/2014/main" id="{802A34BD-9861-4242-7D7C-1EBA5C95AC5C}"/>
              </a:ext>
            </a:extLst>
          </p:cNvPr>
          <p:cNvSpPr/>
          <p:nvPr/>
        </p:nvSpPr>
        <p:spPr bwMode="auto">
          <a:xfrm rot="10800000">
            <a:off x="11353572" y="3016047"/>
            <a:ext cx="126721" cy="60454"/>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85" name="Isosceles Triangle 84">
            <a:extLst>
              <a:ext uri="{FF2B5EF4-FFF2-40B4-BE49-F238E27FC236}">
                <a16:creationId xmlns:a16="http://schemas.microsoft.com/office/drawing/2014/main" id="{314C15D7-FBB4-5810-C612-E9FAA0EB08C2}"/>
              </a:ext>
            </a:extLst>
          </p:cNvPr>
          <p:cNvSpPr/>
          <p:nvPr/>
        </p:nvSpPr>
        <p:spPr bwMode="auto">
          <a:xfrm rot="16200000">
            <a:off x="10607089" y="3314307"/>
            <a:ext cx="126721" cy="60454"/>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86" name="Isosceles Triangle 85">
            <a:extLst>
              <a:ext uri="{FF2B5EF4-FFF2-40B4-BE49-F238E27FC236}">
                <a16:creationId xmlns:a16="http://schemas.microsoft.com/office/drawing/2014/main" id="{3CD621F2-C26C-F433-0DB2-8CD8CEDC7236}"/>
              </a:ext>
            </a:extLst>
          </p:cNvPr>
          <p:cNvSpPr/>
          <p:nvPr/>
        </p:nvSpPr>
        <p:spPr bwMode="auto">
          <a:xfrm rot="10800000">
            <a:off x="9961590" y="3609392"/>
            <a:ext cx="126721" cy="60454"/>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87" name="Isosceles Triangle 86">
            <a:extLst>
              <a:ext uri="{FF2B5EF4-FFF2-40B4-BE49-F238E27FC236}">
                <a16:creationId xmlns:a16="http://schemas.microsoft.com/office/drawing/2014/main" id="{C8397B7B-E577-13EA-3FBD-DC3E9E10A17F}"/>
              </a:ext>
            </a:extLst>
          </p:cNvPr>
          <p:cNvSpPr/>
          <p:nvPr/>
        </p:nvSpPr>
        <p:spPr bwMode="auto">
          <a:xfrm rot="5400000">
            <a:off x="10619806" y="3890702"/>
            <a:ext cx="126721" cy="60454"/>
          </a:xfrm>
          <a:prstGeom prst="triangl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90" name="Footer Placeholder 6">
            <a:extLst>
              <a:ext uri="{FF2B5EF4-FFF2-40B4-BE49-F238E27FC236}">
                <a16:creationId xmlns:a16="http://schemas.microsoft.com/office/drawing/2014/main" id="{B9609841-2DB2-7F17-E9C3-82D39BD440CB}"/>
              </a:ext>
            </a:extLst>
          </p:cNvPr>
          <p:cNvSpPr>
            <a:spLocks noGrp="1"/>
          </p:cNvSpPr>
          <p:nvPr>
            <p:ph type="ftr" sz="quarter" idx="18"/>
          </p:nvPr>
        </p:nvSpPr>
        <p:spPr>
          <a:xfrm>
            <a:off x="284125" y="6401731"/>
            <a:ext cx="2477765" cy="190475"/>
          </a:xfrm>
        </p:spPr>
        <p:txBody>
          <a:bodyPr/>
          <a:lstStyle/>
          <a:p>
            <a:pPr defTabSz="914507"/>
            <a:r>
              <a:rPr lang="en-US">
                <a:solidFill>
                  <a:srgbClr val="000000"/>
                </a:solidFill>
              </a:rPr>
              <a:t>IBM Confidential</a:t>
            </a:r>
          </a:p>
        </p:txBody>
      </p:sp>
    </p:spTree>
    <p:extLst>
      <p:ext uri="{BB962C8B-B14F-4D97-AF65-F5344CB8AC3E}">
        <p14:creationId xmlns:p14="http://schemas.microsoft.com/office/powerpoint/2010/main" val="35349635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descr="Vertical quarter slide background in blue 10">
            <a:extLst>
              <a:ext uri="{FF2B5EF4-FFF2-40B4-BE49-F238E27FC236}">
                <a16:creationId xmlns:a16="http://schemas.microsoft.com/office/drawing/2014/main" id="{50C56045-27AD-1D55-CEDA-6AA119DE9FDC}"/>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2" name="Title 1">
            <a:extLst>
              <a:ext uri="{FF2B5EF4-FFF2-40B4-BE49-F238E27FC236}">
                <a16:creationId xmlns:a16="http://schemas.microsoft.com/office/drawing/2014/main" id="{9D5F005E-30B1-FE95-E47D-6CE14D314C91}"/>
              </a:ext>
            </a:extLst>
          </p:cNvPr>
          <p:cNvSpPr>
            <a:spLocks noGrp="1"/>
          </p:cNvSpPr>
          <p:nvPr>
            <p:ph type="title"/>
          </p:nvPr>
        </p:nvSpPr>
        <p:spPr>
          <a:xfrm>
            <a:off x="211809" y="288445"/>
            <a:ext cx="2235309" cy="762695"/>
          </a:xfrm>
        </p:spPr>
        <p:txBody>
          <a:bodyPr/>
          <a:lstStyle/>
          <a:p>
            <a:r>
              <a:rPr lang="en-US" sz="2699"/>
              <a:t>User Feedback</a:t>
            </a:r>
          </a:p>
        </p:txBody>
      </p:sp>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843785" y="6464956"/>
            <a:ext cx="60915" cy="123111"/>
          </a:xfrm>
        </p:spPr>
        <p:txBody>
          <a:bodyPr/>
          <a:lstStyle/>
          <a:p>
            <a:pPr defTabSz="914507"/>
            <a:fld id="{86CB4B4D-7CA3-9044-876B-883B54F8677D}" type="slidenum">
              <a:rPr lang="en-US">
                <a:solidFill>
                  <a:srgbClr val="000000"/>
                </a:solidFill>
              </a:rPr>
              <a:pPr defTabSz="914507"/>
              <a:t>7</a:t>
            </a:fld>
            <a:endParaRPr lang="en-US">
              <a:solidFill>
                <a:srgbClr val="000000"/>
              </a:solidFill>
            </a:endParaRPr>
          </a:p>
        </p:txBody>
      </p:sp>
      <p:graphicFrame>
        <p:nvGraphicFramePr>
          <p:cNvPr id="72" name="Content Placeholder" descr="Sample table with color-coded cells identifying role responsibilities for each step and decision in a project ">
            <a:extLst>
              <a:ext uri="{FF2B5EF4-FFF2-40B4-BE49-F238E27FC236}">
                <a16:creationId xmlns:a16="http://schemas.microsoft.com/office/drawing/2014/main" id="{08BE43AA-86B7-5735-28FA-3D498BDAD79B}"/>
              </a:ext>
            </a:extLst>
          </p:cNvPr>
          <p:cNvGraphicFramePr>
            <a:graphicFrameLocks/>
          </p:cNvGraphicFramePr>
          <p:nvPr/>
        </p:nvGraphicFramePr>
        <p:xfrm>
          <a:off x="2571415" y="1619487"/>
          <a:ext cx="9333285" cy="2689243"/>
        </p:xfrm>
        <a:graphic>
          <a:graphicData uri="http://schemas.openxmlformats.org/drawingml/2006/table">
            <a:tbl>
              <a:tblPr firstRow="1" bandRow="1"/>
              <a:tblGrid>
                <a:gridCol w="771425">
                  <a:extLst>
                    <a:ext uri="{9D8B030D-6E8A-4147-A177-3AD203B41FA5}">
                      <a16:colId xmlns:a16="http://schemas.microsoft.com/office/drawing/2014/main" val="20000"/>
                    </a:ext>
                  </a:extLst>
                </a:gridCol>
                <a:gridCol w="4280930">
                  <a:extLst>
                    <a:ext uri="{9D8B030D-6E8A-4147-A177-3AD203B41FA5}">
                      <a16:colId xmlns:a16="http://schemas.microsoft.com/office/drawing/2014/main" val="20001"/>
                    </a:ext>
                  </a:extLst>
                </a:gridCol>
                <a:gridCol w="4280930">
                  <a:extLst>
                    <a:ext uri="{9D8B030D-6E8A-4147-A177-3AD203B41FA5}">
                      <a16:colId xmlns:a16="http://schemas.microsoft.com/office/drawing/2014/main" val="20002"/>
                    </a:ext>
                  </a:extLst>
                </a:gridCol>
              </a:tblGrid>
              <a:tr h="559188">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IBM Plex Sans Medium" panose="020B0503050203000203" pitchFamily="34" charset="0"/>
                        <a:ea typeface="IBM Plex Sans" charset="0"/>
                        <a:cs typeface="IBM Plex Sans" charset="0"/>
                      </a:endParaRP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r>
                        <a:rPr kumimoji="0" lang="en-US" altLang="en-US" sz="1400" b="0" i="0" u="none" strike="noStrike" cap="none" normalizeH="0" baseline="0">
                          <a:ln>
                            <a:noFill/>
                          </a:ln>
                          <a:solidFill>
                            <a:schemeClr val="bg1"/>
                          </a:solidFill>
                          <a:effectLst/>
                          <a:latin typeface="+mj-lt"/>
                          <a:ea typeface="IBM Plex Sans" charset="0"/>
                          <a:cs typeface="IBM Plex Sans" charset="0"/>
                        </a:rPr>
                        <a:t>       As-Is (In-Practice)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r>
                        <a:rPr kumimoji="0" lang="en-US" altLang="en-US" sz="1400" b="0" i="0" u="none" strike="noStrike" cap="none" normalizeH="0" baseline="0">
                          <a:ln>
                            <a:noFill/>
                          </a:ln>
                          <a:solidFill>
                            <a:schemeClr val="bg1"/>
                          </a:solidFill>
                          <a:effectLst/>
                          <a:latin typeface="+mj-lt"/>
                          <a:ea typeface="IBM Plex Sans" charset="0"/>
                          <a:cs typeface="IBM Plex Sans" charset="0"/>
                        </a:rPr>
                        <a:t>        To-be (Missing)</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130055">
                <a:tc>
                  <a:txBody>
                    <a:bodyPr/>
                    <a:lstStyle/>
                    <a:p>
                      <a:pPr algn="l" fontAlgn="ctr">
                        <a:lnSpc>
                          <a:spcPct val="100000"/>
                        </a:lnSpc>
                        <a:spcAft>
                          <a:spcPts val="600"/>
                        </a:spcAft>
                      </a:pPr>
                      <a:endParaRPr lang="en-US" sz="1000" b="0" i="0" u="none" strike="noStrike">
                        <a:solidFill>
                          <a:schemeClr val="bg1"/>
                        </a:solidFill>
                        <a:effectLst/>
                        <a:latin typeface="+mj-lt"/>
                        <a:ea typeface="+mn-ea"/>
                      </a:endParaRPr>
                    </a:p>
                    <a:p>
                      <a:pPr algn="l" fontAlgn="ctr">
                        <a:lnSpc>
                          <a:spcPct val="100000"/>
                        </a:lnSpc>
                        <a:spcAft>
                          <a:spcPts val="600"/>
                        </a:spcAft>
                      </a:pPr>
                      <a:endParaRPr lang="en-US" sz="1000" b="0" i="0" u="none" strike="noStrike">
                        <a:solidFill>
                          <a:schemeClr val="bg1"/>
                        </a:solidFill>
                        <a:effectLst/>
                        <a:latin typeface="+mj-lt"/>
                        <a:ea typeface="+mn-ea"/>
                      </a:endParaRPr>
                    </a:p>
                    <a:p>
                      <a:pPr algn="l" fontAlgn="ctr">
                        <a:lnSpc>
                          <a:spcPct val="100000"/>
                        </a:lnSpc>
                        <a:spcAft>
                          <a:spcPts val="600"/>
                        </a:spcAft>
                      </a:pPr>
                      <a:endParaRPr lang="en-US" sz="1000" b="0" i="0" u="none" strike="noStrike">
                        <a:solidFill>
                          <a:schemeClr val="bg1"/>
                        </a:solidFill>
                        <a:effectLst/>
                        <a:latin typeface="+mj-lt"/>
                        <a:ea typeface="+mn-ea"/>
                      </a:endParaRPr>
                    </a:p>
                    <a:p>
                      <a:pPr algn="l" fontAlgn="ctr">
                        <a:lnSpc>
                          <a:spcPct val="100000"/>
                        </a:lnSpc>
                        <a:spcAft>
                          <a:spcPts val="600"/>
                        </a:spcAft>
                      </a:pPr>
                      <a:endParaRPr lang="en-US" sz="1000" b="0" i="0" u="none" strike="noStrike">
                        <a:solidFill>
                          <a:schemeClr val="bg1"/>
                        </a:solidFill>
                        <a:effectLst/>
                        <a:latin typeface="+mj-lt"/>
                        <a:ea typeface="+mn-ea"/>
                      </a:endParaRPr>
                    </a:p>
                    <a:p>
                      <a:pPr algn="l" fontAlgn="ctr">
                        <a:lnSpc>
                          <a:spcPct val="100000"/>
                        </a:lnSpc>
                        <a:spcAft>
                          <a:spcPts val="600"/>
                        </a:spcAft>
                      </a:pPr>
                      <a:endParaRPr lang="en-US" sz="1000" b="0" i="0" u="none" strike="noStrike">
                        <a:solidFill>
                          <a:schemeClr val="bg1"/>
                        </a:solidFill>
                        <a:effectLst/>
                        <a:latin typeface="+mj-lt"/>
                        <a:ea typeface="+mn-ea"/>
                      </a:endParaRPr>
                    </a:p>
                    <a:p>
                      <a:pPr algn="l" fontAlgn="ctr">
                        <a:lnSpc>
                          <a:spcPct val="100000"/>
                        </a:lnSpc>
                        <a:spcAft>
                          <a:spcPts val="600"/>
                        </a:spcAft>
                      </a:pPr>
                      <a:endParaRPr lang="en-US" sz="1000" b="0" i="0" u="none" strike="noStrike">
                        <a:solidFill>
                          <a:schemeClr val="bg1"/>
                        </a:solidFill>
                        <a:effectLst/>
                        <a:latin typeface="+mj-lt"/>
                        <a:ea typeface="+mn-ea"/>
                      </a:endParaRPr>
                    </a:p>
                    <a:p>
                      <a:pPr algn="ctr" fontAlgn="ctr">
                        <a:lnSpc>
                          <a:spcPct val="100000"/>
                        </a:lnSpc>
                        <a:spcAft>
                          <a:spcPts val="600"/>
                        </a:spcAft>
                      </a:pPr>
                      <a:r>
                        <a:rPr lang="en-US" sz="1200" b="0" i="0" u="none" strike="noStrike">
                          <a:solidFill>
                            <a:schemeClr val="bg1"/>
                          </a:solidFill>
                          <a:effectLst/>
                          <a:latin typeface="IBM Plex Sans Medium" panose="020B0603050203000203" pitchFamily="34" charset="0"/>
                          <a:ea typeface="+mn-ea"/>
                        </a:rPr>
                        <a:t>Tech.</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lnSpc>
                          <a:spcPct val="100000"/>
                        </a:lnSpc>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00000"/>
                        </a:lnSpc>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pic>
        <p:nvPicPr>
          <p:cNvPr id="77" name="Graphic 76" descr="Checkbox Checked with solid fill">
            <a:extLst>
              <a:ext uri="{FF2B5EF4-FFF2-40B4-BE49-F238E27FC236}">
                <a16:creationId xmlns:a16="http://schemas.microsoft.com/office/drawing/2014/main" id="{EB6E2FDD-CF7C-9268-33B1-979B46FBC1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6491" y="1619486"/>
            <a:ext cx="457140" cy="457140"/>
          </a:xfrm>
          <a:prstGeom prst="rect">
            <a:avLst/>
          </a:prstGeom>
        </p:spPr>
      </p:pic>
      <p:pic>
        <p:nvPicPr>
          <p:cNvPr id="79" name="Graphic 78" descr="Checkbox Crossed with solid fill">
            <a:extLst>
              <a:ext uri="{FF2B5EF4-FFF2-40B4-BE49-F238E27FC236}">
                <a16:creationId xmlns:a16="http://schemas.microsoft.com/office/drawing/2014/main" id="{24818CDF-FAEA-A110-7D1E-A1CAF732AF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76548" y="1619486"/>
            <a:ext cx="457140" cy="457140"/>
          </a:xfrm>
          <a:prstGeom prst="rect">
            <a:avLst/>
          </a:prstGeom>
        </p:spPr>
      </p:pic>
      <p:grpSp>
        <p:nvGrpSpPr>
          <p:cNvPr id="23" name="Group 22">
            <a:extLst>
              <a:ext uri="{FF2B5EF4-FFF2-40B4-BE49-F238E27FC236}">
                <a16:creationId xmlns:a16="http://schemas.microsoft.com/office/drawing/2014/main" id="{C6A8FE2F-0834-2894-522E-5DB5FA73F17C}"/>
              </a:ext>
            </a:extLst>
          </p:cNvPr>
          <p:cNvGrpSpPr/>
          <p:nvPr/>
        </p:nvGrpSpPr>
        <p:grpSpPr>
          <a:xfrm>
            <a:off x="3515061" y="2417866"/>
            <a:ext cx="1035460" cy="609521"/>
            <a:chOff x="0" y="2602826"/>
            <a:chExt cx="3510832" cy="1070803"/>
          </a:xfrm>
        </p:grpSpPr>
        <p:sp>
          <p:nvSpPr>
            <p:cNvPr id="24" name="Rectangle 23">
              <a:extLst>
                <a:ext uri="{FF2B5EF4-FFF2-40B4-BE49-F238E27FC236}">
                  <a16:creationId xmlns:a16="http://schemas.microsoft.com/office/drawing/2014/main" id="{556AD199-8F34-57C3-E826-21CE2FEB270D}"/>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25" name="TextBox 24">
              <a:extLst>
                <a:ext uri="{FF2B5EF4-FFF2-40B4-BE49-F238E27FC236}">
                  <a16:creationId xmlns:a16="http://schemas.microsoft.com/office/drawing/2014/main" id="{235E53ED-4884-AA25-F286-DEBAD31D7908}"/>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Data Loss Prevention (DLP): </a:t>
              </a:r>
            </a:p>
            <a:p>
              <a:pPr defTabSz="533293">
                <a:lnSpc>
                  <a:spcPct val="90000"/>
                </a:lnSpc>
                <a:spcBef>
                  <a:spcPct val="0"/>
                </a:spcBef>
                <a:spcAft>
                  <a:spcPct val="35000"/>
                </a:spcAft>
              </a:pPr>
              <a:r>
                <a:rPr lang="en-US" sz="900">
                  <a:solidFill>
                    <a:srgbClr val="000000"/>
                  </a:solidFill>
                  <a:latin typeface="IBM Plex Sans Light"/>
                </a:rPr>
                <a:t>End-point &amp; email</a:t>
              </a:r>
            </a:p>
          </p:txBody>
        </p:sp>
      </p:grpSp>
      <p:pic>
        <p:nvPicPr>
          <p:cNvPr id="3" name="Picture 2" descr="Security as a service, Blue 60 pictogram">
            <a:extLst>
              <a:ext uri="{FF2B5EF4-FFF2-40B4-BE49-F238E27FC236}">
                <a16:creationId xmlns:a16="http://schemas.microsoft.com/office/drawing/2014/main" id="{798FFE0E-C652-4F7F-270E-35332AD64837}"/>
              </a:ext>
            </a:extLst>
          </p:cNvPr>
          <p:cNvPicPr>
            <a:picLocks noChangeAspect="1"/>
          </p:cNvPicPr>
          <p:nvPr/>
        </p:nvPicPr>
        <p:blipFill>
          <a:blip r:embed="rId6">
            <a:biLevel thresh="25000"/>
          </a:blip>
          <a:srcRect/>
          <a:stretch/>
        </p:blipFill>
        <p:spPr>
          <a:xfrm>
            <a:off x="2684935" y="2577691"/>
            <a:ext cx="609521" cy="609521"/>
          </a:xfrm>
          <a:prstGeom prst="rect">
            <a:avLst/>
          </a:prstGeom>
        </p:spPr>
      </p:pic>
      <p:grpSp>
        <p:nvGrpSpPr>
          <p:cNvPr id="8" name="Group 7">
            <a:extLst>
              <a:ext uri="{FF2B5EF4-FFF2-40B4-BE49-F238E27FC236}">
                <a16:creationId xmlns:a16="http://schemas.microsoft.com/office/drawing/2014/main" id="{3048B04A-68AA-BD45-DBE3-5B938AE4C54D}"/>
              </a:ext>
            </a:extLst>
          </p:cNvPr>
          <p:cNvGrpSpPr/>
          <p:nvPr/>
        </p:nvGrpSpPr>
        <p:grpSpPr>
          <a:xfrm>
            <a:off x="4771126" y="2417866"/>
            <a:ext cx="1035460" cy="609521"/>
            <a:chOff x="0" y="2602826"/>
            <a:chExt cx="3510832" cy="1070803"/>
          </a:xfrm>
        </p:grpSpPr>
        <p:sp>
          <p:nvSpPr>
            <p:cNvPr id="18" name="Rectangle 17">
              <a:extLst>
                <a:ext uri="{FF2B5EF4-FFF2-40B4-BE49-F238E27FC236}">
                  <a16:creationId xmlns:a16="http://schemas.microsoft.com/office/drawing/2014/main" id="{57E606F5-B9CC-99D5-7B88-52069B45BB1B}"/>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20" name="TextBox 19">
              <a:extLst>
                <a:ext uri="{FF2B5EF4-FFF2-40B4-BE49-F238E27FC236}">
                  <a16:creationId xmlns:a16="http://schemas.microsoft.com/office/drawing/2014/main" id="{309BF1B7-656F-F6F8-9246-5AD0CD7A1C38}"/>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Data Classification:</a:t>
              </a:r>
            </a:p>
            <a:p>
              <a:pPr defTabSz="533293">
                <a:lnSpc>
                  <a:spcPct val="90000"/>
                </a:lnSpc>
                <a:spcBef>
                  <a:spcPct val="0"/>
                </a:spcBef>
                <a:spcAft>
                  <a:spcPct val="35000"/>
                </a:spcAft>
              </a:pPr>
              <a:r>
                <a:rPr lang="en-US" sz="900">
                  <a:solidFill>
                    <a:srgbClr val="000000"/>
                  </a:solidFill>
                  <a:latin typeface="IBM Plex Sans Light"/>
                </a:rPr>
                <a:t>Manual Marking</a:t>
              </a:r>
            </a:p>
          </p:txBody>
        </p:sp>
      </p:grpSp>
      <p:grpSp>
        <p:nvGrpSpPr>
          <p:cNvPr id="60" name="Group 59">
            <a:extLst>
              <a:ext uri="{FF2B5EF4-FFF2-40B4-BE49-F238E27FC236}">
                <a16:creationId xmlns:a16="http://schemas.microsoft.com/office/drawing/2014/main" id="{409D5285-18E0-9157-26EE-9392BBF2815F}"/>
              </a:ext>
            </a:extLst>
          </p:cNvPr>
          <p:cNvGrpSpPr/>
          <p:nvPr/>
        </p:nvGrpSpPr>
        <p:grpSpPr>
          <a:xfrm>
            <a:off x="6027190" y="2417866"/>
            <a:ext cx="1035460" cy="609521"/>
            <a:chOff x="0" y="2602826"/>
            <a:chExt cx="3510832" cy="1070803"/>
          </a:xfrm>
        </p:grpSpPr>
        <p:sp>
          <p:nvSpPr>
            <p:cNvPr id="61" name="Rectangle 60">
              <a:extLst>
                <a:ext uri="{FF2B5EF4-FFF2-40B4-BE49-F238E27FC236}">
                  <a16:creationId xmlns:a16="http://schemas.microsoft.com/office/drawing/2014/main" id="{76A55053-45B9-937A-019C-F428032B3743}"/>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62" name="TextBox 61">
              <a:extLst>
                <a:ext uri="{FF2B5EF4-FFF2-40B4-BE49-F238E27FC236}">
                  <a16:creationId xmlns:a16="http://schemas.microsoft.com/office/drawing/2014/main" id="{049558D9-3FA5-5DF4-648A-3E48CAFA6F80}"/>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Comply to ISO 270001</a:t>
              </a:r>
              <a:endParaRPr lang="en-US" sz="900">
                <a:solidFill>
                  <a:srgbClr val="000000"/>
                </a:solidFill>
                <a:latin typeface="IBM Plex Sans Light"/>
              </a:endParaRPr>
            </a:p>
          </p:txBody>
        </p:sp>
      </p:grpSp>
      <p:grpSp>
        <p:nvGrpSpPr>
          <p:cNvPr id="63" name="Group 62">
            <a:extLst>
              <a:ext uri="{FF2B5EF4-FFF2-40B4-BE49-F238E27FC236}">
                <a16:creationId xmlns:a16="http://schemas.microsoft.com/office/drawing/2014/main" id="{BEAC804D-ABCC-0520-DC17-76F38790E874}"/>
              </a:ext>
            </a:extLst>
          </p:cNvPr>
          <p:cNvGrpSpPr/>
          <p:nvPr/>
        </p:nvGrpSpPr>
        <p:grpSpPr>
          <a:xfrm>
            <a:off x="3515061" y="3457359"/>
            <a:ext cx="1035460" cy="609521"/>
            <a:chOff x="0" y="2602826"/>
            <a:chExt cx="3510832" cy="1070803"/>
          </a:xfrm>
        </p:grpSpPr>
        <p:sp>
          <p:nvSpPr>
            <p:cNvPr id="67" name="Rectangle 66">
              <a:extLst>
                <a:ext uri="{FF2B5EF4-FFF2-40B4-BE49-F238E27FC236}">
                  <a16:creationId xmlns:a16="http://schemas.microsoft.com/office/drawing/2014/main" id="{CD3865DA-A888-0EC3-65BD-01AA9489944C}"/>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68" name="TextBox 67">
              <a:extLst>
                <a:ext uri="{FF2B5EF4-FFF2-40B4-BE49-F238E27FC236}">
                  <a16:creationId xmlns:a16="http://schemas.microsoft.com/office/drawing/2014/main" id="{8D20D8A8-7B9D-3DDA-6FA1-7B3A751A5CA6}"/>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Application Ownership:</a:t>
              </a:r>
            </a:p>
            <a:p>
              <a:pPr defTabSz="533293">
                <a:lnSpc>
                  <a:spcPct val="90000"/>
                </a:lnSpc>
                <a:spcBef>
                  <a:spcPct val="0"/>
                </a:spcBef>
                <a:spcAft>
                  <a:spcPct val="35000"/>
                </a:spcAft>
              </a:pPr>
              <a:r>
                <a:rPr lang="en-US" sz="900">
                  <a:solidFill>
                    <a:srgbClr val="000000"/>
                  </a:solidFill>
                  <a:latin typeface="IBM Plex Sans Light"/>
                </a:rPr>
                <a:t>Yearly list down of app. ownership </a:t>
              </a:r>
            </a:p>
          </p:txBody>
        </p:sp>
      </p:grpSp>
      <p:grpSp>
        <p:nvGrpSpPr>
          <p:cNvPr id="69" name="Group 68">
            <a:extLst>
              <a:ext uri="{FF2B5EF4-FFF2-40B4-BE49-F238E27FC236}">
                <a16:creationId xmlns:a16="http://schemas.microsoft.com/office/drawing/2014/main" id="{9564836E-AE27-4172-47E0-D8AFD952B715}"/>
              </a:ext>
            </a:extLst>
          </p:cNvPr>
          <p:cNvGrpSpPr/>
          <p:nvPr/>
        </p:nvGrpSpPr>
        <p:grpSpPr>
          <a:xfrm>
            <a:off x="4771126" y="3457359"/>
            <a:ext cx="1035460" cy="609521"/>
            <a:chOff x="0" y="2602826"/>
            <a:chExt cx="3510832" cy="1070803"/>
          </a:xfrm>
        </p:grpSpPr>
        <p:sp>
          <p:nvSpPr>
            <p:cNvPr id="70" name="Rectangle 69">
              <a:extLst>
                <a:ext uri="{FF2B5EF4-FFF2-40B4-BE49-F238E27FC236}">
                  <a16:creationId xmlns:a16="http://schemas.microsoft.com/office/drawing/2014/main" id="{4DB5FD57-1547-57A6-BF27-81A02106F0FF}"/>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71" name="TextBox 70">
              <a:extLst>
                <a:ext uri="{FF2B5EF4-FFF2-40B4-BE49-F238E27FC236}">
                  <a16:creationId xmlns:a16="http://schemas.microsoft.com/office/drawing/2014/main" id="{3A1F1024-9377-9180-A450-0908282500DA}"/>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Antivirus:</a:t>
              </a:r>
            </a:p>
            <a:p>
              <a:pPr defTabSz="533293">
                <a:lnSpc>
                  <a:spcPct val="90000"/>
                </a:lnSpc>
                <a:spcBef>
                  <a:spcPct val="0"/>
                </a:spcBef>
                <a:spcAft>
                  <a:spcPct val="35000"/>
                </a:spcAft>
              </a:pPr>
              <a:r>
                <a:rPr lang="en-US" sz="900" err="1">
                  <a:solidFill>
                    <a:srgbClr val="000000"/>
                  </a:solidFill>
                  <a:latin typeface="IBM Plex Sans Light"/>
                </a:rPr>
                <a:t>Technicro</a:t>
              </a:r>
              <a:endParaRPr lang="en-US" sz="900">
                <a:solidFill>
                  <a:srgbClr val="000000"/>
                </a:solidFill>
                <a:latin typeface="IBM Plex Sans Light"/>
              </a:endParaRPr>
            </a:p>
          </p:txBody>
        </p:sp>
      </p:grpSp>
      <p:grpSp>
        <p:nvGrpSpPr>
          <p:cNvPr id="96" name="Group 95">
            <a:extLst>
              <a:ext uri="{FF2B5EF4-FFF2-40B4-BE49-F238E27FC236}">
                <a16:creationId xmlns:a16="http://schemas.microsoft.com/office/drawing/2014/main" id="{A3627A72-1DB3-E8FB-9CA5-3DF2F2C3018B}"/>
              </a:ext>
            </a:extLst>
          </p:cNvPr>
          <p:cNvGrpSpPr/>
          <p:nvPr/>
        </p:nvGrpSpPr>
        <p:grpSpPr>
          <a:xfrm>
            <a:off x="6027190" y="3457359"/>
            <a:ext cx="1035460" cy="609521"/>
            <a:chOff x="0" y="2602826"/>
            <a:chExt cx="3510832" cy="1070803"/>
          </a:xfrm>
        </p:grpSpPr>
        <p:sp>
          <p:nvSpPr>
            <p:cNvPr id="97" name="Rectangle 96">
              <a:extLst>
                <a:ext uri="{FF2B5EF4-FFF2-40B4-BE49-F238E27FC236}">
                  <a16:creationId xmlns:a16="http://schemas.microsoft.com/office/drawing/2014/main" id="{E15595DE-D4ED-5292-24EC-DE65ADF21337}"/>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98" name="TextBox 97">
              <a:extLst>
                <a:ext uri="{FF2B5EF4-FFF2-40B4-BE49-F238E27FC236}">
                  <a16:creationId xmlns:a16="http://schemas.microsoft.com/office/drawing/2014/main" id="{5E03262B-3759-BA97-0E52-449C1D5480AE}"/>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Logging &amp; Monitoring: </a:t>
              </a:r>
            </a:p>
            <a:p>
              <a:pPr defTabSz="533293">
                <a:lnSpc>
                  <a:spcPct val="90000"/>
                </a:lnSpc>
                <a:spcBef>
                  <a:spcPct val="0"/>
                </a:spcBef>
                <a:spcAft>
                  <a:spcPct val="35000"/>
                </a:spcAft>
              </a:pPr>
              <a:r>
                <a:rPr lang="en-US" sz="900">
                  <a:solidFill>
                    <a:srgbClr val="000000"/>
                  </a:solidFill>
                  <a:latin typeface="IBM Plex Sans Light"/>
                </a:rPr>
                <a:t>Monitoring OS</a:t>
              </a:r>
            </a:p>
          </p:txBody>
        </p:sp>
      </p:grpSp>
      <p:grpSp>
        <p:nvGrpSpPr>
          <p:cNvPr id="99" name="Group 98">
            <a:extLst>
              <a:ext uri="{FF2B5EF4-FFF2-40B4-BE49-F238E27FC236}">
                <a16:creationId xmlns:a16="http://schemas.microsoft.com/office/drawing/2014/main" id="{5BD9AB28-FEB9-4BB1-D41D-75C02A2AB9CA}"/>
              </a:ext>
            </a:extLst>
          </p:cNvPr>
          <p:cNvGrpSpPr/>
          <p:nvPr/>
        </p:nvGrpSpPr>
        <p:grpSpPr>
          <a:xfrm>
            <a:off x="7862085" y="2417866"/>
            <a:ext cx="1035460" cy="465364"/>
            <a:chOff x="0" y="2602826"/>
            <a:chExt cx="3510832" cy="1070803"/>
          </a:xfrm>
        </p:grpSpPr>
        <p:sp>
          <p:nvSpPr>
            <p:cNvPr id="101" name="Rectangle 100">
              <a:extLst>
                <a:ext uri="{FF2B5EF4-FFF2-40B4-BE49-F238E27FC236}">
                  <a16:creationId xmlns:a16="http://schemas.microsoft.com/office/drawing/2014/main" id="{B853363B-9C6E-49A3-062F-BE83EF63D946}"/>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02" name="TextBox 101">
              <a:extLst>
                <a:ext uri="{FF2B5EF4-FFF2-40B4-BE49-F238E27FC236}">
                  <a16:creationId xmlns:a16="http://schemas.microsoft.com/office/drawing/2014/main" id="{676AC179-D65E-6C6C-51E7-0464E575F4D4}"/>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Data Flow Diagram</a:t>
              </a:r>
              <a:endParaRPr lang="en-US" sz="900">
                <a:solidFill>
                  <a:srgbClr val="000000"/>
                </a:solidFill>
                <a:latin typeface="IBM Plex Sans Light"/>
              </a:endParaRPr>
            </a:p>
          </p:txBody>
        </p:sp>
      </p:grpSp>
      <p:grpSp>
        <p:nvGrpSpPr>
          <p:cNvPr id="103" name="Group 102">
            <a:extLst>
              <a:ext uri="{FF2B5EF4-FFF2-40B4-BE49-F238E27FC236}">
                <a16:creationId xmlns:a16="http://schemas.microsoft.com/office/drawing/2014/main" id="{06865DDF-A7E7-F4F3-8B97-1D4E596ADA2E}"/>
              </a:ext>
            </a:extLst>
          </p:cNvPr>
          <p:cNvGrpSpPr/>
          <p:nvPr/>
        </p:nvGrpSpPr>
        <p:grpSpPr>
          <a:xfrm>
            <a:off x="9118150" y="2417866"/>
            <a:ext cx="1035460" cy="465364"/>
            <a:chOff x="0" y="2602826"/>
            <a:chExt cx="3510832" cy="1070803"/>
          </a:xfrm>
        </p:grpSpPr>
        <p:sp>
          <p:nvSpPr>
            <p:cNvPr id="104" name="Rectangle 103">
              <a:extLst>
                <a:ext uri="{FF2B5EF4-FFF2-40B4-BE49-F238E27FC236}">
                  <a16:creationId xmlns:a16="http://schemas.microsoft.com/office/drawing/2014/main" id="{BCB464D6-DE79-7405-43B9-8C57447BF9A5}"/>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05" name="TextBox 104">
              <a:extLst>
                <a:ext uri="{FF2B5EF4-FFF2-40B4-BE49-F238E27FC236}">
                  <a16:creationId xmlns:a16="http://schemas.microsoft.com/office/drawing/2014/main" id="{DAB68FA2-18B5-A61E-FAC7-CBD5A5B3C6EC}"/>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Encryption</a:t>
              </a:r>
              <a:endParaRPr lang="en-US" sz="900">
                <a:solidFill>
                  <a:srgbClr val="000000"/>
                </a:solidFill>
                <a:latin typeface="IBM Plex Sans Light"/>
              </a:endParaRPr>
            </a:p>
          </p:txBody>
        </p:sp>
      </p:grpSp>
      <p:grpSp>
        <p:nvGrpSpPr>
          <p:cNvPr id="106" name="Group 105">
            <a:extLst>
              <a:ext uri="{FF2B5EF4-FFF2-40B4-BE49-F238E27FC236}">
                <a16:creationId xmlns:a16="http://schemas.microsoft.com/office/drawing/2014/main" id="{48090BB4-E339-42E0-1164-E4088BEE393E}"/>
              </a:ext>
            </a:extLst>
          </p:cNvPr>
          <p:cNvGrpSpPr/>
          <p:nvPr/>
        </p:nvGrpSpPr>
        <p:grpSpPr>
          <a:xfrm>
            <a:off x="10374214" y="2417866"/>
            <a:ext cx="1035460" cy="465364"/>
            <a:chOff x="0" y="2602826"/>
            <a:chExt cx="3510832" cy="1070803"/>
          </a:xfrm>
        </p:grpSpPr>
        <p:sp>
          <p:nvSpPr>
            <p:cNvPr id="107" name="Rectangle 106">
              <a:extLst>
                <a:ext uri="{FF2B5EF4-FFF2-40B4-BE49-F238E27FC236}">
                  <a16:creationId xmlns:a16="http://schemas.microsoft.com/office/drawing/2014/main" id="{09BBBD43-CF96-B21C-DA54-BF9D6C28CC0A}"/>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08" name="TextBox 107">
              <a:extLst>
                <a:ext uri="{FF2B5EF4-FFF2-40B4-BE49-F238E27FC236}">
                  <a16:creationId xmlns:a16="http://schemas.microsoft.com/office/drawing/2014/main" id="{00A003B0-41EC-0B88-09B1-BCEFBDECFCB2}"/>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Consent Management</a:t>
              </a:r>
              <a:endParaRPr lang="en-US" sz="900">
                <a:solidFill>
                  <a:srgbClr val="000000"/>
                </a:solidFill>
                <a:latin typeface="IBM Plex Sans Light"/>
              </a:endParaRPr>
            </a:p>
          </p:txBody>
        </p:sp>
      </p:grpSp>
      <p:grpSp>
        <p:nvGrpSpPr>
          <p:cNvPr id="109" name="Group 108">
            <a:extLst>
              <a:ext uri="{FF2B5EF4-FFF2-40B4-BE49-F238E27FC236}">
                <a16:creationId xmlns:a16="http://schemas.microsoft.com/office/drawing/2014/main" id="{51FB101F-4AD9-74E1-C306-4EA15C0F3219}"/>
              </a:ext>
            </a:extLst>
          </p:cNvPr>
          <p:cNvGrpSpPr/>
          <p:nvPr/>
        </p:nvGrpSpPr>
        <p:grpSpPr>
          <a:xfrm>
            <a:off x="7862085" y="2991995"/>
            <a:ext cx="1035460" cy="465364"/>
            <a:chOff x="0" y="2602826"/>
            <a:chExt cx="3510832" cy="1070803"/>
          </a:xfrm>
        </p:grpSpPr>
        <p:sp>
          <p:nvSpPr>
            <p:cNvPr id="110" name="Rectangle 109">
              <a:extLst>
                <a:ext uri="{FF2B5EF4-FFF2-40B4-BE49-F238E27FC236}">
                  <a16:creationId xmlns:a16="http://schemas.microsoft.com/office/drawing/2014/main" id="{F270191F-7877-A2B4-65F8-76BA0119BB6B}"/>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11" name="TextBox 110">
              <a:extLst>
                <a:ext uri="{FF2B5EF4-FFF2-40B4-BE49-F238E27FC236}">
                  <a16:creationId xmlns:a16="http://schemas.microsoft.com/office/drawing/2014/main" id="{24457543-9770-C900-161E-1C5D125E5472}"/>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DPIA</a:t>
              </a:r>
              <a:endParaRPr lang="en-US" sz="900">
                <a:solidFill>
                  <a:srgbClr val="000000"/>
                </a:solidFill>
                <a:latin typeface="IBM Plex Sans Light"/>
              </a:endParaRPr>
            </a:p>
          </p:txBody>
        </p:sp>
      </p:grpSp>
      <p:grpSp>
        <p:nvGrpSpPr>
          <p:cNvPr id="112" name="Group 111">
            <a:extLst>
              <a:ext uri="{FF2B5EF4-FFF2-40B4-BE49-F238E27FC236}">
                <a16:creationId xmlns:a16="http://schemas.microsoft.com/office/drawing/2014/main" id="{2C2E311B-9786-1C09-E295-29BBBE20EC45}"/>
              </a:ext>
            </a:extLst>
          </p:cNvPr>
          <p:cNvGrpSpPr/>
          <p:nvPr/>
        </p:nvGrpSpPr>
        <p:grpSpPr>
          <a:xfrm>
            <a:off x="9118150" y="2991995"/>
            <a:ext cx="1035460" cy="465364"/>
            <a:chOff x="0" y="2602826"/>
            <a:chExt cx="3510832" cy="1070803"/>
          </a:xfrm>
        </p:grpSpPr>
        <p:sp>
          <p:nvSpPr>
            <p:cNvPr id="113" name="Rectangle 112">
              <a:extLst>
                <a:ext uri="{FF2B5EF4-FFF2-40B4-BE49-F238E27FC236}">
                  <a16:creationId xmlns:a16="http://schemas.microsoft.com/office/drawing/2014/main" id="{6DD7C289-6F9B-62B6-323A-FC0E56103F2B}"/>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14" name="TextBox 113">
              <a:extLst>
                <a:ext uri="{FF2B5EF4-FFF2-40B4-BE49-F238E27FC236}">
                  <a16:creationId xmlns:a16="http://schemas.microsoft.com/office/drawing/2014/main" id="{D8CC7648-164D-783B-8BA4-343408CBD005}"/>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ROPA</a:t>
              </a:r>
              <a:endParaRPr lang="en-US" sz="900">
                <a:solidFill>
                  <a:srgbClr val="000000"/>
                </a:solidFill>
                <a:latin typeface="IBM Plex Sans Light"/>
              </a:endParaRPr>
            </a:p>
          </p:txBody>
        </p:sp>
      </p:grpSp>
      <p:grpSp>
        <p:nvGrpSpPr>
          <p:cNvPr id="115" name="Group 114">
            <a:extLst>
              <a:ext uri="{FF2B5EF4-FFF2-40B4-BE49-F238E27FC236}">
                <a16:creationId xmlns:a16="http://schemas.microsoft.com/office/drawing/2014/main" id="{C6F20507-F76D-D7D0-A5BD-16E6A45D2B1E}"/>
              </a:ext>
            </a:extLst>
          </p:cNvPr>
          <p:cNvGrpSpPr/>
          <p:nvPr/>
        </p:nvGrpSpPr>
        <p:grpSpPr>
          <a:xfrm>
            <a:off x="10374214" y="2991995"/>
            <a:ext cx="1035460" cy="465364"/>
            <a:chOff x="0" y="2602826"/>
            <a:chExt cx="3510832" cy="1070803"/>
          </a:xfrm>
        </p:grpSpPr>
        <p:sp>
          <p:nvSpPr>
            <p:cNvPr id="116" name="Rectangle 115">
              <a:extLst>
                <a:ext uri="{FF2B5EF4-FFF2-40B4-BE49-F238E27FC236}">
                  <a16:creationId xmlns:a16="http://schemas.microsoft.com/office/drawing/2014/main" id="{39E42536-0FF5-2289-B8FD-EA3077E7FCF9}"/>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17" name="TextBox 116">
              <a:extLst>
                <a:ext uri="{FF2B5EF4-FFF2-40B4-BE49-F238E27FC236}">
                  <a16:creationId xmlns:a16="http://schemas.microsoft.com/office/drawing/2014/main" id="{3C7FC3AE-FF15-F7FE-1715-49A9A317C40B}"/>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err="1">
                  <a:solidFill>
                    <a:srgbClr val="000000"/>
                  </a:solidFill>
                  <a:latin typeface="IBM Plex Sans Light"/>
                </a:rPr>
                <a:t>WebPrivacy</a:t>
              </a:r>
              <a:endParaRPr lang="en-US" sz="900">
                <a:solidFill>
                  <a:srgbClr val="000000"/>
                </a:solidFill>
                <a:latin typeface="IBM Plex Sans Light"/>
              </a:endParaRPr>
            </a:p>
          </p:txBody>
        </p:sp>
      </p:grpSp>
      <p:grpSp>
        <p:nvGrpSpPr>
          <p:cNvPr id="118" name="Group 117">
            <a:extLst>
              <a:ext uri="{FF2B5EF4-FFF2-40B4-BE49-F238E27FC236}">
                <a16:creationId xmlns:a16="http://schemas.microsoft.com/office/drawing/2014/main" id="{7886AB27-1C73-AACD-A4EA-9A0F0EE1A205}"/>
              </a:ext>
            </a:extLst>
          </p:cNvPr>
          <p:cNvGrpSpPr/>
          <p:nvPr/>
        </p:nvGrpSpPr>
        <p:grpSpPr>
          <a:xfrm>
            <a:off x="7862085" y="3566124"/>
            <a:ext cx="1035460" cy="465364"/>
            <a:chOff x="0" y="2602826"/>
            <a:chExt cx="3510832" cy="1070803"/>
          </a:xfrm>
        </p:grpSpPr>
        <p:sp>
          <p:nvSpPr>
            <p:cNvPr id="119" name="Rectangle 118">
              <a:extLst>
                <a:ext uri="{FF2B5EF4-FFF2-40B4-BE49-F238E27FC236}">
                  <a16:creationId xmlns:a16="http://schemas.microsoft.com/office/drawing/2014/main" id="{C9A6D4AE-4CF6-50FB-3767-1448FC8DE7DA}"/>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20" name="TextBox 119">
              <a:extLst>
                <a:ext uri="{FF2B5EF4-FFF2-40B4-BE49-F238E27FC236}">
                  <a16:creationId xmlns:a16="http://schemas.microsoft.com/office/drawing/2014/main" id="{F0D744B2-DD7F-D922-650B-04F8A5B0DE95}"/>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Threat Intelligence</a:t>
              </a:r>
              <a:endParaRPr lang="en-US" sz="900">
                <a:solidFill>
                  <a:srgbClr val="000000"/>
                </a:solidFill>
                <a:latin typeface="IBM Plex Sans Light"/>
              </a:endParaRPr>
            </a:p>
          </p:txBody>
        </p:sp>
      </p:grpSp>
      <p:grpSp>
        <p:nvGrpSpPr>
          <p:cNvPr id="121" name="Group 120">
            <a:extLst>
              <a:ext uri="{FF2B5EF4-FFF2-40B4-BE49-F238E27FC236}">
                <a16:creationId xmlns:a16="http://schemas.microsoft.com/office/drawing/2014/main" id="{001CC185-BBCC-A48D-EC74-0F2BF9EFB569}"/>
              </a:ext>
            </a:extLst>
          </p:cNvPr>
          <p:cNvGrpSpPr/>
          <p:nvPr/>
        </p:nvGrpSpPr>
        <p:grpSpPr>
          <a:xfrm>
            <a:off x="9118150" y="3566124"/>
            <a:ext cx="1035460" cy="465364"/>
            <a:chOff x="0" y="2602826"/>
            <a:chExt cx="3510832" cy="1070803"/>
          </a:xfrm>
        </p:grpSpPr>
        <p:sp>
          <p:nvSpPr>
            <p:cNvPr id="122" name="Rectangle 121">
              <a:extLst>
                <a:ext uri="{FF2B5EF4-FFF2-40B4-BE49-F238E27FC236}">
                  <a16:creationId xmlns:a16="http://schemas.microsoft.com/office/drawing/2014/main" id="{283F645C-718B-7753-E309-DEA9B8B01071}"/>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23" name="TextBox 122">
              <a:extLst>
                <a:ext uri="{FF2B5EF4-FFF2-40B4-BE49-F238E27FC236}">
                  <a16:creationId xmlns:a16="http://schemas.microsoft.com/office/drawing/2014/main" id="{A8D2E7FC-2B87-7D8D-A4EC-7176A85A7C68}"/>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Logging &amp; Monitoring Application</a:t>
              </a:r>
            </a:p>
          </p:txBody>
        </p:sp>
      </p:grpSp>
      <p:grpSp>
        <p:nvGrpSpPr>
          <p:cNvPr id="124" name="Group 123">
            <a:extLst>
              <a:ext uri="{FF2B5EF4-FFF2-40B4-BE49-F238E27FC236}">
                <a16:creationId xmlns:a16="http://schemas.microsoft.com/office/drawing/2014/main" id="{17369A7E-52C9-487E-1079-FF012EBC0D6E}"/>
              </a:ext>
            </a:extLst>
          </p:cNvPr>
          <p:cNvGrpSpPr/>
          <p:nvPr/>
        </p:nvGrpSpPr>
        <p:grpSpPr>
          <a:xfrm>
            <a:off x="10374214" y="3566124"/>
            <a:ext cx="1035460" cy="465364"/>
            <a:chOff x="0" y="2602826"/>
            <a:chExt cx="3510832" cy="1070803"/>
          </a:xfrm>
        </p:grpSpPr>
        <p:sp>
          <p:nvSpPr>
            <p:cNvPr id="125" name="Rectangle 124">
              <a:extLst>
                <a:ext uri="{FF2B5EF4-FFF2-40B4-BE49-F238E27FC236}">
                  <a16:creationId xmlns:a16="http://schemas.microsoft.com/office/drawing/2014/main" id="{0D60BBA0-3E1B-37F0-B1E1-F4F899EB5ECD}"/>
                </a:ext>
              </a:extLst>
            </p:cNvPr>
            <p:cNvSpPr/>
            <p:nvPr/>
          </p:nvSpPr>
          <p:spPr>
            <a:xfrm>
              <a:off x="0" y="2602826"/>
              <a:ext cx="3510832" cy="1070803"/>
            </a:xfrm>
            <a:prstGeom prst="rect">
              <a:avLst/>
            </a:prstGeom>
            <a:solidFill>
              <a:srgbClr val="EDF5FF"/>
            </a:solidFill>
            <a:ln w="19050">
              <a:solidFill>
                <a:schemeClr val="accent1">
                  <a:alpha val="39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lIns="53993" tIns="53993" rIns="53993" bIns="53993" anchor="t"/>
            <a:lstStyle/>
            <a:p>
              <a:pPr defTabSz="914507"/>
              <a:endParaRPr lang="en-ID" sz="1600">
                <a:solidFill>
                  <a:srgbClr val="000000"/>
                </a:solidFill>
                <a:latin typeface="IBM Plex Sans Light"/>
              </a:endParaRPr>
            </a:p>
          </p:txBody>
        </p:sp>
        <p:sp>
          <p:nvSpPr>
            <p:cNvPr id="126" name="TextBox 125">
              <a:extLst>
                <a:ext uri="{FF2B5EF4-FFF2-40B4-BE49-F238E27FC236}">
                  <a16:creationId xmlns:a16="http://schemas.microsoft.com/office/drawing/2014/main" id="{532C8D8E-9C1C-16D6-79D2-A92C6A2E2BF2}"/>
                </a:ext>
              </a:extLst>
            </p:cNvPr>
            <p:cNvSpPr txBox="1"/>
            <p:nvPr/>
          </p:nvSpPr>
          <p:spPr>
            <a:xfrm>
              <a:off x="0" y="2602826"/>
              <a:ext cx="3510832" cy="1070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993" tIns="53993" rIns="53993" bIns="53993" numCol="1" spcCol="1270" anchor="t" anchorCtr="0">
              <a:noAutofit/>
            </a:bodyPr>
            <a:lstStyle/>
            <a:p>
              <a:pPr defTabSz="533293">
                <a:lnSpc>
                  <a:spcPct val="90000"/>
                </a:lnSpc>
                <a:spcBef>
                  <a:spcPct val="0"/>
                </a:spcBef>
                <a:spcAft>
                  <a:spcPct val="35000"/>
                </a:spcAft>
              </a:pPr>
              <a:r>
                <a:rPr lang="en-US" sz="900" b="1">
                  <a:solidFill>
                    <a:srgbClr val="000000"/>
                  </a:solidFill>
                  <a:latin typeface="IBM Plex Sans Light"/>
                </a:rPr>
                <a:t>Data Masking</a:t>
              </a:r>
              <a:endParaRPr lang="en-US" sz="900">
                <a:solidFill>
                  <a:srgbClr val="000000"/>
                </a:solidFill>
                <a:latin typeface="IBM Plex Sans Light"/>
              </a:endParaRPr>
            </a:p>
          </p:txBody>
        </p:sp>
      </p:grpSp>
    </p:spTree>
    <p:extLst>
      <p:ext uri="{BB962C8B-B14F-4D97-AF65-F5344CB8AC3E}">
        <p14:creationId xmlns:p14="http://schemas.microsoft.com/office/powerpoint/2010/main" val="20688933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descr="Vertical quarter slide background in blue 10">
            <a:extLst>
              <a:ext uri="{FF2B5EF4-FFF2-40B4-BE49-F238E27FC236}">
                <a16:creationId xmlns:a16="http://schemas.microsoft.com/office/drawing/2014/main" id="{F1B7F090-B63D-5E7B-79E5-C363C0B55EB7}"/>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2" name="Title 1">
            <a:extLst>
              <a:ext uri="{FF2B5EF4-FFF2-40B4-BE49-F238E27FC236}">
                <a16:creationId xmlns:a16="http://schemas.microsoft.com/office/drawing/2014/main" id="{9D5F005E-30B1-FE95-E47D-6CE14D314C91}"/>
              </a:ext>
            </a:extLst>
          </p:cNvPr>
          <p:cNvSpPr>
            <a:spLocks noGrp="1"/>
          </p:cNvSpPr>
          <p:nvPr>
            <p:ph type="title"/>
          </p:nvPr>
        </p:nvSpPr>
        <p:spPr>
          <a:xfrm>
            <a:off x="211809" y="288445"/>
            <a:ext cx="2235309" cy="762695"/>
          </a:xfrm>
        </p:spPr>
        <p:txBody>
          <a:bodyPr/>
          <a:lstStyle/>
          <a:p>
            <a:r>
              <a:rPr lang="en-US" sz="2699"/>
              <a:t>Privacy Practices</a:t>
            </a:r>
            <a:r>
              <a:rPr lang="en-US" sz="2699" baseline="30000"/>
              <a:t>1</a:t>
            </a:r>
            <a:endParaRPr lang="en-US" sz="2699"/>
          </a:p>
        </p:txBody>
      </p:sp>
      <p:sp>
        <p:nvSpPr>
          <p:cNvPr id="8" name="Text Placeholder 3">
            <a:extLst>
              <a:ext uri="{FF2B5EF4-FFF2-40B4-BE49-F238E27FC236}">
                <a16:creationId xmlns:a16="http://schemas.microsoft.com/office/drawing/2014/main" id="{BE36B8D9-E1B9-E6EB-C002-46225EE3E8A9}"/>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examines the organization's policies, procedures, and guidelines for handling personal data and protecting privacy.</a:t>
            </a:r>
          </a:p>
        </p:txBody>
      </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20" cy="4686089"/>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7896">
                <a:tc>
                  <a:txBody>
                    <a:bodyPr/>
                    <a:lstStyle/>
                    <a:p>
                      <a:pPr algn="l" fontAlgn="ctr">
                        <a:lnSpc>
                          <a:spcPct val="100000"/>
                        </a:lnSpc>
                        <a:spcAft>
                          <a:spcPts val="600"/>
                        </a:spcAft>
                      </a:pPr>
                      <a:r>
                        <a:rPr lang="en-US" sz="1000" b="0" i="0" u="none" strike="noStrike">
                          <a:solidFill>
                            <a:schemeClr val="bg1"/>
                          </a:solidFill>
                          <a:effectLst/>
                          <a:latin typeface="+mj-lt"/>
                          <a:ea typeface="+mn-ea"/>
                        </a:rPr>
                        <a:t>Identification of personal data collected within the organization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The organization has a clear understanding of the personal data it collects, processes, stores, or transmits, including details from core banking applications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Organization understands their personal data they collect, process, store or transmit</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25130" rtl="0" eaLnBrk="1" latinLnBrk="0" hangingPunct="1">
                        <a:spcBef>
                          <a:spcPct val="50000"/>
                        </a:spcBef>
                        <a:buClr>
                          <a:schemeClr val="tx1"/>
                        </a:buClr>
                        <a:buFont typeface="IBM Plex Sans Light" charset="2"/>
                        <a:defRPr sz="1400"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mj-lt"/>
                        <a:ea typeface="IBM Plex Sans" charset="0"/>
                        <a:cs typeface="IBM Plex Sans" charset="0"/>
                      </a:endParaRPr>
                    </a:p>
                  </a:txBody>
                  <a:tcPr marL="89988" marR="89988" marT="17998" marB="17998"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00000"/>
                        </a:lnSpc>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45516">
                <a:tc>
                  <a:txBody>
                    <a:bodyPr/>
                    <a:lstStyle/>
                    <a:p>
                      <a:pPr algn="l" fontAlgn="ctr">
                        <a:lnSpc>
                          <a:spcPct val="100000"/>
                        </a:lnSpc>
                        <a:spcAft>
                          <a:spcPts val="600"/>
                        </a:spcAft>
                      </a:pPr>
                      <a:r>
                        <a:rPr lang="en-US" sz="1000" b="0" i="0" u="none" strike="noStrike">
                          <a:solidFill>
                            <a:schemeClr val="bg1"/>
                          </a:solidFill>
                          <a:effectLst/>
                          <a:latin typeface="+mj-lt"/>
                          <a:ea typeface="+mn-ea"/>
                        </a:rPr>
                        <a:t>Availability of privacy policy</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The organization has a privacy policy in place, and data is received with explicit consent, indicating full compliance.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lnSpc>
                          <a:spcPct val="100000"/>
                        </a:lnSpc>
                        <a:spcAft>
                          <a:spcPts val="600"/>
                        </a:spcAft>
                      </a:pPr>
                      <a:r>
                        <a:rPr lang="en-US" sz="1000" b="0" i="0" u="none" strike="noStrike" cap="none" spc="0" baseline="0">
                          <a:solidFill>
                            <a:srgbClr val="000000"/>
                          </a:solidFill>
                          <a:effectLst/>
                          <a:uFillTx/>
                          <a:latin typeface="+mn-lt"/>
                          <a:ea typeface="+mn-ea"/>
                          <a:cs typeface="+mn-cs"/>
                          <a:sym typeface="IBM Plex Sans"/>
                        </a:rPr>
                        <a:t>Organization has detailed privacy policy that outlines privacy practice and data protection measures</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725130" rtl="0" eaLnBrk="1" latinLnBrk="0" hangingPunct="1">
                        <a:spcBef>
                          <a:spcPct val="50000"/>
                        </a:spcBef>
                        <a:buClr>
                          <a:schemeClr val="tx1"/>
                        </a:buClr>
                        <a:buFont typeface="IBM Plex Sans Light" charset="2"/>
                        <a:defRPr sz="1400"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mj-lt"/>
                        <a:ea typeface="IBM Plex Sans" charset="0"/>
                        <a:cs typeface="IBM Plex Sans" charset="0"/>
                      </a:endParaRPr>
                    </a:p>
                  </a:txBody>
                  <a:tcPr marL="89988" marR="89988" marT="17998" marB="17998"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lnSpc>
                          <a:spcPct val="100000"/>
                        </a:lnSpc>
                        <a:spcAft>
                          <a:spcPts val="600"/>
                        </a:spcAft>
                      </a:pPr>
                      <a:endParaRPr lang="en-US" sz="1000" b="0" i="0" u="none" strike="noStrike">
                        <a:solidFill>
                          <a:srgbClr val="000000"/>
                        </a:solidFill>
                        <a:effectLst/>
                        <a:latin typeface="+mj-lt"/>
                        <a:ea typeface="+mn-ea"/>
                      </a:endParaRPr>
                    </a:p>
                  </a:txBody>
                  <a:tcPr marL="89988" marR="89988" marT="17998" marB="17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1712177">
                <a:tc>
                  <a:txBody>
                    <a:bodyPr/>
                    <a:lstStyle/>
                    <a:p>
                      <a:pPr algn="l" fontAlgn="ctr">
                        <a:lnSpc>
                          <a:spcPct val="100000"/>
                        </a:lnSpc>
                        <a:spcAft>
                          <a:spcPts val="600"/>
                        </a:spcAft>
                      </a:pPr>
                      <a:r>
                        <a:rPr lang="en-US" sz="1000" b="0" i="0" u="none" strike="noStrike">
                          <a:solidFill>
                            <a:schemeClr val="bg1"/>
                          </a:solidFill>
                          <a:effectLst/>
                          <a:latin typeface="+mj-lt"/>
                          <a:ea typeface="+mn-ea"/>
                        </a:rPr>
                        <a:t>Individual awareness of their rights under privacy law</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Currently, users can submit data deletion requests, but full coverage of data subject rights across the data management lifecycle—such as data access, data transparency, or preference management offered automatically—is not yet in place. Therefore, the status is considered partially compliant with the principle of fulfilling data subject rights.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Individuals are aware of their rights under privacy laws, such as the right to access their personal data, request deletion, or opt-out of marketing communications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25130" rtl="0" eaLnBrk="1" latinLnBrk="0" hangingPunct="1">
                        <a:spcBef>
                          <a:spcPct val="50000"/>
                        </a:spcBef>
                        <a:buClr>
                          <a:schemeClr val="tx1"/>
                        </a:buClr>
                        <a:buFont typeface="IBM Plex Sans Light" charset="2"/>
                        <a:defRPr sz="1400"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mj-lt"/>
                        <a:ea typeface="IBM Plex Sans" charset="0"/>
                        <a:cs typeface="IBM Plex Sans" charset="0"/>
                      </a:endParaRPr>
                    </a:p>
                  </a:txBody>
                  <a:tcPr marL="89988" marR="89988" marT="17998" marB="17998"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The bank should establish a comprehensive and transparent consent management system tailored to each application and data processing activity involved.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102656">
                <a:tc>
                  <a:txBody>
                    <a:bodyPr/>
                    <a:lstStyle/>
                    <a:p>
                      <a:pPr algn="l" fontAlgn="ctr">
                        <a:lnSpc>
                          <a:spcPct val="100000"/>
                        </a:lnSpc>
                        <a:spcAft>
                          <a:spcPts val="600"/>
                        </a:spcAft>
                      </a:pPr>
                      <a:r>
                        <a:rPr lang="en-US" sz="1000" b="0" i="0" u="none" strike="noStrike">
                          <a:solidFill>
                            <a:schemeClr val="bg1"/>
                          </a:solidFill>
                          <a:effectLst/>
                          <a:latin typeface="+mj-lt"/>
                          <a:ea typeface="+mn-ea"/>
                        </a:rPr>
                        <a:t>Consent management </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The organization obtains consent, including for sharing data with data processor (insurance), indicating full compliance.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lnSpc>
                          <a:spcPct val="100000"/>
                        </a:lnSpc>
                        <a:spcAft>
                          <a:spcPts val="600"/>
                        </a:spcAft>
                      </a:pPr>
                      <a:r>
                        <a:rPr lang="en-US" sz="1000" b="0" i="0" u="none" strike="noStrike">
                          <a:solidFill>
                            <a:srgbClr val="000000"/>
                          </a:solidFill>
                          <a:effectLst/>
                          <a:latin typeface="+mj-lt"/>
                          <a:ea typeface="+mn-ea"/>
                        </a:rPr>
                        <a:t>Organization obtains explicit consent from individuals before collecting, processing, or sharing their personal data, and provide clear information about the purposes for which the data will be used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725130" rtl="0" eaLnBrk="1" latinLnBrk="0" hangingPunct="1">
                        <a:spcBef>
                          <a:spcPct val="50000"/>
                        </a:spcBef>
                        <a:buClr>
                          <a:schemeClr val="tx1"/>
                        </a:buClr>
                        <a:buFont typeface="IBM Plex Sans Light" charset="2"/>
                        <a:defRPr sz="1400"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mj-lt"/>
                        <a:ea typeface="IBM Plex Sans" charset="0"/>
                        <a:cs typeface="IBM Plex Sans" charset="0"/>
                      </a:endParaRPr>
                    </a:p>
                  </a:txBody>
                  <a:tcPr marL="89988" marR="89988" marT="17998" marB="17998"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lnSpc>
                          <a:spcPct val="100000"/>
                        </a:lnSpc>
                        <a:spcAft>
                          <a:spcPts val="600"/>
                        </a:spcAft>
                      </a:pPr>
                      <a:endParaRPr lang="en-US" sz="1000" b="0" i="0" u="none" strike="noStrike">
                        <a:solidFill>
                          <a:srgbClr val="000000"/>
                        </a:solidFill>
                        <a:effectLst/>
                        <a:latin typeface="+mj-lt"/>
                        <a:ea typeface="+mn-ea"/>
                      </a:endParaRPr>
                    </a:p>
                  </a:txBody>
                  <a:tcPr marL="89988" marR="89988" marT="17998" marB="17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bl>
          </a:graphicData>
        </a:graphic>
      </p:graphicFrame>
      <p:sp>
        <p:nvSpPr>
          <p:cNvPr id="11" name="&quot;R&quot; teal rectangle">
            <a:extLst>
              <a:ext uri="{FF2B5EF4-FFF2-40B4-BE49-F238E27FC236}">
                <a16:creationId xmlns:a16="http://schemas.microsoft.com/office/drawing/2014/main" id="{57252733-2DA0-5405-BB72-BCD3AA235CD3}"/>
              </a:ext>
              <a:ext uri="{C183D7F6-B498-43B3-948B-1728B52AA6E4}">
                <adec:decorative xmlns:adec="http://schemas.microsoft.com/office/drawing/2017/decorative" val="1"/>
              </a:ext>
            </a:extLst>
          </p:cNvPr>
          <p:cNvSpPr>
            <a:spLocks noChangeAspect="1" noChangeArrowheads="1"/>
          </p:cNvSpPr>
          <p:nvPr/>
        </p:nvSpPr>
        <p:spPr bwMode="auto">
          <a:xfrm>
            <a:off x="220949" y="417528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12" name="Text Box">
            <a:extLst>
              <a:ext uri="{FF2B5EF4-FFF2-40B4-BE49-F238E27FC236}">
                <a16:creationId xmlns:a16="http://schemas.microsoft.com/office/drawing/2014/main" id="{6C3F3496-2446-A0F7-CE67-6617D0A4868D}"/>
              </a:ext>
              <a:ext uri="{C183D7F6-B498-43B3-948B-1728B52AA6E4}">
                <adec:decorative xmlns:adec="http://schemas.microsoft.com/office/drawing/2017/decorative" val="1"/>
              </a:ext>
            </a:extLst>
          </p:cNvPr>
          <p:cNvSpPr txBox="1">
            <a:spLocks noChangeArrowheads="1"/>
          </p:cNvSpPr>
          <p:nvPr/>
        </p:nvSpPr>
        <p:spPr bwMode="auto">
          <a:xfrm>
            <a:off x="683785" y="4175289"/>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13" name="&quot;A&quot; blue rectangle">
            <a:extLst>
              <a:ext uri="{FF2B5EF4-FFF2-40B4-BE49-F238E27FC236}">
                <a16:creationId xmlns:a16="http://schemas.microsoft.com/office/drawing/2014/main" id="{84CAC46C-9316-3372-3F75-2A931E3D2BBC}"/>
              </a:ext>
              <a:ext uri="{C183D7F6-B498-43B3-948B-1728B52AA6E4}">
                <adec:decorative xmlns:adec="http://schemas.microsoft.com/office/drawing/2017/decorative" val="1"/>
              </a:ext>
            </a:extLst>
          </p:cNvPr>
          <p:cNvSpPr>
            <a:spLocks noChangeAspect="1" noChangeArrowheads="1"/>
          </p:cNvSpPr>
          <p:nvPr/>
        </p:nvSpPr>
        <p:spPr bwMode="auto">
          <a:xfrm>
            <a:off x="220190" y="4927898"/>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14" name="Text Box">
            <a:extLst>
              <a:ext uri="{FF2B5EF4-FFF2-40B4-BE49-F238E27FC236}">
                <a16:creationId xmlns:a16="http://schemas.microsoft.com/office/drawing/2014/main" id="{245D2980-8BE8-7B52-A092-6DB9C1549267}"/>
              </a:ext>
              <a:ext uri="{C183D7F6-B498-43B3-948B-1728B52AA6E4}">
                <adec:decorative xmlns:adec="http://schemas.microsoft.com/office/drawing/2017/decorative" val="1"/>
              </a:ext>
            </a:extLst>
          </p:cNvPr>
          <p:cNvSpPr txBox="1">
            <a:spLocks noChangeArrowheads="1"/>
          </p:cNvSpPr>
          <p:nvPr/>
        </p:nvSpPr>
        <p:spPr bwMode="auto">
          <a:xfrm>
            <a:off x="683785" y="4927898"/>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15" name="&quot;C&quot; gray rectangle">
            <a:extLst>
              <a:ext uri="{FF2B5EF4-FFF2-40B4-BE49-F238E27FC236}">
                <a16:creationId xmlns:a16="http://schemas.microsoft.com/office/drawing/2014/main" id="{B56946CF-FFBD-71C3-1BAE-56A769DCDBEE}"/>
              </a:ext>
              <a:ext uri="{C183D7F6-B498-43B3-948B-1728B52AA6E4}">
                <adec:decorative xmlns:adec="http://schemas.microsoft.com/office/drawing/2017/decorative" val="1"/>
              </a:ext>
            </a:extLst>
          </p:cNvPr>
          <p:cNvSpPr>
            <a:spLocks noChangeAspect="1" noChangeArrowheads="1"/>
          </p:cNvSpPr>
          <p:nvPr/>
        </p:nvSpPr>
        <p:spPr bwMode="auto">
          <a:xfrm>
            <a:off x="228540" y="567745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6" name="Text Box">
            <a:extLst>
              <a:ext uri="{FF2B5EF4-FFF2-40B4-BE49-F238E27FC236}">
                <a16:creationId xmlns:a16="http://schemas.microsoft.com/office/drawing/2014/main" id="{0BB59B54-5038-037C-6C1C-5F3C85B258D6}"/>
              </a:ext>
              <a:ext uri="{C183D7F6-B498-43B3-948B-1728B52AA6E4}">
                <adec:decorative xmlns:adec="http://schemas.microsoft.com/office/drawing/2017/decorative" val="1"/>
              </a:ext>
            </a:extLst>
          </p:cNvPr>
          <p:cNvSpPr txBox="1">
            <a:spLocks noChangeArrowheads="1"/>
          </p:cNvSpPr>
          <p:nvPr/>
        </p:nvSpPr>
        <p:spPr bwMode="auto">
          <a:xfrm>
            <a:off x="683785" y="5680507"/>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843785" y="6464956"/>
            <a:ext cx="60915" cy="123111"/>
          </a:xfrm>
        </p:spPr>
        <p:txBody>
          <a:bodyPr/>
          <a:lstStyle/>
          <a:p>
            <a:pPr defTabSz="914507"/>
            <a:fld id="{86CB4B4D-7CA3-9044-876B-883B54F8677D}" type="slidenum">
              <a:rPr lang="en-US">
                <a:solidFill>
                  <a:srgbClr val="000000"/>
                </a:solidFill>
              </a:rPr>
              <a:pPr defTabSz="914507"/>
              <a:t>8</a:t>
            </a:fld>
            <a:endParaRPr lang="en-US">
              <a:solidFill>
                <a:srgbClr val="000000"/>
              </a:solidFill>
            </a:endParaRPr>
          </a:p>
        </p:txBody>
      </p:sp>
      <p:grpSp>
        <p:nvGrpSpPr>
          <p:cNvPr id="62" name="Group 61">
            <a:extLst>
              <a:ext uri="{FF2B5EF4-FFF2-40B4-BE49-F238E27FC236}">
                <a16:creationId xmlns:a16="http://schemas.microsoft.com/office/drawing/2014/main" id="{7413FB43-008B-C998-234D-71991E09CD64}"/>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5F998358-7D45-A6AF-D1E6-43A1EB510663}"/>
                </a:ext>
              </a:extLst>
            </p:cNvPr>
            <p:cNvSpPr/>
            <p:nvPr/>
          </p:nvSpPr>
          <p:spPr bwMode="auto">
            <a:xfrm>
              <a:off x="1561503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45B3F450-9CB5-C3B3-8137-CED4E95D0D13}"/>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D46B4DAD-A26C-AAD9-A543-18866EE0862E}"/>
                </a:ext>
              </a:extLst>
            </p:cNvPr>
            <p:cNvCxnSpPr>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862FC76D-44E0-1BCD-304D-18D830DDF4FA}"/>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14C6994A-7269-2E5A-3957-60BE44FA0871}"/>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48433FEA-75E5-B589-122D-82BE3C482D51}"/>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CB3E601B-5AF0-11E2-BA92-D22A91BA0186}"/>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EF684AE9-B7F6-E690-3E7B-752D38C983EA}"/>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1D168359-7DF6-A5F9-79AD-78F81A04B45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6DB987BD-CE2F-6404-58EC-B2EC5D9D118C}"/>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A01CE818-AF10-9367-5904-A8C98CAB5419}"/>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18A20AE5-B627-D05C-6EEF-65A381CFF7B6}"/>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6C4472B0-4A92-A922-5DCB-C81B44F26433}"/>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E68E8616-4F23-1302-26DA-D83F1A590EDB}"/>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0B8546A4-F257-13CD-2AB0-B00AAFF264AF}"/>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E3DEBE8B-B790-49C3-F063-0D93777D8364}"/>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B1D173C3-0EDE-E898-0378-11788D72C39A}"/>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52C78089-CEBF-56C4-A8DD-58671E3A018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349D4E5B-3A32-58FE-EA69-515A0FE6A6F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E7FE995F-329E-C462-E4FE-EC887B303DB3}"/>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FF2CC0CA-6903-A550-9898-2AD76E8937C9}"/>
                </a:ext>
              </a:extLst>
            </p:cNvPr>
            <p:cNvPicPr>
              <a:picLocks noChangeAspect="1"/>
            </p:cNvPicPr>
            <p:nvPr/>
          </p:nvPicPr>
          <p:blipFill>
            <a:blip r:embed="rId2">
              <a:biLevel thresh="25000"/>
            </a:blip>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9486E57D-6BB2-65C8-BFE4-96B5A22EE1A4}"/>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C09A0001-A57A-CD29-F376-F6FE38A93BDA}"/>
                </a:ext>
              </a:extLst>
            </p:cNvPr>
            <p:cNvPicPr>
              <a:picLocks noChangeAspect="1"/>
            </p:cNvPicPr>
            <p:nvPr/>
          </p:nvPicPr>
          <p:blipFill>
            <a:blip r:embed="rId4"/>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F0D88F0E-D5CD-4B15-0C62-47D9D1CD78A9}"/>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53600C8C-DABB-B49D-6B68-A3078EB546D9}"/>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4266702B-0A9D-BF76-AEE8-B48AA64A1E0C}"/>
                </a:ext>
              </a:extLst>
            </p:cNvPr>
            <p:cNvPicPr>
              <a:picLocks noChangeAspect="1"/>
            </p:cNvPicPr>
            <p:nvPr/>
          </p:nvPicPr>
          <p:blipFill>
            <a:blip r:embed="rId7"/>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7D37FC78-756F-FA27-BC4C-E212E3A2E781}"/>
                </a:ext>
              </a:extLst>
            </p:cNvPr>
            <p:cNvPicPr>
              <a:picLocks noChangeAspect="1"/>
            </p:cNvPicPr>
            <p:nvPr/>
          </p:nvPicPr>
          <p:blipFill>
            <a:blip r:embed="rId8"/>
            <a:srcRect/>
            <a:stretch/>
          </p:blipFill>
          <p:spPr>
            <a:xfrm>
              <a:off x="17023717" y="712847"/>
              <a:ext cx="540000" cy="540000"/>
            </a:xfrm>
            <a:prstGeom prst="rect">
              <a:avLst/>
            </a:prstGeom>
          </p:spPr>
        </p:pic>
      </p:grpSp>
      <p:sp>
        <p:nvSpPr>
          <p:cNvPr id="4" name="&quot;R&quot; teal rectangle">
            <a:extLst>
              <a:ext uri="{FF2B5EF4-FFF2-40B4-BE49-F238E27FC236}">
                <a16:creationId xmlns:a16="http://schemas.microsoft.com/office/drawing/2014/main" id="{93F4BA7E-63FA-ACF8-557F-44A0C2DF0D7D}"/>
              </a:ext>
              <a:ext uri="{C183D7F6-B498-43B3-948B-1728B52AA6E4}">
                <adec:decorative xmlns:adec="http://schemas.microsoft.com/office/drawing/2017/decorative" val="1"/>
              </a:ext>
            </a:extLst>
          </p:cNvPr>
          <p:cNvSpPr>
            <a:spLocks noChangeAspect="1" noChangeArrowheads="1"/>
          </p:cNvSpPr>
          <p:nvPr/>
        </p:nvSpPr>
        <p:spPr bwMode="auto">
          <a:xfrm>
            <a:off x="9329194" y="1894596"/>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 name="&quot;A&quot; blue rectangle">
            <a:extLst>
              <a:ext uri="{FF2B5EF4-FFF2-40B4-BE49-F238E27FC236}">
                <a16:creationId xmlns:a16="http://schemas.microsoft.com/office/drawing/2014/main" id="{127836FF-E015-9753-E579-223EDE36857A}"/>
              </a:ext>
              <a:ext uri="{C183D7F6-B498-43B3-948B-1728B52AA6E4}">
                <adec:decorative xmlns:adec="http://schemas.microsoft.com/office/drawing/2017/decorative" val="1"/>
              </a:ext>
            </a:extLst>
          </p:cNvPr>
          <p:cNvSpPr>
            <a:spLocks noChangeAspect="1" noChangeArrowheads="1"/>
          </p:cNvSpPr>
          <p:nvPr/>
        </p:nvSpPr>
        <p:spPr bwMode="auto">
          <a:xfrm>
            <a:off x="9322438" y="3752598"/>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5" name="&quot;R&quot; teal rectangle">
            <a:extLst>
              <a:ext uri="{FF2B5EF4-FFF2-40B4-BE49-F238E27FC236}">
                <a16:creationId xmlns:a16="http://schemas.microsoft.com/office/drawing/2014/main" id="{6A837612-D619-69E0-0183-5E1C2C5141E5}"/>
              </a:ext>
              <a:ext uri="{C183D7F6-B498-43B3-948B-1728B52AA6E4}">
                <adec:decorative xmlns:adec="http://schemas.microsoft.com/office/drawing/2017/decorative" val="1"/>
              </a:ext>
            </a:extLst>
          </p:cNvPr>
          <p:cNvSpPr>
            <a:spLocks noChangeAspect="1" noChangeArrowheads="1"/>
          </p:cNvSpPr>
          <p:nvPr/>
        </p:nvSpPr>
        <p:spPr bwMode="auto">
          <a:xfrm>
            <a:off x="9329194" y="263547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17" name="&quot;R&quot; teal rectangle">
            <a:extLst>
              <a:ext uri="{FF2B5EF4-FFF2-40B4-BE49-F238E27FC236}">
                <a16:creationId xmlns:a16="http://schemas.microsoft.com/office/drawing/2014/main" id="{21665093-3FBE-438E-3698-40DC44A0586D}"/>
              </a:ext>
              <a:ext uri="{C183D7F6-B498-43B3-948B-1728B52AA6E4}">
                <adec:decorative xmlns:adec="http://schemas.microsoft.com/office/drawing/2017/decorative" val="1"/>
              </a:ext>
            </a:extLst>
          </p:cNvPr>
          <p:cNvSpPr>
            <a:spLocks noChangeAspect="1" noChangeArrowheads="1"/>
          </p:cNvSpPr>
          <p:nvPr/>
        </p:nvSpPr>
        <p:spPr bwMode="auto">
          <a:xfrm>
            <a:off x="9332112" y="5207381"/>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7667714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2D8B5233-2CBF-FDED-FD91-A9EED8216206}"/>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87A774CC-80D0-AB1E-BC70-9D50099A5D0B}"/>
              </a:ext>
            </a:extLst>
          </p:cNvPr>
          <p:cNvSpPr txBox="1">
            <a:spLocks/>
          </p:cNvSpPr>
          <p:nvPr/>
        </p:nvSpPr>
        <p:spPr>
          <a:xfrm>
            <a:off x="211809" y="288445"/>
            <a:ext cx="2235309"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Privacy Practices</a:t>
            </a:r>
            <a:r>
              <a:rPr lang="en-US" sz="2699" kern="0" baseline="30000">
                <a:solidFill>
                  <a:srgbClr val="000000"/>
                </a:solidFill>
                <a:latin typeface="IBM Plex Sans Light"/>
              </a:rPr>
              <a:t>2</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826E21D9-3433-147C-09AB-1A6FC1B848E8}"/>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examines the organization's policies, procedures, and guidelines for handling personal data and protecting privacy.</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55EC1E7D-C378-5532-B754-A9AE8991687C}"/>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D1383CE-C9D6-AAD6-4DF6-D817102923A6}"/>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74A4DC52-D73D-DC46-5C96-FB6D96A1DD5F}"/>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630B8F0-AEFA-5532-3A79-A1C4F436E8D1}"/>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82D55B2E-F206-7490-4626-E93A92D354CF}"/>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9E9D2949-F4B3-E5DE-19D2-1210706CE9FB}"/>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1F409E3F-21B2-59D8-0CB1-57D4ED85F09D}"/>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20" cy="4990889"/>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559797">
                <a:tc>
                  <a:txBody>
                    <a:bodyPr/>
                    <a:lstStyle/>
                    <a:p>
                      <a:pPr algn="l" fontAlgn="ctr">
                        <a:spcAft>
                          <a:spcPts val="600"/>
                        </a:spcAft>
                      </a:pPr>
                      <a:r>
                        <a:rPr lang="en-US" sz="1000" b="0" i="0" u="none" strike="noStrike">
                          <a:solidFill>
                            <a:schemeClr val="bg1"/>
                          </a:solidFill>
                          <a:effectLst/>
                          <a:latin typeface="+mj-lt"/>
                          <a:ea typeface="+mn-ea"/>
                        </a:rPr>
                        <a:t>Privacy impact assessment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A Privacy Impact Assessment (PIA) has not yet been conducted, and consequently, associated risk assessments and mitigation measures for new projects, products, or services are not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Organization has conducted a privacy impact assessment (PIA) to identify and mitigate privacy risks associated with new projects, products or services and assessed the risks associated with processing personal data, and implemented appropriate technical and organizational measures to mitigate those risks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25130" rtl="0" eaLnBrk="1" latinLnBrk="0" hangingPunct="1">
                        <a:spcBef>
                          <a:spcPct val="50000"/>
                        </a:spcBef>
                        <a:buClr>
                          <a:schemeClr val="tx1"/>
                        </a:buClr>
                        <a:buFont typeface="IBM Plex Sans Light" charset="2"/>
                        <a:defRPr sz="1400"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mj-lt"/>
                        <a:ea typeface="IBM Plex Sans" charset="0"/>
                        <a:cs typeface="IBM Plex Sans" charset="0"/>
                      </a:endParaRPr>
                    </a:p>
                  </a:txBody>
                  <a:tcPr marL="89988" marR="89988" marT="17998" marB="17998"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a:latin typeface="+mj-lt"/>
                        </a:rPr>
                        <a:t>The bank should conduct Privacy Impact Assessments (PIA) to identify and mitigate privacy risks in new projects, products, or services, and implement appropriate technical and organizational safeguards.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102656">
                <a:tc>
                  <a:txBody>
                    <a:bodyPr/>
                    <a:lstStyle/>
                    <a:p>
                      <a:pPr algn="l" fontAlgn="ctr">
                        <a:spcAft>
                          <a:spcPts val="600"/>
                        </a:spcAft>
                      </a:pPr>
                      <a:r>
                        <a:rPr lang="en-US" sz="1000" b="0" i="0" u="none" strike="noStrike">
                          <a:solidFill>
                            <a:schemeClr val="bg1"/>
                          </a:solidFill>
                          <a:effectLst/>
                          <a:latin typeface="+mj-lt"/>
                          <a:ea typeface="+mn-ea"/>
                        </a:rPr>
                        <a:t>Security measures to protect personal data</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bank currently utilizes user metrics and Active Directory (AD) to manage user access. However, this approach is not yet optimal and does not ensure comprehensive security controls over personal data.</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Organization has implemented appropriate security measures to protect personal data against unauthorized access, disclosure, alteration, or destruction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mj-lt"/>
                        <a:ea typeface="IBM Plex Sans" charset="0"/>
                        <a:cs typeface="IBM Plex Sans" charset="0"/>
                      </a:endParaRPr>
                    </a:p>
                  </a:txBody>
                  <a:tcPr marL="89988" marR="89988" marT="17998" marB="17998"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Recommended that the bank implement end-to-end protections such as role-based access control (RBAC), complete audit trails, full encryption, and dynamic masking.</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67055019"/>
                  </a:ext>
                </a:extLst>
              </a:tr>
              <a:tr h="950276">
                <a:tc>
                  <a:txBody>
                    <a:bodyPr/>
                    <a:lstStyle/>
                    <a:p>
                      <a:pPr algn="l" fontAlgn="ctr">
                        <a:spcAft>
                          <a:spcPts val="600"/>
                        </a:spcAft>
                      </a:pPr>
                      <a:r>
                        <a:rPr lang="en-US" sz="1000" b="0" i="0" u="none" strike="noStrike">
                          <a:solidFill>
                            <a:schemeClr val="bg1"/>
                          </a:solidFill>
                          <a:effectLst/>
                          <a:latin typeface="+mj-lt"/>
                          <a:ea typeface="+mn-ea"/>
                        </a:rPr>
                        <a:t>Procedures to handle data breach</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indent="0" algn="l" fontAlgn="ctr">
                        <a:spcAft>
                          <a:spcPts val="600"/>
                        </a:spcAft>
                        <a:buFont typeface="Arial" panose="020B0604020202020204" pitchFamily="34" charset="0"/>
                        <a:buNone/>
                      </a:pPr>
                      <a:r>
                        <a:rPr lang="en-US" sz="1000" b="0" i="0" u="none" strike="noStrike">
                          <a:solidFill>
                            <a:srgbClr val="000000"/>
                          </a:solidFill>
                          <a:effectLst/>
                          <a:latin typeface="+mj-lt"/>
                          <a:ea typeface="+mn-ea"/>
                        </a:rPr>
                        <a:t>The organization has established incident response procedures including monitoring and antivirus systems, a helpdesk, and specific BCP/escalation plans, indicating full functionality.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Organization has procedures in place to handle data breaches, including incident response plans, reporting requirements, and measures to mitigate the impact on affected individuals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50000"/>
                        </a:spcBef>
                        <a:spcAft>
                          <a:spcPts val="600"/>
                        </a:spcAft>
                        <a:buClr>
                          <a:schemeClr val="tx1"/>
                        </a:buClr>
                        <a:buSzTx/>
                        <a:buFont typeface="IBM Plex Sans Light" charset="2"/>
                        <a:buNone/>
                        <a:tabLst/>
                      </a:pPr>
                      <a:endParaRPr kumimoji="0" lang="en-US" altLang="en-US" sz="1000" b="0" i="0" u="none" strike="noStrike" cap="none" normalizeH="0" baseline="0">
                        <a:ln>
                          <a:noFill/>
                        </a:ln>
                        <a:solidFill>
                          <a:sysClr val="windowText" lastClr="000000"/>
                        </a:solidFill>
                        <a:effectLst/>
                        <a:latin typeface="+mj-lt"/>
                        <a:ea typeface="IBM Plex Sans" charset="0"/>
                        <a:cs typeface="IBM Plex Sans" charset="0"/>
                      </a:endParaRPr>
                    </a:p>
                  </a:txBody>
                  <a:tcPr marL="89988" marR="89988" marT="17998" marB="17998"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8617406"/>
                  </a:ext>
                </a:extLst>
              </a:tr>
              <a:tr h="950276">
                <a:tc>
                  <a:txBody>
                    <a:bodyPr/>
                    <a:lstStyle/>
                    <a:p>
                      <a:pPr algn="l" fontAlgn="ctr">
                        <a:spcAft>
                          <a:spcPts val="600"/>
                        </a:spcAft>
                      </a:pPr>
                      <a:r>
                        <a:rPr lang="en-US" sz="1000" b="0" i="0" u="none" strike="noStrike">
                          <a:solidFill>
                            <a:schemeClr val="bg1"/>
                          </a:solidFill>
                          <a:effectLst/>
                          <a:latin typeface="+mn-lt"/>
                        </a:rPr>
                        <a:t>Ensure personal data is processed by authorized personnel</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Measures to ensure personal data is processed only by authorized personnel and relevant training for them are not yet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Organization has implemented measures to ensure that personal data is only processed by authorized personnel, and have provided appropriate training to those personnel</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The bank should ensure that personal data is only processed by authorized personnel and that those personnel receive adequate training.</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61205200"/>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843785" y="6464956"/>
            <a:ext cx="60915" cy="123111"/>
          </a:xfrm>
        </p:spPr>
        <p:txBody>
          <a:bodyPr/>
          <a:lstStyle/>
          <a:p>
            <a:pPr defTabSz="914507"/>
            <a:fld id="{86CB4B4D-7CA3-9044-876B-883B54F8677D}" type="slidenum">
              <a:rPr lang="en-US" dirty="0">
                <a:solidFill>
                  <a:srgbClr val="000000"/>
                </a:solidFill>
              </a:rPr>
              <a:pPr defTabSz="914507"/>
              <a:t>9</a:t>
            </a:fld>
            <a:endParaRPr lang="en-US">
              <a:solidFill>
                <a:srgbClr val="000000"/>
              </a:solidFill>
            </a:endParaRPr>
          </a:p>
        </p:txBody>
      </p:sp>
      <p:grpSp>
        <p:nvGrpSpPr>
          <p:cNvPr id="62" name="Group 61">
            <a:extLst>
              <a:ext uri="{FF2B5EF4-FFF2-40B4-BE49-F238E27FC236}">
                <a16:creationId xmlns:a16="http://schemas.microsoft.com/office/drawing/2014/main" id="{7413FB43-008B-C998-234D-71991E09CD64}"/>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5F998358-7D45-A6AF-D1E6-43A1EB510663}"/>
                </a:ext>
              </a:extLst>
            </p:cNvPr>
            <p:cNvSpPr/>
            <p:nvPr/>
          </p:nvSpPr>
          <p:spPr bwMode="auto">
            <a:xfrm>
              <a:off x="1561503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45B3F450-9CB5-C3B3-8137-CED4E95D0D13}"/>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D46B4DAD-A26C-AAD9-A543-18866EE0862E}"/>
                </a:ext>
              </a:extLst>
            </p:cNvPr>
            <p:cNvCxnSpPr>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862FC76D-44E0-1BCD-304D-18D830DDF4FA}"/>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14C6994A-7269-2E5A-3957-60BE44FA0871}"/>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48433FEA-75E5-B589-122D-82BE3C482D51}"/>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CB3E601B-5AF0-11E2-BA92-D22A91BA0186}"/>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EF684AE9-B7F6-E690-3E7B-752D38C983EA}"/>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1D168359-7DF6-A5F9-79AD-78F81A04B45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6DB987BD-CE2F-6404-58EC-B2EC5D9D118C}"/>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A01CE818-AF10-9367-5904-A8C98CAB5419}"/>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18A20AE5-B627-D05C-6EEF-65A381CFF7B6}"/>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6C4472B0-4A92-A922-5DCB-C81B44F26433}"/>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E68E8616-4F23-1302-26DA-D83F1A590EDB}"/>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0B8546A4-F257-13CD-2AB0-B00AAFF264AF}"/>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E3DEBE8B-B790-49C3-F063-0D93777D8364}"/>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B1D173C3-0EDE-E898-0378-11788D72C39A}"/>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52C78089-CEBF-56C4-A8DD-58671E3A018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349D4E5B-3A32-58FE-EA69-515A0FE6A6F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E7FE995F-329E-C462-E4FE-EC887B303DB3}"/>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FF2CC0CA-6903-A550-9898-2AD76E8937C9}"/>
                </a:ext>
              </a:extLst>
            </p:cNvPr>
            <p:cNvPicPr>
              <a:picLocks noChangeAspect="1"/>
            </p:cNvPicPr>
            <p:nvPr/>
          </p:nvPicPr>
          <p:blipFill>
            <a:blip r:embed="rId2">
              <a:biLevel thresh="25000"/>
            </a:blip>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9486E57D-6BB2-65C8-BFE4-96B5A22EE1A4}"/>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C09A0001-A57A-CD29-F376-F6FE38A93BDA}"/>
                </a:ext>
              </a:extLst>
            </p:cNvPr>
            <p:cNvPicPr>
              <a:picLocks noChangeAspect="1"/>
            </p:cNvPicPr>
            <p:nvPr/>
          </p:nvPicPr>
          <p:blipFill>
            <a:blip r:embed="rId4"/>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F0D88F0E-D5CD-4B15-0C62-47D9D1CD78A9}"/>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53600C8C-DABB-B49D-6B68-A3078EB546D9}"/>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4266702B-0A9D-BF76-AEE8-B48AA64A1E0C}"/>
                </a:ext>
              </a:extLst>
            </p:cNvPr>
            <p:cNvPicPr>
              <a:picLocks noChangeAspect="1"/>
            </p:cNvPicPr>
            <p:nvPr/>
          </p:nvPicPr>
          <p:blipFill>
            <a:blip r:embed="rId7"/>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7D37FC78-756F-FA27-BC4C-E212E3A2E781}"/>
                </a:ext>
              </a:extLst>
            </p:cNvPr>
            <p:cNvPicPr>
              <a:picLocks noChangeAspect="1"/>
            </p:cNvPicPr>
            <p:nvPr/>
          </p:nvPicPr>
          <p:blipFill>
            <a:blip r:embed="rId8"/>
            <a:srcRect/>
            <a:stretch/>
          </p:blipFill>
          <p:spPr>
            <a:xfrm>
              <a:off x="17023717" y="712847"/>
              <a:ext cx="540000" cy="540000"/>
            </a:xfrm>
            <a:prstGeom prst="rect">
              <a:avLst/>
            </a:prstGeom>
          </p:spPr>
        </p:pic>
      </p:grpSp>
      <p:sp>
        <p:nvSpPr>
          <p:cNvPr id="4" name="&quot;C&quot; gray rectangle">
            <a:extLst>
              <a:ext uri="{FF2B5EF4-FFF2-40B4-BE49-F238E27FC236}">
                <a16:creationId xmlns:a16="http://schemas.microsoft.com/office/drawing/2014/main" id="{83F369D6-5DFA-C299-AE4E-06C525395995}"/>
              </a:ext>
              <a:ext uri="{C183D7F6-B498-43B3-948B-1728B52AA6E4}">
                <adec:decorative xmlns:adec="http://schemas.microsoft.com/office/drawing/2017/decorative" val="1"/>
              </a:ext>
            </a:extLst>
          </p:cNvPr>
          <p:cNvSpPr>
            <a:spLocks noChangeAspect="1" noChangeArrowheads="1"/>
          </p:cNvSpPr>
          <p:nvPr/>
        </p:nvSpPr>
        <p:spPr bwMode="auto">
          <a:xfrm>
            <a:off x="9329476" y="2293095"/>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1" name="&quot;R&quot; teal rectangle">
            <a:extLst>
              <a:ext uri="{FF2B5EF4-FFF2-40B4-BE49-F238E27FC236}">
                <a16:creationId xmlns:a16="http://schemas.microsoft.com/office/drawing/2014/main" id="{3CCE0CD6-9E03-EC6C-08C6-0BA294F6F029}"/>
              </a:ext>
              <a:ext uri="{C183D7F6-B498-43B3-948B-1728B52AA6E4}">
                <adec:decorative xmlns:adec="http://schemas.microsoft.com/office/drawing/2017/decorative" val="1"/>
              </a:ext>
            </a:extLst>
          </p:cNvPr>
          <p:cNvSpPr>
            <a:spLocks noChangeAspect="1" noChangeArrowheads="1"/>
          </p:cNvSpPr>
          <p:nvPr/>
        </p:nvSpPr>
        <p:spPr bwMode="auto">
          <a:xfrm>
            <a:off x="9329475" y="4504892"/>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 name="&quot;C&quot; gray rectangle">
            <a:extLst>
              <a:ext uri="{FF2B5EF4-FFF2-40B4-BE49-F238E27FC236}">
                <a16:creationId xmlns:a16="http://schemas.microsoft.com/office/drawing/2014/main" id="{CC316F36-E486-3D81-774F-35846572E487}"/>
              </a:ext>
              <a:ext uri="{C183D7F6-B498-43B3-948B-1728B52AA6E4}">
                <adec:decorative xmlns:adec="http://schemas.microsoft.com/office/drawing/2017/decorative" val="1"/>
              </a:ext>
            </a:extLst>
          </p:cNvPr>
          <p:cNvSpPr>
            <a:spLocks noChangeAspect="1" noChangeArrowheads="1"/>
          </p:cNvSpPr>
          <p:nvPr/>
        </p:nvSpPr>
        <p:spPr bwMode="auto">
          <a:xfrm>
            <a:off x="9347314" y="5583052"/>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4" name="&quot;A&quot; blue rectangle">
            <a:extLst>
              <a:ext uri="{FF2B5EF4-FFF2-40B4-BE49-F238E27FC236}">
                <a16:creationId xmlns:a16="http://schemas.microsoft.com/office/drawing/2014/main" id="{EC2820C0-7942-EB31-22A2-7A240A4C4408}"/>
              </a:ext>
              <a:ext uri="{C183D7F6-B498-43B3-948B-1728B52AA6E4}">
                <adec:decorative xmlns:adec="http://schemas.microsoft.com/office/drawing/2017/decorative" val="1"/>
              </a:ext>
            </a:extLst>
          </p:cNvPr>
          <p:cNvSpPr>
            <a:spLocks noChangeAspect="1" noChangeArrowheads="1"/>
          </p:cNvSpPr>
          <p:nvPr/>
        </p:nvSpPr>
        <p:spPr bwMode="auto">
          <a:xfrm>
            <a:off x="9322438" y="3587519"/>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26464244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48B0CCB4-9168-7F72-35B7-0BEB02BE75C0}"/>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47D9A6E8-C3FC-38E2-1484-CD0A69D35B08}"/>
              </a:ext>
            </a:extLst>
          </p:cNvPr>
          <p:cNvSpPr>
            <a:spLocks noGrp="1"/>
          </p:cNvSpPr>
          <p:nvPr>
            <p:ph type="title"/>
          </p:nvPr>
        </p:nvSpPr>
        <p:spPr>
          <a:xfrm>
            <a:off x="211809" y="288445"/>
            <a:ext cx="2235309" cy="762695"/>
          </a:xfrm>
        </p:spPr>
        <p:txBody>
          <a:bodyPr/>
          <a:lstStyle/>
          <a:p>
            <a:r>
              <a:rPr lang="en-US" sz="2699"/>
              <a:t>Privacy Practices</a:t>
            </a:r>
            <a:r>
              <a:rPr lang="en-US" sz="2699" baseline="30000"/>
              <a:t>4</a:t>
            </a:r>
            <a:endParaRPr lang="en-US" sz="2699"/>
          </a:p>
        </p:txBody>
      </p:sp>
      <p:sp>
        <p:nvSpPr>
          <p:cNvPr id="10" name="Text Placeholder 3">
            <a:extLst>
              <a:ext uri="{FF2B5EF4-FFF2-40B4-BE49-F238E27FC236}">
                <a16:creationId xmlns:a16="http://schemas.microsoft.com/office/drawing/2014/main" id="{83FE5341-128D-3FBD-4EF5-12D36B008541}"/>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examines the organization's policies, procedures, and guidelines for handling personal data and protecting privacy.</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A85B80E7-C582-C5B3-2F10-CD6AA7CA0B0A}"/>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E3D56CBC-863C-4E5B-2D2A-8836F560A746}"/>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DF0C9A14-2BE3-B295-DD29-ABC0EBF7C9F1}"/>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7BB700E-C72F-8F20-98D6-0C831118D108}"/>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202C29CD-65BD-7ECE-C80A-4C0C12800827}"/>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3FB498E8-CE06-F1CD-18B6-D295B1D23D47}"/>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C3EA7D25-B213-55BD-96EB-DF885CCAB6E1}"/>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2440" y="1128298"/>
          <a:ext cx="9430920" cy="5179285"/>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276">
                <a:tc>
                  <a:txBody>
                    <a:bodyPr/>
                    <a:lstStyle/>
                    <a:p>
                      <a:pPr algn="l" fontAlgn="ctr">
                        <a:spcAft>
                          <a:spcPts val="600"/>
                        </a:spcAft>
                      </a:pPr>
                      <a:r>
                        <a:rPr lang="en-US" sz="1000" b="0" i="0" u="none" strike="noStrike">
                          <a:solidFill>
                            <a:schemeClr val="bg1"/>
                          </a:solidFill>
                          <a:effectLst/>
                          <a:latin typeface="+mn-lt"/>
                        </a:rPr>
                        <a:t>Process for handling personal data request by data subject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indent="0" algn="l" fontAlgn="ctr">
                        <a:spcAft>
                          <a:spcPts val="600"/>
                        </a:spcAft>
                        <a:buFont typeface="Arial" panose="020B0604020202020204" pitchFamily="34" charset="0"/>
                        <a:buNone/>
                      </a:pPr>
                      <a:r>
                        <a:rPr lang="en-US" sz="1000" b="0" i="0" u="none" strike="noStrike">
                          <a:solidFill>
                            <a:srgbClr val="000000"/>
                          </a:solidFill>
                          <a:effectLst/>
                          <a:latin typeface="+mn-lt"/>
                        </a:rPr>
                        <a:t>Currently, data changes are limited to specific menu functions and do not include the correction of critical data such as national identity numbers (KTP).</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n-lt"/>
                        </a:rPr>
                        <a:t>Organization has processes in place to handle requests for access, correction, deletion, or portability of personal data, and respond to these requests in a timely and transparent manner</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n-lt"/>
                        </a:rPr>
                        <a:t>The system should be expanded to support secure correction requests for sensitive data, with layered authorization and complete audit logs.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950276">
                <a:tc>
                  <a:txBody>
                    <a:bodyPr/>
                    <a:lstStyle/>
                    <a:p>
                      <a:pPr algn="l" fontAlgn="ctr">
                        <a:spcAft>
                          <a:spcPts val="600"/>
                        </a:spcAft>
                      </a:pPr>
                      <a:r>
                        <a:rPr lang="en-US" sz="1000" b="0" i="0" u="none" strike="noStrike">
                          <a:solidFill>
                            <a:schemeClr val="bg1"/>
                          </a:solidFill>
                          <a:effectLst/>
                          <a:latin typeface="+mn-lt"/>
                        </a:rPr>
                        <a:t>Privacy governance structure availability</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A formal DPO (Data Protection Officer) has not yet been appointed, indicating the privacy governance structure is still in its early stages of establishment.</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Organization has established a privacy governance structure, including the appointment of a privacy officer, and do you conduct regular privacy reviews and audits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The bank should establish a privacy governance structure, including the appointment of privacy personnel and implementation of regular privacy reviews and audits.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87805473"/>
                  </a:ext>
                </a:extLst>
              </a:tr>
              <a:tr h="797896">
                <a:tc>
                  <a:txBody>
                    <a:bodyPr/>
                    <a:lstStyle/>
                    <a:p>
                      <a:pPr algn="l" fontAlgn="ctr">
                        <a:spcAft>
                          <a:spcPts val="600"/>
                        </a:spcAft>
                      </a:pPr>
                      <a:r>
                        <a:rPr lang="en-US" sz="1000" b="0" i="0" u="none" strike="noStrike">
                          <a:solidFill>
                            <a:schemeClr val="bg1"/>
                          </a:solidFill>
                          <a:effectLst/>
                          <a:latin typeface="+mn-lt"/>
                        </a:rPr>
                        <a:t>Appointed Data Protection Officer (DPO)</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A formal DPO has not been appointed. Currently, no individual has been officially identified and made fully responsible for data protection compliance.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a:solidFill>
                            <a:srgbClr val="000000"/>
                          </a:solidFill>
                          <a:effectLst/>
                          <a:latin typeface="+mn-lt"/>
                        </a:rPr>
                        <a:t>Organization has appointed a Data Protection Officer (DPO), or identified someone responsible for data protection compliance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The bank should formally appoint a Data Protection Officer (DPO) who is fully responsible for ensuring data protection compliance.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9583709"/>
                  </a:ext>
                </a:extLst>
              </a:tr>
              <a:tr h="950276">
                <a:tc>
                  <a:txBody>
                    <a:bodyPr/>
                    <a:lstStyle/>
                    <a:p>
                      <a:pPr algn="l" fontAlgn="ctr">
                        <a:spcAft>
                          <a:spcPts val="600"/>
                        </a:spcAft>
                      </a:pPr>
                      <a:r>
                        <a:rPr lang="en-US" sz="1000" b="0" i="0" u="none" strike="noStrike">
                          <a:solidFill>
                            <a:schemeClr val="bg1"/>
                          </a:solidFill>
                          <a:effectLst/>
                          <a:latin typeface="+mn-lt"/>
                        </a:rPr>
                        <a:t>Inventory all the personal data</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An inventory of personal data collected and processed, including its types, purposes, and legal basis, does not yet exist.</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a:solidFill>
                            <a:srgbClr val="000000"/>
                          </a:solidFill>
                          <a:effectLst/>
                          <a:latin typeface="+mn-lt"/>
                        </a:rPr>
                        <a:t>Organization has conducted an inventory of all the personal data you collect and process, including the types of data, the purposes for processing, and the legal basis for processing</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The bank should conduct a thorough inventory of all personal data it collects and processes, including data types, processing purposes, and legal bases.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60086507"/>
                  </a:ext>
                </a:extLst>
              </a:tr>
              <a:tr h="1102656">
                <a:tc>
                  <a:txBody>
                    <a:bodyPr/>
                    <a:lstStyle/>
                    <a:p>
                      <a:pPr algn="l" fontAlgn="ctr">
                        <a:spcAft>
                          <a:spcPts val="600"/>
                        </a:spcAft>
                      </a:pPr>
                      <a:r>
                        <a:rPr lang="en-US" sz="1000" b="0" i="0" u="none" strike="noStrike">
                          <a:solidFill>
                            <a:schemeClr val="bg1"/>
                          </a:solidFill>
                          <a:effectLst/>
                          <a:latin typeface="+mn-lt"/>
                        </a:rPr>
                        <a:t>Procedure reporting data breaches</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Procedures for reporting data incidents to the authorities and affected individuals, along with related risk assessments, are not yet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a:solidFill>
                            <a:srgbClr val="000000"/>
                          </a:solidFill>
                          <a:effectLst/>
                          <a:latin typeface="+mn-lt"/>
                        </a:rPr>
                        <a:t>Organization has procedures for reporting data breaches to the relevant supervisory authority and affected individuals, and have conducted a risk assessment to determine the level of risk to individuals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The bank should have procedures in place for reporting data breaches to relevant authorities and affected individuals, along with risk assessments to evaluate potential impact.</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51172389"/>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843785" y="6464956"/>
            <a:ext cx="60915" cy="123111"/>
          </a:xfrm>
        </p:spPr>
        <p:txBody>
          <a:bodyPr/>
          <a:lstStyle/>
          <a:p>
            <a:pPr defTabSz="914507"/>
            <a:fld id="{86CB4B4D-7CA3-9044-876B-883B54F8677D}" type="slidenum">
              <a:rPr lang="en-US" dirty="0">
                <a:solidFill>
                  <a:srgbClr val="000000"/>
                </a:solidFill>
              </a:rPr>
              <a:pPr defTabSz="914507"/>
              <a:t>10</a:t>
            </a:fld>
            <a:endParaRPr lang="en-US">
              <a:solidFill>
                <a:srgbClr val="000000"/>
              </a:solidFill>
            </a:endParaRPr>
          </a:p>
        </p:txBody>
      </p:sp>
      <p:grpSp>
        <p:nvGrpSpPr>
          <p:cNvPr id="62" name="Group 61">
            <a:extLst>
              <a:ext uri="{FF2B5EF4-FFF2-40B4-BE49-F238E27FC236}">
                <a16:creationId xmlns:a16="http://schemas.microsoft.com/office/drawing/2014/main" id="{7413FB43-008B-C998-234D-71991E09CD64}"/>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5F998358-7D45-A6AF-D1E6-43A1EB510663}"/>
                </a:ext>
              </a:extLst>
            </p:cNvPr>
            <p:cNvSpPr/>
            <p:nvPr/>
          </p:nvSpPr>
          <p:spPr bwMode="auto">
            <a:xfrm>
              <a:off x="1561503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45B3F450-9CB5-C3B3-8137-CED4E95D0D13}"/>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D46B4DAD-A26C-AAD9-A543-18866EE0862E}"/>
                </a:ext>
              </a:extLst>
            </p:cNvPr>
            <p:cNvCxnSpPr>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862FC76D-44E0-1BCD-304D-18D830DDF4FA}"/>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14C6994A-7269-2E5A-3957-60BE44FA0871}"/>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48433FEA-75E5-B589-122D-82BE3C482D51}"/>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CB3E601B-5AF0-11E2-BA92-D22A91BA0186}"/>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EF684AE9-B7F6-E690-3E7B-752D38C983EA}"/>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1D168359-7DF6-A5F9-79AD-78F81A04B45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6DB987BD-CE2F-6404-58EC-B2EC5D9D118C}"/>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A01CE818-AF10-9367-5904-A8C98CAB5419}"/>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18A20AE5-B627-D05C-6EEF-65A381CFF7B6}"/>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6C4472B0-4A92-A922-5DCB-C81B44F26433}"/>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E68E8616-4F23-1302-26DA-D83F1A590EDB}"/>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0B8546A4-F257-13CD-2AB0-B00AAFF264AF}"/>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E3DEBE8B-B790-49C3-F063-0D93777D8364}"/>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B1D173C3-0EDE-E898-0378-11788D72C39A}"/>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52C78089-CEBF-56C4-A8DD-58671E3A018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349D4E5B-3A32-58FE-EA69-515A0FE6A6F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E7FE995F-329E-C462-E4FE-EC887B303DB3}"/>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FF2CC0CA-6903-A550-9898-2AD76E8937C9}"/>
                </a:ext>
              </a:extLst>
            </p:cNvPr>
            <p:cNvPicPr>
              <a:picLocks noChangeAspect="1"/>
            </p:cNvPicPr>
            <p:nvPr/>
          </p:nvPicPr>
          <p:blipFill>
            <a:blip r:embed="rId2">
              <a:biLevel thresh="25000"/>
            </a:blip>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9486E57D-6BB2-65C8-BFE4-96B5A22EE1A4}"/>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C09A0001-A57A-CD29-F376-F6FE38A93BDA}"/>
                </a:ext>
              </a:extLst>
            </p:cNvPr>
            <p:cNvPicPr>
              <a:picLocks noChangeAspect="1"/>
            </p:cNvPicPr>
            <p:nvPr/>
          </p:nvPicPr>
          <p:blipFill>
            <a:blip r:embed="rId4"/>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F0D88F0E-D5CD-4B15-0C62-47D9D1CD78A9}"/>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53600C8C-DABB-B49D-6B68-A3078EB546D9}"/>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4266702B-0A9D-BF76-AEE8-B48AA64A1E0C}"/>
                </a:ext>
              </a:extLst>
            </p:cNvPr>
            <p:cNvPicPr>
              <a:picLocks noChangeAspect="1"/>
            </p:cNvPicPr>
            <p:nvPr/>
          </p:nvPicPr>
          <p:blipFill>
            <a:blip r:embed="rId7"/>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7D37FC78-756F-FA27-BC4C-E212E3A2E781}"/>
                </a:ext>
              </a:extLst>
            </p:cNvPr>
            <p:cNvPicPr>
              <a:picLocks noChangeAspect="1"/>
            </p:cNvPicPr>
            <p:nvPr/>
          </p:nvPicPr>
          <p:blipFill>
            <a:blip r:embed="rId8"/>
            <a:srcRect/>
            <a:stretch/>
          </p:blipFill>
          <p:spPr>
            <a:xfrm>
              <a:off x="17023717" y="712847"/>
              <a:ext cx="540000" cy="540000"/>
            </a:xfrm>
            <a:prstGeom prst="rect">
              <a:avLst/>
            </a:prstGeom>
          </p:spPr>
        </p:pic>
      </p:grpSp>
      <p:sp>
        <p:nvSpPr>
          <p:cNvPr id="11" name="&quot;C&quot; gray rectangle">
            <a:extLst>
              <a:ext uri="{FF2B5EF4-FFF2-40B4-BE49-F238E27FC236}">
                <a16:creationId xmlns:a16="http://schemas.microsoft.com/office/drawing/2014/main" id="{4248407E-E72F-DE3D-7B00-2960B101508C}"/>
              </a:ext>
              <a:ext uri="{C183D7F6-B498-43B3-948B-1728B52AA6E4}">
                <adec:decorative xmlns:adec="http://schemas.microsoft.com/office/drawing/2017/decorative" val="1"/>
              </a:ext>
            </a:extLst>
          </p:cNvPr>
          <p:cNvSpPr>
            <a:spLocks noChangeAspect="1" noChangeArrowheads="1"/>
          </p:cNvSpPr>
          <p:nvPr/>
        </p:nvSpPr>
        <p:spPr bwMode="auto">
          <a:xfrm>
            <a:off x="9318148" y="3664868"/>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2" name="&quot;C&quot; gray rectangle">
            <a:extLst>
              <a:ext uri="{FF2B5EF4-FFF2-40B4-BE49-F238E27FC236}">
                <a16:creationId xmlns:a16="http://schemas.microsoft.com/office/drawing/2014/main" id="{091EFF93-EAF8-C031-AB2D-EC630FFF1FF0}"/>
              </a:ext>
              <a:ext uri="{C183D7F6-B498-43B3-948B-1728B52AA6E4}">
                <adec:decorative xmlns:adec="http://schemas.microsoft.com/office/drawing/2017/decorative" val="1"/>
              </a:ext>
            </a:extLst>
          </p:cNvPr>
          <p:cNvSpPr>
            <a:spLocks noChangeAspect="1" noChangeArrowheads="1"/>
          </p:cNvSpPr>
          <p:nvPr/>
        </p:nvSpPr>
        <p:spPr bwMode="auto">
          <a:xfrm>
            <a:off x="9311428" y="2771650"/>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3" name="&quot;A&quot; blue rectangle">
            <a:extLst>
              <a:ext uri="{FF2B5EF4-FFF2-40B4-BE49-F238E27FC236}">
                <a16:creationId xmlns:a16="http://schemas.microsoft.com/office/drawing/2014/main" id="{6D083C91-BD83-B4B5-8EDE-2BEF7DA6BE97}"/>
              </a:ext>
              <a:ext uri="{C183D7F6-B498-43B3-948B-1728B52AA6E4}">
                <adec:decorative xmlns:adec="http://schemas.microsoft.com/office/drawing/2017/decorative" val="1"/>
              </a:ext>
            </a:extLst>
          </p:cNvPr>
          <p:cNvSpPr>
            <a:spLocks noChangeAspect="1" noChangeArrowheads="1"/>
          </p:cNvSpPr>
          <p:nvPr/>
        </p:nvSpPr>
        <p:spPr bwMode="auto">
          <a:xfrm>
            <a:off x="9318148" y="1824350"/>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14" name="&quot;C&quot; gray rectangle">
            <a:extLst>
              <a:ext uri="{FF2B5EF4-FFF2-40B4-BE49-F238E27FC236}">
                <a16:creationId xmlns:a16="http://schemas.microsoft.com/office/drawing/2014/main" id="{7ECD785E-7B93-2E57-566C-52400018A1DD}"/>
              </a:ext>
              <a:ext uri="{C183D7F6-B498-43B3-948B-1728B52AA6E4}">
                <adec:decorative xmlns:adec="http://schemas.microsoft.com/office/drawing/2017/decorative" val="1"/>
              </a:ext>
            </a:extLst>
          </p:cNvPr>
          <p:cNvSpPr>
            <a:spLocks noChangeAspect="1" noChangeArrowheads="1"/>
          </p:cNvSpPr>
          <p:nvPr/>
        </p:nvSpPr>
        <p:spPr bwMode="auto">
          <a:xfrm>
            <a:off x="9318148" y="4562277"/>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6" name="&quot;C&quot; gray rectangle">
            <a:extLst>
              <a:ext uri="{FF2B5EF4-FFF2-40B4-BE49-F238E27FC236}">
                <a16:creationId xmlns:a16="http://schemas.microsoft.com/office/drawing/2014/main" id="{DB97C259-6C41-E42B-56EE-94E4C7DF5893}"/>
              </a:ext>
              <a:ext uri="{C183D7F6-B498-43B3-948B-1728B52AA6E4}">
                <adec:decorative xmlns:adec="http://schemas.microsoft.com/office/drawing/2017/decorative" val="1"/>
              </a:ext>
            </a:extLst>
          </p:cNvPr>
          <p:cNvSpPr>
            <a:spLocks noChangeAspect="1" noChangeArrowheads="1"/>
          </p:cNvSpPr>
          <p:nvPr/>
        </p:nvSpPr>
        <p:spPr bwMode="auto">
          <a:xfrm>
            <a:off x="9311285" y="5617192"/>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30101765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C7B84739-99F4-96A5-140C-7344E0F59A73}"/>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0CBA1C38-EE01-44D8-92BE-55689B6918B5}"/>
              </a:ext>
            </a:extLst>
          </p:cNvPr>
          <p:cNvSpPr>
            <a:spLocks noGrp="1"/>
          </p:cNvSpPr>
          <p:nvPr>
            <p:ph type="title"/>
          </p:nvPr>
        </p:nvSpPr>
        <p:spPr>
          <a:xfrm>
            <a:off x="211809" y="288445"/>
            <a:ext cx="2235309" cy="762695"/>
          </a:xfrm>
        </p:spPr>
        <p:txBody>
          <a:bodyPr/>
          <a:lstStyle/>
          <a:p>
            <a:r>
              <a:rPr lang="en-US" sz="2699"/>
              <a:t>Privacy Practices</a:t>
            </a:r>
            <a:r>
              <a:rPr lang="en-US" sz="2699" baseline="30000"/>
              <a:t>5</a:t>
            </a:r>
            <a:endParaRPr lang="en-US" sz="2699"/>
          </a:p>
        </p:txBody>
      </p:sp>
      <p:sp>
        <p:nvSpPr>
          <p:cNvPr id="10" name="Text Placeholder 3">
            <a:extLst>
              <a:ext uri="{FF2B5EF4-FFF2-40B4-BE49-F238E27FC236}">
                <a16:creationId xmlns:a16="http://schemas.microsoft.com/office/drawing/2014/main" id="{9E499AB8-43B3-AB94-A262-0C2D1B2819E0}"/>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examines the organization's policies, procedures, and guidelines for handling personal data and protecting privacy.</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1343A3C1-3BA8-5639-7A0A-D226ABC5F3C0}"/>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670B459-D0A3-7903-0619-3439FEB0692E}"/>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328A443D-9BA7-2E46-4B0E-1A7C7B225569}"/>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A3E51C11-C1D5-2CE6-2934-68028ADCEF43}"/>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6DAB8344-1088-2576-C314-ED61C86E464A}"/>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5F8B4D14-D2EA-7740-B7D7-3CFFCA302AD4}"/>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894116EC-5733-58C7-5553-987AB5E58826}"/>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4266505"/>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276">
                <a:tc>
                  <a:txBody>
                    <a:bodyPr/>
                    <a:lstStyle/>
                    <a:p>
                      <a:pPr algn="l" fontAlgn="ctr">
                        <a:spcAft>
                          <a:spcPts val="600"/>
                        </a:spcAft>
                      </a:pPr>
                      <a:r>
                        <a:rPr lang="en-US" sz="1000" b="0" i="0" u="none" strike="noStrike">
                          <a:solidFill>
                            <a:schemeClr val="bg1"/>
                          </a:solidFill>
                          <a:effectLst/>
                          <a:latin typeface="+mn-lt"/>
                        </a:rPr>
                        <a:t>Compliance monitoring</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Processes for monitoring PDP compliance, including regular audits, reviews, and updates to policies/procedures, are not yet established.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n-lt"/>
                        </a:rPr>
                        <a:t>Organization has processes in place for monitoring compliance with PDP, including regular audits, reviews, and updates to policies and procedures.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n-lt"/>
                        </a:rPr>
                        <a:t>The bank should implement ongoing processes to monitor compliance with data protection regulations, including regular audits, reviews, and policy updates.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8891352"/>
                  </a:ext>
                </a:extLst>
              </a:tr>
              <a:tr h="950276">
                <a:tc>
                  <a:txBody>
                    <a:bodyPr/>
                    <a:lstStyle/>
                    <a:p>
                      <a:pPr algn="l" fontAlgn="ctr">
                        <a:spcAft>
                          <a:spcPts val="600"/>
                        </a:spcAft>
                      </a:pPr>
                      <a:r>
                        <a:rPr lang="en-US" sz="1000" b="0" i="0" u="none" strike="noStrike">
                          <a:solidFill>
                            <a:schemeClr val="bg1"/>
                          </a:solidFill>
                          <a:effectLst/>
                          <a:latin typeface="+mn-lt"/>
                        </a:rPr>
                        <a:t>Vendor PDP compliance</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An assessment of data protection practices and PDP compliance for vendors and third-party processors has not yet been conducted, and this information will only be mapped from the UU.</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Organization has assessed the data protection practices and PDP compliance of your vendors and third-party processors.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The bank should assess and monitor the data protection practices and compliance levels of its vendors and third-party processors.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988371">
                <a:tc>
                  <a:txBody>
                    <a:bodyPr/>
                    <a:lstStyle/>
                    <a:p>
                      <a:pPr algn="l" fontAlgn="ctr">
                        <a:spcAft>
                          <a:spcPts val="600"/>
                        </a:spcAft>
                      </a:pPr>
                      <a:r>
                        <a:rPr lang="en-US" sz="1000" b="0" i="0" u="none" strike="noStrike">
                          <a:solidFill>
                            <a:schemeClr val="bg1"/>
                          </a:solidFill>
                          <a:effectLst/>
                          <a:latin typeface="+mn-lt"/>
                        </a:rPr>
                        <a:t>Data processing agreement or contract with vendor</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n-lt"/>
                        </a:rPr>
                        <a:t>Data processing agreements or contracts meeting PDP requirements for engagement with third parties are not yet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n-lt"/>
                        </a:rPr>
                        <a:t>Organization has data processing agreements or contracts in place that meet the PDP requirements when engaging with third parties.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n-lt"/>
                        </a:rPr>
                        <a:t>The bank should ensure that data processing agreements with third parties meet the requirements set out in the Personal Data Protection (PDP) regulations.</a:t>
                      </a:r>
                    </a:p>
                    <a:p>
                      <a:pPr algn="l" fontAlgn="ctr">
                        <a:spcAft>
                          <a:spcPts val="600"/>
                        </a:spcAft>
                      </a:pPr>
                      <a:endParaRPr lang="en-US" sz="1000" b="0" i="0" u="none" strike="noStrike">
                        <a:solidFill>
                          <a:srgbClr val="00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055019"/>
                  </a:ext>
                </a:extLst>
              </a:tr>
              <a:tr h="950276">
                <a:tc>
                  <a:txBody>
                    <a:bodyPr/>
                    <a:lstStyle/>
                    <a:p>
                      <a:pPr algn="l" fontAlgn="ctr">
                        <a:spcAft>
                          <a:spcPts val="600"/>
                        </a:spcAft>
                      </a:pPr>
                      <a:r>
                        <a:rPr lang="en-US" sz="1000" b="0" i="0" u="none" strike="noStrike">
                          <a:solidFill>
                            <a:schemeClr val="bg1"/>
                          </a:solidFill>
                          <a:effectLst/>
                          <a:latin typeface="+mn-lt"/>
                        </a:rPr>
                        <a:t>PDP assurance for overseas data transfer</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a:solidFill>
                            <a:srgbClr val="000000"/>
                          </a:solidFill>
                          <a:effectLst/>
                          <a:latin typeface="+mn-lt"/>
                        </a:rPr>
                        <a:t>The organization currently complies with this requirement as no personal data is transferred outside of Indonesia; all data processing remains within the country.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n-lt"/>
                        </a:rPr>
                        <a:t>Organization ensures that any data transfers to third countries outside Indonesia with PDP restrictions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FF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n-lt"/>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88617406"/>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843785" y="6464956"/>
            <a:ext cx="60915" cy="123111"/>
          </a:xfrm>
        </p:spPr>
        <p:txBody>
          <a:bodyPr/>
          <a:lstStyle/>
          <a:p>
            <a:pPr defTabSz="914507"/>
            <a:fld id="{86CB4B4D-7CA3-9044-876B-883B54F8677D}" type="slidenum">
              <a:rPr lang="en-US">
                <a:solidFill>
                  <a:srgbClr val="000000"/>
                </a:solidFill>
              </a:rPr>
              <a:pPr defTabSz="914507"/>
              <a:t>11</a:t>
            </a:fld>
            <a:endParaRPr lang="en-US">
              <a:solidFill>
                <a:srgbClr val="000000"/>
              </a:solidFill>
            </a:endParaRPr>
          </a:p>
        </p:txBody>
      </p:sp>
      <p:grpSp>
        <p:nvGrpSpPr>
          <p:cNvPr id="62" name="Group 61">
            <a:extLst>
              <a:ext uri="{FF2B5EF4-FFF2-40B4-BE49-F238E27FC236}">
                <a16:creationId xmlns:a16="http://schemas.microsoft.com/office/drawing/2014/main" id="{7413FB43-008B-C998-234D-71991E09CD64}"/>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5F998358-7D45-A6AF-D1E6-43A1EB510663}"/>
                </a:ext>
              </a:extLst>
            </p:cNvPr>
            <p:cNvSpPr/>
            <p:nvPr/>
          </p:nvSpPr>
          <p:spPr bwMode="auto">
            <a:xfrm>
              <a:off x="1561503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45B3F450-9CB5-C3B3-8137-CED4E95D0D13}"/>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D46B4DAD-A26C-AAD9-A543-18866EE0862E}"/>
                </a:ext>
              </a:extLst>
            </p:cNvPr>
            <p:cNvCxnSpPr>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862FC76D-44E0-1BCD-304D-18D830DDF4FA}"/>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14C6994A-7269-2E5A-3957-60BE44FA0871}"/>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48433FEA-75E5-B589-122D-82BE3C482D51}"/>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CB3E601B-5AF0-11E2-BA92-D22A91BA0186}"/>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EF684AE9-B7F6-E690-3E7B-752D38C983EA}"/>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1D168359-7DF6-A5F9-79AD-78F81A04B45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6DB987BD-CE2F-6404-58EC-B2EC5D9D118C}"/>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A01CE818-AF10-9367-5904-A8C98CAB5419}"/>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18A20AE5-B627-D05C-6EEF-65A381CFF7B6}"/>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6C4472B0-4A92-A922-5DCB-C81B44F26433}"/>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E68E8616-4F23-1302-26DA-D83F1A590EDB}"/>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0B8546A4-F257-13CD-2AB0-B00AAFF264AF}"/>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E3DEBE8B-B790-49C3-F063-0D93777D8364}"/>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B1D173C3-0EDE-E898-0378-11788D72C39A}"/>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52C78089-CEBF-56C4-A8DD-58671E3A018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349D4E5B-3A32-58FE-EA69-515A0FE6A6F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E7FE995F-329E-C462-E4FE-EC887B303DB3}"/>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FF2CC0CA-6903-A550-9898-2AD76E8937C9}"/>
                </a:ext>
              </a:extLst>
            </p:cNvPr>
            <p:cNvPicPr>
              <a:picLocks noChangeAspect="1"/>
            </p:cNvPicPr>
            <p:nvPr/>
          </p:nvPicPr>
          <p:blipFill>
            <a:blip r:embed="rId2">
              <a:biLevel thresh="25000"/>
            </a:blip>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9486E57D-6BB2-65C8-BFE4-96B5A22EE1A4}"/>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C09A0001-A57A-CD29-F376-F6FE38A93BDA}"/>
                </a:ext>
              </a:extLst>
            </p:cNvPr>
            <p:cNvPicPr>
              <a:picLocks noChangeAspect="1"/>
            </p:cNvPicPr>
            <p:nvPr/>
          </p:nvPicPr>
          <p:blipFill>
            <a:blip r:embed="rId4"/>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F0D88F0E-D5CD-4B15-0C62-47D9D1CD78A9}"/>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53600C8C-DABB-B49D-6B68-A3078EB546D9}"/>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4266702B-0A9D-BF76-AEE8-B48AA64A1E0C}"/>
                </a:ext>
              </a:extLst>
            </p:cNvPr>
            <p:cNvPicPr>
              <a:picLocks noChangeAspect="1"/>
            </p:cNvPicPr>
            <p:nvPr/>
          </p:nvPicPr>
          <p:blipFill>
            <a:blip r:embed="rId7"/>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7D37FC78-756F-FA27-BC4C-E212E3A2E781}"/>
                </a:ext>
              </a:extLst>
            </p:cNvPr>
            <p:cNvPicPr>
              <a:picLocks noChangeAspect="1"/>
            </p:cNvPicPr>
            <p:nvPr/>
          </p:nvPicPr>
          <p:blipFill>
            <a:blip r:embed="rId8"/>
            <a:srcRect/>
            <a:stretch/>
          </p:blipFill>
          <p:spPr>
            <a:xfrm>
              <a:off x="17023717" y="712847"/>
              <a:ext cx="540000" cy="540000"/>
            </a:xfrm>
            <a:prstGeom prst="rect">
              <a:avLst/>
            </a:prstGeom>
          </p:spPr>
        </p:pic>
      </p:grpSp>
      <p:sp>
        <p:nvSpPr>
          <p:cNvPr id="8" name="&quot;R&quot; teal rectangle">
            <a:extLst>
              <a:ext uri="{FF2B5EF4-FFF2-40B4-BE49-F238E27FC236}">
                <a16:creationId xmlns:a16="http://schemas.microsoft.com/office/drawing/2014/main" id="{87D129AD-7A84-CF04-97FA-A5F072298D8B}"/>
              </a:ext>
              <a:ext uri="{C183D7F6-B498-43B3-948B-1728B52AA6E4}">
                <adec:decorative xmlns:adec="http://schemas.microsoft.com/office/drawing/2017/decorative" val="1"/>
              </a:ext>
            </a:extLst>
          </p:cNvPr>
          <p:cNvSpPr>
            <a:spLocks noChangeAspect="1" noChangeArrowheads="1"/>
          </p:cNvSpPr>
          <p:nvPr/>
        </p:nvSpPr>
        <p:spPr bwMode="auto">
          <a:xfrm>
            <a:off x="9329475" y="489519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 name="&quot;C&quot; gray rectangle">
            <a:extLst>
              <a:ext uri="{FF2B5EF4-FFF2-40B4-BE49-F238E27FC236}">
                <a16:creationId xmlns:a16="http://schemas.microsoft.com/office/drawing/2014/main" id="{1BD45E3E-80CD-6141-E946-466F0773B504}"/>
              </a:ext>
              <a:ext uri="{C183D7F6-B498-43B3-948B-1728B52AA6E4}">
                <adec:decorative xmlns:adec="http://schemas.microsoft.com/office/drawing/2017/decorative" val="1"/>
              </a:ext>
            </a:extLst>
          </p:cNvPr>
          <p:cNvSpPr>
            <a:spLocks noChangeAspect="1" noChangeArrowheads="1"/>
          </p:cNvSpPr>
          <p:nvPr/>
        </p:nvSpPr>
        <p:spPr bwMode="auto">
          <a:xfrm>
            <a:off x="9347314" y="291326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2" name="&quot;C&quot; gray rectangle">
            <a:extLst>
              <a:ext uri="{FF2B5EF4-FFF2-40B4-BE49-F238E27FC236}">
                <a16:creationId xmlns:a16="http://schemas.microsoft.com/office/drawing/2014/main" id="{7FA4D4A9-B03E-0951-7117-C883DEABC12F}"/>
              </a:ext>
              <a:ext uri="{C183D7F6-B498-43B3-948B-1728B52AA6E4}">
                <adec:decorative xmlns:adec="http://schemas.microsoft.com/office/drawing/2017/decorative" val="1"/>
              </a:ext>
            </a:extLst>
          </p:cNvPr>
          <p:cNvSpPr>
            <a:spLocks noChangeAspect="1" noChangeArrowheads="1"/>
          </p:cNvSpPr>
          <p:nvPr/>
        </p:nvSpPr>
        <p:spPr bwMode="auto">
          <a:xfrm>
            <a:off x="9324718" y="1935654"/>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3" name="&quot;C&quot; gray rectangle">
            <a:extLst>
              <a:ext uri="{FF2B5EF4-FFF2-40B4-BE49-F238E27FC236}">
                <a16:creationId xmlns:a16="http://schemas.microsoft.com/office/drawing/2014/main" id="{6EA4DC59-F395-4841-1106-3D58FA432E32}"/>
              </a:ext>
              <a:ext uri="{C183D7F6-B498-43B3-948B-1728B52AA6E4}">
                <adec:decorative xmlns:adec="http://schemas.microsoft.com/office/drawing/2017/decorative" val="1"/>
              </a:ext>
            </a:extLst>
          </p:cNvPr>
          <p:cNvSpPr>
            <a:spLocks noChangeAspect="1" noChangeArrowheads="1"/>
          </p:cNvSpPr>
          <p:nvPr/>
        </p:nvSpPr>
        <p:spPr bwMode="auto">
          <a:xfrm>
            <a:off x="9324719" y="3835397"/>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39457403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3F4E5C62-5C71-8627-5902-7BFFAB516102}"/>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F13587A2-8EEC-DB78-43E2-96487AE7BD9A}"/>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Data Governance</a:t>
            </a:r>
            <a:r>
              <a:rPr lang="en-US" sz="2699" kern="0" baseline="30000">
                <a:solidFill>
                  <a:srgbClr val="000000"/>
                </a:solidFill>
                <a:latin typeface="IBM Plex Sans Light"/>
              </a:rPr>
              <a:t>1</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CDC1CED3-B529-2F58-6750-611B4BEC82CA}"/>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focuses on the framework and controls in place to ensure responsible data management, including data ownership, classification, and access controls.</a:t>
            </a:r>
          </a:p>
        </p:txBody>
      </p:sp>
      <p:sp>
        <p:nvSpPr>
          <p:cNvPr id="18" name="&quot;R&quot; teal rectangle">
            <a:extLst>
              <a:ext uri="{FF2B5EF4-FFF2-40B4-BE49-F238E27FC236}">
                <a16:creationId xmlns:a16="http://schemas.microsoft.com/office/drawing/2014/main" id="{155ACEB5-CE9F-C561-36CF-8FD42C4D783B}"/>
              </a:ext>
              <a:ext uri="{C183D7F6-B498-43B3-948B-1728B52AA6E4}">
                <adec:decorative xmlns:adec="http://schemas.microsoft.com/office/drawing/2017/decorative" val="1"/>
              </a:ext>
            </a:extLst>
          </p:cNvPr>
          <p:cNvSpPr>
            <a:spLocks noChangeAspect="1" noChangeArrowheads="1"/>
          </p:cNvSpPr>
          <p:nvPr/>
        </p:nvSpPr>
        <p:spPr bwMode="auto">
          <a:xfrm>
            <a:off x="220949" y="417528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BAD47F45-30A2-FC08-4B49-190EBF9AC816}"/>
              </a:ext>
              <a:ext uri="{C183D7F6-B498-43B3-948B-1728B52AA6E4}">
                <adec:decorative xmlns:adec="http://schemas.microsoft.com/office/drawing/2017/decorative" val="1"/>
              </a:ext>
            </a:extLst>
          </p:cNvPr>
          <p:cNvSpPr txBox="1">
            <a:spLocks noChangeArrowheads="1"/>
          </p:cNvSpPr>
          <p:nvPr/>
        </p:nvSpPr>
        <p:spPr bwMode="auto">
          <a:xfrm>
            <a:off x="683785" y="4175289"/>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BC7DF76-E5CE-135D-7294-10C9FCFE4241}"/>
              </a:ext>
              <a:ext uri="{C183D7F6-B498-43B3-948B-1728B52AA6E4}">
                <adec:decorative xmlns:adec="http://schemas.microsoft.com/office/drawing/2017/decorative" val="1"/>
              </a:ext>
            </a:extLst>
          </p:cNvPr>
          <p:cNvSpPr>
            <a:spLocks noChangeAspect="1" noChangeArrowheads="1"/>
          </p:cNvSpPr>
          <p:nvPr/>
        </p:nvSpPr>
        <p:spPr bwMode="auto">
          <a:xfrm>
            <a:off x="220190" y="4927898"/>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D036979B-69AB-938A-A84C-F738BCDD0433}"/>
              </a:ext>
              <a:ext uri="{C183D7F6-B498-43B3-948B-1728B52AA6E4}">
                <adec:decorative xmlns:adec="http://schemas.microsoft.com/office/drawing/2017/decorative" val="1"/>
              </a:ext>
            </a:extLst>
          </p:cNvPr>
          <p:cNvSpPr txBox="1">
            <a:spLocks noChangeArrowheads="1"/>
          </p:cNvSpPr>
          <p:nvPr/>
        </p:nvSpPr>
        <p:spPr bwMode="auto">
          <a:xfrm>
            <a:off x="683785" y="4927898"/>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8DBB3198-49BE-D62B-4509-8861EAABF89F}"/>
              </a:ext>
              <a:ext uri="{C183D7F6-B498-43B3-948B-1728B52AA6E4}">
                <adec:decorative xmlns:adec="http://schemas.microsoft.com/office/drawing/2017/decorative" val="1"/>
              </a:ext>
            </a:extLst>
          </p:cNvPr>
          <p:cNvSpPr>
            <a:spLocks noChangeAspect="1" noChangeArrowheads="1"/>
          </p:cNvSpPr>
          <p:nvPr/>
        </p:nvSpPr>
        <p:spPr bwMode="auto">
          <a:xfrm>
            <a:off x="228540" y="567745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6B989584-74FD-B2C1-756D-DDEA518DEBB3}"/>
              </a:ext>
              <a:ext uri="{C183D7F6-B498-43B3-948B-1728B52AA6E4}">
                <adec:decorative xmlns:adec="http://schemas.microsoft.com/office/drawing/2017/decorative" val="1"/>
              </a:ext>
            </a:extLst>
          </p:cNvPr>
          <p:cNvSpPr txBox="1">
            <a:spLocks noChangeArrowheads="1"/>
          </p:cNvSpPr>
          <p:nvPr/>
        </p:nvSpPr>
        <p:spPr bwMode="auto">
          <a:xfrm>
            <a:off x="683785" y="5680507"/>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4380790"/>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102656">
                <a:tc>
                  <a:txBody>
                    <a:bodyPr/>
                    <a:lstStyle/>
                    <a:p>
                      <a:pPr algn="l" fontAlgn="ctr">
                        <a:spcAft>
                          <a:spcPts val="600"/>
                        </a:spcAft>
                      </a:pPr>
                      <a:r>
                        <a:rPr lang="en-US" sz="1000" b="0" i="0" u="none" strike="noStrike">
                          <a:solidFill>
                            <a:schemeClr val="bg1"/>
                          </a:solidFill>
                          <a:effectLst/>
                          <a:latin typeface="+mj-lt"/>
                          <a:ea typeface="+mn-ea"/>
                        </a:rPr>
                        <a:t>Data strategy and vision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is drafting a data governance framework, including roles like data owners and stewards, but a clear data strategy and vision have yet to be established.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Organization has a clearly defined data strategy and vision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Develop a clear data strategy and vision with defined objectives and key data areas. Get leadership approval and communicate it across the organization to ensure alignment and effective implementation.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950276">
                <a:tc>
                  <a:txBody>
                    <a:bodyPr/>
                    <a:lstStyle/>
                    <a:p>
                      <a:pPr algn="l" fontAlgn="ctr">
                        <a:spcAft>
                          <a:spcPts val="600"/>
                        </a:spcAft>
                      </a:pPr>
                      <a:r>
                        <a:rPr lang="en-US" sz="1000" b="0" i="0" u="none" strike="noStrike">
                          <a:solidFill>
                            <a:schemeClr val="bg1"/>
                          </a:solidFill>
                          <a:effectLst/>
                          <a:latin typeface="+mj-lt"/>
                          <a:ea typeface="+mn-ea"/>
                        </a:rPr>
                        <a:t>Data governance priority</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Data governance is not yet recognized as a strategic priority within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Data governance is considered a strategic priority within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Position data governance as a strategic priority by gaining executive support, integrating it into business planning, and allocating dedicated resources to drive implementation.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25662703"/>
                  </a:ext>
                </a:extLst>
              </a:tr>
              <a:tr h="950276">
                <a:tc>
                  <a:txBody>
                    <a:bodyPr/>
                    <a:lstStyle/>
                    <a:p>
                      <a:pPr algn="l" fontAlgn="ctr">
                        <a:spcAft>
                          <a:spcPts val="600"/>
                        </a:spcAft>
                      </a:pPr>
                      <a:r>
                        <a:rPr lang="en-US" sz="1000" b="0" i="0" u="none" strike="noStrike">
                          <a:solidFill>
                            <a:schemeClr val="bg1"/>
                          </a:solidFill>
                          <a:effectLst/>
                          <a:latin typeface="+mj-lt"/>
                          <a:ea typeface="+mn-ea"/>
                        </a:rPr>
                        <a:t>Data governance framework</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is in the process of developing a formal data governance framework.</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Organization has a formal data governance framework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Finalize and implement the formal data governance framework, ensuring it includes clear policies, roles, and processes to manage data effectively across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6428546"/>
                  </a:ext>
                </a:extLst>
              </a:tr>
              <a:tr h="950276">
                <a:tc>
                  <a:txBody>
                    <a:bodyPr/>
                    <a:lstStyle/>
                    <a:p>
                      <a:pPr algn="l" fontAlgn="ctr">
                        <a:spcAft>
                          <a:spcPts val="600"/>
                        </a:spcAft>
                      </a:pPr>
                      <a:r>
                        <a:rPr lang="en-US" sz="1000" b="0" i="0" u="none" strike="noStrike">
                          <a:solidFill>
                            <a:schemeClr val="bg1"/>
                          </a:solidFill>
                          <a:effectLst/>
                          <a:latin typeface="+mj-lt"/>
                          <a:ea typeface="+mn-ea"/>
                        </a:rPr>
                        <a:t>Data governance roles and responsibilities</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Roles and responsibilities for data governance, including data stewards and data owners, are still being defined and have not yet been formalized.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There are defined roles and responsibilities for data governance, including data stewards and data owners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Clearly define and formalize data governance roles and responsibilities, including data stewards and data owners, to ensure accountability and effective data management.</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27431426"/>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12</a:t>
            </a:fld>
            <a:endParaRPr lang="en-US">
              <a:solidFill>
                <a:srgbClr val="000000"/>
              </a:solidFill>
            </a:endParaRPr>
          </a:p>
        </p:txBody>
      </p:sp>
      <p:grpSp>
        <p:nvGrpSpPr>
          <p:cNvPr id="83" name="Group 82">
            <a:extLst>
              <a:ext uri="{FF2B5EF4-FFF2-40B4-BE49-F238E27FC236}">
                <a16:creationId xmlns:a16="http://schemas.microsoft.com/office/drawing/2014/main" id="{3BAA6998-2E70-2F82-9031-32014EEB5DF0}"/>
              </a:ext>
            </a:extLst>
          </p:cNvPr>
          <p:cNvGrpSpPr/>
          <p:nvPr/>
        </p:nvGrpSpPr>
        <p:grpSpPr>
          <a:xfrm>
            <a:off x="7711263" y="267997"/>
            <a:ext cx="4170294" cy="783142"/>
            <a:chOff x="15576932" y="535171"/>
            <a:chExt cx="8341675" cy="1566487"/>
          </a:xfrm>
        </p:grpSpPr>
        <p:sp>
          <p:nvSpPr>
            <p:cNvPr id="84" name="Oval 83">
              <a:extLst>
                <a:ext uri="{FF2B5EF4-FFF2-40B4-BE49-F238E27FC236}">
                  <a16:creationId xmlns:a16="http://schemas.microsoft.com/office/drawing/2014/main" id="{F915F09C-E71E-B84B-AB79-9D900D3879F9}"/>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85" name="Oval 84">
              <a:extLst>
                <a:ext uri="{FF2B5EF4-FFF2-40B4-BE49-F238E27FC236}">
                  <a16:creationId xmlns:a16="http://schemas.microsoft.com/office/drawing/2014/main" id="{A4F3EB86-F9E2-A5D7-4C85-BEB079B745BF}"/>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6" name="Straight Arrow Connector 85">
              <a:extLst>
                <a:ext uri="{FF2B5EF4-FFF2-40B4-BE49-F238E27FC236}">
                  <a16:creationId xmlns:a16="http://schemas.microsoft.com/office/drawing/2014/main" id="{E0236EDC-718F-FB0F-817A-A060E449E6A3}"/>
                </a:ext>
              </a:extLst>
            </p:cNvPr>
            <p:cNvCxnSpPr>
              <a:cxnSpLocks/>
              <a:stCxn id="84" idx="6"/>
              <a:endCxn id="8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87" name="Oval 86">
              <a:extLst>
                <a:ext uri="{FF2B5EF4-FFF2-40B4-BE49-F238E27FC236}">
                  <a16:creationId xmlns:a16="http://schemas.microsoft.com/office/drawing/2014/main" id="{0E139BFB-B02F-978D-8165-FB3BB78358F2}"/>
                </a:ext>
              </a:extLst>
            </p:cNvPr>
            <p:cNvSpPr/>
            <p:nvPr/>
          </p:nvSpPr>
          <p:spPr bwMode="auto">
            <a:xfrm>
              <a:off x="1803438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88" name="Oval 87">
              <a:extLst>
                <a:ext uri="{FF2B5EF4-FFF2-40B4-BE49-F238E27FC236}">
                  <a16:creationId xmlns:a16="http://schemas.microsoft.com/office/drawing/2014/main" id="{97EAE836-E698-C0D6-D674-D248E8CB028A}"/>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9" name="Straight Arrow Connector 88">
              <a:extLst>
                <a:ext uri="{FF2B5EF4-FFF2-40B4-BE49-F238E27FC236}">
                  <a16:creationId xmlns:a16="http://schemas.microsoft.com/office/drawing/2014/main" id="{F2CF558B-B72B-8B9B-224B-FEFD0420E876}"/>
                </a:ext>
              </a:extLst>
            </p:cNvPr>
            <p:cNvCxnSpPr>
              <a:cxnSpLocks/>
              <a:stCxn id="85" idx="6"/>
              <a:endCxn id="87"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6B90F763-F95F-985F-0F2A-A2F932C9EF79}"/>
                </a:ext>
              </a:extLst>
            </p:cNvPr>
            <p:cNvCxnSpPr>
              <a:cxnSpLocks/>
              <a:stCxn id="87" idx="6"/>
              <a:endCxn id="88"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91" name="Oval 90">
              <a:extLst>
                <a:ext uri="{FF2B5EF4-FFF2-40B4-BE49-F238E27FC236}">
                  <a16:creationId xmlns:a16="http://schemas.microsoft.com/office/drawing/2014/main" id="{6E29DA29-8C8E-A693-0CF0-70873440ECD8}"/>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92" name="Oval 91">
              <a:extLst>
                <a:ext uri="{FF2B5EF4-FFF2-40B4-BE49-F238E27FC236}">
                  <a16:creationId xmlns:a16="http://schemas.microsoft.com/office/drawing/2014/main" id="{0BE04EE9-1A07-1AF6-5EF3-D1CCC86F9B90}"/>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93" name="Oval 92">
              <a:extLst>
                <a:ext uri="{FF2B5EF4-FFF2-40B4-BE49-F238E27FC236}">
                  <a16:creationId xmlns:a16="http://schemas.microsoft.com/office/drawing/2014/main" id="{9486E637-53A3-62E2-0669-00209EFE9DA7}"/>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94" name="Straight Arrow Connector 93">
              <a:extLst>
                <a:ext uri="{FF2B5EF4-FFF2-40B4-BE49-F238E27FC236}">
                  <a16:creationId xmlns:a16="http://schemas.microsoft.com/office/drawing/2014/main" id="{C914FE9A-9015-317B-E742-D07D217F9CC8}"/>
                </a:ext>
              </a:extLst>
            </p:cNvPr>
            <p:cNvCxnSpPr>
              <a:cxnSpLocks/>
              <a:stCxn id="91" idx="6"/>
              <a:endCxn id="92"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95" name="Straight Arrow Connector 94">
              <a:extLst>
                <a:ext uri="{FF2B5EF4-FFF2-40B4-BE49-F238E27FC236}">
                  <a16:creationId xmlns:a16="http://schemas.microsoft.com/office/drawing/2014/main" id="{239C03A9-AB47-80D1-C322-7F528CEA5890}"/>
                </a:ext>
              </a:extLst>
            </p:cNvPr>
            <p:cNvCxnSpPr>
              <a:cxnSpLocks/>
              <a:stCxn id="92" idx="6"/>
              <a:endCxn id="93"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01E687D9-B38E-B319-E468-0568690F8E5C}"/>
                </a:ext>
              </a:extLst>
            </p:cNvPr>
            <p:cNvCxnSpPr>
              <a:cxnSpLocks/>
              <a:stCxn id="88" idx="6"/>
              <a:endCxn id="91"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97" name="Text Placeholder 3">
              <a:extLst>
                <a:ext uri="{FF2B5EF4-FFF2-40B4-BE49-F238E27FC236}">
                  <a16:creationId xmlns:a16="http://schemas.microsoft.com/office/drawing/2014/main" id="{3F34D115-145E-F543-A173-A21DDE6FD1B5}"/>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98" name="Text Placeholder 3">
              <a:extLst>
                <a:ext uri="{FF2B5EF4-FFF2-40B4-BE49-F238E27FC236}">
                  <a16:creationId xmlns:a16="http://schemas.microsoft.com/office/drawing/2014/main" id="{D0BAD148-0283-D77A-62FE-2425ACCC21DB}"/>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99" name="Text Placeholder 3">
              <a:extLst>
                <a:ext uri="{FF2B5EF4-FFF2-40B4-BE49-F238E27FC236}">
                  <a16:creationId xmlns:a16="http://schemas.microsoft.com/office/drawing/2014/main" id="{40CD8F93-5655-193D-6A3C-6058EF41D92A}"/>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100" name="Text Placeholder 3">
              <a:extLst>
                <a:ext uri="{FF2B5EF4-FFF2-40B4-BE49-F238E27FC236}">
                  <a16:creationId xmlns:a16="http://schemas.microsoft.com/office/drawing/2014/main" id="{18451266-6C3B-34B1-8106-24340F83A107}"/>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101" name="Text Placeholder 3">
              <a:extLst>
                <a:ext uri="{FF2B5EF4-FFF2-40B4-BE49-F238E27FC236}">
                  <a16:creationId xmlns:a16="http://schemas.microsoft.com/office/drawing/2014/main" id="{D645BCC4-0761-D172-E773-9BF53D6D62E6}"/>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102" name="Text Placeholder 3">
              <a:extLst>
                <a:ext uri="{FF2B5EF4-FFF2-40B4-BE49-F238E27FC236}">
                  <a16:creationId xmlns:a16="http://schemas.microsoft.com/office/drawing/2014/main" id="{15853B7C-8034-CBE6-87E8-51C15E4BFF8F}"/>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103" name="Text Placeholder 3">
              <a:extLst>
                <a:ext uri="{FF2B5EF4-FFF2-40B4-BE49-F238E27FC236}">
                  <a16:creationId xmlns:a16="http://schemas.microsoft.com/office/drawing/2014/main" id="{B92D3397-DFCC-0ADC-A5F0-7B6BDF8C21B5}"/>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104" name="Picture 103" descr="Progress, Blue 60 pictogram">
              <a:extLst>
                <a:ext uri="{FF2B5EF4-FFF2-40B4-BE49-F238E27FC236}">
                  <a16:creationId xmlns:a16="http://schemas.microsoft.com/office/drawing/2014/main" id="{F4716AE3-F062-B6C4-E136-54418C0A5A30}"/>
                </a:ext>
              </a:extLst>
            </p:cNvPr>
            <p:cNvPicPr>
              <a:picLocks noChangeAspect="1"/>
            </p:cNvPicPr>
            <p:nvPr/>
          </p:nvPicPr>
          <p:blipFill>
            <a:blip r:embed="rId2"/>
            <a:srcRect/>
            <a:stretch/>
          </p:blipFill>
          <p:spPr>
            <a:xfrm>
              <a:off x="15792707" y="712846"/>
              <a:ext cx="540000" cy="540000"/>
            </a:xfrm>
            <a:prstGeom prst="rect">
              <a:avLst/>
            </a:prstGeom>
          </p:spPr>
        </p:pic>
        <p:pic>
          <p:nvPicPr>
            <p:cNvPr id="105" name="Picture 104" descr="Strategy play, Blue 60 pictogram">
              <a:extLst>
                <a:ext uri="{FF2B5EF4-FFF2-40B4-BE49-F238E27FC236}">
                  <a16:creationId xmlns:a16="http://schemas.microsoft.com/office/drawing/2014/main" id="{37DE8058-A2B1-6492-1679-5B192B50B964}"/>
                </a:ext>
              </a:extLst>
            </p:cNvPr>
            <p:cNvPicPr>
              <a:picLocks noChangeAspect="1"/>
            </p:cNvPicPr>
            <p:nvPr/>
          </p:nvPicPr>
          <p:blipFill>
            <a:blip r:embed="rId3"/>
            <a:srcRect/>
            <a:stretch/>
          </p:blipFill>
          <p:spPr>
            <a:xfrm>
              <a:off x="20674077" y="712847"/>
              <a:ext cx="540000" cy="540000"/>
            </a:xfrm>
            <a:prstGeom prst="rect">
              <a:avLst/>
            </a:prstGeom>
          </p:spPr>
        </p:pic>
        <p:pic>
          <p:nvPicPr>
            <p:cNvPr id="106" name="Picture 105" descr="Inspect data, Blue 60 pictogram">
              <a:extLst>
                <a:ext uri="{FF2B5EF4-FFF2-40B4-BE49-F238E27FC236}">
                  <a16:creationId xmlns:a16="http://schemas.microsoft.com/office/drawing/2014/main" id="{0BE74E77-7B6A-BBCC-E3F6-267B9273AC36}"/>
                </a:ext>
              </a:extLst>
            </p:cNvPr>
            <p:cNvPicPr>
              <a:picLocks noChangeAspect="1"/>
            </p:cNvPicPr>
            <p:nvPr/>
          </p:nvPicPr>
          <p:blipFill>
            <a:blip r:embed="rId4"/>
            <a:srcRect/>
            <a:stretch/>
          </p:blipFill>
          <p:spPr>
            <a:xfrm>
              <a:off x="19452914" y="712847"/>
              <a:ext cx="540000" cy="540000"/>
            </a:xfrm>
            <a:prstGeom prst="rect">
              <a:avLst/>
            </a:prstGeom>
          </p:spPr>
        </p:pic>
        <p:pic>
          <p:nvPicPr>
            <p:cNvPr id="107" name="Picture 106" descr="Deliver insights, Blue 60 pictogram">
              <a:extLst>
                <a:ext uri="{FF2B5EF4-FFF2-40B4-BE49-F238E27FC236}">
                  <a16:creationId xmlns:a16="http://schemas.microsoft.com/office/drawing/2014/main" id="{1790EC0D-B901-AF5F-DA5C-BE167CA65B18}"/>
                </a:ext>
              </a:extLst>
            </p:cNvPr>
            <p:cNvPicPr>
              <a:picLocks noChangeAspect="1"/>
            </p:cNvPicPr>
            <p:nvPr/>
          </p:nvPicPr>
          <p:blipFill>
            <a:blip r:embed="rId5">
              <a:biLevel thresh="25000"/>
            </a:blip>
            <a:srcRect/>
            <a:stretch/>
          </p:blipFill>
          <p:spPr>
            <a:xfrm>
              <a:off x="18212059" y="712847"/>
              <a:ext cx="540000" cy="540000"/>
            </a:xfrm>
            <a:prstGeom prst="rect">
              <a:avLst/>
            </a:prstGeom>
          </p:spPr>
        </p:pic>
        <p:pic>
          <p:nvPicPr>
            <p:cNvPr id="108" name="Picture 107" descr="Identity trust assessment, Blue 60 pictogram">
              <a:extLst>
                <a:ext uri="{FF2B5EF4-FFF2-40B4-BE49-F238E27FC236}">
                  <a16:creationId xmlns:a16="http://schemas.microsoft.com/office/drawing/2014/main" id="{7671616E-33B2-30CB-11E2-6CFDF1AC7C52}"/>
                </a:ext>
              </a:extLst>
            </p:cNvPr>
            <p:cNvPicPr>
              <a:picLocks noChangeAspect="1"/>
            </p:cNvPicPr>
            <p:nvPr/>
          </p:nvPicPr>
          <p:blipFill>
            <a:blip r:embed="rId6"/>
            <a:srcRect/>
            <a:stretch/>
          </p:blipFill>
          <p:spPr>
            <a:xfrm>
              <a:off x="21872264" y="712847"/>
              <a:ext cx="540000" cy="540000"/>
            </a:xfrm>
            <a:prstGeom prst="rect">
              <a:avLst/>
            </a:prstGeom>
          </p:spPr>
        </p:pic>
        <p:pic>
          <p:nvPicPr>
            <p:cNvPr id="109" name="Picture 108" descr="Security as a service, Blue 60 pictogram">
              <a:extLst>
                <a:ext uri="{FF2B5EF4-FFF2-40B4-BE49-F238E27FC236}">
                  <a16:creationId xmlns:a16="http://schemas.microsoft.com/office/drawing/2014/main" id="{22697B94-0BFF-754B-77CB-FA50FC286EFC}"/>
                </a:ext>
              </a:extLst>
            </p:cNvPr>
            <p:cNvPicPr>
              <a:picLocks noChangeAspect="1"/>
            </p:cNvPicPr>
            <p:nvPr/>
          </p:nvPicPr>
          <p:blipFill>
            <a:blip r:embed="rId7"/>
            <a:srcRect/>
            <a:stretch/>
          </p:blipFill>
          <p:spPr>
            <a:xfrm>
              <a:off x="23093427" y="712847"/>
              <a:ext cx="540000" cy="540000"/>
            </a:xfrm>
            <a:prstGeom prst="rect">
              <a:avLst/>
            </a:prstGeom>
          </p:spPr>
        </p:pic>
        <p:pic>
          <p:nvPicPr>
            <p:cNvPr id="110" name="Picture 109" descr="Vision, Blue 60 pictogram">
              <a:extLst>
                <a:ext uri="{FF2B5EF4-FFF2-40B4-BE49-F238E27FC236}">
                  <a16:creationId xmlns:a16="http://schemas.microsoft.com/office/drawing/2014/main" id="{066024B5-749B-98F8-FE59-2A9ACDD5FBFD}"/>
                </a:ext>
              </a:extLst>
            </p:cNvPr>
            <p:cNvPicPr>
              <a:picLocks noChangeAspect="1"/>
            </p:cNvPicPr>
            <p:nvPr/>
          </p:nvPicPr>
          <p:blipFill>
            <a:blip r:embed="rId8"/>
            <a:srcRect/>
            <a:stretch/>
          </p:blipFill>
          <p:spPr>
            <a:xfrm>
              <a:off x="17023717" y="712847"/>
              <a:ext cx="540000" cy="540000"/>
            </a:xfrm>
            <a:prstGeom prst="rect">
              <a:avLst/>
            </a:prstGeom>
          </p:spPr>
        </p:pic>
      </p:grpSp>
      <p:sp>
        <p:nvSpPr>
          <p:cNvPr id="2" name="&quot;A&quot; blue rectangle">
            <a:extLst>
              <a:ext uri="{FF2B5EF4-FFF2-40B4-BE49-F238E27FC236}">
                <a16:creationId xmlns:a16="http://schemas.microsoft.com/office/drawing/2014/main" id="{66718528-EEFC-5C9F-DB1D-37E2643F0A39}"/>
              </a:ext>
              <a:ext uri="{C183D7F6-B498-43B3-948B-1728B52AA6E4}">
                <adec:decorative xmlns:adec="http://schemas.microsoft.com/office/drawing/2017/decorative" val="1"/>
              </a:ext>
            </a:extLst>
          </p:cNvPr>
          <p:cNvSpPr>
            <a:spLocks noChangeAspect="1" noChangeArrowheads="1"/>
          </p:cNvSpPr>
          <p:nvPr/>
        </p:nvSpPr>
        <p:spPr bwMode="auto">
          <a:xfrm>
            <a:off x="9326873" y="2062036"/>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4" name="&quot;A&quot; blue rectangle">
            <a:extLst>
              <a:ext uri="{FF2B5EF4-FFF2-40B4-BE49-F238E27FC236}">
                <a16:creationId xmlns:a16="http://schemas.microsoft.com/office/drawing/2014/main" id="{3D7D1CA5-5FBC-519E-9E17-1D5E74733652}"/>
              </a:ext>
              <a:ext uri="{C183D7F6-B498-43B3-948B-1728B52AA6E4}">
                <adec:decorative xmlns:adec="http://schemas.microsoft.com/office/drawing/2017/decorative" val="1"/>
              </a:ext>
            </a:extLst>
          </p:cNvPr>
          <p:cNvSpPr>
            <a:spLocks noChangeAspect="1" noChangeArrowheads="1"/>
          </p:cNvSpPr>
          <p:nvPr/>
        </p:nvSpPr>
        <p:spPr bwMode="auto">
          <a:xfrm>
            <a:off x="9329475" y="4049081"/>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13" name="&quot;A&quot; blue rectangle">
            <a:extLst>
              <a:ext uri="{FF2B5EF4-FFF2-40B4-BE49-F238E27FC236}">
                <a16:creationId xmlns:a16="http://schemas.microsoft.com/office/drawing/2014/main" id="{35EB8AD2-F569-E834-2A5C-30228BCF5824}"/>
              </a:ext>
              <a:ext uri="{C183D7F6-B498-43B3-948B-1728B52AA6E4}">
                <adec:decorative xmlns:adec="http://schemas.microsoft.com/office/drawing/2017/decorative" val="1"/>
              </a:ext>
            </a:extLst>
          </p:cNvPr>
          <p:cNvSpPr>
            <a:spLocks noChangeAspect="1" noChangeArrowheads="1"/>
          </p:cNvSpPr>
          <p:nvPr/>
        </p:nvSpPr>
        <p:spPr bwMode="auto">
          <a:xfrm>
            <a:off x="9326873" y="4994542"/>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14" name="&quot;C&quot; gray rectangle">
            <a:extLst>
              <a:ext uri="{FF2B5EF4-FFF2-40B4-BE49-F238E27FC236}">
                <a16:creationId xmlns:a16="http://schemas.microsoft.com/office/drawing/2014/main" id="{00D40B59-4291-BF9B-087C-98D7893CF0CB}"/>
              </a:ext>
              <a:ext uri="{C183D7F6-B498-43B3-948B-1728B52AA6E4}">
                <adec:decorative xmlns:adec="http://schemas.microsoft.com/office/drawing/2017/decorative" val="1"/>
              </a:ext>
            </a:extLst>
          </p:cNvPr>
          <p:cNvSpPr>
            <a:spLocks noChangeAspect="1" noChangeArrowheads="1"/>
          </p:cNvSpPr>
          <p:nvPr/>
        </p:nvSpPr>
        <p:spPr bwMode="auto">
          <a:xfrm>
            <a:off x="9326873" y="3121516"/>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5100724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1BE489A6-BCA6-8BE7-583D-928A67398540}"/>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4F6E54AF-FB43-EDBE-36B8-F907FD86188F}"/>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Data Governance</a:t>
            </a:r>
            <a:r>
              <a:rPr lang="en-US" sz="2699" kern="0" baseline="30000">
                <a:solidFill>
                  <a:srgbClr val="000000"/>
                </a:solidFill>
                <a:latin typeface="IBM Plex Sans Light"/>
              </a:rPr>
              <a:t>2</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21729B72-3109-B194-3B26-FB405B214FAE}"/>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focuses on the framework and controls in place to ensure responsible data management, including data ownership, classification, and access controls.</a:t>
            </a:r>
          </a:p>
        </p:txBody>
      </p:sp>
      <p:sp>
        <p:nvSpPr>
          <p:cNvPr id="18" name="&quot;R&quot; teal rectangle">
            <a:extLst>
              <a:ext uri="{FF2B5EF4-FFF2-40B4-BE49-F238E27FC236}">
                <a16:creationId xmlns:a16="http://schemas.microsoft.com/office/drawing/2014/main" id="{FC314142-5B90-FA38-0751-D45F0A7E51AF}"/>
              </a:ext>
              <a:ext uri="{C183D7F6-B498-43B3-948B-1728B52AA6E4}">
                <adec:decorative xmlns:adec="http://schemas.microsoft.com/office/drawing/2017/decorative" val="1"/>
              </a:ext>
            </a:extLst>
          </p:cNvPr>
          <p:cNvSpPr>
            <a:spLocks noChangeAspect="1" noChangeArrowheads="1"/>
          </p:cNvSpPr>
          <p:nvPr/>
        </p:nvSpPr>
        <p:spPr bwMode="auto">
          <a:xfrm>
            <a:off x="220949" y="417528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9B6D29F4-D10A-38FD-16FA-B6C497214D34}"/>
              </a:ext>
              <a:ext uri="{C183D7F6-B498-43B3-948B-1728B52AA6E4}">
                <adec:decorative xmlns:adec="http://schemas.microsoft.com/office/drawing/2017/decorative" val="1"/>
              </a:ext>
            </a:extLst>
          </p:cNvPr>
          <p:cNvSpPr txBox="1">
            <a:spLocks noChangeArrowheads="1"/>
          </p:cNvSpPr>
          <p:nvPr/>
        </p:nvSpPr>
        <p:spPr bwMode="auto">
          <a:xfrm>
            <a:off x="683785" y="4175289"/>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05DD431-8D25-4698-255F-87D989410D17}"/>
              </a:ext>
              <a:ext uri="{C183D7F6-B498-43B3-948B-1728B52AA6E4}">
                <adec:decorative xmlns:adec="http://schemas.microsoft.com/office/drawing/2017/decorative" val="1"/>
              </a:ext>
            </a:extLst>
          </p:cNvPr>
          <p:cNvSpPr>
            <a:spLocks noChangeAspect="1" noChangeArrowheads="1"/>
          </p:cNvSpPr>
          <p:nvPr/>
        </p:nvSpPr>
        <p:spPr bwMode="auto">
          <a:xfrm>
            <a:off x="220190" y="4927898"/>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C9A7C958-A956-3FF1-1A85-24F6D575993B}"/>
              </a:ext>
              <a:ext uri="{C183D7F6-B498-43B3-948B-1728B52AA6E4}">
                <adec:decorative xmlns:adec="http://schemas.microsoft.com/office/drawing/2017/decorative" val="1"/>
              </a:ext>
            </a:extLst>
          </p:cNvPr>
          <p:cNvSpPr txBox="1">
            <a:spLocks noChangeArrowheads="1"/>
          </p:cNvSpPr>
          <p:nvPr/>
        </p:nvSpPr>
        <p:spPr bwMode="auto">
          <a:xfrm>
            <a:off x="683785" y="4927898"/>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6A6AAF5A-10BF-4E60-5E78-3534ABCDCA54}"/>
              </a:ext>
              <a:ext uri="{C183D7F6-B498-43B3-948B-1728B52AA6E4}">
                <adec:decorative xmlns:adec="http://schemas.microsoft.com/office/drawing/2017/decorative" val="1"/>
              </a:ext>
            </a:extLst>
          </p:cNvPr>
          <p:cNvSpPr>
            <a:spLocks noChangeAspect="1" noChangeArrowheads="1"/>
          </p:cNvSpPr>
          <p:nvPr/>
        </p:nvSpPr>
        <p:spPr bwMode="auto">
          <a:xfrm>
            <a:off x="228540" y="567745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4A0FEEFE-3C7E-81EF-99C2-FF30DF79EF7B}"/>
              </a:ext>
              <a:ext uri="{C183D7F6-B498-43B3-948B-1728B52AA6E4}">
                <adec:decorative xmlns:adec="http://schemas.microsoft.com/office/drawing/2017/decorative" val="1"/>
              </a:ext>
            </a:extLst>
          </p:cNvPr>
          <p:cNvSpPr txBox="1">
            <a:spLocks noChangeArrowheads="1"/>
          </p:cNvSpPr>
          <p:nvPr/>
        </p:nvSpPr>
        <p:spPr bwMode="auto">
          <a:xfrm>
            <a:off x="683785" y="5680507"/>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4416785"/>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276">
                <a:tc>
                  <a:txBody>
                    <a:bodyPr/>
                    <a:lstStyle/>
                    <a:p>
                      <a:pPr algn="l" fontAlgn="ctr">
                        <a:spcAft>
                          <a:spcPts val="600"/>
                        </a:spcAft>
                      </a:pPr>
                      <a:r>
                        <a:rPr lang="en-US" sz="1000" b="0" i="0" u="none" strike="noStrike">
                          <a:solidFill>
                            <a:schemeClr val="bg1"/>
                          </a:solidFill>
                          <a:effectLst/>
                          <a:latin typeface="+mj-lt"/>
                          <a:ea typeface="+mn-ea"/>
                        </a:rPr>
                        <a:t>Documented data governance policy</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A documented data governance policy is currently under development and has not yet been finalized or implemented.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There is a documented data governance policy that outlines the guiding principles and objectives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Complete and implement the data governance policy, ensuring it clearly outlines guiding principles, objectives, and expectations for data management across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411625796"/>
                  </a:ext>
                </a:extLst>
              </a:tr>
              <a:tr h="950276">
                <a:tc>
                  <a:txBody>
                    <a:bodyPr/>
                    <a:lstStyle/>
                    <a:p>
                      <a:pPr algn="l" fontAlgn="ctr">
                        <a:spcAft>
                          <a:spcPts val="600"/>
                        </a:spcAft>
                      </a:pPr>
                      <a:r>
                        <a:rPr lang="en-US" sz="1000" b="0" i="0" u="none" strike="noStrike">
                          <a:solidFill>
                            <a:schemeClr val="bg1"/>
                          </a:solidFill>
                          <a:effectLst/>
                          <a:latin typeface="+mj-lt"/>
                          <a:ea typeface="+mn-ea"/>
                        </a:rPr>
                        <a:t>PDP policies and procedures</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Policies and procedures to protect sensitive and personal data are in development but have not yet been established or implemented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Organization has robust policies and procedures in place to protect sensitive and personal data</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Establish and implement robust policies and procedures to protect sensitive and personal data, ensuring compliance with relevant regulations and reducing the risk of data breaches.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718625617"/>
                  </a:ext>
                </a:extLst>
              </a:tr>
              <a:tr h="797896">
                <a:tc>
                  <a:txBody>
                    <a:bodyPr/>
                    <a:lstStyle/>
                    <a:p>
                      <a:pPr algn="l" fontAlgn="ctr">
                        <a:spcAft>
                          <a:spcPts val="600"/>
                        </a:spcAft>
                      </a:pPr>
                      <a:r>
                        <a:rPr lang="en-US" sz="1000" b="0" i="0" u="none" strike="noStrike">
                          <a:solidFill>
                            <a:schemeClr val="bg1"/>
                          </a:solidFill>
                          <a:effectLst/>
                          <a:latin typeface="+mj-lt"/>
                          <a:ea typeface="+mn-ea"/>
                        </a:rPr>
                        <a:t>Compliance with PDP</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Mechanisms to ensure compliance with applicable data protection regulations are still in the drafting stage and not yet operational.</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spcAft>
                          <a:spcPts val="600"/>
                        </a:spcAft>
                      </a:pPr>
                      <a:r>
                        <a:rPr lang="en-US" sz="1000" b="0" i="0" u="none" strike="noStrike">
                          <a:solidFill>
                            <a:srgbClr val="000000"/>
                          </a:solidFill>
                          <a:effectLst/>
                          <a:latin typeface="+mj-lt"/>
                          <a:ea typeface="+mn-ea"/>
                        </a:rPr>
                        <a:t>There are mechanisms for ensuring compliance with applicable data protection regulations (e.g., PDP)</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spcAft>
                          <a:spcPts val="600"/>
                        </a:spcAft>
                      </a:pPr>
                      <a:r>
                        <a:rPr lang="en-US" sz="1000" b="0" i="0" u="none" strike="noStrike">
                          <a:solidFill>
                            <a:srgbClr val="FF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spcAft>
                          <a:spcPts val="600"/>
                        </a:spcAft>
                      </a:pPr>
                      <a:r>
                        <a:rPr lang="en-US" sz="1000" b="0" i="0" u="none" strike="noStrike">
                          <a:solidFill>
                            <a:srgbClr val="000000"/>
                          </a:solidFill>
                          <a:effectLst/>
                          <a:latin typeface="+mj-lt"/>
                          <a:ea typeface="+mn-ea"/>
                        </a:rPr>
                        <a:t>Finalize and operationalize mechanisms to ensure compliance with applicable data protection regulations, such as PDP, including processes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51145478"/>
                  </a:ext>
                </a:extLst>
              </a:tr>
              <a:tr h="493136">
                <a:tc>
                  <a:txBody>
                    <a:bodyPr/>
                    <a:lstStyle/>
                    <a:p>
                      <a:pPr algn="l" fontAlgn="ctr">
                        <a:spcAft>
                          <a:spcPts val="600"/>
                        </a:spcAft>
                      </a:pPr>
                      <a:r>
                        <a:rPr lang="en-US" sz="1000" b="0" i="0" u="none" strike="noStrike">
                          <a:solidFill>
                            <a:schemeClr val="bg1"/>
                          </a:solidFill>
                          <a:effectLst/>
                          <a:latin typeface="+mj-lt"/>
                          <a:ea typeface="+mn-ea"/>
                        </a:rPr>
                        <a:t>Data privacy audit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Privacy and security practices are not yet established or subject to regular audits and assessments.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There are privacy and security practices regularly audited and assessed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 Establish privacy and security practices and implement regular audits and assessments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722511989"/>
                  </a:ext>
                </a:extLst>
              </a:tr>
              <a:tr h="797896">
                <a:tc>
                  <a:txBody>
                    <a:bodyPr/>
                    <a:lstStyle/>
                    <a:p>
                      <a:pPr algn="l" fontAlgn="ctr">
                        <a:spcAft>
                          <a:spcPts val="600"/>
                        </a:spcAft>
                      </a:pPr>
                      <a:r>
                        <a:rPr lang="en-US" sz="1000" b="0" i="0" u="none" strike="noStrike">
                          <a:solidFill>
                            <a:schemeClr val="bg1"/>
                          </a:solidFill>
                          <a:effectLst/>
                          <a:latin typeface="+mj-lt"/>
                          <a:ea typeface="+mn-ea"/>
                        </a:rPr>
                        <a:t>Managing metadata</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There is no defined process in place for capturing and managing metadata.</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There is a well-defined process for capturing and managing metadata</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 Needs to establish privacy and security practices with regular audits and develop a defined process for capturing and managing metadata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13</a:t>
            </a:fld>
            <a:endParaRPr lang="en-US">
              <a:solidFill>
                <a:srgbClr val="000000"/>
              </a:solidFill>
            </a:endParaRPr>
          </a:p>
        </p:txBody>
      </p:sp>
      <p:grpSp>
        <p:nvGrpSpPr>
          <p:cNvPr id="109" name="Group 108">
            <a:extLst>
              <a:ext uri="{FF2B5EF4-FFF2-40B4-BE49-F238E27FC236}">
                <a16:creationId xmlns:a16="http://schemas.microsoft.com/office/drawing/2014/main" id="{47564CB7-052F-1197-45E1-BA64A9393CFD}"/>
              </a:ext>
            </a:extLst>
          </p:cNvPr>
          <p:cNvGrpSpPr/>
          <p:nvPr/>
        </p:nvGrpSpPr>
        <p:grpSpPr>
          <a:xfrm>
            <a:off x="7711263" y="267997"/>
            <a:ext cx="4170294" cy="783142"/>
            <a:chOff x="15576932" y="535171"/>
            <a:chExt cx="8341675" cy="1566487"/>
          </a:xfrm>
        </p:grpSpPr>
        <p:sp>
          <p:nvSpPr>
            <p:cNvPr id="110" name="Oval 109">
              <a:extLst>
                <a:ext uri="{FF2B5EF4-FFF2-40B4-BE49-F238E27FC236}">
                  <a16:creationId xmlns:a16="http://schemas.microsoft.com/office/drawing/2014/main" id="{A1F5F0EA-107B-2FBC-63A8-D6EF7D8E214C}"/>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1" name="Oval 110">
              <a:extLst>
                <a:ext uri="{FF2B5EF4-FFF2-40B4-BE49-F238E27FC236}">
                  <a16:creationId xmlns:a16="http://schemas.microsoft.com/office/drawing/2014/main" id="{1920BA8C-393A-91DD-6DB3-5AF0A635D2CD}"/>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12" name="Straight Arrow Connector 111">
              <a:extLst>
                <a:ext uri="{FF2B5EF4-FFF2-40B4-BE49-F238E27FC236}">
                  <a16:creationId xmlns:a16="http://schemas.microsoft.com/office/drawing/2014/main" id="{0C2905DA-F3EB-5096-B96C-58612479BC9F}"/>
                </a:ext>
              </a:extLst>
            </p:cNvPr>
            <p:cNvCxnSpPr>
              <a:cxnSpLocks/>
              <a:stCxn id="110" idx="6"/>
              <a:endCxn id="111"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3" name="Oval 112">
              <a:extLst>
                <a:ext uri="{FF2B5EF4-FFF2-40B4-BE49-F238E27FC236}">
                  <a16:creationId xmlns:a16="http://schemas.microsoft.com/office/drawing/2014/main" id="{9FB0789B-9FEF-9A38-371F-BCC0B0F8F5A7}"/>
                </a:ext>
              </a:extLst>
            </p:cNvPr>
            <p:cNvSpPr/>
            <p:nvPr/>
          </p:nvSpPr>
          <p:spPr bwMode="auto">
            <a:xfrm>
              <a:off x="1803438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4" name="Oval 113">
              <a:extLst>
                <a:ext uri="{FF2B5EF4-FFF2-40B4-BE49-F238E27FC236}">
                  <a16:creationId xmlns:a16="http://schemas.microsoft.com/office/drawing/2014/main" id="{FBE93088-7AA2-3608-C4B5-4C1CE3F6A8A1}"/>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15" name="Straight Arrow Connector 114">
              <a:extLst>
                <a:ext uri="{FF2B5EF4-FFF2-40B4-BE49-F238E27FC236}">
                  <a16:creationId xmlns:a16="http://schemas.microsoft.com/office/drawing/2014/main" id="{71558BF6-9178-4111-8636-409C038865B1}"/>
                </a:ext>
              </a:extLst>
            </p:cNvPr>
            <p:cNvCxnSpPr>
              <a:cxnSpLocks/>
              <a:stCxn id="111" idx="6"/>
              <a:endCxn id="113"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BB26D694-FA63-5B09-111E-C86A31CDC10E}"/>
                </a:ext>
              </a:extLst>
            </p:cNvPr>
            <p:cNvCxnSpPr>
              <a:cxnSpLocks/>
              <a:stCxn id="113" idx="6"/>
              <a:endCxn id="114"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7" name="Oval 116">
              <a:extLst>
                <a:ext uri="{FF2B5EF4-FFF2-40B4-BE49-F238E27FC236}">
                  <a16:creationId xmlns:a16="http://schemas.microsoft.com/office/drawing/2014/main" id="{FABCBC34-426A-A8BB-8EA5-3AEA26B3D544}"/>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8" name="Oval 117">
              <a:extLst>
                <a:ext uri="{FF2B5EF4-FFF2-40B4-BE49-F238E27FC236}">
                  <a16:creationId xmlns:a16="http://schemas.microsoft.com/office/drawing/2014/main" id="{17236E70-C106-4D5F-0001-B8A554D731D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9" name="Oval 118">
              <a:extLst>
                <a:ext uri="{FF2B5EF4-FFF2-40B4-BE49-F238E27FC236}">
                  <a16:creationId xmlns:a16="http://schemas.microsoft.com/office/drawing/2014/main" id="{56E0BD35-2B11-2D17-C929-F2BA7E6C43CC}"/>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20" name="Straight Arrow Connector 119">
              <a:extLst>
                <a:ext uri="{FF2B5EF4-FFF2-40B4-BE49-F238E27FC236}">
                  <a16:creationId xmlns:a16="http://schemas.microsoft.com/office/drawing/2014/main" id="{9F4FFF9E-0C61-472E-A7CF-8135C8158271}"/>
                </a:ext>
              </a:extLst>
            </p:cNvPr>
            <p:cNvCxnSpPr>
              <a:cxnSpLocks/>
              <a:stCxn id="117" idx="6"/>
              <a:endCxn id="118"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21" name="Straight Arrow Connector 120">
              <a:extLst>
                <a:ext uri="{FF2B5EF4-FFF2-40B4-BE49-F238E27FC236}">
                  <a16:creationId xmlns:a16="http://schemas.microsoft.com/office/drawing/2014/main" id="{FDF49348-6AE7-1B6F-A15D-EEA23F8514F6}"/>
                </a:ext>
              </a:extLst>
            </p:cNvPr>
            <p:cNvCxnSpPr>
              <a:cxnSpLocks/>
              <a:stCxn id="118" idx="6"/>
              <a:endCxn id="119"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22" name="Straight Arrow Connector 121">
              <a:extLst>
                <a:ext uri="{FF2B5EF4-FFF2-40B4-BE49-F238E27FC236}">
                  <a16:creationId xmlns:a16="http://schemas.microsoft.com/office/drawing/2014/main" id="{A6D94325-8B4A-9062-BF82-5C6537366835}"/>
                </a:ext>
              </a:extLst>
            </p:cNvPr>
            <p:cNvCxnSpPr>
              <a:cxnSpLocks/>
              <a:stCxn id="114" idx="6"/>
              <a:endCxn id="117"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23" name="Text Placeholder 3">
              <a:extLst>
                <a:ext uri="{FF2B5EF4-FFF2-40B4-BE49-F238E27FC236}">
                  <a16:creationId xmlns:a16="http://schemas.microsoft.com/office/drawing/2014/main" id="{EAE6D69D-08A8-9D36-5C52-C5758FF20E80}"/>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124" name="Text Placeholder 3">
              <a:extLst>
                <a:ext uri="{FF2B5EF4-FFF2-40B4-BE49-F238E27FC236}">
                  <a16:creationId xmlns:a16="http://schemas.microsoft.com/office/drawing/2014/main" id="{2401CF32-85ED-9600-FBED-2AB2A3D048FB}"/>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125" name="Text Placeholder 3">
              <a:extLst>
                <a:ext uri="{FF2B5EF4-FFF2-40B4-BE49-F238E27FC236}">
                  <a16:creationId xmlns:a16="http://schemas.microsoft.com/office/drawing/2014/main" id="{4EF5BFA5-F2E4-5556-CE71-9BFB95D2E013}"/>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126" name="Text Placeholder 3">
              <a:extLst>
                <a:ext uri="{FF2B5EF4-FFF2-40B4-BE49-F238E27FC236}">
                  <a16:creationId xmlns:a16="http://schemas.microsoft.com/office/drawing/2014/main" id="{2F8E3FB4-31C2-8676-5B87-2284281FA133}"/>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127" name="Text Placeholder 3">
              <a:extLst>
                <a:ext uri="{FF2B5EF4-FFF2-40B4-BE49-F238E27FC236}">
                  <a16:creationId xmlns:a16="http://schemas.microsoft.com/office/drawing/2014/main" id="{6BFCBE24-AC6C-3E26-001A-5B76B4BFCC81}"/>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128" name="Text Placeholder 3">
              <a:extLst>
                <a:ext uri="{FF2B5EF4-FFF2-40B4-BE49-F238E27FC236}">
                  <a16:creationId xmlns:a16="http://schemas.microsoft.com/office/drawing/2014/main" id="{3FCF227A-F096-59A0-58E3-E4BE56148F2A}"/>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129" name="Text Placeholder 3">
              <a:extLst>
                <a:ext uri="{FF2B5EF4-FFF2-40B4-BE49-F238E27FC236}">
                  <a16:creationId xmlns:a16="http://schemas.microsoft.com/office/drawing/2014/main" id="{50C8CF9D-0977-6690-ED59-DCDA07FA7FBA}"/>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130" name="Picture 129" descr="Progress, Blue 60 pictogram">
              <a:extLst>
                <a:ext uri="{FF2B5EF4-FFF2-40B4-BE49-F238E27FC236}">
                  <a16:creationId xmlns:a16="http://schemas.microsoft.com/office/drawing/2014/main" id="{4E609A73-AD08-14D5-8234-623695F5A25B}"/>
                </a:ext>
              </a:extLst>
            </p:cNvPr>
            <p:cNvPicPr>
              <a:picLocks noChangeAspect="1"/>
            </p:cNvPicPr>
            <p:nvPr/>
          </p:nvPicPr>
          <p:blipFill>
            <a:blip r:embed="rId2"/>
            <a:srcRect/>
            <a:stretch/>
          </p:blipFill>
          <p:spPr>
            <a:xfrm>
              <a:off x="15792707" y="712846"/>
              <a:ext cx="540000" cy="540000"/>
            </a:xfrm>
            <a:prstGeom prst="rect">
              <a:avLst/>
            </a:prstGeom>
          </p:spPr>
        </p:pic>
        <p:pic>
          <p:nvPicPr>
            <p:cNvPr id="131" name="Picture 130" descr="Strategy play, Blue 60 pictogram">
              <a:extLst>
                <a:ext uri="{FF2B5EF4-FFF2-40B4-BE49-F238E27FC236}">
                  <a16:creationId xmlns:a16="http://schemas.microsoft.com/office/drawing/2014/main" id="{6D092797-2932-0038-A6E7-614E4B5801DF}"/>
                </a:ext>
              </a:extLst>
            </p:cNvPr>
            <p:cNvPicPr>
              <a:picLocks noChangeAspect="1"/>
            </p:cNvPicPr>
            <p:nvPr/>
          </p:nvPicPr>
          <p:blipFill>
            <a:blip r:embed="rId3"/>
            <a:srcRect/>
            <a:stretch/>
          </p:blipFill>
          <p:spPr>
            <a:xfrm>
              <a:off x="20674077" y="712847"/>
              <a:ext cx="540000" cy="540000"/>
            </a:xfrm>
            <a:prstGeom prst="rect">
              <a:avLst/>
            </a:prstGeom>
          </p:spPr>
        </p:pic>
        <p:pic>
          <p:nvPicPr>
            <p:cNvPr id="132" name="Picture 131" descr="Inspect data, Blue 60 pictogram">
              <a:extLst>
                <a:ext uri="{FF2B5EF4-FFF2-40B4-BE49-F238E27FC236}">
                  <a16:creationId xmlns:a16="http://schemas.microsoft.com/office/drawing/2014/main" id="{FF94C3C9-7EB8-8534-B3A3-A0FB357F92AD}"/>
                </a:ext>
              </a:extLst>
            </p:cNvPr>
            <p:cNvPicPr>
              <a:picLocks noChangeAspect="1"/>
            </p:cNvPicPr>
            <p:nvPr/>
          </p:nvPicPr>
          <p:blipFill>
            <a:blip r:embed="rId4"/>
            <a:srcRect/>
            <a:stretch/>
          </p:blipFill>
          <p:spPr>
            <a:xfrm>
              <a:off x="19452914" y="712847"/>
              <a:ext cx="540000" cy="540000"/>
            </a:xfrm>
            <a:prstGeom prst="rect">
              <a:avLst/>
            </a:prstGeom>
          </p:spPr>
        </p:pic>
        <p:pic>
          <p:nvPicPr>
            <p:cNvPr id="133" name="Picture 132" descr="Deliver insights, Blue 60 pictogram">
              <a:extLst>
                <a:ext uri="{FF2B5EF4-FFF2-40B4-BE49-F238E27FC236}">
                  <a16:creationId xmlns:a16="http://schemas.microsoft.com/office/drawing/2014/main" id="{558A2AF3-4D03-995C-A4B1-4ACE0AA1FFD0}"/>
                </a:ext>
              </a:extLst>
            </p:cNvPr>
            <p:cNvPicPr>
              <a:picLocks noChangeAspect="1"/>
            </p:cNvPicPr>
            <p:nvPr/>
          </p:nvPicPr>
          <p:blipFill>
            <a:blip r:embed="rId5">
              <a:biLevel thresh="25000"/>
            </a:blip>
            <a:srcRect/>
            <a:stretch/>
          </p:blipFill>
          <p:spPr>
            <a:xfrm>
              <a:off x="18212059" y="712847"/>
              <a:ext cx="540000" cy="540000"/>
            </a:xfrm>
            <a:prstGeom prst="rect">
              <a:avLst/>
            </a:prstGeom>
          </p:spPr>
        </p:pic>
        <p:pic>
          <p:nvPicPr>
            <p:cNvPr id="134" name="Picture 133" descr="Identity trust assessment, Blue 60 pictogram">
              <a:extLst>
                <a:ext uri="{FF2B5EF4-FFF2-40B4-BE49-F238E27FC236}">
                  <a16:creationId xmlns:a16="http://schemas.microsoft.com/office/drawing/2014/main" id="{9D5F3179-EA42-06E5-FBDB-0303B33EFD0A}"/>
                </a:ext>
              </a:extLst>
            </p:cNvPr>
            <p:cNvPicPr>
              <a:picLocks noChangeAspect="1"/>
            </p:cNvPicPr>
            <p:nvPr/>
          </p:nvPicPr>
          <p:blipFill>
            <a:blip r:embed="rId6"/>
            <a:srcRect/>
            <a:stretch/>
          </p:blipFill>
          <p:spPr>
            <a:xfrm>
              <a:off x="21872264" y="712847"/>
              <a:ext cx="540000" cy="540000"/>
            </a:xfrm>
            <a:prstGeom prst="rect">
              <a:avLst/>
            </a:prstGeom>
          </p:spPr>
        </p:pic>
        <p:pic>
          <p:nvPicPr>
            <p:cNvPr id="135" name="Picture 134" descr="Security as a service, Blue 60 pictogram">
              <a:extLst>
                <a:ext uri="{FF2B5EF4-FFF2-40B4-BE49-F238E27FC236}">
                  <a16:creationId xmlns:a16="http://schemas.microsoft.com/office/drawing/2014/main" id="{B4D86991-9717-AE2B-7226-BEDA524DC2DA}"/>
                </a:ext>
              </a:extLst>
            </p:cNvPr>
            <p:cNvPicPr>
              <a:picLocks noChangeAspect="1"/>
            </p:cNvPicPr>
            <p:nvPr/>
          </p:nvPicPr>
          <p:blipFill>
            <a:blip r:embed="rId7"/>
            <a:srcRect/>
            <a:stretch/>
          </p:blipFill>
          <p:spPr>
            <a:xfrm>
              <a:off x="23093427" y="712847"/>
              <a:ext cx="540000" cy="540000"/>
            </a:xfrm>
            <a:prstGeom prst="rect">
              <a:avLst/>
            </a:prstGeom>
          </p:spPr>
        </p:pic>
        <p:pic>
          <p:nvPicPr>
            <p:cNvPr id="136" name="Picture 135" descr="Vision, Blue 60 pictogram">
              <a:extLst>
                <a:ext uri="{FF2B5EF4-FFF2-40B4-BE49-F238E27FC236}">
                  <a16:creationId xmlns:a16="http://schemas.microsoft.com/office/drawing/2014/main" id="{15BDE615-A8F9-2DEA-AE77-FA804C2DF165}"/>
                </a:ext>
              </a:extLst>
            </p:cNvPr>
            <p:cNvPicPr>
              <a:picLocks noChangeAspect="1"/>
            </p:cNvPicPr>
            <p:nvPr/>
          </p:nvPicPr>
          <p:blipFill>
            <a:blip r:embed="rId8"/>
            <a:srcRect/>
            <a:stretch/>
          </p:blipFill>
          <p:spPr>
            <a:xfrm>
              <a:off x="17023717" y="712847"/>
              <a:ext cx="540000" cy="540000"/>
            </a:xfrm>
            <a:prstGeom prst="rect">
              <a:avLst/>
            </a:prstGeom>
          </p:spPr>
        </p:pic>
      </p:grpSp>
      <p:sp>
        <p:nvSpPr>
          <p:cNvPr id="3" name="&quot;A&quot; blue rectangle">
            <a:extLst>
              <a:ext uri="{FF2B5EF4-FFF2-40B4-BE49-F238E27FC236}">
                <a16:creationId xmlns:a16="http://schemas.microsoft.com/office/drawing/2014/main" id="{F56C8E22-5534-A4DF-1F4B-D0C068F58D39}"/>
              </a:ext>
              <a:ext uri="{C183D7F6-B498-43B3-948B-1728B52AA6E4}">
                <adec:decorative xmlns:adec="http://schemas.microsoft.com/office/drawing/2017/decorative" val="1"/>
              </a:ext>
            </a:extLst>
          </p:cNvPr>
          <p:cNvSpPr>
            <a:spLocks noChangeAspect="1" noChangeArrowheads="1"/>
          </p:cNvSpPr>
          <p:nvPr/>
        </p:nvSpPr>
        <p:spPr bwMode="auto">
          <a:xfrm>
            <a:off x="9347314" y="2017345"/>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12" name="&quot;A&quot; blue rectangle">
            <a:extLst>
              <a:ext uri="{FF2B5EF4-FFF2-40B4-BE49-F238E27FC236}">
                <a16:creationId xmlns:a16="http://schemas.microsoft.com/office/drawing/2014/main" id="{C4DE2A70-94A6-5266-1E1B-203F3714C618}"/>
              </a:ext>
              <a:ext uri="{C183D7F6-B498-43B3-948B-1728B52AA6E4}">
                <adec:decorative xmlns:adec="http://schemas.microsoft.com/office/drawing/2017/decorative" val="1"/>
              </a:ext>
            </a:extLst>
          </p:cNvPr>
          <p:cNvSpPr>
            <a:spLocks noChangeAspect="1" noChangeArrowheads="1"/>
          </p:cNvSpPr>
          <p:nvPr/>
        </p:nvSpPr>
        <p:spPr bwMode="auto">
          <a:xfrm>
            <a:off x="9347314" y="2871387"/>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13" name="&quot;C&quot; gray rectangle">
            <a:extLst>
              <a:ext uri="{FF2B5EF4-FFF2-40B4-BE49-F238E27FC236}">
                <a16:creationId xmlns:a16="http://schemas.microsoft.com/office/drawing/2014/main" id="{990F4041-D4F5-1951-75E2-498DE501E234}"/>
              </a:ext>
              <a:ext uri="{C183D7F6-B498-43B3-948B-1728B52AA6E4}">
                <adec:decorative xmlns:adec="http://schemas.microsoft.com/office/drawing/2017/decorative" val="1"/>
              </a:ext>
            </a:extLst>
          </p:cNvPr>
          <p:cNvSpPr>
            <a:spLocks noChangeAspect="1" noChangeArrowheads="1"/>
          </p:cNvSpPr>
          <p:nvPr/>
        </p:nvSpPr>
        <p:spPr bwMode="auto">
          <a:xfrm>
            <a:off x="9347313" y="4464985"/>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4" name="&quot;C&quot; gray rectangle">
            <a:extLst>
              <a:ext uri="{FF2B5EF4-FFF2-40B4-BE49-F238E27FC236}">
                <a16:creationId xmlns:a16="http://schemas.microsoft.com/office/drawing/2014/main" id="{76B2A028-06ED-032C-170A-642AA54E8E22}"/>
              </a:ext>
              <a:ext uri="{C183D7F6-B498-43B3-948B-1728B52AA6E4}">
                <adec:decorative xmlns:adec="http://schemas.microsoft.com/office/drawing/2017/decorative" val="1"/>
              </a:ext>
            </a:extLst>
          </p:cNvPr>
          <p:cNvSpPr>
            <a:spLocks noChangeAspect="1" noChangeArrowheads="1"/>
          </p:cNvSpPr>
          <p:nvPr/>
        </p:nvSpPr>
        <p:spPr bwMode="auto">
          <a:xfrm>
            <a:off x="9347313" y="5115733"/>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7" name="&quot;A&quot; blue rectangle">
            <a:extLst>
              <a:ext uri="{FF2B5EF4-FFF2-40B4-BE49-F238E27FC236}">
                <a16:creationId xmlns:a16="http://schemas.microsoft.com/office/drawing/2014/main" id="{1CF383F4-C490-8471-B78B-E35883CE218C}"/>
              </a:ext>
              <a:ext uri="{C183D7F6-B498-43B3-948B-1728B52AA6E4}">
                <adec:decorative xmlns:adec="http://schemas.microsoft.com/office/drawing/2017/decorative" val="1"/>
              </a:ext>
            </a:extLst>
          </p:cNvPr>
          <p:cNvSpPr>
            <a:spLocks noChangeAspect="1" noChangeArrowheads="1"/>
          </p:cNvSpPr>
          <p:nvPr/>
        </p:nvSpPr>
        <p:spPr bwMode="auto">
          <a:xfrm>
            <a:off x="9347312" y="3809647"/>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0285423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D37C-5BC7-A1C8-AF40-64E1FB154047}"/>
            </a:ext>
          </a:extLst>
        </p:cNvPr>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47A26BEE-4FC6-A1BF-802C-73D919B8B40A}"/>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BD21F0B0-D26E-4A69-6B3B-543AFF451FCB}"/>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Data Governance</a:t>
            </a:r>
            <a:r>
              <a:rPr lang="en-US" sz="2699" kern="0" baseline="30000">
                <a:solidFill>
                  <a:srgbClr val="000000"/>
                </a:solidFill>
                <a:latin typeface="IBM Plex Sans Light"/>
              </a:rPr>
              <a:t>3</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AC903DFA-8046-D457-630E-15779289475A}"/>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focuses on the framework and controls in place to ensure responsible data management, including data ownership, classification, and access controls.</a:t>
            </a:r>
          </a:p>
        </p:txBody>
      </p:sp>
      <p:sp>
        <p:nvSpPr>
          <p:cNvPr id="18" name="&quot;R&quot; teal rectangle">
            <a:extLst>
              <a:ext uri="{FF2B5EF4-FFF2-40B4-BE49-F238E27FC236}">
                <a16:creationId xmlns:a16="http://schemas.microsoft.com/office/drawing/2014/main" id="{3CFC4CFE-5F0E-2D5F-49D1-0E5E63BE2ACD}"/>
              </a:ext>
              <a:ext uri="{C183D7F6-B498-43B3-948B-1728B52AA6E4}">
                <adec:decorative xmlns:adec="http://schemas.microsoft.com/office/drawing/2017/decorative" val="1"/>
              </a:ext>
            </a:extLst>
          </p:cNvPr>
          <p:cNvSpPr>
            <a:spLocks noChangeAspect="1" noChangeArrowheads="1"/>
          </p:cNvSpPr>
          <p:nvPr/>
        </p:nvSpPr>
        <p:spPr bwMode="auto">
          <a:xfrm>
            <a:off x="220949" y="417528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8F3C952C-7F01-5F89-80EF-B45DC2ED6518}"/>
              </a:ext>
              <a:ext uri="{C183D7F6-B498-43B3-948B-1728B52AA6E4}">
                <adec:decorative xmlns:adec="http://schemas.microsoft.com/office/drawing/2017/decorative" val="1"/>
              </a:ext>
            </a:extLst>
          </p:cNvPr>
          <p:cNvSpPr txBox="1">
            <a:spLocks noChangeArrowheads="1"/>
          </p:cNvSpPr>
          <p:nvPr/>
        </p:nvSpPr>
        <p:spPr bwMode="auto">
          <a:xfrm>
            <a:off x="683785" y="4175289"/>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2575ABAF-4E02-271A-684D-7F3A2ADDB13A}"/>
              </a:ext>
              <a:ext uri="{C183D7F6-B498-43B3-948B-1728B52AA6E4}">
                <adec:decorative xmlns:adec="http://schemas.microsoft.com/office/drawing/2017/decorative" val="1"/>
              </a:ext>
            </a:extLst>
          </p:cNvPr>
          <p:cNvSpPr>
            <a:spLocks noChangeAspect="1" noChangeArrowheads="1"/>
          </p:cNvSpPr>
          <p:nvPr/>
        </p:nvSpPr>
        <p:spPr bwMode="auto">
          <a:xfrm>
            <a:off x="220190" y="4927898"/>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6A8810F9-A138-488F-7633-D6ECCA1C3578}"/>
              </a:ext>
              <a:ext uri="{C183D7F6-B498-43B3-948B-1728B52AA6E4}">
                <adec:decorative xmlns:adec="http://schemas.microsoft.com/office/drawing/2017/decorative" val="1"/>
              </a:ext>
            </a:extLst>
          </p:cNvPr>
          <p:cNvSpPr txBox="1">
            <a:spLocks noChangeArrowheads="1"/>
          </p:cNvSpPr>
          <p:nvPr/>
        </p:nvSpPr>
        <p:spPr bwMode="auto">
          <a:xfrm>
            <a:off x="683785" y="4927898"/>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571CC12C-8B25-CDEE-F7E6-8255A1317929}"/>
              </a:ext>
              <a:ext uri="{C183D7F6-B498-43B3-948B-1728B52AA6E4}">
                <adec:decorative xmlns:adec="http://schemas.microsoft.com/office/drawing/2017/decorative" val="1"/>
              </a:ext>
            </a:extLst>
          </p:cNvPr>
          <p:cNvSpPr>
            <a:spLocks noChangeAspect="1" noChangeArrowheads="1"/>
          </p:cNvSpPr>
          <p:nvPr/>
        </p:nvSpPr>
        <p:spPr bwMode="auto">
          <a:xfrm>
            <a:off x="228540" y="567745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7FB3FC26-DECD-EC5A-1D1C-AF146F7C7DA3}"/>
              </a:ext>
              <a:ext uri="{C183D7F6-B498-43B3-948B-1728B52AA6E4}">
                <adec:decorative xmlns:adec="http://schemas.microsoft.com/office/drawing/2017/decorative" val="1"/>
              </a:ext>
            </a:extLst>
          </p:cNvPr>
          <p:cNvSpPr txBox="1">
            <a:spLocks noChangeArrowheads="1"/>
          </p:cNvSpPr>
          <p:nvPr/>
        </p:nvSpPr>
        <p:spPr bwMode="auto">
          <a:xfrm>
            <a:off x="683785" y="5680507"/>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67303B42-5E01-C1C1-7F09-FC8B74CA1367}"/>
              </a:ext>
            </a:extLst>
          </p:cNvPr>
          <p:cNvGraphicFramePr>
            <a:graphicFrameLocks/>
          </p:cNvGraphicFramePr>
          <p:nvPr/>
        </p:nvGraphicFramePr>
        <p:xfrm>
          <a:off x="2608948" y="1274949"/>
          <a:ext cx="9430919" cy="4416785"/>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7896">
                <a:tc>
                  <a:txBody>
                    <a:bodyPr/>
                    <a:lstStyle/>
                    <a:p>
                      <a:pPr algn="l" fontAlgn="ctr">
                        <a:spcAft>
                          <a:spcPts val="600"/>
                        </a:spcAft>
                      </a:pPr>
                      <a:r>
                        <a:rPr lang="en-US" sz="1000" b="0" i="0" u="none" strike="noStrike">
                          <a:solidFill>
                            <a:schemeClr val="bg1"/>
                          </a:solidFill>
                          <a:effectLst/>
                          <a:latin typeface="+mj-lt"/>
                          <a:ea typeface="+mn-ea"/>
                        </a:rPr>
                        <a:t>Standards and definition metadata</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Standards and definitions are not yet established or consistently applied across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There are standards and definitions consistently applied across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Needs to establish and consistently apply data standards and definitions across all departments to ensure clarity, consistency, and data quality.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997683287"/>
                  </a:ext>
                </a:extLst>
              </a:tr>
              <a:tr h="645516">
                <a:tc>
                  <a:txBody>
                    <a:bodyPr/>
                    <a:lstStyle/>
                    <a:p>
                      <a:pPr algn="l" fontAlgn="ctr">
                        <a:spcAft>
                          <a:spcPts val="600"/>
                        </a:spcAft>
                      </a:pPr>
                      <a:r>
                        <a:rPr lang="en-US" sz="1000" b="0" i="0" u="none" strike="noStrike">
                          <a:solidFill>
                            <a:schemeClr val="bg1"/>
                          </a:solidFill>
                          <a:effectLst/>
                          <a:latin typeface="+mj-lt"/>
                          <a:ea typeface="+mn-ea"/>
                        </a:rPr>
                        <a:t>Accessing metadata</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A centralized repository or catalog for storing and accessing metadata is not yet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There is a centralized repository or catalog for storing and accessing metadata</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Implement a centralized metadata repository or catalog to improve data accessibility, consistency, and governance.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700575436"/>
                  </a:ext>
                </a:extLst>
              </a:tr>
              <a:tr h="645516">
                <a:tc>
                  <a:txBody>
                    <a:bodyPr/>
                    <a:lstStyle/>
                    <a:p>
                      <a:pPr algn="l" fontAlgn="ctr">
                        <a:spcAft>
                          <a:spcPts val="600"/>
                        </a:spcAft>
                      </a:pPr>
                      <a:r>
                        <a:rPr lang="en-US" sz="1000" b="0" i="0" u="none" strike="noStrike">
                          <a:solidFill>
                            <a:schemeClr val="bg1"/>
                          </a:solidFill>
                          <a:effectLst/>
                          <a:latin typeface="+mj-lt"/>
                          <a:ea typeface="+mn-ea"/>
                        </a:rPr>
                        <a:t>Data lifecycle</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There is no defined process for managing the data lifecycle, from creation to archiving or deletion.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There is a defined process for managing the lifecycle of data, from creation to archiving or deletion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Establish a clear data lifecycle management process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718625617"/>
                  </a:ext>
                </a:extLst>
              </a:tr>
              <a:tr h="950276">
                <a:tc>
                  <a:txBody>
                    <a:bodyPr/>
                    <a:lstStyle/>
                    <a:p>
                      <a:pPr algn="l" fontAlgn="ctr">
                        <a:spcAft>
                          <a:spcPts val="600"/>
                        </a:spcAft>
                      </a:pPr>
                      <a:r>
                        <a:rPr lang="en-US" sz="1000" b="0" i="0" u="none" strike="noStrike">
                          <a:solidFill>
                            <a:schemeClr val="bg1"/>
                          </a:solidFill>
                          <a:effectLst/>
                          <a:latin typeface="+mj-lt"/>
                          <a:ea typeface="+mn-ea"/>
                        </a:rPr>
                        <a:t>Data retention and disposal policy</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Retention and disposal policies are in place, with core banking data retained and backed up without deletion, indicating partial implementation aligned with operational needs.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spcAft>
                          <a:spcPts val="600"/>
                        </a:spcAft>
                      </a:pPr>
                      <a:r>
                        <a:rPr lang="en-US" sz="1000" b="0" i="0" u="none" strike="noStrike">
                          <a:solidFill>
                            <a:srgbClr val="000000"/>
                          </a:solidFill>
                          <a:effectLst/>
                          <a:latin typeface="+mj-lt"/>
                          <a:ea typeface="+mn-ea"/>
                        </a:rPr>
                        <a:t>There is retention and disposal policies in place and followed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51145478"/>
                  </a:ext>
                </a:extLst>
              </a:tr>
              <a:tr h="950276">
                <a:tc>
                  <a:txBody>
                    <a:bodyPr/>
                    <a:lstStyle/>
                    <a:p>
                      <a:pPr algn="l" fontAlgn="ctr">
                        <a:spcAft>
                          <a:spcPts val="600"/>
                        </a:spcAft>
                      </a:pPr>
                      <a:r>
                        <a:rPr lang="en-US" sz="1000" b="0" i="0" u="none" strike="noStrike">
                          <a:solidFill>
                            <a:schemeClr val="bg1"/>
                          </a:solidFill>
                          <a:effectLst/>
                          <a:latin typeface="+mj-lt"/>
                          <a:ea typeface="+mn-ea"/>
                        </a:rPr>
                        <a:t>Data </a:t>
                      </a:r>
                      <a:r>
                        <a:rPr lang="en-US" sz="1000" b="0" i="0" u="none" strike="noStrike" err="1">
                          <a:solidFill>
                            <a:schemeClr val="bg1"/>
                          </a:solidFill>
                          <a:effectLst/>
                          <a:latin typeface="+mj-lt"/>
                          <a:ea typeface="+mn-ea"/>
                        </a:rPr>
                        <a:t>sensivity</a:t>
                      </a:r>
                      <a:r>
                        <a:rPr lang="en-US" sz="1000" b="0" i="0" u="none" strike="noStrike">
                          <a:solidFill>
                            <a:schemeClr val="bg1"/>
                          </a:solidFill>
                          <a:effectLst/>
                          <a:latin typeface="+mj-lt"/>
                          <a:ea typeface="+mn-ea"/>
                        </a:rPr>
                        <a:t> and criticality</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Data classification is implemented, with categories such as highly protected, confidential use, internal use, and public, reflecting consideration of sensitivity and criticality.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r>
                        <a:rPr lang="en-US" sz="1000" b="0" i="0" u="none" strike="noStrike">
                          <a:solidFill>
                            <a:srgbClr val="000000"/>
                          </a:solidFill>
                          <a:effectLst/>
                          <a:latin typeface="+mj-lt"/>
                          <a:ea typeface="+mn-ea"/>
                        </a:rPr>
                        <a:t>Data is well classified based on its sensitivity and criticality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722511989"/>
                  </a:ext>
                </a:extLst>
              </a:tr>
            </a:tbl>
          </a:graphicData>
        </a:graphic>
      </p:graphicFrame>
      <p:sp>
        <p:nvSpPr>
          <p:cNvPr id="19" name="Footer Placeholder 3">
            <a:extLst>
              <a:ext uri="{FF2B5EF4-FFF2-40B4-BE49-F238E27FC236}">
                <a16:creationId xmlns:a16="http://schemas.microsoft.com/office/drawing/2014/main" id="{029BB1F8-FC7F-1BD2-49D4-4FD1FDDBA1FA}"/>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09247B23-DCAA-C425-DF34-BA34406747F2}"/>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14</a:t>
            </a:fld>
            <a:endParaRPr lang="en-US">
              <a:solidFill>
                <a:srgbClr val="000000"/>
              </a:solidFill>
            </a:endParaRPr>
          </a:p>
        </p:txBody>
      </p:sp>
      <p:grpSp>
        <p:nvGrpSpPr>
          <p:cNvPr id="109" name="Group 108">
            <a:extLst>
              <a:ext uri="{FF2B5EF4-FFF2-40B4-BE49-F238E27FC236}">
                <a16:creationId xmlns:a16="http://schemas.microsoft.com/office/drawing/2014/main" id="{52F59C82-6AD8-FEC5-131E-BB17C796A0A6}"/>
              </a:ext>
            </a:extLst>
          </p:cNvPr>
          <p:cNvGrpSpPr/>
          <p:nvPr/>
        </p:nvGrpSpPr>
        <p:grpSpPr>
          <a:xfrm>
            <a:off x="7711263" y="267997"/>
            <a:ext cx="4170294" cy="783142"/>
            <a:chOff x="15576932" y="535171"/>
            <a:chExt cx="8341675" cy="1566487"/>
          </a:xfrm>
        </p:grpSpPr>
        <p:sp>
          <p:nvSpPr>
            <p:cNvPr id="110" name="Oval 109">
              <a:extLst>
                <a:ext uri="{FF2B5EF4-FFF2-40B4-BE49-F238E27FC236}">
                  <a16:creationId xmlns:a16="http://schemas.microsoft.com/office/drawing/2014/main" id="{5E542FEB-D03E-ABAE-1BA1-6BDEEAB91FB9}"/>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1" name="Oval 110">
              <a:extLst>
                <a:ext uri="{FF2B5EF4-FFF2-40B4-BE49-F238E27FC236}">
                  <a16:creationId xmlns:a16="http://schemas.microsoft.com/office/drawing/2014/main" id="{1D286638-5DC6-8726-F08B-E5C835BD5872}"/>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12" name="Straight Arrow Connector 111">
              <a:extLst>
                <a:ext uri="{FF2B5EF4-FFF2-40B4-BE49-F238E27FC236}">
                  <a16:creationId xmlns:a16="http://schemas.microsoft.com/office/drawing/2014/main" id="{005CB60B-BC56-F5EF-BE06-9A69F7595A65}"/>
                </a:ext>
              </a:extLst>
            </p:cNvPr>
            <p:cNvCxnSpPr>
              <a:cxnSpLocks/>
              <a:stCxn id="110" idx="6"/>
              <a:endCxn id="111"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3" name="Oval 112">
              <a:extLst>
                <a:ext uri="{FF2B5EF4-FFF2-40B4-BE49-F238E27FC236}">
                  <a16:creationId xmlns:a16="http://schemas.microsoft.com/office/drawing/2014/main" id="{DE4892F6-9F36-4186-2774-482EF923C98C}"/>
                </a:ext>
              </a:extLst>
            </p:cNvPr>
            <p:cNvSpPr/>
            <p:nvPr/>
          </p:nvSpPr>
          <p:spPr bwMode="auto">
            <a:xfrm>
              <a:off x="1803438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4" name="Oval 113">
              <a:extLst>
                <a:ext uri="{FF2B5EF4-FFF2-40B4-BE49-F238E27FC236}">
                  <a16:creationId xmlns:a16="http://schemas.microsoft.com/office/drawing/2014/main" id="{9D183C70-6869-7C78-3863-827E9EC4E214}"/>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15" name="Straight Arrow Connector 114">
              <a:extLst>
                <a:ext uri="{FF2B5EF4-FFF2-40B4-BE49-F238E27FC236}">
                  <a16:creationId xmlns:a16="http://schemas.microsoft.com/office/drawing/2014/main" id="{DC75AD43-D476-0B57-C2E2-C7C66EC1519F}"/>
                </a:ext>
              </a:extLst>
            </p:cNvPr>
            <p:cNvCxnSpPr>
              <a:cxnSpLocks/>
              <a:stCxn id="111" idx="6"/>
              <a:endCxn id="113"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09DEB26C-84CD-6D2B-27A1-BEDE589DA4AE}"/>
                </a:ext>
              </a:extLst>
            </p:cNvPr>
            <p:cNvCxnSpPr>
              <a:cxnSpLocks/>
              <a:stCxn id="113" idx="6"/>
              <a:endCxn id="114"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7" name="Oval 116">
              <a:extLst>
                <a:ext uri="{FF2B5EF4-FFF2-40B4-BE49-F238E27FC236}">
                  <a16:creationId xmlns:a16="http://schemas.microsoft.com/office/drawing/2014/main" id="{EB469B30-9650-18E0-A500-B6051029BD09}"/>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8" name="Oval 117">
              <a:extLst>
                <a:ext uri="{FF2B5EF4-FFF2-40B4-BE49-F238E27FC236}">
                  <a16:creationId xmlns:a16="http://schemas.microsoft.com/office/drawing/2014/main" id="{FDCE9E0A-EDAF-EBE3-2780-5B7CEDD0BA94}"/>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9" name="Oval 118">
              <a:extLst>
                <a:ext uri="{FF2B5EF4-FFF2-40B4-BE49-F238E27FC236}">
                  <a16:creationId xmlns:a16="http://schemas.microsoft.com/office/drawing/2014/main" id="{95206035-3B36-8955-1294-2F4A1CF77C5B}"/>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20" name="Straight Arrow Connector 119">
              <a:extLst>
                <a:ext uri="{FF2B5EF4-FFF2-40B4-BE49-F238E27FC236}">
                  <a16:creationId xmlns:a16="http://schemas.microsoft.com/office/drawing/2014/main" id="{2431AF52-8644-1FE6-DC73-8053A40BA291}"/>
                </a:ext>
              </a:extLst>
            </p:cNvPr>
            <p:cNvCxnSpPr>
              <a:cxnSpLocks/>
              <a:stCxn id="117" idx="6"/>
              <a:endCxn id="118"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21" name="Straight Arrow Connector 120">
              <a:extLst>
                <a:ext uri="{FF2B5EF4-FFF2-40B4-BE49-F238E27FC236}">
                  <a16:creationId xmlns:a16="http://schemas.microsoft.com/office/drawing/2014/main" id="{F12E31C0-B647-1058-8A63-A52958FE0FEF}"/>
                </a:ext>
              </a:extLst>
            </p:cNvPr>
            <p:cNvCxnSpPr>
              <a:cxnSpLocks/>
              <a:stCxn id="118" idx="6"/>
              <a:endCxn id="119"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22" name="Straight Arrow Connector 121">
              <a:extLst>
                <a:ext uri="{FF2B5EF4-FFF2-40B4-BE49-F238E27FC236}">
                  <a16:creationId xmlns:a16="http://schemas.microsoft.com/office/drawing/2014/main" id="{0674A105-7567-A7E8-28D9-4EEE28B5E1C9}"/>
                </a:ext>
              </a:extLst>
            </p:cNvPr>
            <p:cNvCxnSpPr>
              <a:cxnSpLocks/>
              <a:stCxn id="114" idx="6"/>
              <a:endCxn id="117"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23" name="Text Placeholder 3">
              <a:extLst>
                <a:ext uri="{FF2B5EF4-FFF2-40B4-BE49-F238E27FC236}">
                  <a16:creationId xmlns:a16="http://schemas.microsoft.com/office/drawing/2014/main" id="{45FFE61F-5758-F2A8-16AF-CD93BD924154}"/>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124" name="Text Placeholder 3">
              <a:extLst>
                <a:ext uri="{FF2B5EF4-FFF2-40B4-BE49-F238E27FC236}">
                  <a16:creationId xmlns:a16="http://schemas.microsoft.com/office/drawing/2014/main" id="{7FD86367-9D82-36F1-1935-C5F8F807A8B0}"/>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125" name="Text Placeholder 3">
              <a:extLst>
                <a:ext uri="{FF2B5EF4-FFF2-40B4-BE49-F238E27FC236}">
                  <a16:creationId xmlns:a16="http://schemas.microsoft.com/office/drawing/2014/main" id="{1C5E9BB3-D12F-9576-4F07-3C17B1F76A83}"/>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126" name="Text Placeholder 3">
              <a:extLst>
                <a:ext uri="{FF2B5EF4-FFF2-40B4-BE49-F238E27FC236}">
                  <a16:creationId xmlns:a16="http://schemas.microsoft.com/office/drawing/2014/main" id="{C1D58390-DE4F-F1D4-EB4D-B27DFC503779}"/>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127" name="Text Placeholder 3">
              <a:extLst>
                <a:ext uri="{FF2B5EF4-FFF2-40B4-BE49-F238E27FC236}">
                  <a16:creationId xmlns:a16="http://schemas.microsoft.com/office/drawing/2014/main" id="{76F3409A-C35E-96C2-96C8-DC7D2C7371B2}"/>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128" name="Text Placeholder 3">
              <a:extLst>
                <a:ext uri="{FF2B5EF4-FFF2-40B4-BE49-F238E27FC236}">
                  <a16:creationId xmlns:a16="http://schemas.microsoft.com/office/drawing/2014/main" id="{05420FA5-4597-9E3C-4E53-243277F07BD1}"/>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129" name="Text Placeholder 3">
              <a:extLst>
                <a:ext uri="{FF2B5EF4-FFF2-40B4-BE49-F238E27FC236}">
                  <a16:creationId xmlns:a16="http://schemas.microsoft.com/office/drawing/2014/main" id="{27B7769E-76D0-54A4-EC3A-8FC479F3A32C}"/>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130" name="Picture 129" descr="Progress, Blue 60 pictogram">
              <a:extLst>
                <a:ext uri="{FF2B5EF4-FFF2-40B4-BE49-F238E27FC236}">
                  <a16:creationId xmlns:a16="http://schemas.microsoft.com/office/drawing/2014/main" id="{E8FA7959-2CEC-201E-BA5A-0275F6B20E3D}"/>
                </a:ext>
              </a:extLst>
            </p:cNvPr>
            <p:cNvPicPr>
              <a:picLocks noChangeAspect="1"/>
            </p:cNvPicPr>
            <p:nvPr/>
          </p:nvPicPr>
          <p:blipFill>
            <a:blip r:embed="rId2"/>
            <a:srcRect/>
            <a:stretch/>
          </p:blipFill>
          <p:spPr>
            <a:xfrm>
              <a:off x="15792707" y="712846"/>
              <a:ext cx="540000" cy="540000"/>
            </a:xfrm>
            <a:prstGeom prst="rect">
              <a:avLst/>
            </a:prstGeom>
          </p:spPr>
        </p:pic>
        <p:pic>
          <p:nvPicPr>
            <p:cNvPr id="131" name="Picture 130" descr="Strategy play, Blue 60 pictogram">
              <a:extLst>
                <a:ext uri="{FF2B5EF4-FFF2-40B4-BE49-F238E27FC236}">
                  <a16:creationId xmlns:a16="http://schemas.microsoft.com/office/drawing/2014/main" id="{3A68571C-0B7D-928E-567A-DD18CD50CC65}"/>
                </a:ext>
              </a:extLst>
            </p:cNvPr>
            <p:cNvPicPr>
              <a:picLocks noChangeAspect="1"/>
            </p:cNvPicPr>
            <p:nvPr/>
          </p:nvPicPr>
          <p:blipFill>
            <a:blip r:embed="rId3"/>
            <a:srcRect/>
            <a:stretch/>
          </p:blipFill>
          <p:spPr>
            <a:xfrm>
              <a:off x="20674077" y="712847"/>
              <a:ext cx="540000" cy="540000"/>
            </a:xfrm>
            <a:prstGeom prst="rect">
              <a:avLst/>
            </a:prstGeom>
          </p:spPr>
        </p:pic>
        <p:pic>
          <p:nvPicPr>
            <p:cNvPr id="132" name="Picture 131" descr="Inspect data, Blue 60 pictogram">
              <a:extLst>
                <a:ext uri="{FF2B5EF4-FFF2-40B4-BE49-F238E27FC236}">
                  <a16:creationId xmlns:a16="http://schemas.microsoft.com/office/drawing/2014/main" id="{0748613F-585F-88BE-5321-221376FE5FE4}"/>
                </a:ext>
              </a:extLst>
            </p:cNvPr>
            <p:cNvPicPr>
              <a:picLocks noChangeAspect="1"/>
            </p:cNvPicPr>
            <p:nvPr/>
          </p:nvPicPr>
          <p:blipFill>
            <a:blip r:embed="rId4"/>
            <a:srcRect/>
            <a:stretch/>
          </p:blipFill>
          <p:spPr>
            <a:xfrm>
              <a:off x="19452914" y="712847"/>
              <a:ext cx="540000" cy="540000"/>
            </a:xfrm>
            <a:prstGeom prst="rect">
              <a:avLst/>
            </a:prstGeom>
          </p:spPr>
        </p:pic>
        <p:pic>
          <p:nvPicPr>
            <p:cNvPr id="133" name="Picture 132" descr="Deliver insights, Blue 60 pictogram">
              <a:extLst>
                <a:ext uri="{FF2B5EF4-FFF2-40B4-BE49-F238E27FC236}">
                  <a16:creationId xmlns:a16="http://schemas.microsoft.com/office/drawing/2014/main" id="{DA9F00E7-8942-834B-2D86-50B0590E95C9}"/>
                </a:ext>
              </a:extLst>
            </p:cNvPr>
            <p:cNvPicPr>
              <a:picLocks noChangeAspect="1"/>
            </p:cNvPicPr>
            <p:nvPr/>
          </p:nvPicPr>
          <p:blipFill>
            <a:blip r:embed="rId5">
              <a:biLevel thresh="25000"/>
            </a:blip>
            <a:srcRect/>
            <a:stretch/>
          </p:blipFill>
          <p:spPr>
            <a:xfrm>
              <a:off x="18212059" y="712847"/>
              <a:ext cx="540000" cy="540000"/>
            </a:xfrm>
            <a:prstGeom prst="rect">
              <a:avLst/>
            </a:prstGeom>
          </p:spPr>
        </p:pic>
        <p:pic>
          <p:nvPicPr>
            <p:cNvPr id="134" name="Picture 133" descr="Identity trust assessment, Blue 60 pictogram">
              <a:extLst>
                <a:ext uri="{FF2B5EF4-FFF2-40B4-BE49-F238E27FC236}">
                  <a16:creationId xmlns:a16="http://schemas.microsoft.com/office/drawing/2014/main" id="{AFCF9C18-5AC4-6A8E-70C4-C99C4E4946D2}"/>
                </a:ext>
              </a:extLst>
            </p:cNvPr>
            <p:cNvPicPr>
              <a:picLocks noChangeAspect="1"/>
            </p:cNvPicPr>
            <p:nvPr/>
          </p:nvPicPr>
          <p:blipFill>
            <a:blip r:embed="rId6"/>
            <a:srcRect/>
            <a:stretch/>
          </p:blipFill>
          <p:spPr>
            <a:xfrm>
              <a:off x="21872264" y="712847"/>
              <a:ext cx="540000" cy="540000"/>
            </a:xfrm>
            <a:prstGeom prst="rect">
              <a:avLst/>
            </a:prstGeom>
          </p:spPr>
        </p:pic>
        <p:pic>
          <p:nvPicPr>
            <p:cNvPr id="135" name="Picture 134" descr="Security as a service, Blue 60 pictogram">
              <a:extLst>
                <a:ext uri="{FF2B5EF4-FFF2-40B4-BE49-F238E27FC236}">
                  <a16:creationId xmlns:a16="http://schemas.microsoft.com/office/drawing/2014/main" id="{9F185D27-D1B5-15D0-912A-D47A75A7D620}"/>
                </a:ext>
              </a:extLst>
            </p:cNvPr>
            <p:cNvPicPr>
              <a:picLocks noChangeAspect="1"/>
            </p:cNvPicPr>
            <p:nvPr/>
          </p:nvPicPr>
          <p:blipFill>
            <a:blip r:embed="rId7"/>
            <a:srcRect/>
            <a:stretch/>
          </p:blipFill>
          <p:spPr>
            <a:xfrm>
              <a:off x="23093427" y="712847"/>
              <a:ext cx="540000" cy="540000"/>
            </a:xfrm>
            <a:prstGeom prst="rect">
              <a:avLst/>
            </a:prstGeom>
          </p:spPr>
        </p:pic>
        <p:pic>
          <p:nvPicPr>
            <p:cNvPr id="136" name="Picture 135" descr="Vision, Blue 60 pictogram">
              <a:extLst>
                <a:ext uri="{FF2B5EF4-FFF2-40B4-BE49-F238E27FC236}">
                  <a16:creationId xmlns:a16="http://schemas.microsoft.com/office/drawing/2014/main" id="{48C8423F-82D2-57D1-CD2A-92D83116AC6C}"/>
                </a:ext>
              </a:extLst>
            </p:cNvPr>
            <p:cNvPicPr>
              <a:picLocks noChangeAspect="1"/>
            </p:cNvPicPr>
            <p:nvPr/>
          </p:nvPicPr>
          <p:blipFill>
            <a:blip r:embed="rId8"/>
            <a:srcRect/>
            <a:stretch/>
          </p:blipFill>
          <p:spPr>
            <a:xfrm>
              <a:off x="17023717" y="712847"/>
              <a:ext cx="540000" cy="540000"/>
            </a:xfrm>
            <a:prstGeom prst="rect">
              <a:avLst/>
            </a:prstGeom>
          </p:spPr>
        </p:pic>
      </p:grpSp>
      <p:sp>
        <p:nvSpPr>
          <p:cNvPr id="2" name="&quot;C&quot; gray rectangle">
            <a:extLst>
              <a:ext uri="{FF2B5EF4-FFF2-40B4-BE49-F238E27FC236}">
                <a16:creationId xmlns:a16="http://schemas.microsoft.com/office/drawing/2014/main" id="{369BF7EE-0FA9-57FE-927F-D14505A9FF64}"/>
              </a:ext>
              <a:ext uri="{C183D7F6-B498-43B3-948B-1728B52AA6E4}">
                <adec:decorative xmlns:adec="http://schemas.microsoft.com/office/drawing/2017/decorative" val="1"/>
              </a:ext>
            </a:extLst>
          </p:cNvPr>
          <p:cNvSpPr>
            <a:spLocks noChangeAspect="1" noChangeArrowheads="1"/>
          </p:cNvSpPr>
          <p:nvPr/>
        </p:nvSpPr>
        <p:spPr bwMode="auto">
          <a:xfrm>
            <a:off x="9321647" y="1834281"/>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8" name="&quot;R&quot; teal rectangle">
            <a:extLst>
              <a:ext uri="{FF2B5EF4-FFF2-40B4-BE49-F238E27FC236}">
                <a16:creationId xmlns:a16="http://schemas.microsoft.com/office/drawing/2014/main" id="{56F8E679-D434-3F84-2FBB-B37984D31360}"/>
              </a:ext>
              <a:ext uri="{C183D7F6-B498-43B3-948B-1728B52AA6E4}">
                <adec:decorative xmlns:adec="http://schemas.microsoft.com/office/drawing/2017/decorative" val="1"/>
              </a:ext>
            </a:extLst>
          </p:cNvPr>
          <p:cNvSpPr>
            <a:spLocks noChangeAspect="1" noChangeArrowheads="1"/>
          </p:cNvSpPr>
          <p:nvPr/>
        </p:nvSpPr>
        <p:spPr bwMode="auto">
          <a:xfrm>
            <a:off x="9321647" y="5019728"/>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11" name="&quot;R&quot; teal rectangle">
            <a:extLst>
              <a:ext uri="{FF2B5EF4-FFF2-40B4-BE49-F238E27FC236}">
                <a16:creationId xmlns:a16="http://schemas.microsoft.com/office/drawing/2014/main" id="{C53CCD45-864F-AAF8-A02E-7478600178B6}"/>
              </a:ext>
              <a:ext uri="{C183D7F6-B498-43B3-948B-1728B52AA6E4}">
                <adec:decorative xmlns:adec="http://schemas.microsoft.com/office/drawing/2017/decorative" val="1"/>
              </a:ext>
            </a:extLst>
          </p:cNvPr>
          <p:cNvSpPr>
            <a:spLocks noChangeAspect="1" noChangeArrowheads="1"/>
          </p:cNvSpPr>
          <p:nvPr/>
        </p:nvSpPr>
        <p:spPr bwMode="auto">
          <a:xfrm>
            <a:off x="9321647" y="4060608"/>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17" name="&quot;C&quot; gray rectangle">
            <a:extLst>
              <a:ext uri="{FF2B5EF4-FFF2-40B4-BE49-F238E27FC236}">
                <a16:creationId xmlns:a16="http://schemas.microsoft.com/office/drawing/2014/main" id="{D03B2361-0889-949A-712E-08BFEF85D8AE}"/>
              </a:ext>
              <a:ext uri="{C183D7F6-B498-43B3-948B-1728B52AA6E4}">
                <adec:decorative xmlns:adec="http://schemas.microsoft.com/office/drawing/2017/decorative" val="1"/>
              </a:ext>
            </a:extLst>
          </p:cNvPr>
          <p:cNvSpPr>
            <a:spLocks noChangeAspect="1" noChangeArrowheads="1"/>
          </p:cNvSpPr>
          <p:nvPr/>
        </p:nvSpPr>
        <p:spPr bwMode="auto">
          <a:xfrm>
            <a:off x="9321647" y="2617423"/>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4" name="&quot;C&quot; gray rectangle">
            <a:extLst>
              <a:ext uri="{FF2B5EF4-FFF2-40B4-BE49-F238E27FC236}">
                <a16:creationId xmlns:a16="http://schemas.microsoft.com/office/drawing/2014/main" id="{5F4AA65A-5F11-A9C3-EC2B-D283E8F6E494}"/>
              </a:ext>
              <a:ext uri="{C183D7F6-B498-43B3-948B-1728B52AA6E4}">
                <adec:decorative xmlns:adec="http://schemas.microsoft.com/office/drawing/2017/decorative" val="1"/>
              </a:ext>
            </a:extLst>
          </p:cNvPr>
          <p:cNvSpPr>
            <a:spLocks noChangeAspect="1" noChangeArrowheads="1"/>
          </p:cNvSpPr>
          <p:nvPr/>
        </p:nvSpPr>
        <p:spPr bwMode="auto">
          <a:xfrm>
            <a:off x="9321647" y="3277466"/>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1176280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D33F-0170-AA99-A20B-5BBA4B32BCD4}"/>
            </a:ext>
          </a:extLst>
        </p:cNvPr>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4AFCE5F8-C3FB-E5A0-871D-A1FCE3F038E7}"/>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AC942216-394F-5193-FCF8-7FFF5968E456}"/>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Data Governance</a:t>
            </a:r>
            <a:r>
              <a:rPr lang="en-US" sz="2699" kern="0" baseline="30000">
                <a:solidFill>
                  <a:srgbClr val="000000"/>
                </a:solidFill>
                <a:latin typeface="IBM Plex Sans Light"/>
              </a:rPr>
              <a:t>4</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AF146D88-ADF0-1CE8-DF0F-548502554233}"/>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focuses on the framework and controls in place to ensure responsible data management, including data ownership, classification, and access controls.</a:t>
            </a:r>
          </a:p>
        </p:txBody>
      </p:sp>
      <p:sp>
        <p:nvSpPr>
          <p:cNvPr id="18" name="&quot;R&quot; teal rectangle">
            <a:extLst>
              <a:ext uri="{FF2B5EF4-FFF2-40B4-BE49-F238E27FC236}">
                <a16:creationId xmlns:a16="http://schemas.microsoft.com/office/drawing/2014/main" id="{38DFB677-D2CC-4FCB-1B5E-A392963C0AFC}"/>
              </a:ext>
              <a:ext uri="{C183D7F6-B498-43B3-948B-1728B52AA6E4}">
                <adec:decorative xmlns:adec="http://schemas.microsoft.com/office/drawing/2017/decorative" val="1"/>
              </a:ext>
            </a:extLst>
          </p:cNvPr>
          <p:cNvSpPr>
            <a:spLocks noChangeAspect="1" noChangeArrowheads="1"/>
          </p:cNvSpPr>
          <p:nvPr/>
        </p:nvSpPr>
        <p:spPr bwMode="auto">
          <a:xfrm>
            <a:off x="220949" y="417528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1FAEF61A-7E56-7110-91F2-843D617D1B9C}"/>
              </a:ext>
              <a:ext uri="{C183D7F6-B498-43B3-948B-1728B52AA6E4}">
                <adec:decorative xmlns:adec="http://schemas.microsoft.com/office/drawing/2017/decorative" val="1"/>
              </a:ext>
            </a:extLst>
          </p:cNvPr>
          <p:cNvSpPr txBox="1">
            <a:spLocks noChangeArrowheads="1"/>
          </p:cNvSpPr>
          <p:nvPr/>
        </p:nvSpPr>
        <p:spPr bwMode="auto">
          <a:xfrm>
            <a:off x="683785" y="4175289"/>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1029708B-467C-49DB-97F4-2FF0238F1B9A}"/>
              </a:ext>
              <a:ext uri="{C183D7F6-B498-43B3-948B-1728B52AA6E4}">
                <adec:decorative xmlns:adec="http://schemas.microsoft.com/office/drawing/2017/decorative" val="1"/>
              </a:ext>
            </a:extLst>
          </p:cNvPr>
          <p:cNvSpPr>
            <a:spLocks noChangeAspect="1" noChangeArrowheads="1"/>
          </p:cNvSpPr>
          <p:nvPr/>
        </p:nvSpPr>
        <p:spPr bwMode="auto">
          <a:xfrm>
            <a:off x="220190" y="4927898"/>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2BA60AA3-09D6-F90E-05E7-6161C344661C}"/>
              </a:ext>
              <a:ext uri="{C183D7F6-B498-43B3-948B-1728B52AA6E4}">
                <adec:decorative xmlns:adec="http://schemas.microsoft.com/office/drawing/2017/decorative" val="1"/>
              </a:ext>
            </a:extLst>
          </p:cNvPr>
          <p:cNvSpPr txBox="1">
            <a:spLocks noChangeArrowheads="1"/>
          </p:cNvSpPr>
          <p:nvPr/>
        </p:nvSpPr>
        <p:spPr bwMode="auto">
          <a:xfrm>
            <a:off x="683785" y="4927898"/>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5CFDA977-A3AC-7EE3-8539-7DA0B03DC129}"/>
              </a:ext>
              <a:ext uri="{C183D7F6-B498-43B3-948B-1728B52AA6E4}">
                <adec:decorative xmlns:adec="http://schemas.microsoft.com/office/drawing/2017/decorative" val="1"/>
              </a:ext>
            </a:extLst>
          </p:cNvPr>
          <p:cNvSpPr>
            <a:spLocks noChangeAspect="1" noChangeArrowheads="1"/>
          </p:cNvSpPr>
          <p:nvPr/>
        </p:nvSpPr>
        <p:spPr bwMode="auto">
          <a:xfrm>
            <a:off x="228540" y="567745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89161118-8A3B-1257-EC84-4F99898F6CB3}"/>
              </a:ext>
              <a:ext uri="{C183D7F6-B498-43B3-948B-1728B52AA6E4}">
                <adec:decorative xmlns:adec="http://schemas.microsoft.com/office/drawing/2017/decorative" val="1"/>
              </a:ext>
            </a:extLst>
          </p:cNvPr>
          <p:cNvSpPr txBox="1">
            <a:spLocks noChangeArrowheads="1"/>
          </p:cNvSpPr>
          <p:nvPr/>
        </p:nvSpPr>
        <p:spPr bwMode="auto">
          <a:xfrm>
            <a:off x="683785" y="5680507"/>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BC9C3F20-7B22-3512-C200-C65C6BBB434C}"/>
              </a:ext>
            </a:extLst>
          </p:cNvPr>
          <p:cNvGraphicFramePr>
            <a:graphicFrameLocks/>
          </p:cNvGraphicFramePr>
          <p:nvPr/>
        </p:nvGraphicFramePr>
        <p:xfrm>
          <a:off x="2608948" y="1274948"/>
          <a:ext cx="9430919" cy="3125754"/>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276">
                <a:tc>
                  <a:txBody>
                    <a:bodyPr/>
                    <a:lstStyle/>
                    <a:p>
                      <a:pPr algn="l" fontAlgn="ctr">
                        <a:spcAft>
                          <a:spcPts val="600"/>
                        </a:spcAft>
                      </a:pPr>
                      <a:r>
                        <a:rPr lang="en-US" sz="1000" b="0" i="0" u="none" strike="noStrike">
                          <a:solidFill>
                            <a:schemeClr val="bg1"/>
                          </a:solidFill>
                          <a:effectLst/>
                          <a:latin typeface="+mj-lt"/>
                          <a:ea typeface="+mn-ea"/>
                        </a:rPr>
                        <a:t>Data governance activities</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Tools and technologies to support data governance activities, such as data lineage, profiling, or cataloging, are not yet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There are tools and technologies in place to support data governance activities (e.g., data lineage, data profiling, data cataloging)</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Needs to adopt tools and technologies that support data governance activities, such as data lineage, profiling, and cataloging, to improve data visibility, quality, and control.</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27784097"/>
                  </a:ext>
                </a:extLst>
              </a:tr>
              <a:tr h="950276">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chemeClr val="bg1"/>
                          </a:solidFill>
                          <a:effectLst/>
                          <a:uFillTx/>
                          <a:latin typeface="+mn-lt"/>
                          <a:ea typeface="+mn-ea"/>
                          <a:cs typeface="+mn-cs"/>
                          <a:sym typeface="IBM Plex Sans"/>
                        </a:rPr>
                        <a:t>Data processor</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There is no integration of data governance tools with existing systems and processes, as such tools are not yet implemented.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tools are well integrated with existing systems and processes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Implement data governance tools and ensure they are well integrated with existing systems and processes to enable seamless data management and operational efficiency.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87321982"/>
                  </a:ext>
                </a:extLst>
              </a:tr>
              <a:tr h="797896">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chemeClr val="bg1"/>
                          </a:solidFill>
                          <a:effectLst/>
                          <a:uFillTx/>
                          <a:latin typeface="+mn-lt"/>
                          <a:ea typeface="+mn-ea"/>
                          <a:cs typeface="+mn-cs"/>
                          <a:sym typeface="IBM Plex Sans"/>
                        </a:rPr>
                        <a:t>Data governance</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A roadmap for investing in or upgrading data governance tools exists, but clear direction and execution plans have not yet been established.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There are plans to invest in or upgrade data governance tools to improve capabilities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Needs to translate the existing roadmap into a clear action plan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4887180"/>
                  </a:ext>
                </a:extLst>
              </a:tr>
            </a:tbl>
          </a:graphicData>
        </a:graphic>
      </p:graphicFrame>
      <p:sp>
        <p:nvSpPr>
          <p:cNvPr id="19" name="Footer Placeholder 3">
            <a:extLst>
              <a:ext uri="{FF2B5EF4-FFF2-40B4-BE49-F238E27FC236}">
                <a16:creationId xmlns:a16="http://schemas.microsoft.com/office/drawing/2014/main" id="{662619CD-90FB-223E-01CA-2274C0E2B03E}"/>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813D7FA3-84F1-F226-3BDD-BE9B6DEA4F12}"/>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15</a:t>
            </a:fld>
            <a:endParaRPr lang="en-US">
              <a:solidFill>
                <a:srgbClr val="000000"/>
              </a:solidFill>
            </a:endParaRPr>
          </a:p>
        </p:txBody>
      </p:sp>
      <p:grpSp>
        <p:nvGrpSpPr>
          <p:cNvPr id="109" name="Group 108">
            <a:extLst>
              <a:ext uri="{FF2B5EF4-FFF2-40B4-BE49-F238E27FC236}">
                <a16:creationId xmlns:a16="http://schemas.microsoft.com/office/drawing/2014/main" id="{04F15200-AA64-492E-2F5B-25719D127BE5}"/>
              </a:ext>
            </a:extLst>
          </p:cNvPr>
          <p:cNvGrpSpPr/>
          <p:nvPr/>
        </p:nvGrpSpPr>
        <p:grpSpPr>
          <a:xfrm>
            <a:off x="7711263" y="267997"/>
            <a:ext cx="4170294" cy="783142"/>
            <a:chOff x="15576932" y="535171"/>
            <a:chExt cx="8341675" cy="1566487"/>
          </a:xfrm>
        </p:grpSpPr>
        <p:sp>
          <p:nvSpPr>
            <p:cNvPr id="110" name="Oval 109">
              <a:extLst>
                <a:ext uri="{FF2B5EF4-FFF2-40B4-BE49-F238E27FC236}">
                  <a16:creationId xmlns:a16="http://schemas.microsoft.com/office/drawing/2014/main" id="{E7E602F8-1094-61FD-0426-1B1D9BC46189}"/>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1" name="Oval 110">
              <a:extLst>
                <a:ext uri="{FF2B5EF4-FFF2-40B4-BE49-F238E27FC236}">
                  <a16:creationId xmlns:a16="http://schemas.microsoft.com/office/drawing/2014/main" id="{C7C527DF-E96F-A9B2-6C93-AF5B61B95F27}"/>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12" name="Straight Arrow Connector 111">
              <a:extLst>
                <a:ext uri="{FF2B5EF4-FFF2-40B4-BE49-F238E27FC236}">
                  <a16:creationId xmlns:a16="http://schemas.microsoft.com/office/drawing/2014/main" id="{974AA6EA-A36F-992F-3DAA-33BF9B6C3DBB}"/>
                </a:ext>
              </a:extLst>
            </p:cNvPr>
            <p:cNvCxnSpPr>
              <a:cxnSpLocks/>
              <a:stCxn id="110" idx="6"/>
              <a:endCxn id="111"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3" name="Oval 112">
              <a:extLst>
                <a:ext uri="{FF2B5EF4-FFF2-40B4-BE49-F238E27FC236}">
                  <a16:creationId xmlns:a16="http://schemas.microsoft.com/office/drawing/2014/main" id="{12DB87BD-9E0B-67CC-AC29-0BB49451B409}"/>
                </a:ext>
              </a:extLst>
            </p:cNvPr>
            <p:cNvSpPr/>
            <p:nvPr/>
          </p:nvSpPr>
          <p:spPr bwMode="auto">
            <a:xfrm>
              <a:off x="1803438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4" name="Oval 113">
              <a:extLst>
                <a:ext uri="{FF2B5EF4-FFF2-40B4-BE49-F238E27FC236}">
                  <a16:creationId xmlns:a16="http://schemas.microsoft.com/office/drawing/2014/main" id="{E204050E-4B56-1017-0704-70751F043DBF}"/>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15" name="Straight Arrow Connector 114">
              <a:extLst>
                <a:ext uri="{FF2B5EF4-FFF2-40B4-BE49-F238E27FC236}">
                  <a16:creationId xmlns:a16="http://schemas.microsoft.com/office/drawing/2014/main" id="{09A15275-5F3B-8A13-A1EA-4E785B0E18A9}"/>
                </a:ext>
              </a:extLst>
            </p:cNvPr>
            <p:cNvCxnSpPr>
              <a:cxnSpLocks/>
              <a:stCxn id="111" idx="6"/>
              <a:endCxn id="113"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6E52759D-DEA3-FF08-0645-2758B8540787}"/>
                </a:ext>
              </a:extLst>
            </p:cNvPr>
            <p:cNvCxnSpPr>
              <a:cxnSpLocks/>
              <a:stCxn id="113" idx="6"/>
              <a:endCxn id="114"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7" name="Oval 116">
              <a:extLst>
                <a:ext uri="{FF2B5EF4-FFF2-40B4-BE49-F238E27FC236}">
                  <a16:creationId xmlns:a16="http://schemas.microsoft.com/office/drawing/2014/main" id="{67E571C2-490E-80AB-0F31-D41369D12EC8}"/>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8" name="Oval 117">
              <a:extLst>
                <a:ext uri="{FF2B5EF4-FFF2-40B4-BE49-F238E27FC236}">
                  <a16:creationId xmlns:a16="http://schemas.microsoft.com/office/drawing/2014/main" id="{35E3F3D9-5F10-0935-BE78-ACC21748D0C8}"/>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19" name="Oval 118">
              <a:extLst>
                <a:ext uri="{FF2B5EF4-FFF2-40B4-BE49-F238E27FC236}">
                  <a16:creationId xmlns:a16="http://schemas.microsoft.com/office/drawing/2014/main" id="{AC67F146-5D52-75DE-E1DD-F4F9EFE8C312}"/>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20" name="Straight Arrow Connector 119">
              <a:extLst>
                <a:ext uri="{FF2B5EF4-FFF2-40B4-BE49-F238E27FC236}">
                  <a16:creationId xmlns:a16="http://schemas.microsoft.com/office/drawing/2014/main" id="{962C70BC-6FA3-B430-7840-2FEEC2820243}"/>
                </a:ext>
              </a:extLst>
            </p:cNvPr>
            <p:cNvCxnSpPr>
              <a:cxnSpLocks/>
              <a:stCxn id="117" idx="6"/>
              <a:endCxn id="118"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21" name="Straight Arrow Connector 120">
              <a:extLst>
                <a:ext uri="{FF2B5EF4-FFF2-40B4-BE49-F238E27FC236}">
                  <a16:creationId xmlns:a16="http://schemas.microsoft.com/office/drawing/2014/main" id="{5D5D114C-A337-7807-7687-424C30F18B3E}"/>
                </a:ext>
              </a:extLst>
            </p:cNvPr>
            <p:cNvCxnSpPr>
              <a:cxnSpLocks/>
              <a:stCxn id="118" idx="6"/>
              <a:endCxn id="119"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22" name="Straight Arrow Connector 121">
              <a:extLst>
                <a:ext uri="{FF2B5EF4-FFF2-40B4-BE49-F238E27FC236}">
                  <a16:creationId xmlns:a16="http://schemas.microsoft.com/office/drawing/2014/main" id="{5ACDF655-6FDE-20DB-2ED6-3F34301E9094}"/>
                </a:ext>
              </a:extLst>
            </p:cNvPr>
            <p:cNvCxnSpPr>
              <a:cxnSpLocks/>
              <a:stCxn id="114" idx="6"/>
              <a:endCxn id="117"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23" name="Text Placeholder 3">
              <a:extLst>
                <a:ext uri="{FF2B5EF4-FFF2-40B4-BE49-F238E27FC236}">
                  <a16:creationId xmlns:a16="http://schemas.microsoft.com/office/drawing/2014/main" id="{9BCA03C9-65A1-1884-7826-7D204D413154}"/>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124" name="Text Placeholder 3">
              <a:extLst>
                <a:ext uri="{FF2B5EF4-FFF2-40B4-BE49-F238E27FC236}">
                  <a16:creationId xmlns:a16="http://schemas.microsoft.com/office/drawing/2014/main" id="{65AB8D78-74D0-2899-2844-DC89153D21D5}"/>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125" name="Text Placeholder 3">
              <a:extLst>
                <a:ext uri="{FF2B5EF4-FFF2-40B4-BE49-F238E27FC236}">
                  <a16:creationId xmlns:a16="http://schemas.microsoft.com/office/drawing/2014/main" id="{FD30B2B7-F22B-5D3D-0AC8-A21B002CD350}"/>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126" name="Text Placeholder 3">
              <a:extLst>
                <a:ext uri="{FF2B5EF4-FFF2-40B4-BE49-F238E27FC236}">
                  <a16:creationId xmlns:a16="http://schemas.microsoft.com/office/drawing/2014/main" id="{669A5A9B-FB53-2C05-79A4-9A92D428D3F6}"/>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127" name="Text Placeholder 3">
              <a:extLst>
                <a:ext uri="{FF2B5EF4-FFF2-40B4-BE49-F238E27FC236}">
                  <a16:creationId xmlns:a16="http://schemas.microsoft.com/office/drawing/2014/main" id="{2C7800B5-DC8C-2AB4-8A44-9FFECF436338}"/>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128" name="Text Placeholder 3">
              <a:extLst>
                <a:ext uri="{FF2B5EF4-FFF2-40B4-BE49-F238E27FC236}">
                  <a16:creationId xmlns:a16="http://schemas.microsoft.com/office/drawing/2014/main" id="{E6B88048-3A4F-79F0-C380-D379F0944E7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129" name="Text Placeholder 3">
              <a:extLst>
                <a:ext uri="{FF2B5EF4-FFF2-40B4-BE49-F238E27FC236}">
                  <a16:creationId xmlns:a16="http://schemas.microsoft.com/office/drawing/2014/main" id="{9A81A159-BA74-8FF2-FBD6-C775468EFEC9}"/>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130" name="Picture 129" descr="Progress, Blue 60 pictogram">
              <a:extLst>
                <a:ext uri="{FF2B5EF4-FFF2-40B4-BE49-F238E27FC236}">
                  <a16:creationId xmlns:a16="http://schemas.microsoft.com/office/drawing/2014/main" id="{73BA21A2-393E-E284-C39E-7E6DA719E60E}"/>
                </a:ext>
              </a:extLst>
            </p:cNvPr>
            <p:cNvPicPr>
              <a:picLocks noChangeAspect="1"/>
            </p:cNvPicPr>
            <p:nvPr/>
          </p:nvPicPr>
          <p:blipFill>
            <a:blip r:embed="rId2"/>
            <a:srcRect/>
            <a:stretch/>
          </p:blipFill>
          <p:spPr>
            <a:xfrm>
              <a:off x="15792707" y="712846"/>
              <a:ext cx="540000" cy="540000"/>
            </a:xfrm>
            <a:prstGeom prst="rect">
              <a:avLst/>
            </a:prstGeom>
          </p:spPr>
        </p:pic>
        <p:pic>
          <p:nvPicPr>
            <p:cNvPr id="131" name="Picture 130" descr="Strategy play, Blue 60 pictogram">
              <a:extLst>
                <a:ext uri="{FF2B5EF4-FFF2-40B4-BE49-F238E27FC236}">
                  <a16:creationId xmlns:a16="http://schemas.microsoft.com/office/drawing/2014/main" id="{37E28CDD-0EC6-C605-EC63-190F06F3483A}"/>
                </a:ext>
              </a:extLst>
            </p:cNvPr>
            <p:cNvPicPr>
              <a:picLocks noChangeAspect="1"/>
            </p:cNvPicPr>
            <p:nvPr/>
          </p:nvPicPr>
          <p:blipFill>
            <a:blip r:embed="rId3"/>
            <a:srcRect/>
            <a:stretch/>
          </p:blipFill>
          <p:spPr>
            <a:xfrm>
              <a:off x="20674077" y="712847"/>
              <a:ext cx="540000" cy="540000"/>
            </a:xfrm>
            <a:prstGeom prst="rect">
              <a:avLst/>
            </a:prstGeom>
          </p:spPr>
        </p:pic>
        <p:pic>
          <p:nvPicPr>
            <p:cNvPr id="132" name="Picture 131" descr="Inspect data, Blue 60 pictogram">
              <a:extLst>
                <a:ext uri="{FF2B5EF4-FFF2-40B4-BE49-F238E27FC236}">
                  <a16:creationId xmlns:a16="http://schemas.microsoft.com/office/drawing/2014/main" id="{4F707FB3-4CA6-79C6-B611-805B5B78AC23}"/>
                </a:ext>
              </a:extLst>
            </p:cNvPr>
            <p:cNvPicPr>
              <a:picLocks noChangeAspect="1"/>
            </p:cNvPicPr>
            <p:nvPr/>
          </p:nvPicPr>
          <p:blipFill>
            <a:blip r:embed="rId4"/>
            <a:srcRect/>
            <a:stretch/>
          </p:blipFill>
          <p:spPr>
            <a:xfrm>
              <a:off x="19452914" y="712847"/>
              <a:ext cx="540000" cy="540000"/>
            </a:xfrm>
            <a:prstGeom prst="rect">
              <a:avLst/>
            </a:prstGeom>
          </p:spPr>
        </p:pic>
        <p:pic>
          <p:nvPicPr>
            <p:cNvPr id="133" name="Picture 132" descr="Deliver insights, Blue 60 pictogram">
              <a:extLst>
                <a:ext uri="{FF2B5EF4-FFF2-40B4-BE49-F238E27FC236}">
                  <a16:creationId xmlns:a16="http://schemas.microsoft.com/office/drawing/2014/main" id="{7013287F-B078-7BDE-8F0D-E00BC5224809}"/>
                </a:ext>
              </a:extLst>
            </p:cNvPr>
            <p:cNvPicPr>
              <a:picLocks noChangeAspect="1"/>
            </p:cNvPicPr>
            <p:nvPr/>
          </p:nvPicPr>
          <p:blipFill>
            <a:blip r:embed="rId5">
              <a:biLevel thresh="25000"/>
            </a:blip>
            <a:srcRect/>
            <a:stretch/>
          </p:blipFill>
          <p:spPr>
            <a:xfrm>
              <a:off x="18212059" y="712847"/>
              <a:ext cx="540000" cy="540000"/>
            </a:xfrm>
            <a:prstGeom prst="rect">
              <a:avLst/>
            </a:prstGeom>
          </p:spPr>
        </p:pic>
        <p:pic>
          <p:nvPicPr>
            <p:cNvPr id="134" name="Picture 133" descr="Identity trust assessment, Blue 60 pictogram">
              <a:extLst>
                <a:ext uri="{FF2B5EF4-FFF2-40B4-BE49-F238E27FC236}">
                  <a16:creationId xmlns:a16="http://schemas.microsoft.com/office/drawing/2014/main" id="{6F161458-EFC8-5AD5-1B98-89F5A5ADB5FD}"/>
                </a:ext>
              </a:extLst>
            </p:cNvPr>
            <p:cNvPicPr>
              <a:picLocks noChangeAspect="1"/>
            </p:cNvPicPr>
            <p:nvPr/>
          </p:nvPicPr>
          <p:blipFill>
            <a:blip r:embed="rId6"/>
            <a:srcRect/>
            <a:stretch/>
          </p:blipFill>
          <p:spPr>
            <a:xfrm>
              <a:off x="21872264" y="712847"/>
              <a:ext cx="540000" cy="540000"/>
            </a:xfrm>
            <a:prstGeom prst="rect">
              <a:avLst/>
            </a:prstGeom>
          </p:spPr>
        </p:pic>
        <p:pic>
          <p:nvPicPr>
            <p:cNvPr id="135" name="Picture 134" descr="Security as a service, Blue 60 pictogram">
              <a:extLst>
                <a:ext uri="{FF2B5EF4-FFF2-40B4-BE49-F238E27FC236}">
                  <a16:creationId xmlns:a16="http://schemas.microsoft.com/office/drawing/2014/main" id="{408899B4-39D6-6A14-19C8-5E04B7A919D4}"/>
                </a:ext>
              </a:extLst>
            </p:cNvPr>
            <p:cNvPicPr>
              <a:picLocks noChangeAspect="1"/>
            </p:cNvPicPr>
            <p:nvPr/>
          </p:nvPicPr>
          <p:blipFill>
            <a:blip r:embed="rId7"/>
            <a:srcRect/>
            <a:stretch/>
          </p:blipFill>
          <p:spPr>
            <a:xfrm>
              <a:off x="23093427" y="712847"/>
              <a:ext cx="540000" cy="540000"/>
            </a:xfrm>
            <a:prstGeom prst="rect">
              <a:avLst/>
            </a:prstGeom>
          </p:spPr>
        </p:pic>
        <p:pic>
          <p:nvPicPr>
            <p:cNvPr id="136" name="Picture 135" descr="Vision, Blue 60 pictogram">
              <a:extLst>
                <a:ext uri="{FF2B5EF4-FFF2-40B4-BE49-F238E27FC236}">
                  <a16:creationId xmlns:a16="http://schemas.microsoft.com/office/drawing/2014/main" id="{FD15551C-A01B-EA7F-ED0F-3B043055EF59}"/>
                </a:ext>
              </a:extLst>
            </p:cNvPr>
            <p:cNvPicPr>
              <a:picLocks noChangeAspect="1"/>
            </p:cNvPicPr>
            <p:nvPr/>
          </p:nvPicPr>
          <p:blipFill>
            <a:blip r:embed="rId8"/>
            <a:srcRect/>
            <a:stretch/>
          </p:blipFill>
          <p:spPr>
            <a:xfrm>
              <a:off x="17023717" y="712847"/>
              <a:ext cx="540000" cy="540000"/>
            </a:xfrm>
            <a:prstGeom prst="rect">
              <a:avLst/>
            </a:prstGeom>
          </p:spPr>
        </p:pic>
      </p:grpSp>
      <p:sp>
        <p:nvSpPr>
          <p:cNvPr id="12" name="&quot;C&quot; gray rectangle">
            <a:extLst>
              <a:ext uri="{FF2B5EF4-FFF2-40B4-BE49-F238E27FC236}">
                <a16:creationId xmlns:a16="http://schemas.microsoft.com/office/drawing/2014/main" id="{4E94C524-46BD-CDEA-1901-EF8944C7E2BC}"/>
              </a:ext>
              <a:ext uri="{C183D7F6-B498-43B3-948B-1728B52AA6E4}">
                <adec:decorative xmlns:adec="http://schemas.microsoft.com/office/drawing/2017/decorative" val="1"/>
              </a:ext>
            </a:extLst>
          </p:cNvPr>
          <p:cNvSpPr>
            <a:spLocks noChangeAspect="1" noChangeArrowheads="1"/>
          </p:cNvSpPr>
          <p:nvPr/>
        </p:nvSpPr>
        <p:spPr bwMode="auto">
          <a:xfrm>
            <a:off x="9318854" y="2883774"/>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3" name="&quot;C&quot; gray rectangle">
            <a:extLst>
              <a:ext uri="{FF2B5EF4-FFF2-40B4-BE49-F238E27FC236}">
                <a16:creationId xmlns:a16="http://schemas.microsoft.com/office/drawing/2014/main" id="{647B7125-F75E-73AB-7EF8-F1DC386090D8}"/>
              </a:ext>
              <a:ext uri="{C183D7F6-B498-43B3-948B-1728B52AA6E4}">
                <adec:decorative xmlns:adec="http://schemas.microsoft.com/office/drawing/2017/decorative" val="1"/>
              </a:ext>
            </a:extLst>
          </p:cNvPr>
          <p:cNvSpPr>
            <a:spLocks noChangeAspect="1" noChangeArrowheads="1"/>
          </p:cNvSpPr>
          <p:nvPr/>
        </p:nvSpPr>
        <p:spPr bwMode="auto">
          <a:xfrm>
            <a:off x="9318854" y="1991178"/>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4" name="&quot;A&quot; blue rectangle">
            <a:extLst>
              <a:ext uri="{FF2B5EF4-FFF2-40B4-BE49-F238E27FC236}">
                <a16:creationId xmlns:a16="http://schemas.microsoft.com/office/drawing/2014/main" id="{285DE380-7601-06EC-364F-481936EE47EA}"/>
              </a:ext>
              <a:ext uri="{C183D7F6-B498-43B3-948B-1728B52AA6E4}">
                <adec:decorative xmlns:adec="http://schemas.microsoft.com/office/drawing/2017/decorative" val="1"/>
              </a:ext>
            </a:extLst>
          </p:cNvPr>
          <p:cNvSpPr>
            <a:spLocks noChangeAspect="1" noChangeArrowheads="1"/>
          </p:cNvSpPr>
          <p:nvPr/>
        </p:nvSpPr>
        <p:spPr bwMode="auto">
          <a:xfrm>
            <a:off x="9318854" y="3776369"/>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0889649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060DEF1B-C37B-0279-8E14-E674FA952769}"/>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8F1DB15C-1E73-9AB9-8CA6-9FFABBB31EB3}"/>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Data Processing</a:t>
            </a:r>
            <a:r>
              <a:rPr lang="en-US" sz="2699" kern="0" baseline="30000">
                <a:solidFill>
                  <a:srgbClr val="000000"/>
                </a:solidFill>
                <a:latin typeface="IBM Plex Sans Light"/>
              </a:rPr>
              <a:t>1</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06ED35A2-0E63-CCD2-8DB9-8F732EA64870}"/>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outlines how personal data is collected, stored, processed, and transferred, ensuring compliance with relevant privacy regulations and guidelines.</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005D951B-049D-6228-B014-DB78DA47485B}"/>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B6A9738-1DA0-3DFD-B07E-E75A55499983}"/>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4AA46A69-581C-C435-44C7-53F730FBEE9D}"/>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BEBCA429-1C80-0A73-0FA1-3678F9861733}"/>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75F39DCB-CE9E-0B91-5ED3-A75D8D8EC773}"/>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FDAA845F-5D89-2C53-F33A-6612B4DFF369}"/>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9F71350D-C373-A2F0-56E2-293C9B5050FD}"/>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4721546"/>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559797">
                <a:tc>
                  <a:txBody>
                    <a:bodyPr/>
                    <a:lstStyle/>
                    <a:p>
                      <a:pPr algn="l" fontAlgn="ctr">
                        <a:spcAft>
                          <a:spcPts val="600"/>
                        </a:spcAft>
                      </a:pPr>
                      <a:r>
                        <a:rPr lang="en-US" sz="1000" b="0" i="0" u="none" strike="noStrike">
                          <a:solidFill>
                            <a:schemeClr val="bg1"/>
                          </a:solidFill>
                          <a:effectLst/>
                          <a:latin typeface="+mj-lt"/>
                          <a:ea typeface="+mn-ea"/>
                        </a:rPr>
                        <a:t>Data fabric</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has implemented the ideal data process flow, where data from OLTP systems (e.g., core banking) is ingested, stored, and integrated into big data platforms, then consumed by various applications for reporting demonstrating a solid understanding from OLTP to data fabric.</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Understands data process from OLTP to data fabric</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10932244"/>
                  </a:ext>
                </a:extLst>
              </a:tr>
              <a:tr h="493136">
                <a:tc>
                  <a:txBody>
                    <a:bodyPr/>
                    <a:lstStyle/>
                    <a:p>
                      <a:pPr algn="l" fontAlgn="ctr">
                        <a:spcAft>
                          <a:spcPts val="600"/>
                        </a:spcAft>
                      </a:pPr>
                      <a:r>
                        <a:rPr lang="en-US" sz="1000" b="0" i="0" u="none" strike="noStrike">
                          <a:solidFill>
                            <a:schemeClr val="bg1"/>
                          </a:solidFill>
                          <a:effectLst/>
                          <a:latin typeface="+mj-lt"/>
                          <a:ea typeface="+mn-ea"/>
                        </a:rPr>
                        <a:t>Data processing</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Data processing is handled internally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Understands if the data processing done by internal or 3rd party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 </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32599413"/>
                  </a:ext>
                </a:extLst>
              </a:tr>
              <a:tr h="797896">
                <a:tc>
                  <a:txBody>
                    <a:bodyPr/>
                    <a:lstStyle/>
                    <a:p>
                      <a:pPr algn="l" fontAlgn="ctr">
                        <a:spcAft>
                          <a:spcPts val="600"/>
                        </a:spcAft>
                      </a:pPr>
                      <a:r>
                        <a:rPr lang="en-US" sz="1000" b="0" i="0" u="none" strike="noStrike" cap="none" spc="0" baseline="0">
                          <a:solidFill>
                            <a:schemeClr val="bg1"/>
                          </a:solidFill>
                          <a:effectLst/>
                          <a:uFillTx/>
                          <a:latin typeface="+mn-lt"/>
                          <a:ea typeface="+mn-ea"/>
                          <a:cs typeface="+mn-cs"/>
                          <a:sym typeface="IBM Plex Sans"/>
                        </a:rPr>
                        <a:t>Data fabric</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understands that private data, including personally identifiable information (PII) from customers, is loaded into the data fabric.</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Understands if there is any private data loaded into the data fabric</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873267"/>
                  </a:ext>
                </a:extLst>
              </a:tr>
              <a:tr h="493136">
                <a:tc>
                  <a:txBody>
                    <a:bodyPr/>
                    <a:lstStyle/>
                    <a:p>
                      <a:pPr algn="l" fontAlgn="ctr">
                        <a:spcAft>
                          <a:spcPts val="600"/>
                        </a:spcAft>
                      </a:pPr>
                      <a:r>
                        <a:rPr lang="en-US" sz="1000" b="0" i="0" u="none" strike="noStrike">
                          <a:solidFill>
                            <a:schemeClr val="bg1"/>
                          </a:solidFill>
                          <a:effectLst/>
                          <a:latin typeface="+mj-lt"/>
                          <a:ea typeface="+mn-ea"/>
                        </a:rPr>
                        <a:t>Data collecting, storing, and processing</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collects, stores, and processes customer data as a primary data type.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Understands  types of data does your organization collect, store, and process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61070740"/>
                  </a:ext>
                </a:extLst>
              </a:tr>
              <a:tr h="950276">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chemeClr val="bg1"/>
                          </a:solidFill>
                          <a:effectLst/>
                          <a:uFillTx/>
                          <a:latin typeface="+mn-lt"/>
                          <a:ea typeface="+mn-ea"/>
                          <a:cs typeface="+mn-cs"/>
                          <a:sym typeface="IBM Plex Sans"/>
                        </a:rPr>
                        <a:t>Data protection</a:t>
                      </a:r>
                    </a:p>
                    <a:p>
                      <a:pPr algn="l" fontAlgn="ctr">
                        <a:spcAft>
                          <a:spcPts val="600"/>
                        </a:spcAft>
                      </a:pPr>
                      <a:endParaRPr lang="en-US" sz="1000" b="0" i="0" u="none" strike="noStrike">
                        <a:solidFill>
                          <a:schemeClr val="bg1"/>
                        </a:solidFill>
                        <a:effectLst/>
                        <a:latin typeface="+mj-lt"/>
                        <a:ea typeface="+mn-ea"/>
                      </a:endParaRP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User consent for data processing is not currently obtained or managed through any established mechanism.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Ensures compliance with data protection and privacy regulations (e.g., PDP, CCPA) in data processing activities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Needs to implement mechanisms to obtain and manage user consent, ensuring compliance with data protection and privacy regulations such as PDP and CCPA.</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52262396"/>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16</a:t>
            </a:fld>
            <a:endParaRPr lang="en-US">
              <a:solidFill>
                <a:srgbClr val="000000"/>
              </a:solidFill>
            </a:endParaRPr>
          </a:p>
        </p:txBody>
      </p:sp>
      <p:grpSp>
        <p:nvGrpSpPr>
          <p:cNvPr id="62" name="Group 61">
            <a:extLst>
              <a:ext uri="{FF2B5EF4-FFF2-40B4-BE49-F238E27FC236}">
                <a16:creationId xmlns:a16="http://schemas.microsoft.com/office/drawing/2014/main" id="{7413FB43-008B-C998-234D-71991E09CD64}"/>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5F998358-7D45-A6AF-D1E6-43A1EB510663}"/>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45B3F450-9CB5-C3B3-8137-CED4E95D0D13}"/>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D46B4DAD-A26C-AAD9-A543-18866EE0862E}"/>
                </a:ext>
              </a:extLst>
            </p:cNvPr>
            <p:cNvCxnSpPr>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862FC76D-44E0-1BCD-304D-18D830DDF4FA}"/>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14C6994A-7269-2E5A-3957-60BE44FA0871}"/>
                </a:ext>
              </a:extLst>
            </p:cNvPr>
            <p:cNvSpPr/>
            <p:nvPr/>
          </p:nvSpPr>
          <p:spPr bwMode="auto">
            <a:xfrm>
              <a:off x="1926539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48433FEA-75E5-B589-122D-82BE3C482D51}"/>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CB3E601B-5AF0-11E2-BA92-D22A91BA0186}"/>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EF684AE9-B7F6-E690-3E7B-752D38C983EA}"/>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1D168359-7DF6-A5F9-79AD-78F81A04B45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6DB987BD-CE2F-6404-58EC-B2EC5D9D118C}"/>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A01CE818-AF10-9367-5904-A8C98CAB5419}"/>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18A20AE5-B627-D05C-6EEF-65A381CFF7B6}"/>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6C4472B0-4A92-A922-5DCB-C81B44F26433}"/>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E68E8616-4F23-1302-26DA-D83F1A590EDB}"/>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0B8546A4-F257-13CD-2AB0-B00AAFF264AF}"/>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E3DEBE8B-B790-49C3-F063-0D93777D8364}"/>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B1D173C3-0EDE-E898-0378-11788D72C39A}"/>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52C78089-CEBF-56C4-A8DD-58671E3A018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349D4E5B-3A32-58FE-EA69-515A0FE6A6F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E7FE995F-329E-C462-E4FE-EC887B303DB3}"/>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FF2CC0CA-6903-A550-9898-2AD76E8937C9}"/>
                </a:ext>
              </a:extLst>
            </p:cNvPr>
            <p:cNvPicPr>
              <a:picLocks noChangeAspect="1"/>
            </p:cNvPicPr>
            <p:nvPr/>
          </p:nvPicPr>
          <p:blipFill>
            <a:blip r:embed="rId2"/>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9486E57D-6BB2-65C8-BFE4-96B5A22EE1A4}"/>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C09A0001-A57A-CD29-F376-F6FE38A93BDA}"/>
                </a:ext>
              </a:extLst>
            </p:cNvPr>
            <p:cNvPicPr>
              <a:picLocks noChangeAspect="1"/>
            </p:cNvPicPr>
            <p:nvPr/>
          </p:nvPicPr>
          <p:blipFill>
            <a:blip r:embed="rId4">
              <a:biLevel thresh="25000"/>
            </a:blip>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F0D88F0E-D5CD-4B15-0C62-47D9D1CD78A9}"/>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53600C8C-DABB-B49D-6B68-A3078EB546D9}"/>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4266702B-0A9D-BF76-AEE8-B48AA64A1E0C}"/>
                </a:ext>
              </a:extLst>
            </p:cNvPr>
            <p:cNvPicPr>
              <a:picLocks noChangeAspect="1"/>
            </p:cNvPicPr>
            <p:nvPr/>
          </p:nvPicPr>
          <p:blipFill>
            <a:blip r:embed="rId7"/>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7D37FC78-756F-FA27-BC4C-E212E3A2E781}"/>
                </a:ext>
              </a:extLst>
            </p:cNvPr>
            <p:cNvPicPr>
              <a:picLocks noChangeAspect="1"/>
            </p:cNvPicPr>
            <p:nvPr/>
          </p:nvPicPr>
          <p:blipFill>
            <a:blip r:embed="rId8"/>
            <a:srcRect/>
            <a:stretch/>
          </p:blipFill>
          <p:spPr>
            <a:xfrm>
              <a:off x="17023717" y="712847"/>
              <a:ext cx="540000" cy="540000"/>
            </a:xfrm>
            <a:prstGeom prst="rect">
              <a:avLst/>
            </a:prstGeom>
          </p:spPr>
        </p:pic>
      </p:grpSp>
      <p:sp>
        <p:nvSpPr>
          <p:cNvPr id="2" name="&quot;R&quot; teal rectangle">
            <a:extLst>
              <a:ext uri="{FF2B5EF4-FFF2-40B4-BE49-F238E27FC236}">
                <a16:creationId xmlns:a16="http://schemas.microsoft.com/office/drawing/2014/main" id="{FF577412-DEA2-12AF-4ED1-797B80D51AC7}"/>
              </a:ext>
              <a:ext uri="{C183D7F6-B498-43B3-948B-1728B52AA6E4}">
                <adec:decorative xmlns:adec="http://schemas.microsoft.com/office/drawing/2017/decorative" val="1"/>
              </a:ext>
            </a:extLst>
          </p:cNvPr>
          <p:cNvSpPr>
            <a:spLocks noChangeAspect="1" noChangeArrowheads="1"/>
          </p:cNvSpPr>
          <p:nvPr/>
        </p:nvSpPr>
        <p:spPr bwMode="auto">
          <a:xfrm>
            <a:off x="9317350" y="2217706"/>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 name="&quot;R&quot; teal rectangle">
            <a:extLst>
              <a:ext uri="{FF2B5EF4-FFF2-40B4-BE49-F238E27FC236}">
                <a16:creationId xmlns:a16="http://schemas.microsoft.com/office/drawing/2014/main" id="{C81F90A4-287F-FD8A-CDD8-F41724A988D4}"/>
              </a:ext>
              <a:ext uri="{C183D7F6-B498-43B3-948B-1728B52AA6E4}">
                <adec:decorative xmlns:adec="http://schemas.microsoft.com/office/drawing/2017/decorative" val="1"/>
              </a:ext>
            </a:extLst>
          </p:cNvPr>
          <p:cNvSpPr>
            <a:spLocks noChangeAspect="1" noChangeArrowheads="1"/>
          </p:cNvSpPr>
          <p:nvPr/>
        </p:nvSpPr>
        <p:spPr bwMode="auto">
          <a:xfrm>
            <a:off x="9317350" y="3310203"/>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4" name="&quot;R&quot; teal rectangle">
            <a:extLst>
              <a:ext uri="{FF2B5EF4-FFF2-40B4-BE49-F238E27FC236}">
                <a16:creationId xmlns:a16="http://schemas.microsoft.com/office/drawing/2014/main" id="{FFA4934D-167E-A569-D1CF-B1D2E486F65A}"/>
              </a:ext>
              <a:ext uri="{C183D7F6-B498-43B3-948B-1728B52AA6E4}">
                <adec:decorative xmlns:adec="http://schemas.microsoft.com/office/drawing/2017/decorative" val="1"/>
              </a:ext>
            </a:extLst>
          </p:cNvPr>
          <p:cNvSpPr>
            <a:spLocks noChangeAspect="1" noChangeArrowheads="1"/>
          </p:cNvSpPr>
          <p:nvPr/>
        </p:nvSpPr>
        <p:spPr bwMode="auto">
          <a:xfrm>
            <a:off x="9317350" y="3987453"/>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8" name="&quot;R&quot; teal rectangle">
            <a:extLst>
              <a:ext uri="{FF2B5EF4-FFF2-40B4-BE49-F238E27FC236}">
                <a16:creationId xmlns:a16="http://schemas.microsoft.com/office/drawing/2014/main" id="{5F4A7F61-8A2C-68AC-5602-BC872EF80CB1}"/>
              </a:ext>
              <a:ext uri="{C183D7F6-B498-43B3-948B-1728B52AA6E4}">
                <adec:decorative xmlns:adec="http://schemas.microsoft.com/office/drawing/2017/decorative" val="1"/>
              </a:ext>
            </a:extLst>
          </p:cNvPr>
          <p:cNvSpPr>
            <a:spLocks noChangeAspect="1" noChangeArrowheads="1"/>
          </p:cNvSpPr>
          <p:nvPr/>
        </p:nvSpPr>
        <p:spPr bwMode="auto">
          <a:xfrm>
            <a:off x="9317350" y="4600690"/>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11" name="&quot;C&quot; gray rectangle">
            <a:extLst>
              <a:ext uri="{FF2B5EF4-FFF2-40B4-BE49-F238E27FC236}">
                <a16:creationId xmlns:a16="http://schemas.microsoft.com/office/drawing/2014/main" id="{283936B8-7D6C-80FE-3E91-7981300EF9D6}"/>
              </a:ext>
              <a:ext uri="{C183D7F6-B498-43B3-948B-1728B52AA6E4}">
                <adec:decorative xmlns:adec="http://schemas.microsoft.com/office/drawing/2017/decorative" val="1"/>
              </a:ext>
            </a:extLst>
          </p:cNvPr>
          <p:cNvSpPr>
            <a:spLocks noChangeAspect="1" noChangeArrowheads="1"/>
          </p:cNvSpPr>
          <p:nvPr/>
        </p:nvSpPr>
        <p:spPr bwMode="auto">
          <a:xfrm>
            <a:off x="9305905" y="5298592"/>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23416566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6A655-BF4F-9A25-983E-E07BFF38F584}"/>
            </a:ext>
          </a:extLst>
        </p:cNvPr>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E0EEDAF8-7F24-5422-FC3C-FD1C04A92855}"/>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A2F4AFC1-313B-F406-69B9-840460A7DA96}"/>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Data Processing</a:t>
            </a:r>
            <a:r>
              <a:rPr lang="en-US" sz="2699" kern="0" baseline="30000">
                <a:solidFill>
                  <a:srgbClr val="000000"/>
                </a:solidFill>
                <a:latin typeface="IBM Plex Sans Light"/>
              </a:rPr>
              <a:t>2</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D8EE7E75-BAEC-6AEF-902F-AE6A1FD0DA58}"/>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outlines how personal data is collected, stored, processed, and transferred, ensuring compliance with relevant privacy regulations and guidelines.</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0E7F7F3F-9A69-27D7-832D-77AC226B9607}"/>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5DBC2EF2-96AA-B9C4-A47E-0C4036D6BB22}"/>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E85C99A5-9A8D-644C-0E68-DAE7D279CA37}"/>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BC15641B-CBD9-CC66-692F-92669B80D6A2}"/>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187DF14E-8B42-6AFB-20D5-0157616E3E12}"/>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17EF6A21-01AC-4A02-DA9A-72A898B19A2E}"/>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6642555D-5E93-8B99-0DC8-34C7FDC0B54F}"/>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87B1C3A1-D248-3581-2879-57AA7D3A63C2}"/>
              </a:ext>
            </a:extLst>
          </p:cNvPr>
          <p:cNvGraphicFramePr>
            <a:graphicFrameLocks/>
          </p:cNvGraphicFramePr>
          <p:nvPr/>
        </p:nvGraphicFramePr>
        <p:xfrm>
          <a:off x="2608948" y="1274949"/>
          <a:ext cx="9430919" cy="4416785"/>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102656">
                <a:tc>
                  <a:txBody>
                    <a:bodyPr/>
                    <a:lstStyle/>
                    <a:p>
                      <a:pPr algn="l" fontAlgn="ctr">
                        <a:spcAft>
                          <a:spcPts val="600"/>
                        </a:spcAft>
                      </a:pPr>
                      <a:r>
                        <a:rPr lang="en-US" sz="1000" b="0" i="0" u="none" strike="noStrike">
                          <a:solidFill>
                            <a:schemeClr val="bg1"/>
                          </a:solidFill>
                          <a:effectLst/>
                          <a:latin typeface="+mj-lt"/>
                          <a:ea typeface="+mn-ea"/>
                        </a:rPr>
                        <a:t>Data security and protection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has implemented data security measures, including Privileged Access Management (PAM), application-level metrics, and supervisor approval processes to help prevent unauthorized access and breaches.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Has measures in place to ensure data security and protect against unauthorized access or breaches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10932244"/>
                  </a:ext>
                </a:extLst>
              </a:tr>
              <a:tr h="645516">
                <a:tc>
                  <a:txBody>
                    <a:bodyPr/>
                    <a:lstStyle/>
                    <a:p>
                      <a:pPr algn="l" fontAlgn="ctr">
                        <a:spcAft>
                          <a:spcPts val="600"/>
                        </a:spcAft>
                      </a:pPr>
                      <a:r>
                        <a:rPr lang="en-US" sz="1000" b="0" i="0" u="none" strike="noStrike">
                          <a:solidFill>
                            <a:schemeClr val="bg1"/>
                          </a:solidFill>
                          <a:effectLst/>
                          <a:latin typeface="+mj-lt"/>
                          <a:ea typeface="+mn-ea"/>
                        </a:rPr>
                        <a:t>Data retention and disposal</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Measures to ensure data security and protect against unauthorized access or breaches are in place within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Manage data retention and disposal in accordance with legal and regulatory requirements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32599413"/>
                  </a:ext>
                </a:extLst>
              </a:tr>
              <a:tr h="950276">
                <a:tc>
                  <a:txBody>
                    <a:bodyPr/>
                    <a:lstStyle/>
                    <a:p>
                      <a:pPr algn="l" fontAlgn="ctr">
                        <a:spcAft>
                          <a:spcPts val="600"/>
                        </a:spcAft>
                      </a:pPr>
                      <a:r>
                        <a:rPr lang="en-US" sz="1000" b="0" i="0" u="none" strike="noStrike" cap="none" spc="0" baseline="0">
                          <a:solidFill>
                            <a:schemeClr val="bg1"/>
                          </a:solidFill>
                          <a:effectLst/>
                          <a:uFillTx/>
                          <a:latin typeface="+mn-lt"/>
                          <a:ea typeface="+mn-ea"/>
                          <a:cs typeface="+mn-cs"/>
                          <a:sym typeface="IBM Plex Sans"/>
                        </a:rPr>
                        <a:t>Tracking data</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Mechanisms or tools to track and manage data processing activities are not yet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Has mechanisms or tools to track and manage data processing activities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Implement tools or mechanisms to effectively track and manage data processing activities, ensuring transparency, accountability, and regulatory compliance.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873267"/>
                  </a:ext>
                </a:extLst>
              </a:tr>
              <a:tr h="493136">
                <a:tc>
                  <a:txBody>
                    <a:bodyPr/>
                    <a:lstStyle/>
                    <a:p>
                      <a:pPr algn="l" fontAlgn="ctr">
                        <a:spcAft>
                          <a:spcPts val="600"/>
                        </a:spcAft>
                      </a:pPr>
                      <a:r>
                        <a:rPr lang="en-US" sz="1000" b="0" i="0" u="none" strike="noStrike">
                          <a:solidFill>
                            <a:schemeClr val="bg1"/>
                          </a:solidFill>
                          <a:effectLst/>
                          <a:latin typeface="+mj-lt"/>
                          <a:ea typeface="+mn-ea"/>
                        </a:rPr>
                        <a:t>User consent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There are no mechanisms in place to obtain or manage user consent for data processing.</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Obtain and manage user consent for data processing</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Needs to establish mechanisms to obtain and manage user consent for data processing</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61070740"/>
                  </a:ext>
                </a:extLst>
              </a:tr>
              <a:tr h="797896">
                <a:tc>
                  <a:txBody>
                    <a:bodyPr/>
                    <a:lstStyle/>
                    <a:p>
                      <a:pPr algn="l" fontAlgn="ctr">
                        <a:spcAft>
                          <a:spcPts val="600"/>
                        </a:spcAft>
                      </a:pPr>
                      <a:r>
                        <a:rPr lang="en-US" sz="1000" b="0" i="0" u="none" strike="noStrike">
                          <a:solidFill>
                            <a:schemeClr val="bg1"/>
                          </a:solidFill>
                          <a:effectLst/>
                          <a:latin typeface="+mj-lt"/>
                          <a:ea typeface="+mn-ea"/>
                        </a:rPr>
                        <a:t>Transparency Data Processing</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Transparency in data processing is addressed through initial consent provided via forms, giving individuals basic information about how their data is used.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Ensure that data processing activities are transparent to individuals and provide them with sufficient information about how their data is used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52262396"/>
                  </a:ext>
                </a:extLst>
              </a:tr>
            </a:tbl>
          </a:graphicData>
        </a:graphic>
      </p:graphicFrame>
      <p:sp>
        <p:nvSpPr>
          <p:cNvPr id="19" name="Footer Placeholder 3">
            <a:extLst>
              <a:ext uri="{FF2B5EF4-FFF2-40B4-BE49-F238E27FC236}">
                <a16:creationId xmlns:a16="http://schemas.microsoft.com/office/drawing/2014/main" id="{6D44DE7F-7658-EC22-DD03-7ED901BAFB1A}"/>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BC1E628A-8323-AC00-C065-07E95F615894}"/>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17</a:t>
            </a:fld>
            <a:endParaRPr lang="en-US">
              <a:solidFill>
                <a:srgbClr val="000000"/>
              </a:solidFill>
            </a:endParaRPr>
          </a:p>
        </p:txBody>
      </p:sp>
      <p:grpSp>
        <p:nvGrpSpPr>
          <p:cNvPr id="62" name="Group 61">
            <a:extLst>
              <a:ext uri="{FF2B5EF4-FFF2-40B4-BE49-F238E27FC236}">
                <a16:creationId xmlns:a16="http://schemas.microsoft.com/office/drawing/2014/main" id="{7F8622F7-46D0-5AA9-9FF1-E825DD13387C}"/>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68565803-55A1-2E2B-9E50-6D8A98DF288A}"/>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505F5A36-A9DA-E132-48AA-AC26EA5E2F3F}"/>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5C80C3A7-25BC-C948-D263-E39ACA2BA615}"/>
                </a:ext>
              </a:extLst>
            </p:cNvPr>
            <p:cNvCxnSpPr>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AC9EB740-C1C1-1A1F-F91A-91281A85C1E3}"/>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38CD81FC-838A-7EC1-E6B4-AD7DFCADB58E}"/>
                </a:ext>
              </a:extLst>
            </p:cNvPr>
            <p:cNvSpPr/>
            <p:nvPr/>
          </p:nvSpPr>
          <p:spPr bwMode="auto">
            <a:xfrm>
              <a:off x="1926539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95447F8B-C0D1-D0DE-3D16-FAD20417CDD8}"/>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B41D8D58-1DAE-B9C9-DB07-401B02AED979}"/>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FB8222E6-4A30-4B26-8CF9-5C8226BD4E98}"/>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DBA4C62B-D16D-93E7-560C-A00D11F3898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E70AB2E6-82EC-4C5A-C7D2-0E02CF8FB74D}"/>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5211517F-ECB4-3EB9-8F9E-180CC346B4C5}"/>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D0FACCCC-D5FD-865D-F477-206827A0B397}"/>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93EDE0B6-225B-0B27-56D7-9A8D887E5C8F}"/>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C0BE1F61-B3B6-1FCA-DDAA-6B4F5BA280A2}"/>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5553AE2C-8DB8-33A4-BB25-0DF6BB9CCCCA}"/>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BE349539-C9EE-6024-E17B-8A393CF11280}"/>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A056F09B-1098-9ECE-B27A-68BBB7F5270D}"/>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092D1A31-902F-5FA2-8FF7-7CCE79DC6684}"/>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C9B61DAC-2C92-E9AF-5809-199D13A85DCB}"/>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F12BEC1D-BB97-18A8-B719-C7B891AC29E2}"/>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5BAE8074-D617-9246-F633-3ADC0C0B602D}"/>
                </a:ext>
              </a:extLst>
            </p:cNvPr>
            <p:cNvPicPr>
              <a:picLocks noChangeAspect="1"/>
            </p:cNvPicPr>
            <p:nvPr/>
          </p:nvPicPr>
          <p:blipFill>
            <a:blip r:embed="rId2"/>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0DCCB65F-540D-7385-D56E-509B5BF26020}"/>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B92B136B-2E6D-1CC2-23F3-9D9425D00594}"/>
                </a:ext>
              </a:extLst>
            </p:cNvPr>
            <p:cNvPicPr>
              <a:picLocks noChangeAspect="1"/>
            </p:cNvPicPr>
            <p:nvPr/>
          </p:nvPicPr>
          <p:blipFill>
            <a:blip r:embed="rId4">
              <a:biLevel thresh="25000"/>
            </a:blip>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03AF94DA-8DC7-B800-6BBD-28C7FE2AA479}"/>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570A6F32-140B-E108-F9F1-95C1D8E32525}"/>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EDA1AAB1-D91B-DA60-777E-3504FDFF342B}"/>
                </a:ext>
              </a:extLst>
            </p:cNvPr>
            <p:cNvPicPr>
              <a:picLocks noChangeAspect="1"/>
            </p:cNvPicPr>
            <p:nvPr/>
          </p:nvPicPr>
          <p:blipFill>
            <a:blip r:embed="rId7"/>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4CC1BD18-08C5-0E07-A2F3-85270CF3F423}"/>
                </a:ext>
              </a:extLst>
            </p:cNvPr>
            <p:cNvPicPr>
              <a:picLocks noChangeAspect="1"/>
            </p:cNvPicPr>
            <p:nvPr/>
          </p:nvPicPr>
          <p:blipFill>
            <a:blip r:embed="rId8"/>
            <a:srcRect/>
            <a:stretch/>
          </p:blipFill>
          <p:spPr>
            <a:xfrm>
              <a:off x="17023717" y="712847"/>
              <a:ext cx="540000" cy="540000"/>
            </a:xfrm>
            <a:prstGeom prst="rect">
              <a:avLst/>
            </a:prstGeom>
          </p:spPr>
        </p:pic>
      </p:grpSp>
      <p:sp>
        <p:nvSpPr>
          <p:cNvPr id="2" name="&quot;R&quot; teal rectangle">
            <a:extLst>
              <a:ext uri="{FF2B5EF4-FFF2-40B4-BE49-F238E27FC236}">
                <a16:creationId xmlns:a16="http://schemas.microsoft.com/office/drawing/2014/main" id="{99A356D5-EE91-0440-AD80-8A0467C27045}"/>
              </a:ext>
              <a:ext uri="{C183D7F6-B498-43B3-948B-1728B52AA6E4}">
                <adec:decorative xmlns:adec="http://schemas.microsoft.com/office/drawing/2017/decorative" val="1"/>
              </a:ext>
            </a:extLst>
          </p:cNvPr>
          <p:cNvSpPr>
            <a:spLocks noChangeAspect="1" noChangeArrowheads="1"/>
          </p:cNvSpPr>
          <p:nvPr/>
        </p:nvSpPr>
        <p:spPr bwMode="auto">
          <a:xfrm>
            <a:off x="9309698" y="2052627"/>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 name="&quot;R&quot; teal rectangle">
            <a:extLst>
              <a:ext uri="{FF2B5EF4-FFF2-40B4-BE49-F238E27FC236}">
                <a16:creationId xmlns:a16="http://schemas.microsoft.com/office/drawing/2014/main" id="{86DBC970-2E11-E1C7-9385-49CA0391EB09}"/>
              </a:ext>
              <a:ext uri="{C183D7F6-B498-43B3-948B-1728B52AA6E4}">
                <adec:decorative xmlns:adec="http://schemas.microsoft.com/office/drawing/2017/decorative" val="1"/>
              </a:ext>
            </a:extLst>
          </p:cNvPr>
          <p:cNvSpPr>
            <a:spLocks noChangeAspect="1" noChangeArrowheads="1"/>
          </p:cNvSpPr>
          <p:nvPr/>
        </p:nvSpPr>
        <p:spPr bwMode="auto">
          <a:xfrm>
            <a:off x="9309699" y="510001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4" name="&quot;R&quot; teal rectangle">
            <a:extLst>
              <a:ext uri="{FF2B5EF4-FFF2-40B4-BE49-F238E27FC236}">
                <a16:creationId xmlns:a16="http://schemas.microsoft.com/office/drawing/2014/main" id="{24F002B8-0C78-276C-3C1F-3CB983D808D0}"/>
              </a:ext>
              <a:ext uri="{C183D7F6-B498-43B3-948B-1728B52AA6E4}">
                <adec:decorative xmlns:adec="http://schemas.microsoft.com/office/drawing/2017/decorative" val="1"/>
              </a:ext>
            </a:extLst>
          </p:cNvPr>
          <p:cNvSpPr>
            <a:spLocks noChangeAspect="1" noChangeArrowheads="1"/>
          </p:cNvSpPr>
          <p:nvPr/>
        </p:nvSpPr>
        <p:spPr bwMode="auto">
          <a:xfrm>
            <a:off x="9309698" y="2927942"/>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8" name="&quot;C&quot; gray rectangle">
            <a:extLst>
              <a:ext uri="{FF2B5EF4-FFF2-40B4-BE49-F238E27FC236}">
                <a16:creationId xmlns:a16="http://schemas.microsoft.com/office/drawing/2014/main" id="{45DEC693-CF9F-14D3-6F39-A9BE8A3856C8}"/>
              </a:ext>
              <a:ext uri="{C183D7F6-B498-43B3-948B-1728B52AA6E4}">
                <adec:decorative xmlns:adec="http://schemas.microsoft.com/office/drawing/2017/decorative" val="1"/>
              </a:ext>
            </a:extLst>
          </p:cNvPr>
          <p:cNvSpPr>
            <a:spLocks noChangeAspect="1" noChangeArrowheads="1"/>
          </p:cNvSpPr>
          <p:nvPr/>
        </p:nvSpPr>
        <p:spPr bwMode="auto">
          <a:xfrm>
            <a:off x="9309698" y="3722856"/>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1" name="&quot;C&quot; gray rectangle">
            <a:extLst>
              <a:ext uri="{FF2B5EF4-FFF2-40B4-BE49-F238E27FC236}">
                <a16:creationId xmlns:a16="http://schemas.microsoft.com/office/drawing/2014/main" id="{4DD04DC3-F9E3-381E-FFFA-599D2099E989}"/>
              </a:ext>
              <a:ext uri="{C183D7F6-B498-43B3-948B-1728B52AA6E4}">
                <adec:decorative xmlns:adec="http://schemas.microsoft.com/office/drawing/2017/decorative" val="1"/>
              </a:ext>
            </a:extLst>
          </p:cNvPr>
          <p:cNvSpPr>
            <a:spLocks noChangeAspect="1" noChangeArrowheads="1"/>
          </p:cNvSpPr>
          <p:nvPr/>
        </p:nvSpPr>
        <p:spPr bwMode="auto">
          <a:xfrm>
            <a:off x="9309698" y="4444678"/>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33027618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F363D-8BFF-07D7-2698-5E03F6C81536}"/>
            </a:ext>
          </a:extLst>
        </p:cNvPr>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3D192B1A-11ED-563A-2E7F-83298398A2C5}"/>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71B045F3-957D-14A2-CA30-28DAF5411F67}"/>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Data Processing</a:t>
            </a:r>
            <a:r>
              <a:rPr lang="en-US" sz="2699" kern="0" baseline="30000">
                <a:solidFill>
                  <a:srgbClr val="000000"/>
                </a:solidFill>
                <a:latin typeface="IBM Plex Sans Light"/>
              </a:rPr>
              <a:t>3</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1C85C687-320D-6284-D3DD-DF776DF10A4D}"/>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outlines how personal data is collected, stored, processed, and transferred, ensuring compliance with relevant privacy regulations and guidelines.</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6582E591-14B2-A329-4325-5393716086EE}"/>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42CE037A-ABD6-FBB2-9919-369B704378B9}"/>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501CCAC1-137D-1BAD-F465-3C65A1324DCB}"/>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D78D6DBA-648C-6B9F-752B-70C5710743D7}"/>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37890320-CB60-E76A-D89A-941FFBF5BB9B}"/>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AD06E0D3-0BC5-862A-305C-51821E9166CC}"/>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C02D4C38-B16D-41A3-952F-7C87BB53DC34}"/>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A361C084-B5C3-3478-5631-DD6C02EF2486}"/>
              </a:ext>
            </a:extLst>
          </p:cNvPr>
          <p:cNvGraphicFramePr>
            <a:graphicFrameLocks/>
          </p:cNvGraphicFramePr>
          <p:nvPr/>
        </p:nvGraphicFramePr>
        <p:xfrm>
          <a:off x="2608948" y="1274949"/>
          <a:ext cx="9430919" cy="1834722"/>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407417">
                <a:tc>
                  <a:txBody>
                    <a:bodyPr/>
                    <a:lstStyle/>
                    <a:p>
                      <a:pPr algn="l" fontAlgn="ctr">
                        <a:spcAft>
                          <a:spcPts val="600"/>
                        </a:spcAft>
                      </a:pPr>
                      <a:r>
                        <a:rPr lang="en-US" sz="1000" b="0" i="0" u="none" strike="noStrike">
                          <a:solidFill>
                            <a:schemeClr val="bg1"/>
                          </a:solidFill>
                          <a:effectLst/>
                          <a:latin typeface="+mj-lt"/>
                          <a:ea typeface="+mn-ea"/>
                        </a:rPr>
                        <a:t>Data transfers and sharing</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manages data transfers and sharing with third parties by sending raw data to regulators such as OJK and through API integrations with partners like insurance companies. These activities are governed by NDAs and formal agreements (PKS) to ensure data protection.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Manage data transfers and sharing with third parties or external organizations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29495399"/>
                  </a:ext>
                </a:extLst>
              </a:tr>
            </a:tbl>
          </a:graphicData>
        </a:graphic>
      </p:graphicFrame>
      <p:sp>
        <p:nvSpPr>
          <p:cNvPr id="19" name="Footer Placeholder 3">
            <a:extLst>
              <a:ext uri="{FF2B5EF4-FFF2-40B4-BE49-F238E27FC236}">
                <a16:creationId xmlns:a16="http://schemas.microsoft.com/office/drawing/2014/main" id="{A5E7CE75-718A-290C-A4AB-2658F128A7FA}"/>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88255763-E75F-40AD-B160-37AB47600FDF}"/>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18</a:t>
            </a:fld>
            <a:endParaRPr lang="en-US">
              <a:solidFill>
                <a:srgbClr val="000000"/>
              </a:solidFill>
            </a:endParaRPr>
          </a:p>
        </p:txBody>
      </p:sp>
      <p:grpSp>
        <p:nvGrpSpPr>
          <p:cNvPr id="62" name="Group 61">
            <a:extLst>
              <a:ext uri="{FF2B5EF4-FFF2-40B4-BE49-F238E27FC236}">
                <a16:creationId xmlns:a16="http://schemas.microsoft.com/office/drawing/2014/main" id="{F1E44AC7-E30B-5F63-D5DB-0F28DA8D6DB1}"/>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38F9B6E3-B1EF-6355-393C-3880A986B969}"/>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58051D27-106A-F487-6C67-D41B703DF16A}"/>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D904EFE1-1CB0-7988-E221-A780C92A4324}"/>
                </a:ext>
              </a:extLst>
            </p:cNvPr>
            <p:cNvCxnSpPr>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E83FEC80-DC79-C93D-9C20-BE251AF0ECA2}"/>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B36CC563-4949-34B9-E168-1CEA46470E1D}"/>
                </a:ext>
              </a:extLst>
            </p:cNvPr>
            <p:cNvSpPr/>
            <p:nvPr/>
          </p:nvSpPr>
          <p:spPr bwMode="auto">
            <a:xfrm>
              <a:off x="1926539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89DA276A-DEEE-6DF1-B938-51937CC18871}"/>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302D4C08-205E-4538-1355-430090B799DF}"/>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35BCFAD5-F64C-CA00-0F2A-A6EF8C1AA4F9}"/>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7389DECC-9442-F31C-3E70-251738D7BCF0}"/>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0EEEB9FC-D78C-6A0F-2863-8C8158AF8DCA}"/>
                </a:ext>
              </a:extLst>
            </p:cNvPr>
            <p:cNvSpPr/>
            <p:nvPr/>
          </p:nvSpPr>
          <p:spPr bwMode="auto">
            <a:xfrm>
              <a:off x="2291575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3F22EECE-9A43-8666-1445-790D2C634C72}"/>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53F58DAF-870B-08ED-79CA-1DE1BC9919E7}"/>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A75FCBC7-9119-54F4-A43F-B359639C0E81}"/>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6EBBFE3A-03DF-EA13-D7E8-03E0E178D03E}"/>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E92B25E3-EB3B-897E-E191-B319947385E9}"/>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C40D851C-8721-B1B1-1F53-49BE5DC68BCE}"/>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3CB41D2B-BD91-80AF-FB28-4A4D19E028C9}"/>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7004B6FC-68B3-AE49-EEEC-3CEF7361DEE6}"/>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A8367295-CD9A-C279-3483-6A1718126BCA}"/>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2D8C7475-F191-BDB3-A55F-546E4CAB3C7F}"/>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25FEAC2D-962D-69C0-8A52-9B1EAB0420F3}"/>
                </a:ext>
              </a:extLst>
            </p:cNvPr>
            <p:cNvPicPr>
              <a:picLocks noChangeAspect="1"/>
            </p:cNvPicPr>
            <p:nvPr/>
          </p:nvPicPr>
          <p:blipFill>
            <a:blip r:embed="rId2"/>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C8CC2F02-901B-62E4-752C-818D98939069}"/>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CEE2EA30-1D7D-6C5F-082D-D51EB417C20C}"/>
                </a:ext>
              </a:extLst>
            </p:cNvPr>
            <p:cNvPicPr>
              <a:picLocks noChangeAspect="1"/>
            </p:cNvPicPr>
            <p:nvPr/>
          </p:nvPicPr>
          <p:blipFill>
            <a:blip r:embed="rId4">
              <a:biLevel thresh="25000"/>
            </a:blip>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5C4D318B-24AD-E83E-9E6F-566668996393}"/>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F639B1C3-CB58-7896-D1AC-1C7418E4EB45}"/>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88875C40-D642-ACE4-64FC-E798FCFFF237}"/>
                </a:ext>
              </a:extLst>
            </p:cNvPr>
            <p:cNvPicPr>
              <a:picLocks noChangeAspect="1"/>
            </p:cNvPicPr>
            <p:nvPr/>
          </p:nvPicPr>
          <p:blipFill>
            <a:blip r:embed="rId7"/>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91ECA694-A027-8F2D-38AB-B61E73512802}"/>
                </a:ext>
              </a:extLst>
            </p:cNvPr>
            <p:cNvPicPr>
              <a:picLocks noChangeAspect="1"/>
            </p:cNvPicPr>
            <p:nvPr/>
          </p:nvPicPr>
          <p:blipFill>
            <a:blip r:embed="rId8"/>
            <a:srcRect/>
            <a:stretch/>
          </p:blipFill>
          <p:spPr>
            <a:xfrm>
              <a:off x="17023717" y="712847"/>
              <a:ext cx="540000" cy="540000"/>
            </a:xfrm>
            <a:prstGeom prst="rect">
              <a:avLst/>
            </a:prstGeom>
          </p:spPr>
        </p:pic>
      </p:grpSp>
      <p:sp>
        <p:nvSpPr>
          <p:cNvPr id="2" name="&quot;R&quot; teal rectangle">
            <a:extLst>
              <a:ext uri="{FF2B5EF4-FFF2-40B4-BE49-F238E27FC236}">
                <a16:creationId xmlns:a16="http://schemas.microsoft.com/office/drawing/2014/main" id="{F53A5195-43C6-EDF6-781E-873C6A4D72CF}"/>
              </a:ext>
              <a:ext uri="{C183D7F6-B498-43B3-948B-1728B52AA6E4}">
                <adec:decorative xmlns:adec="http://schemas.microsoft.com/office/drawing/2017/decorative" val="1"/>
              </a:ext>
            </a:extLst>
          </p:cNvPr>
          <p:cNvSpPr>
            <a:spLocks noChangeAspect="1" noChangeArrowheads="1"/>
          </p:cNvSpPr>
          <p:nvPr/>
        </p:nvSpPr>
        <p:spPr bwMode="auto">
          <a:xfrm>
            <a:off x="9163636" y="2204454"/>
            <a:ext cx="561682" cy="558214"/>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38184574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757EBF76-E14A-561B-3F40-7713987AF1AF}"/>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90502449-69A5-3837-358F-2C4C78ED98AC}"/>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1</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0BBF4C87-3B9F-4B4C-A47C-74CD7584505E}"/>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sp>
        <p:nvSpPr>
          <p:cNvPr id="18" name="&quot;R&quot; teal rectangle">
            <a:extLst>
              <a:ext uri="{FF2B5EF4-FFF2-40B4-BE49-F238E27FC236}">
                <a16:creationId xmlns:a16="http://schemas.microsoft.com/office/drawing/2014/main" id="{2BB45115-E0BA-B09E-033B-0B7DE24471B0}"/>
              </a:ext>
              <a:ext uri="{C183D7F6-B498-43B3-948B-1728B52AA6E4}">
                <adec:decorative xmlns:adec="http://schemas.microsoft.com/office/drawing/2017/decorative" val="1"/>
              </a:ext>
            </a:extLst>
          </p:cNvPr>
          <p:cNvSpPr>
            <a:spLocks noChangeAspect="1" noChangeArrowheads="1"/>
          </p:cNvSpPr>
          <p:nvPr/>
        </p:nvSpPr>
        <p:spPr bwMode="auto">
          <a:xfrm>
            <a:off x="220949" y="417528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39C58D5D-B099-45BB-E6FF-86CECBB06232}"/>
              </a:ext>
              <a:ext uri="{C183D7F6-B498-43B3-948B-1728B52AA6E4}">
                <adec:decorative xmlns:adec="http://schemas.microsoft.com/office/drawing/2017/decorative" val="1"/>
              </a:ext>
            </a:extLst>
          </p:cNvPr>
          <p:cNvSpPr txBox="1">
            <a:spLocks noChangeArrowheads="1"/>
          </p:cNvSpPr>
          <p:nvPr/>
        </p:nvSpPr>
        <p:spPr bwMode="auto">
          <a:xfrm>
            <a:off x="683785" y="4175289"/>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64EF638-DBC0-1504-A860-981B93A4AFEC}"/>
              </a:ext>
              <a:ext uri="{C183D7F6-B498-43B3-948B-1728B52AA6E4}">
                <adec:decorative xmlns:adec="http://schemas.microsoft.com/office/drawing/2017/decorative" val="1"/>
              </a:ext>
            </a:extLst>
          </p:cNvPr>
          <p:cNvSpPr>
            <a:spLocks noChangeAspect="1" noChangeArrowheads="1"/>
          </p:cNvSpPr>
          <p:nvPr/>
        </p:nvSpPr>
        <p:spPr bwMode="auto">
          <a:xfrm>
            <a:off x="220190" y="4927898"/>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B4687893-C3F2-4C6F-46C2-E1089025BAB4}"/>
              </a:ext>
              <a:ext uri="{C183D7F6-B498-43B3-948B-1728B52AA6E4}">
                <adec:decorative xmlns:adec="http://schemas.microsoft.com/office/drawing/2017/decorative" val="1"/>
              </a:ext>
            </a:extLst>
          </p:cNvPr>
          <p:cNvSpPr txBox="1">
            <a:spLocks noChangeArrowheads="1"/>
          </p:cNvSpPr>
          <p:nvPr/>
        </p:nvSpPr>
        <p:spPr bwMode="auto">
          <a:xfrm>
            <a:off x="683785" y="4927898"/>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B29E4C41-763D-5FFB-86F1-7D7D4E8A8B42}"/>
              </a:ext>
              <a:ext uri="{C183D7F6-B498-43B3-948B-1728B52AA6E4}">
                <adec:decorative xmlns:adec="http://schemas.microsoft.com/office/drawing/2017/decorative" val="1"/>
              </a:ext>
            </a:extLst>
          </p:cNvPr>
          <p:cNvSpPr>
            <a:spLocks noChangeAspect="1" noChangeArrowheads="1"/>
          </p:cNvSpPr>
          <p:nvPr/>
        </p:nvSpPr>
        <p:spPr bwMode="auto">
          <a:xfrm>
            <a:off x="228540" y="567745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31C8669E-6FA9-CDB7-CE59-C5E0B5EC162C}"/>
              </a:ext>
              <a:ext uri="{C183D7F6-B498-43B3-948B-1728B52AA6E4}">
                <adec:decorative xmlns:adec="http://schemas.microsoft.com/office/drawing/2017/decorative" val="1"/>
              </a:ext>
            </a:extLst>
          </p:cNvPr>
          <p:cNvSpPr txBox="1">
            <a:spLocks noChangeArrowheads="1"/>
          </p:cNvSpPr>
          <p:nvPr/>
        </p:nvSpPr>
        <p:spPr bwMode="auto">
          <a:xfrm>
            <a:off x="683785" y="5680507"/>
            <a:ext cx="1763822" cy="719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4685550"/>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407417">
                <a:tc>
                  <a:txBody>
                    <a:bodyPr/>
                    <a:lstStyle/>
                    <a:p>
                      <a:pPr algn="l" fontAlgn="ctr">
                        <a:spcAft>
                          <a:spcPts val="600"/>
                        </a:spcAft>
                      </a:pPr>
                      <a:r>
                        <a:rPr lang="en-US" sz="1000" b="0" i="0" u="none" strike="noStrike">
                          <a:solidFill>
                            <a:schemeClr val="bg1"/>
                          </a:solidFill>
                          <a:effectLst/>
                          <a:latin typeface="+mj-lt"/>
                          <a:ea typeface="+mn-ea"/>
                        </a:rPr>
                        <a:t>Consent Management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rPr>
                        <a:t>Consent management is not currently in place, and there are no systems such as Consumer Identity &amp; Access Management or dedicated consent management tools implemented.</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Needs to implement a comprehensive consent management system along with consumer identity and access management tools to ensure proper handling of user permissions, improve data transparency, and comply with data protection regulations.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950276">
                <a:tc>
                  <a:txBody>
                    <a:bodyPr/>
                    <a:lstStyle/>
                    <a:p>
                      <a:pPr algn="l" fontAlgn="ctr">
                        <a:spcAft>
                          <a:spcPts val="600"/>
                        </a:spcAft>
                      </a:pPr>
                      <a:r>
                        <a:rPr lang="en-US" sz="1000" b="0" i="0" u="none" strike="noStrike">
                          <a:solidFill>
                            <a:schemeClr val="bg1"/>
                          </a:solidFill>
                          <a:effectLst/>
                          <a:latin typeface="+mj-lt"/>
                          <a:ea typeface="+mn-ea"/>
                        </a:rPr>
                        <a:t>Single Sign-On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rPr>
                        <a:t>The organization uses Active Directory (LDAP) for access management, indicating a centralized approach, though it may not yet fully support Single Sign-On capabilities.</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94487786"/>
                  </a:ext>
                </a:extLst>
              </a:tr>
              <a:tr h="950276">
                <a:tc>
                  <a:txBody>
                    <a:bodyPr/>
                    <a:lstStyle/>
                    <a:p>
                      <a:pPr algn="l" fontAlgn="ctr">
                        <a:spcAft>
                          <a:spcPts val="600"/>
                        </a:spcAft>
                      </a:pPr>
                      <a:r>
                        <a:rPr lang="en-US" sz="1000" b="0" i="0" u="none" strike="noStrike">
                          <a:solidFill>
                            <a:schemeClr val="bg1"/>
                          </a:solidFill>
                          <a:effectLst/>
                          <a:latin typeface="+mj-lt"/>
                          <a:ea typeface="+mn-ea"/>
                        </a:rPr>
                        <a:t>Database Encryption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latin typeface="+mn-lt"/>
                        </a:rPr>
                        <a:t>Data encryption at the database level is not currently implemented.</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Implement data encryption at the database level and across other relevant layers to protect sensitive information and ensure compliance with data security standards.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832127"/>
                  </a:ext>
                </a:extLst>
              </a:tr>
              <a:tr h="950276">
                <a:tc>
                  <a:txBody>
                    <a:bodyPr/>
                    <a:lstStyle/>
                    <a:p>
                      <a:pPr lvl="0" algn="l">
                        <a:spcAft>
                          <a:spcPts val="600"/>
                        </a:spcAft>
                        <a:buNone/>
                      </a:pPr>
                      <a:r>
                        <a:rPr lang="en-US" sz="1000" b="0" i="0" u="none" strike="noStrike">
                          <a:solidFill>
                            <a:schemeClr val="bg1"/>
                          </a:solidFill>
                          <a:effectLst/>
                          <a:latin typeface="+mj-lt"/>
                          <a:ea typeface="+mn-ea"/>
                        </a:rPr>
                        <a:t>Network Encryption Standard</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latin typeface="+mn-lt"/>
                        </a:rPr>
                        <a:t>The organization implements network encryption using SSL for web-based communication and SFTP for file transfers, providing a foundational level of secure data transmission.</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04350287"/>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19</a:t>
            </a:fld>
            <a:endParaRPr lang="en-US">
              <a:solidFill>
                <a:srgbClr val="000000"/>
              </a:solidFill>
            </a:endParaRPr>
          </a:p>
        </p:txBody>
      </p:sp>
      <p:grpSp>
        <p:nvGrpSpPr>
          <p:cNvPr id="62" name="Group 61">
            <a:extLst>
              <a:ext uri="{FF2B5EF4-FFF2-40B4-BE49-F238E27FC236}">
                <a16:creationId xmlns:a16="http://schemas.microsoft.com/office/drawing/2014/main" id="{7413FB43-008B-C998-234D-71991E09CD64}"/>
              </a:ext>
            </a:extLst>
          </p:cNvPr>
          <p:cNvGrpSpPr/>
          <p:nvPr/>
        </p:nvGrpSpPr>
        <p:grpSpPr>
          <a:xfrm>
            <a:off x="7711263" y="267997"/>
            <a:ext cx="4170294" cy="783142"/>
            <a:chOff x="15576932" y="535171"/>
            <a:chExt cx="8341675" cy="1566487"/>
          </a:xfrm>
        </p:grpSpPr>
        <p:sp>
          <p:nvSpPr>
            <p:cNvPr id="24" name="Oval 23">
              <a:extLst>
                <a:ext uri="{FF2B5EF4-FFF2-40B4-BE49-F238E27FC236}">
                  <a16:creationId xmlns:a16="http://schemas.microsoft.com/office/drawing/2014/main" id="{5F998358-7D45-A6AF-D1E6-43A1EB510663}"/>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5" name="Oval 24">
              <a:extLst>
                <a:ext uri="{FF2B5EF4-FFF2-40B4-BE49-F238E27FC236}">
                  <a16:creationId xmlns:a16="http://schemas.microsoft.com/office/drawing/2014/main" id="{45B3F450-9CB5-C3B3-8137-CED4E95D0D13}"/>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7" name="Straight Arrow Connector 26">
              <a:extLst>
                <a:ext uri="{FF2B5EF4-FFF2-40B4-BE49-F238E27FC236}">
                  <a16:creationId xmlns:a16="http://schemas.microsoft.com/office/drawing/2014/main" id="{D46B4DAD-A26C-AAD9-A543-18866EE0862E}"/>
                </a:ext>
              </a:extLst>
            </p:cNvPr>
            <p:cNvCxnSpPr>
              <a:cxnSpLocks/>
              <a:stCxn id="24" idx="6"/>
              <a:endCxn id="25"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0" name="Oval 29">
              <a:extLst>
                <a:ext uri="{FF2B5EF4-FFF2-40B4-BE49-F238E27FC236}">
                  <a16:creationId xmlns:a16="http://schemas.microsoft.com/office/drawing/2014/main" id="{862FC76D-44E0-1BCD-304D-18D830DDF4FA}"/>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1" name="Oval 30">
              <a:extLst>
                <a:ext uri="{FF2B5EF4-FFF2-40B4-BE49-F238E27FC236}">
                  <a16:creationId xmlns:a16="http://schemas.microsoft.com/office/drawing/2014/main" id="{14C6994A-7269-2E5A-3957-60BE44FA0871}"/>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32" name="Straight Arrow Connector 31">
              <a:extLst>
                <a:ext uri="{FF2B5EF4-FFF2-40B4-BE49-F238E27FC236}">
                  <a16:creationId xmlns:a16="http://schemas.microsoft.com/office/drawing/2014/main" id="{48433FEA-75E5-B589-122D-82BE3C482D51}"/>
                </a:ext>
              </a:extLst>
            </p:cNvPr>
            <p:cNvCxnSpPr>
              <a:cxnSpLocks/>
              <a:stCxn id="25" idx="6"/>
              <a:endCxn id="30"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CB3E601B-5AF0-11E2-BA92-D22A91BA0186}"/>
                </a:ext>
              </a:extLst>
            </p:cNvPr>
            <p:cNvCxnSpPr>
              <a:cxnSpLocks/>
              <a:stCxn id="30" idx="6"/>
              <a:endCxn id="31"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EF684AE9-B7F6-E690-3E7B-752D38C983EA}"/>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39" name="Oval 38">
              <a:extLst>
                <a:ext uri="{FF2B5EF4-FFF2-40B4-BE49-F238E27FC236}">
                  <a16:creationId xmlns:a16="http://schemas.microsoft.com/office/drawing/2014/main" id="{1D168359-7DF6-A5F9-79AD-78F81A04B45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0" name="Oval 39">
              <a:extLst>
                <a:ext uri="{FF2B5EF4-FFF2-40B4-BE49-F238E27FC236}">
                  <a16:creationId xmlns:a16="http://schemas.microsoft.com/office/drawing/2014/main" id="{6DB987BD-CE2F-6404-58EC-B2EC5D9D118C}"/>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41" name="Straight Arrow Connector 40">
              <a:extLst>
                <a:ext uri="{FF2B5EF4-FFF2-40B4-BE49-F238E27FC236}">
                  <a16:creationId xmlns:a16="http://schemas.microsoft.com/office/drawing/2014/main" id="{A01CE818-AF10-9367-5904-A8C98CAB5419}"/>
                </a:ext>
              </a:extLst>
            </p:cNvPr>
            <p:cNvCxnSpPr>
              <a:cxnSpLocks/>
              <a:stCxn id="38" idx="6"/>
              <a:endCxn id="39"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18A20AE5-B627-D05C-6EEF-65A381CFF7B6}"/>
                </a:ext>
              </a:extLst>
            </p:cNvPr>
            <p:cNvCxnSpPr>
              <a:cxnSpLocks/>
              <a:stCxn id="39" idx="6"/>
              <a:endCxn id="40"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6C4472B0-4A92-A922-5DCB-C81B44F26433}"/>
                </a:ext>
              </a:extLst>
            </p:cNvPr>
            <p:cNvCxnSpPr>
              <a:cxnSpLocks/>
              <a:stCxn id="31" idx="6"/>
              <a:endCxn id="38"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7" name="Text Placeholder 3">
              <a:extLst>
                <a:ext uri="{FF2B5EF4-FFF2-40B4-BE49-F238E27FC236}">
                  <a16:creationId xmlns:a16="http://schemas.microsoft.com/office/drawing/2014/main" id="{E68E8616-4F23-1302-26DA-D83F1A590EDB}"/>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49" name="Text Placeholder 3">
              <a:extLst>
                <a:ext uri="{FF2B5EF4-FFF2-40B4-BE49-F238E27FC236}">
                  <a16:creationId xmlns:a16="http://schemas.microsoft.com/office/drawing/2014/main" id="{0B8546A4-F257-13CD-2AB0-B00AAFF264AF}"/>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50" name="Text Placeholder 3">
              <a:extLst>
                <a:ext uri="{FF2B5EF4-FFF2-40B4-BE49-F238E27FC236}">
                  <a16:creationId xmlns:a16="http://schemas.microsoft.com/office/drawing/2014/main" id="{E3DEBE8B-B790-49C3-F063-0D93777D8364}"/>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51" name="Text Placeholder 3">
              <a:extLst>
                <a:ext uri="{FF2B5EF4-FFF2-40B4-BE49-F238E27FC236}">
                  <a16:creationId xmlns:a16="http://schemas.microsoft.com/office/drawing/2014/main" id="{B1D173C3-0EDE-E898-0378-11788D72C39A}"/>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52" name="Text Placeholder 3">
              <a:extLst>
                <a:ext uri="{FF2B5EF4-FFF2-40B4-BE49-F238E27FC236}">
                  <a16:creationId xmlns:a16="http://schemas.microsoft.com/office/drawing/2014/main" id="{52C78089-CEBF-56C4-A8DD-58671E3A018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53" name="Text Placeholder 3">
              <a:extLst>
                <a:ext uri="{FF2B5EF4-FFF2-40B4-BE49-F238E27FC236}">
                  <a16:creationId xmlns:a16="http://schemas.microsoft.com/office/drawing/2014/main" id="{349D4E5B-3A32-58FE-EA69-515A0FE6A6F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54" name="Text Placeholder 3">
              <a:extLst>
                <a:ext uri="{FF2B5EF4-FFF2-40B4-BE49-F238E27FC236}">
                  <a16:creationId xmlns:a16="http://schemas.microsoft.com/office/drawing/2014/main" id="{E7FE995F-329E-C462-E4FE-EC887B303DB3}"/>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55" name="Picture 54" descr="Progress, Blue 60 pictogram">
              <a:extLst>
                <a:ext uri="{FF2B5EF4-FFF2-40B4-BE49-F238E27FC236}">
                  <a16:creationId xmlns:a16="http://schemas.microsoft.com/office/drawing/2014/main" id="{FF2CC0CA-6903-A550-9898-2AD76E8937C9}"/>
                </a:ext>
              </a:extLst>
            </p:cNvPr>
            <p:cNvPicPr>
              <a:picLocks noChangeAspect="1"/>
            </p:cNvPicPr>
            <p:nvPr/>
          </p:nvPicPr>
          <p:blipFill>
            <a:blip r:embed="rId2"/>
            <a:srcRect/>
            <a:stretch/>
          </p:blipFill>
          <p:spPr>
            <a:xfrm>
              <a:off x="15792707" y="712846"/>
              <a:ext cx="540000" cy="540000"/>
            </a:xfrm>
            <a:prstGeom prst="rect">
              <a:avLst/>
            </a:prstGeom>
          </p:spPr>
        </p:pic>
        <p:pic>
          <p:nvPicPr>
            <p:cNvPr id="56" name="Picture 55" descr="Strategy play, Blue 60 pictogram">
              <a:extLst>
                <a:ext uri="{FF2B5EF4-FFF2-40B4-BE49-F238E27FC236}">
                  <a16:creationId xmlns:a16="http://schemas.microsoft.com/office/drawing/2014/main" id="{9486E57D-6BB2-65C8-BFE4-96B5A22EE1A4}"/>
                </a:ext>
              </a:extLst>
            </p:cNvPr>
            <p:cNvPicPr>
              <a:picLocks noChangeAspect="1"/>
            </p:cNvPicPr>
            <p:nvPr/>
          </p:nvPicPr>
          <p:blipFill>
            <a:blip r:embed="rId3"/>
            <a:srcRect/>
            <a:stretch/>
          </p:blipFill>
          <p:spPr>
            <a:xfrm>
              <a:off x="20674077" y="712847"/>
              <a:ext cx="540000" cy="540000"/>
            </a:xfrm>
            <a:prstGeom prst="rect">
              <a:avLst/>
            </a:prstGeom>
          </p:spPr>
        </p:pic>
        <p:pic>
          <p:nvPicPr>
            <p:cNvPr id="57" name="Picture 56" descr="Inspect data, Blue 60 pictogram">
              <a:extLst>
                <a:ext uri="{FF2B5EF4-FFF2-40B4-BE49-F238E27FC236}">
                  <a16:creationId xmlns:a16="http://schemas.microsoft.com/office/drawing/2014/main" id="{C09A0001-A57A-CD29-F376-F6FE38A93BDA}"/>
                </a:ext>
              </a:extLst>
            </p:cNvPr>
            <p:cNvPicPr>
              <a:picLocks noChangeAspect="1"/>
            </p:cNvPicPr>
            <p:nvPr/>
          </p:nvPicPr>
          <p:blipFill>
            <a:blip r:embed="rId4"/>
            <a:srcRect/>
            <a:stretch/>
          </p:blipFill>
          <p:spPr>
            <a:xfrm>
              <a:off x="19452914" y="712847"/>
              <a:ext cx="540000" cy="540000"/>
            </a:xfrm>
            <a:prstGeom prst="rect">
              <a:avLst/>
            </a:prstGeom>
          </p:spPr>
        </p:pic>
        <p:pic>
          <p:nvPicPr>
            <p:cNvPr id="58" name="Picture 57" descr="Deliver insights, Blue 60 pictogram">
              <a:extLst>
                <a:ext uri="{FF2B5EF4-FFF2-40B4-BE49-F238E27FC236}">
                  <a16:creationId xmlns:a16="http://schemas.microsoft.com/office/drawing/2014/main" id="{F0D88F0E-D5CD-4B15-0C62-47D9D1CD78A9}"/>
                </a:ext>
              </a:extLst>
            </p:cNvPr>
            <p:cNvPicPr>
              <a:picLocks noChangeAspect="1"/>
            </p:cNvPicPr>
            <p:nvPr/>
          </p:nvPicPr>
          <p:blipFill>
            <a:blip r:embed="rId5"/>
            <a:srcRect/>
            <a:stretch/>
          </p:blipFill>
          <p:spPr>
            <a:xfrm>
              <a:off x="18212059" y="712847"/>
              <a:ext cx="540000" cy="540000"/>
            </a:xfrm>
            <a:prstGeom prst="rect">
              <a:avLst/>
            </a:prstGeom>
          </p:spPr>
        </p:pic>
        <p:pic>
          <p:nvPicPr>
            <p:cNvPr id="59" name="Picture 58" descr="Identity trust assessment, Blue 60 pictogram">
              <a:extLst>
                <a:ext uri="{FF2B5EF4-FFF2-40B4-BE49-F238E27FC236}">
                  <a16:creationId xmlns:a16="http://schemas.microsoft.com/office/drawing/2014/main" id="{53600C8C-DABB-B49D-6B68-A3078EB546D9}"/>
                </a:ext>
              </a:extLst>
            </p:cNvPr>
            <p:cNvPicPr>
              <a:picLocks noChangeAspect="1"/>
            </p:cNvPicPr>
            <p:nvPr/>
          </p:nvPicPr>
          <p:blipFill>
            <a:blip r:embed="rId6"/>
            <a:srcRect/>
            <a:stretch/>
          </p:blipFill>
          <p:spPr>
            <a:xfrm>
              <a:off x="21872264" y="712847"/>
              <a:ext cx="540000" cy="540000"/>
            </a:xfrm>
            <a:prstGeom prst="rect">
              <a:avLst/>
            </a:prstGeom>
          </p:spPr>
        </p:pic>
        <p:pic>
          <p:nvPicPr>
            <p:cNvPr id="60" name="Picture 59" descr="Security as a service, Blue 60 pictogram">
              <a:extLst>
                <a:ext uri="{FF2B5EF4-FFF2-40B4-BE49-F238E27FC236}">
                  <a16:creationId xmlns:a16="http://schemas.microsoft.com/office/drawing/2014/main" id="{4266702B-0A9D-BF76-AEE8-B48AA64A1E0C}"/>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61" name="Picture 60" descr="Vision, Blue 60 pictogram">
              <a:extLst>
                <a:ext uri="{FF2B5EF4-FFF2-40B4-BE49-F238E27FC236}">
                  <a16:creationId xmlns:a16="http://schemas.microsoft.com/office/drawing/2014/main" id="{7D37FC78-756F-FA27-BC4C-E212E3A2E781}"/>
                </a:ext>
              </a:extLst>
            </p:cNvPr>
            <p:cNvPicPr>
              <a:picLocks noChangeAspect="1"/>
            </p:cNvPicPr>
            <p:nvPr/>
          </p:nvPicPr>
          <p:blipFill>
            <a:blip r:embed="rId8"/>
            <a:srcRect/>
            <a:stretch/>
          </p:blipFill>
          <p:spPr>
            <a:xfrm>
              <a:off x="17023717" y="712847"/>
              <a:ext cx="540000" cy="540000"/>
            </a:xfrm>
            <a:prstGeom prst="rect">
              <a:avLst/>
            </a:prstGeom>
          </p:spPr>
        </p:pic>
      </p:grpSp>
      <p:sp>
        <p:nvSpPr>
          <p:cNvPr id="3" name="&quot;C&quot; gray rectangle">
            <a:extLst>
              <a:ext uri="{FF2B5EF4-FFF2-40B4-BE49-F238E27FC236}">
                <a16:creationId xmlns:a16="http://schemas.microsoft.com/office/drawing/2014/main" id="{FBAD5E3D-EDA8-3856-6AE2-ED244B2D988B}"/>
              </a:ext>
              <a:ext uri="{C183D7F6-B498-43B3-948B-1728B52AA6E4}">
                <adec:decorative xmlns:adec="http://schemas.microsoft.com/office/drawing/2017/decorative" val="1"/>
              </a:ext>
            </a:extLst>
          </p:cNvPr>
          <p:cNvSpPr>
            <a:spLocks noChangeAspect="1" noChangeArrowheads="1"/>
          </p:cNvSpPr>
          <p:nvPr/>
        </p:nvSpPr>
        <p:spPr bwMode="auto">
          <a:xfrm>
            <a:off x="9341005" y="1893954"/>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13" name="&quot;R&quot; teal rectangle">
            <a:extLst>
              <a:ext uri="{FF2B5EF4-FFF2-40B4-BE49-F238E27FC236}">
                <a16:creationId xmlns:a16="http://schemas.microsoft.com/office/drawing/2014/main" id="{B950283C-D24F-04E4-2679-EBC21B0205AC}"/>
              </a:ext>
              <a:ext uri="{C183D7F6-B498-43B3-948B-1728B52AA6E4}">
                <adec:decorative xmlns:adec="http://schemas.microsoft.com/office/drawing/2017/decorative" val="1"/>
              </a:ext>
            </a:extLst>
          </p:cNvPr>
          <p:cNvSpPr>
            <a:spLocks noChangeAspect="1" noChangeArrowheads="1"/>
          </p:cNvSpPr>
          <p:nvPr/>
        </p:nvSpPr>
        <p:spPr bwMode="auto">
          <a:xfrm>
            <a:off x="9341004" y="3343521"/>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4" name="&quot;R&quot; teal rectangle">
            <a:extLst>
              <a:ext uri="{FF2B5EF4-FFF2-40B4-BE49-F238E27FC236}">
                <a16:creationId xmlns:a16="http://schemas.microsoft.com/office/drawing/2014/main" id="{374FDD3D-9CAB-C01A-5FCF-D194D80A84CA}"/>
              </a:ext>
              <a:ext uri="{C183D7F6-B498-43B3-948B-1728B52AA6E4}">
                <adec:decorative xmlns:adec="http://schemas.microsoft.com/office/drawing/2017/decorative" val="1"/>
              </a:ext>
            </a:extLst>
          </p:cNvPr>
          <p:cNvSpPr>
            <a:spLocks noChangeAspect="1" noChangeArrowheads="1"/>
          </p:cNvSpPr>
          <p:nvPr/>
        </p:nvSpPr>
        <p:spPr bwMode="auto">
          <a:xfrm>
            <a:off x="9341004" y="5309174"/>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11" name="&quot;C&quot; gray rectangle">
            <a:extLst>
              <a:ext uri="{FF2B5EF4-FFF2-40B4-BE49-F238E27FC236}">
                <a16:creationId xmlns:a16="http://schemas.microsoft.com/office/drawing/2014/main" id="{BE44ABE6-66E7-704B-DD30-D06FBD5766C7}"/>
              </a:ext>
              <a:ext uri="{C183D7F6-B498-43B3-948B-1728B52AA6E4}">
                <adec:decorative xmlns:adec="http://schemas.microsoft.com/office/drawing/2017/decorative" val="1"/>
              </a:ext>
            </a:extLst>
          </p:cNvPr>
          <p:cNvSpPr>
            <a:spLocks noChangeAspect="1" noChangeArrowheads="1"/>
          </p:cNvSpPr>
          <p:nvPr/>
        </p:nvSpPr>
        <p:spPr bwMode="auto">
          <a:xfrm>
            <a:off x="9347314" y="4288388"/>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20810905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757EBF76-E14A-561B-3F40-7713987AF1AF}"/>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90502449-69A5-3837-358F-2C4C78ED98AC}"/>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2</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0BBF4C87-3B9F-4B4C-A47C-74CD7584505E}"/>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0EF0430F-85EF-3B66-4FAA-11F1160DFC07}"/>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BB45115-E0BA-B09E-033B-0B7DE24471B0}"/>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39C58D5D-B099-45BB-E6FF-86CECBB06232}"/>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64EF638-DBC0-1504-A860-981B93A4AFEC}"/>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B4687893-C3F2-4C6F-46C2-E1089025BAB4}"/>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B29E4C41-763D-5FFB-86F1-7D7D4E8A8B42}"/>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31C8669E-6FA9-CDB7-CE59-C5E0B5EC162C}"/>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5178686"/>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102656">
                <a:tc>
                  <a:txBody>
                    <a:bodyPr/>
                    <a:lstStyle/>
                    <a:p>
                      <a:pPr algn="l" fontAlgn="ctr">
                        <a:spcAft>
                          <a:spcPts val="600"/>
                        </a:spcAft>
                      </a:pPr>
                      <a:r>
                        <a:rPr lang="en-US" sz="1000" b="0" i="0" u="none" strike="noStrike">
                          <a:solidFill>
                            <a:schemeClr val="bg1"/>
                          </a:solidFill>
                          <a:effectLst/>
                          <a:latin typeface="+mj-lt"/>
                          <a:ea typeface="+mn-ea"/>
                        </a:rPr>
                        <a:t>Private Data Located</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lnSpc>
                          <a:spcPct val="100000"/>
                        </a:lnSpc>
                        <a:spcBef>
                          <a:spcPts val="0"/>
                        </a:spcBef>
                        <a:spcAft>
                          <a:spcPts val="0"/>
                        </a:spcAft>
                        <a:buNone/>
                      </a:pPr>
                      <a:r>
                        <a:rPr lang="en-US" sz="1000" b="0" i="0" u="none" strike="noStrike" noProof="0">
                          <a:effectLst/>
                        </a:rPr>
                        <a:t>The organization has visibility into the location of private data, which resides in core banking systems (big data) and in hardcopy form at individual branch offices, reflecting basic data discovery and classification awareness.</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n-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70703208"/>
                  </a:ext>
                </a:extLst>
              </a:tr>
              <a:tr h="1102656">
                <a:tc>
                  <a:txBody>
                    <a:bodyPr/>
                    <a:lstStyle/>
                    <a:p>
                      <a:pPr lvl="0" algn="l">
                        <a:spcAft>
                          <a:spcPts val="600"/>
                        </a:spcAft>
                        <a:buNone/>
                      </a:pPr>
                      <a:r>
                        <a:rPr lang="en-US" sz="1000" b="0" i="0" u="none" strike="noStrike">
                          <a:solidFill>
                            <a:schemeClr val="bg1"/>
                          </a:solidFill>
                          <a:effectLst/>
                          <a:latin typeface="+mj-lt"/>
                          <a:ea typeface="+mn-ea"/>
                        </a:rPr>
                        <a:t>Data Loss Prevention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rPr>
                        <a:t>The organization has implemented Data Loss Prevention (DLP) technology using </a:t>
                      </a:r>
                      <a:r>
                        <a:rPr lang="en-US" sz="1000" b="0" i="0" u="none" strike="noStrike" noProof="0" err="1">
                          <a:effectLst/>
                        </a:rPr>
                        <a:t>Trellix</a:t>
                      </a:r>
                      <a:r>
                        <a:rPr lang="en-US" sz="1000" b="0" i="0" u="none" strike="noStrike" noProof="0">
                          <a:effectLst/>
                        </a:rPr>
                        <a:t>, indicating efforts to protect data across various states, though specific deployment types (at rest, in motion, in use) are not detailed.</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n-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22712941"/>
                  </a:ext>
                </a:extLst>
              </a:tr>
              <a:tr h="950276">
                <a:tc>
                  <a:txBody>
                    <a:bodyPr/>
                    <a:lstStyle/>
                    <a:p>
                      <a:pPr algn="l" fontAlgn="ctr">
                        <a:spcAft>
                          <a:spcPts val="600"/>
                        </a:spcAft>
                      </a:pPr>
                      <a:r>
                        <a:rPr lang="en-US" sz="1000" b="0" i="0" u="none" strike="noStrike">
                          <a:solidFill>
                            <a:schemeClr val="bg1"/>
                          </a:solidFill>
                          <a:effectLst/>
                          <a:latin typeface="+mj-lt"/>
                          <a:ea typeface="+mn-ea"/>
                        </a:rPr>
                        <a:t>Data Loss Prevention Report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rPr>
                        <a:t>DLP reports are reviewed daily, with monthly summaries provided to management for reporting purposes, demonstrating a proactive approach to data loss monitoring and oversight.</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5891172"/>
                  </a:ext>
                </a:extLst>
              </a:tr>
              <a:tr h="797896">
                <a:tc>
                  <a:txBody>
                    <a:bodyPr/>
                    <a:lstStyle/>
                    <a:p>
                      <a:pPr marL="0" indent="0" algn="l" fontAlgn="ctr">
                        <a:spcAft>
                          <a:spcPts val="600"/>
                        </a:spcAft>
                        <a:buNone/>
                      </a:pPr>
                      <a:r>
                        <a:rPr lang="en-US" sz="1000" b="0" i="0" u="none" strike="noStrike">
                          <a:solidFill>
                            <a:schemeClr val="bg1"/>
                          </a:solidFill>
                          <a:effectLst/>
                          <a:latin typeface="+mj-lt"/>
                          <a:ea typeface="+mn-ea"/>
                        </a:rPr>
                        <a:t>Data Discovery</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rPr>
                        <a:t>Data discovery tools to identify sensitive datasets are not currently in place.</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Needs to implement data discovery and classification tools to identify, categorize,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421345"/>
                  </a:ext>
                </a:extLst>
              </a:tr>
              <a:tr h="797896">
                <a:tc>
                  <a:txBody>
                    <a:bodyPr/>
                    <a:lstStyle/>
                    <a:p>
                      <a:pPr lvl="0" algn="l">
                        <a:spcAft>
                          <a:spcPts val="600"/>
                        </a:spcAft>
                        <a:buNone/>
                      </a:pPr>
                      <a:r>
                        <a:rPr lang="en-US" sz="1000" b="0" i="0" u="none" strike="noStrike">
                          <a:solidFill>
                            <a:schemeClr val="bg1"/>
                          </a:solidFill>
                          <a:effectLst/>
                          <a:latin typeface="+mj-lt"/>
                          <a:ea typeface="+mn-ea"/>
                        </a:rPr>
                        <a:t>Business Intelligence</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rPr>
                        <a:t>The organization utilizes IBM Cognos, providing reporting capabilities to support business intelligence functions.</a:t>
                      </a:r>
                      <a:endParaRPr lang="en-US" sz="4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5806556"/>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20</a:t>
            </a:fld>
            <a:endParaRPr lang="en-US">
              <a:solidFill>
                <a:srgbClr val="000000"/>
              </a:solidFill>
            </a:endParaRPr>
          </a:p>
        </p:txBody>
      </p:sp>
      <p:grpSp>
        <p:nvGrpSpPr>
          <p:cNvPr id="2" name="Group 1">
            <a:extLst>
              <a:ext uri="{FF2B5EF4-FFF2-40B4-BE49-F238E27FC236}">
                <a16:creationId xmlns:a16="http://schemas.microsoft.com/office/drawing/2014/main" id="{54A1169A-CF99-6262-D1B0-B7A39AE476B4}"/>
              </a:ext>
            </a:extLst>
          </p:cNvPr>
          <p:cNvGrpSpPr/>
          <p:nvPr/>
        </p:nvGrpSpPr>
        <p:grpSpPr>
          <a:xfrm>
            <a:off x="7711263" y="267997"/>
            <a:ext cx="4170294" cy="783142"/>
            <a:chOff x="15576932" y="535171"/>
            <a:chExt cx="8341675" cy="1566487"/>
          </a:xfrm>
        </p:grpSpPr>
        <p:sp>
          <p:nvSpPr>
            <p:cNvPr id="3" name="Oval 2">
              <a:extLst>
                <a:ext uri="{FF2B5EF4-FFF2-40B4-BE49-F238E27FC236}">
                  <a16:creationId xmlns:a16="http://schemas.microsoft.com/office/drawing/2014/main" id="{E8DC90FC-641A-6CA2-88B2-0D98CC1DBE57}"/>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 name="Oval 3">
              <a:extLst>
                <a:ext uri="{FF2B5EF4-FFF2-40B4-BE49-F238E27FC236}">
                  <a16:creationId xmlns:a16="http://schemas.microsoft.com/office/drawing/2014/main" id="{0A5C6807-F6D1-1E21-6DCC-A72B2F15C6FC}"/>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 name="Straight Arrow Connector 7">
              <a:extLst>
                <a:ext uri="{FF2B5EF4-FFF2-40B4-BE49-F238E27FC236}">
                  <a16:creationId xmlns:a16="http://schemas.microsoft.com/office/drawing/2014/main" id="{D33DF705-CFB5-FA5D-9661-B6C425DCEAF6}"/>
                </a:ext>
              </a:extLst>
            </p:cNvPr>
            <p:cNvCxnSpPr>
              <a:cxnSpLocks/>
              <a:stCxn id="3" idx="6"/>
              <a:endCxn id="4"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8D4BA760-E9EE-1D30-0257-B8449A12B872}"/>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2" name="Oval 11">
              <a:extLst>
                <a:ext uri="{FF2B5EF4-FFF2-40B4-BE49-F238E27FC236}">
                  <a16:creationId xmlns:a16="http://schemas.microsoft.com/office/drawing/2014/main" id="{3EF8D0AF-AAFB-8E1E-B861-D59B7257F2D5}"/>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3" name="Straight Arrow Connector 12">
              <a:extLst>
                <a:ext uri="{FF2B5EF4-FFF2-40B4-BE49-F238E27FC236}">
                  <a16:creationId xmlns:a16="http://schemas.microsoft.com/office/drawing/2014/main" id="{B019D766-AA1E-74FF-6D2E-93E55447DAC3}"/>
                </a:ext>
              </a:extLst>
            </p:cNvPr>
            <p:cNvCxnSpPr>
              <a:cxnSpLocks/>
              <a:stCxn id="4" idx="6"/>
              <a:endCxn id="11"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B682DAF-8A51-C1C6-E9CF-13AAFDFA4B24}"/>
                </a:ext>
              </a:extLst>
            </p:cNvPr>
            <p:cNvCxnSpPr>
              <a:cxnSpLocks/>
              <a:stCxn id="11" idx="6"/>
              <a:endCxn id="12"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89CCE2A1-9FAA-8E7E-9EF6-E3C3164E9B41}"/>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6" name="Oval 15">
              <a:extLst>
                <a:ext uri="{FF2B5EF4-FFF2-40B4-BE49-F238E27FC236}">
                  <a16:creationId xmlns:a16="http://schemas.microsoft.com/office/drawing/2014/main" id="{73F3EE9B-BDC3-A185-37CC-95E8D496C5F9}"/>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8" name="Oval 27">
              <a:extLst>
                <a:ext uri="{FF2B5EF4-FFF2-40B4-BE49-F238E27FC236}">
                  <a16:creationId xmlns:a16="http://schemas.microsoft.com/office/drawing/2014/main" id="{FF48E729-A677-84F3-986F-200885577FFC}"/>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9" name="Straight Arrow Connector 28">
              <a:extLst>
                <a:ext uri="{FF2B5EF4-FFF2-40B4-BE49-F238E27FC236}">
                  <a16:creationId xmlns:a16="http://schemas.microsoft.com/office/drawing/2014/main" id="{D061D1F4-162B-C79A-1E67-3BB14E4E8487}"/>
                </a:ext>
              </a:extLst>
            </p:cNvPr>
            <p:cNvCxnSpPr>
              <a:cxnSpLocks/>
              <a:stCxn id="15" idx="6"/>
              <a:endCxn id="16"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B905AD56-366C-C04D-6709-0041EA8F58BC}"/>
                </a:ext>
              </a:extLst>
            </p:cNvPr>
            <p:cNvCxnSpPr>
              <a:cxnSpLocks/>
              <a:stCxn id="16" idx="6"/>
              <a:endCxn id="28"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2157D885-1A14-2C66-BA55-6CB037109821}"/>
                </a:ext>
              </a:extLst>
            </p:cNvPr>
            <p:cNvCxnSpPr>
              <a:cxnSpLocks/>
              <a:stCxn id="12" idx="6"/>
              <a:endCxn id="15"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6" name="Text Placeholder 3">
              <a:extLst>
                <a:ext uri="{FF2B5EF4-FFF2-40B4-BE49-F238E27FC236}">
                  <a16:creationId xmlns:a16="http://schemas.microsoft.com/office/drawing/2014/main" id="{11F93D6D-302D-1F14-D734-43FA108F4E0F}"/>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37" name="Text Placeholder 3">
              <a:extLst>
                <a:ext uri="{FF2B5EF4-FFF2-40B4-BE49-F238E27FC236}">
                  <a16:creationId xmlns:a16="http://schemas.microsoft.com/office/drawing/2014/main" id="{9C25574C-00D1-10C0-E4C5-2ECB56726732}"/>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43" name="Text Placeholder 3">
              <a:extLst>
                <a:ext uri="{FF2B5EF4-FFF2-40B4-BE49-F238E27FC236}">
                  <a16:creationId xmlns:a16="http://schemas.microsoft.com/office/drawing/2014/main" id="{8C1D3DB5-A1DF-A77F-61FB-AA22E607DE7C}"/>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45" name="Text Placeholder 3">
              <a:extLst>
                <a:ext uri="{FF2B5EF4-FFF2-40B4-BE49-F238E27FC236}">
                  <a16:creationId xmlns:a16="http://schemas.microsoft.com/office/drawing/2014/main" id="{A6ADC7B1-9A30-E18F-BDD0-70FA76B50C4D}"/>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46" name="Text Placeholder 3">
              <a:extLst>
                <a:ext uri="{FF2B5EF4-FFF2-40B4-BE49-F238E27FC236}">
                  <a16:creationId xmlns:a16="http://schemas.microsoft.com/office/drawing/2014/main" id="{455A01B1-04A4-C167-D83B-19A3F24614EA}"/>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48" name="Text Placeholder 3">
              <a:extLst>
                <a:ext uri="{FF2B5EF4-FFF2-40B4-BE49-F238E27FC236}">
                  <a16:creationId xmlns:a16="http://schemas.microsoft.com/office/drawing/2014/main" id="{C048BEBA-5D8C-C6AD-92C7-1EA3F2FDC9F8}"/>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63" name="Text Placeholder 3">
              <a:extLst>
                <a:ext uri="{FF2B5EF4-FFF2-40B4-BE49-F238E27FC236}">
                  <a16:creationId xmlns:a16="http://schemas.microsoft.com/office/drawing/2014/main" id="{2CD16B96-F9FB-462D-95F1-C432E8408494}"/>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64" name="Picture 63" descr="Progress, Blue 60 pictogram">
              <a:extLst>
                <a:ext uri="{FF2B5EF4-FFF2-40B4-BE49-F238E27FC236}">
                  <a16:creationId xmlns:a16="http://schemas.microsoft.com/office/drawing/2014/main" id="{F1D6A778-A8C9-2150-B51A-7F6DD2CD3063}"/>
                </a:ext>
              </a:extLst>
            </p:cNvPr>
            <p:cNvPicPr>
              <a:picLocks noChangeAspect="1"/>
            </p:cNvPicPr>
            <p:nvPr/>
          </p:nvPicPr>
          <p:blipFill>
            <a:blip r:embed="rId2"/>
            <a:srcRect/>
            <a:stretch/>
          </p:blipFill>
          <p:spPr>
            <a:xfrm>
              <a:off x="15792707" y="712846"/>
              <a:ext cx="540000" cy="540000"/>
            </a:xfrm>
            <a:prstGeom prst="rect">
              <a:avLst/>
            </a:prstGeom>
          </p:spPr>
        </p:pic>
        <p:pic>
          <p:nvPicPr>
            <p:cNvPr id="65" name="Picture 64" descr="Strategy play, Blue 60 pictogram">
              <a:extLst>
                <a:ext uri="{FF2B5EF4-FFF2-40B4-BE49-F238E27FC236}">
                  <a16:creationId xmlns:a16="http://schemas.microsoft.com/office/drawing/2014/main" id="{B4636501-5D86-D139-503C-B80AB90EEFB1}"/>
                </a:ext>
              </a:extLst>
            </p:cNvPr>
            <p:cNvPicPr>
              <a:picLocks noChangeAspect="1"/>
            </p:cNvPicPr>
            <p:nvPr/>
          </p:nvPicPr>
          <p:blipFill>
            <a:blip r:embed="rId3"/>
            <a:srcRect/>
            <a:stretch/>
          </p:blipFill>
          <p:spPr>
            <a:xfrm>
              <a:off x="20674077" y="712847"/>
              <a:ext cx="540000" cy="540000"/>
            </a:xfrm>
            <a:prstGeom prst="rect">
              <a:avLst/>
            </a:prstGeom>
          </p:spPr>
        </p:pic>
        <p:pic>
          <p:nvPicPr>
            <p:cNvPr id="66" name="Picture 65" descr="Inspect data, Blue 60 pictogram">
              <a:extLst>
                <a:ext uri="{FF2B5EF4-FFF2-40B4-BE49-F238E27FC236}">
                  <a16:creationId xmlns:a16="http://schemas.microsoft.com/office/drawing/2014/main" id="{E6EB0D9F-E283-0D7D-A758-6C26302D7ED8}"/>
                </a:ext>
              </a:extLst>
            </p:cNvPr>
            <p:cNvPicPr>
              <a:picLocks noChangeAspect="1"/>
            </p:cNvPicPr>
            <p:nvPr/>
          </p:nvPicPr>
          <p:blipFill>
            <a:blip r:embed="rId4"/>
            <a:srcRect/>
            <a:stretch/>
          </p:blipFill>
          <p:spPr>
            <a:xfrm>
              <a:off x="19452914" y="712847"/>
              <a:ext cx="540000" cy="540000"/>
            </a:xfrm>
            <a:prstGeom prst="rect">
              <a:avLst/>
            </a:prstGeom>
          </p:spPr>
        </p:pic>
        <p:pic>
          <p:nvPicPr>
            <p:cNvPr id="67" name="Picture 66" descr="Deliver insights, Blue 60 pictogram">
              <a:extLst>
                <a:ext uri="{FF2B5EF4-FFF2-40B4-BE49-F238E27FC236}">
                  <a16:creationId xmlns:a16="http://schemas.microsoft.com/office/drawing/2014/main" id="{9065143F-869B-C364-FDC6-C17A2CA83170}"/>
                </a:ext>
              </a:extLst>
            </p:cNvPr>
            <p:cNvPicPr>
              <a:picLocks noChangeAspect="1"/>
            </p:cNvPicPr>
            <p:nvPr/>
          </p:nvPicPr>
          <p:blipFill>
            <a:blip r:embed="rId5"/>
            <a:srcRect/>
            <a:stretch/>
          </p:blipFill>
          <p:spPr>
            <a:xfrm>
              <a:off x="18212059" y="712847"/>
              <a:ext cx="540000" cy="540000"/>
            </a:xfrm>
            <a:prstGeom prst="rect">
              <a:avLst/>
            </a:prstGeom>
          </p:spPr>
        </p:pic>
        <p:pic>
          <p:nvPicPr>
            <p:cNvPr id="68" name="Picture 67" descr="Identity trust assessment, Blue 60 pictogram">
              <a:extLst>
                <a:ext uri="{FF2B5EF4-FFF2-40B4-BE49-F238E27FC236}">
                  <a16:creationId xmlns:a16="http://schemas.microsoft.com/office/drawing/2014/main" id="{26BA1F1B-551F-4F11-FB5C-3D0594FC1A26}"/>
                </a:ext>
              </a:extLst>
            </p:cNvPr>
            <p:cNvPicPr>
              <a:picLocks noChangeAspect="1"/>
            </p:cNvPicPr>
            <p:nvPr/>
          </p:nvPicPr>
          <p:blipFill>
            <a:blip r:embed="rId6"/>
            <a:srcRect/>
            <a:stretch/>
          </p:blipFill>
          <p:spPr>
            <a:xfrm>
              <a:off x="21872264" y="712847"/>
              <a:ext cx="540000" cy="540000"/>
            </a:xfrm>
            <a:prstGeom prst="rect">
              <a:avLst/>
            </a:prstGeom>
          </p:spPr>
        </p:pic>
        <p:pic>
          <p:nvPicPr>
            <p:cNvPr id="69" name="Picture 68" descr="Security as a service, Blue 60 pictogram">
              <a:extLst>
                <a:ext uri="{FF2B5EF4-FFF2-40B4-BE49-F238E27FC236}">
                  <a16:creationId xmlns:a16="http://schemas.microsoft.com/office/drawing/2014/main" id="{1477DAC5-AE90-6BDA-CE6C-C225976709A2}"/>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70" name="Picture 69" descr="Vision, Blue 60 pictogram">
              <a:extLst>
                <a:ext uri="{FF2B5EF4-FFF2-40B4-BE49-F238E27FC236}">
                  <a16:creationId xmlns:a16="http://schemas.microsoft.com/office/drawing/2014/main" id="{6590AE74-D2B2-84C5-AA8B-B27CCAF638A1}"/>
                </a:ext>
              </a:extLst>
            </p:cNvPr>
            <p:cNvPicPr>
              <a:picLocks noChangeAspect="1"/>
            </p:cNvPicPr>
            <p:nvPr/>
          </p:nvPicPr>
          <p:blipFill>
            <a:blip r:embed="rId8"/>
            <a:srcRect/>
            <a:stretch/>
          </p:blipFill>
          <p:spPr>
            <a:xfrm>
              <a:off x="17023717" y="712847"/>
              <a:ext cx="540000" cy="540000"/>
            </a:xfrm>
            <a:prstGeom prst="rect">
              <a:avLst/>
            </a:prstGeom>
          </p:spPr>
        </p:pic>
      </p:grpSp>
      <p:sp>
        <p:nvSpPr>
          <p:cNvPr id="27" name="&quot;R&quot; teal rectangle">
            <a:extLst>
              <a:ext uri="{FF2B5EF4-FFF2-40B4-BE49-F238E27FC236}">
                <a16:creationId xmlns:a16="http://schemas.microsoft.com/office/drawing/2014/main" id="{FDE17E3B-2A4C-2EEF-FFBE-0BCC209F199D}"/>
              </a:ext>
              <a:ext uri="{C183D7F6-B498-43B3-948B-1728B52AA6E4}">
                <adec:decorative xmlns:adec="http://schemas.microsoft.com/office/drawing/2017/decorative" val="1"/>
              </a:ext>
            </a:extLst>
          </p:cNvPr>
          <p:cNvSpPr>
            <a:spLocks noChangeAspect="1" noChangeArrowheads="1"/>
          </p:cNvSpPr>
          <p:nvPr/>
        </p:nvSpPr>
        <p:spPr bwMode="auto">
          <a:xfrm>
            <a:off x="9341005" y="4214784"/>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0" name="&quot;R&quot; teal rectangle">
            <a:extLst>
              <a:ext uri="{FF2B5EF4-FFF2-40B4-BE49-F238E27FC236}">
                <a16:creationId xmlns:a16="http://schemas.microsoft.com/office/drawing/2014/main" id="{E0FD3803-9198-7BB3-BEF5-FC3A6247A332}"/>
              </a:ext>
              <a:ext uri="{C183D7F6-B498-43B3-948B-1728B52AA6E4}">
                <adec:decorative xmlns:adec="http://schemas.microsoft.com/office/drawing/2017/decorative" val="1"/>
              </a:ext>
            </a:extLst>
          </p:cNvPr>
          <p:cNvSpPr>
            <a:spLocks noChangeAspect="1" noChangeArrowheads="1"/>
          </p:cNvSpPr>
          <p:nvPr/>
        </p:nvSpPr>
        <p:spPr bwMode="auto">
          <a:xfrm>
            <a:off x="9341005" y="3131739"/>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2" name="&quot;R&quot; teal rectangle">
            <a:extLst>
              <a:ext uri="{FF2B5EF4-FFF2-40B4-BE49-F238E27FC236}">
                <a16:creationId xmlns:a16="http://schemas.microsoft.com/office/drawing/2014/main" id="{EFF0C723-9763-BCD1-7AF2-B21BD57D5E2F}"/>
              </a:ext>
              <a:ext uri="{C183D7F6-B498-43B3-948B-1728B52AA6E4}">
                <adec:decorative xmlns:adec="http://schemas.microsoft.com/office/drawing/2017/decorative" val="1"/>
              </a:ext>
            </a:extLst>
          </p:cNvPr>
          <p:cNvSpPr>
            <a:spLocks noChangeAspect="1" noChangeArrowheads="1"/>
          </p:cNvSpPr>
          <p:nvPr/>
        </p:nvSpPr>
        <p:spPr bwMode="auto">
          <a:xfrm>
            <a:off x="9347314" y="581696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5" name="&quot;R&quot; teal rectangle">
            <a:extLst>
              <a:ext uri="{FF2B5EF4-FFF2-40B4-BE49-F238E27FC236}">
                <a16:creationId xmlns:a16="http://schemas.microsoft.com/office/drawing/2014/main" id="{7F4F9B18-4BE6-5DD6-4A67-3A1F00995BC4}"/>
              </a:ext>
              <a:ext uri="{C183D7F6-B498-43B3-948B-1728B52AA6E4}">
                <adec:decorative xmlns:adec="http://schemas.microsoft.com/office/drawing/2017/decorative" val="1"/>
              </a:ext>
            </a:extLst>
          </p:cNvPr>
          <p:cNvSpPr>
            <a:spLocks noChangeAspect="1" noChangeArrowheads="1"/>
          </p:cNvSpPr>
          <p:nvPr/>
        </p:nvSpPr>
        <p:spPr bwMode="auto">
          <a:xfrm>
            <a:off x="9344053" y="2018220"/>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4" name="&quot;C&quot; gray rectangle">
            <a:extLst>
              <a:ext uri="{FF2B5EF4-FFF2-40B4-BE49-F238E27FC236}">
                <a16:creationId xmlns:a16="http://schemas.microsoft.com/office/drawing/2014/main" id="{B5BFFA7D-5C7A-CEF8-2A2B-8C4D960C657A}"/>
              </a:ext>
              <a:ext uri="{C183D7F6-B498-43B3-948B-1728B52AA6E4}">
                <adec:decorative xmlns:adec="http://schemas.microsoft.com/office/drawing/2017/decorative" val="1"/>
              </a:ext>
            </a:extLst>
          </p:cNvPr>
          <p:cNvSpPr>
            <a:spLocks noChangeAspect="1" noChangeArrowheads="1"/>
          </p:cNvSpPr>
          <p:nvPr/>
        </p:nvSpPr>
        <p:spPr bwMode="auto">
          <a:xfrm>
            <a:off x="9341005" y="5033823"/>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915101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757EBF76-E14A-561B-3F40-7713987AF1AF}"/>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90502449-69A5-3837-358F-2C4C78ED98AC}"/>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3</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0BBF4C87-3B9F-4B4C-A47C-74CD7584505E}"/>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0EF0430F-85EF-3B66-4FAA-11F1160DFC07}"/>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BB45115-E0BA-B09E-033B-0B7DE24471B0}"/>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39C58D5D-B099-45BB-E6FF-86CECBB06232}"/>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64EF638-DBC0-1504-A860-981B93A4AFEC}"/>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B4687893-C3F2-4C6F-46C2-E1089025BAB4}"/>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B29E4C41-763D-5FFB-86F1-7D7D4E8A8B42}"/>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31C8669E-6FA9-CDB7-CE59-C5E0B5EC162C}"/>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5026306"/>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407417">
                <a:tc>
                  <a:txBody>
                    <a:bodyPr/>
                    <a:lstStyle/>
                    <a:p>
                      <a:pPr lvl="0" algn="l">
                        <a:spcAft>
                          <a:spcPts val="600"/>
                        </a:spcAft>
                        <a:buNone/>
                      </a:pPr>
                      <a:r>
                        <a:rPr lang="en-US" sz="1000" b="0" i="0" u="none" strike="noStrike" noProof="0">
                          <a:solidFill>
                            <a:schemeClr val="bg1"/>
                          </a:solidFill>
                          <a:effectLst/>
                        </a:rPr>
                        <a:t>Security Information and Event Management - </a:t>
                      </a:r>
                      <a:r>
                        <a:rPr lang="en-US" sz="1000" b="0" i="0" u="none" strike="noStrike">
                          <a:solidFill>
                            <a:schemeClr val="bg1"/>
                          </a:solidFill>
                          <a:effectLst/>
                          <a:latin typeface="+mj-lt"/>
                          <a:ea typeface="+mn-ea"/>
                        </a:rPr>
                        <a:t>Monitor &amp; Detect Anomalies</a:t>
                      </a:r>
                      <a:endParaRPr lang="en-US" sz="1000">
                        <a:solidFill>
                          <a:schemeClr val="bg1"/>
                        </a:solidFill>
                      </a:endParaRP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b="0" i="0" u="none" strike="noStrike" noProof="0">
                          <a:effectLst/>
                        </a:rPr>
                        <a:t>Anomaly detection tools are not yet in place; current monitoring is limited to the operating system level without advanced Security Information and Event Management (SIEM) capabilities.</a:t>
                      </a:r>
                      <a:endParaRPr lang="en-US" sz="1000"/>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Needs to enhance its monitoring capabilities by implementing anomaly detection tools beyond the operating system level, ideally through a full-featured Security Information and Event Management (SIEM) solution to detect threats across the entire IT environment.</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6141534"/>
                  </a:ext>
                </a:extLst>
              </a:tr>
              <a:tr h="797896">
                <a:tc>
                  <a:txBody>
                    <a:bodyPr/>
                    <a:lstStyle/>
                    <a:p>
                      <a:pPr lvl="0" algn="l">
                        <a:spcAft>
                          <a:spcPts val="600"/>
                        </a:spcAft>
                        <a:buNone/>
                      </a:pPr>
                      <a:r>
                        <a:rPr lang="en-US" sz="1000" b="0" i="0" u="none" strike="noStrike" noProof="0">
                          <a:solidFill>
                            <a:schemeClr val="bg1"/>
                          </a:solidFill>
                          <a:effectLst/>
                        </a:rPr>
                        <a:t>Security Information and Event Management - L</a:t>
                      </a:r>
                      <a:r>
                        <a:rPr lang="en-US" sz="1000" err="1">
                          <a:solidFill>
                            <a:schemeClr val="bg1"/>
                          </a:solidFill>
                        </a:rPr>
                        <a:t>og</a:t>
                      </a:r>
                      <a:r>
                        <a:rPr lang="en-US" sz="1000">
                          <a:solidFill>
                            <a:schemeClr val="bg1"/>
                          </a:solidFill>
                        </a:rPr>
                        <a:t> Sensitive Data</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lvl="0" algn="l">
                        <a:spcAft>
                          <a:spcPts val="600"/>
                        </a:spcAft>
                        <a:buNone/>
                      </a:pPr>
                      <a:r>
                        <a:rPr lang="en-US" sz="1000"/>
                        <a:t>Security Information and Event Management (SIEM) capabilities are in place within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7891777"/>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ID" sz="1000" b="0" i="0" u="none" strike="noStrike" cap="none" spc="0" baseline="0">
                          <a:solidFill>
                            <a:schemeClr val="bg1"/>
                          </a:solidFill>
                          <a:effectLst/>
                          <a:uFillTx/>
                          <a:latin typeface="+mj-lt"/>
                          <a:ea typeface="+mn-ea"/>
                          <a:cs typeface="+mn-cs"/>
                          <a:sym typeface="IBM Plex Sans"/>
                        </a:rPr>
                        <a:t>Database Firewall</a:t>
                      </a:r>
                      <a:endParaRPr lang="en-US" sz="1000" b="0" i="0" u="none" strike="noStrike" cap="none" spc="0" baseline="0">
                        <a:solidFill>
                          <a:schemeClr val="bg1"/>
                        </a:solidFill>
                        <a:effectLst/>
                        <a:uFillTx/>
                        <a:latin typeface="+mj-lt"/>
                        <a:ea typeface="+mn-ea"/>
                        <a:cs typeface="+mn-cs"/>
                        <a:sym typeface="IBM Plex Sans"/>
                      </a:endParaRP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Information protection is supported through network firewalls like Palo Alto, Checkpoint, Cisco, and Fortinet.</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2818817"/>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Disk Encryption</a:t>
                      </a:r>
                    </a:p>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Network Encryption</a:t>
                      </a:r>
                    </a:p>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File System Encryption</a:t>
                      </a:r>
                    </a:p>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File Encryption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cap="none" spc="0" baseline="0">
                          <a:solidFill>
                            <a:srgbClr val="000000"/>
                          </a:solidFill>
                          <a:effectLst/>
                          <a:uFillTx/>
                          <a:latin typeface="+mn-lt"/>
                          <a:ea typeface="+mn-ea"/>
                          <a:cs typeface="+mn-cs"/>
                          <a:sym typeface="IBM Plex Sans"/>
                        </a:rPr>
                        <a:t>Encryption at various levels such as disk, network, file system, and individual files is not currently implemented within the organization.</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ID" sz="1000"/>
                        <a:t>Implement encryption at all levels disk, network, file system, and files to protect sensitive data and improve security.</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75700365"/>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Security Information and Event Management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a:r>
                        <a:rPr lang="en-ID" sz="1000"/>
                        <a:t>The organization uses </a:t>
                      </a:r>
                      <a:r>
                        <a:rPr lang="en-ID" sz="1000" err="1"/>
                        <a:t>QRadar</a:t>
                      </a:r>
                      <a:r>
                        <a:rPr lang="en-ID" sz="1000"/>
                        <a:t> SIEM for monitoring and detecting security incidents.</a:t>
                      </a:r>
                    </a:p>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6440303"/>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21</a:t>
            </a:fld>
            <a:endParaRPr lang="en-US">
              <a:solidFill>
                <a:srgbClr val="000000"/>
              </a:solidFill>
            </a:endParaRPr>
          </a:p>
        </p:txBody>
      </p:sp>
      <p:grpSp>
        <p:nvGrpSpPr>
          <p:cNvPr id="2" name="Group 1">
            <a:extLst>
              <a:ext uri="{FF2B5EF4-FFF2-40B4-BE49-F238E27FC236}">
                <a16:creationId xmlns:a16="http://schemas.microsoft.com/office/drawing/2014/main" id="{4E5975F1-7105-7631-1675-AB0AA7481638}"/>
              </a:ext>
            </a:extLst>
          </p:cNvPr>
          <p:cNvGrpSpPr/>
          <p:nvPr/>
        </p:nvGrpSpPr>
        <p:grpSpPr>
          <a:xfrm>
            <a:off x="7711263" y="267997"/>
            <a:ext cx="4170294" cy="783142"/>
            <a:chOff x="15576932" y="535171"/>
            <a:chExt cx="8341675" cy="1566487"/>
          </a:xfrm>
        </p:grpSpPr>
        <p:sp>
          <p:nvSpPr>
            <p:cNvPr id="3" name="Oval 2">
              <a:extLst>
                <a:ext uri="{FF2B5EF4-FFF2-40B4-BE49-F238E27FC236}">
                  <a16:creationId xmlns:a16="http://schemas.microsoft.com/office/drawing/2014/main" id="{FB6AC7C2-78FD-5B17-3A3A-11997D852BE8}"/>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 name="Oval 3">
              <a:extLst>
                <a:ext uri="{FF2B5EF4-FFF2-40B4-BE49-F238E27FC236}">
                  <a16:creationId xmlns:a16="http://schemas.microsoft.com/office/drawing/2014/main" id="{6034564F-5E1C-4B67-DB46-B403E1287EA1}"/>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 name="Straight Arrow Connector 7">
              <a:extLst>
                <a:ext uri="{FF2B5EF4-FFF2-40B4-BE49-F238E27FC236}">
                  <a16:creationId xmlns:a16="http://schemas.microsoft.com/office/drawing/2014/main" id="{15567FE7-1CEC-0FB7-D586-38B69EE5A1B2}"/>
                </a:ext>
              </a:extLst>
            </p:cNvPr>
            <p:cNvCxnSpPr>
              <a:cxnSpLocks/>
              <a:stCxn id="3" idx="6"/>
              <a:endCxn id="4"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D89D3875-9215-58A7-673A-D5E820AA951F}"/>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2" name="Oval 11">
              <a:extLst>
                <a:ext uri="{FF2B5EF4-FFF2-40B4-BE49-F238E27FC236}">
                  <a16:creationId xmlns:a16="http://schemas.microsoft.com/office/drawing/2014/main" id="{62B1280C-FBEE-7696-5041-AEEA2A016C35}"/>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3" name="Straight Arrow Connector 12">
              <a:extLst>
                <a:ext uri="{FF2B5EF4-FFF2-40B4-BE49-F238E27FC236}">
                  <a16:creationId xmlns:a16="http://schemas.microsoft.com/office/drawing/2014/main" id="{3E2242F8-40CB-0936-8A1A-A9A4D757CBD8}"/>
                </a:ext>
              </a:extLst>
            </p:cNvPr>
            <p:cNvCxnSpPr>
              <a:cxnSpLocks/>
              <a:stCxn id="4" idx="6"/>
              <a:endCxn id="11"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F6CBFD7-105C-C41D-A658-E74C6B070ACC}"/>
                </a:ext>
              </a:extLst>
            </p:cNvPr>
            <p:cNvCxnSpPr>
              <a:cxnSpLocks/>
              <a:stCxn id="11" idx="6"/>
              <a:endCxn id="12"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522112EB-4C86-6F05-F29F-8D63A11B8F37}"/>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6" name="Oval 15">
              <a:extLst>
                <a:ext uri="{FF2B5EF4-FFF2-40B4-BE49-F238E27FC236}">
                  <a16:creationId xmlns:a16="http://schemas.microsoft.com/office/drawing/2014/main" id="{9761FE58-D525-5ACE-821C-9EA80C594754}"/>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8" name="Oval 27">
              <a:extLst>
                <a:ext uri="{FF2B5EF4-FFF2-40B4-BE49-F238E27FC236}">
                  <a16:creationId xmlns:a16="http://schemas.microsoft.com/office/drawing/2014/main" id="{FBCF272C-90FD-9FDB-8242-45F566481C45}"/>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9" name="Straight Arrow Connector 28">
              <a:extLst>
                <a:ext uri="{FF2B5EF4-FFF2-40B4-BE49-F238E27FC236}">
                  <a16:creationId xmlns:a16="http://schemas.microsoft.com/office/drawing/2014/main" id="{A2526135-C871-E37E-DA92-3597FE73338B}"/>
                </a:ext>
              </a:extLst>
            </p:cNvPr>
            <p:cNvCxnSpPr>
              <a:cxnSpLocks/>
              <a:stCxn id="15" idx="6"/>
              <a:endCxn id="16"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32B1644D-9F87-B6F5-C6AE-8AA150C06187}"/>
                </a:ext>
              </a:extLst>
            </p:cNvPr>
            <p:cNvCxnSpPr>
              <a:cxnSpLocks/>
              <a:stCxn id="16" idx="6"/>
              <a:endCxn id="28"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DA064927-2FDD-5807-AFD0-C700BF9976FC}"/>
                </a:ext>
              </a:extLst>
            </p:cNvPr>
            <p:cNvCxnSpPr>
              <a:cxnSpLocks/>
              <a:stCxn id="12" idx="6"/>
              <a:endCxn id="15"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6" name="Text Placeholder 3">
              <a:extLst>
                <a:ext uri="{FF2B5EF4-FFF2-40B4-BE49-F238E27FC236}">
                  <a16:creationId xmlns:a16="http://schemas.microsoft.com/office/drawing/2014/main" id="{389C6D30-ABCD-6216-4948-FA790937528C}"/>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37" name="Text Placeholder 3">
              <a:extLst>
                <a:ext uri="{FF2B5EF4-FFF2-40B4-BE49-F238E27FC236}">
                  <a16:creationId xmlns:a16="http://schemas.microsoft.com/office/drawing/2014/main" id="{72AF8EA8-0BA2-B672-DF1B-411FF430A088}"/>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43" name="Text Placeholder 3">
              <a:extLst>
                <a:ext uri="{FF2B5EF4-FFF2-40B4-BE49-F238E27FC236}">
                  <a16:creationId xmlns:a16="http://schemas.microsoft.com/office/drawing/2014/main" id="{E3D59C9A-C9C0-300C-A228-308DF989CC0D}"/>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45" name="Text Placeholder 3">
              <a:extLst>
                <a:ext uri="{FF2B5EF4-FFF2-40B4-BE49-F238E27FC236}">
                  <a16:creationId xmlns:a16="http://schemas.microsoft.com/office/drawing/2014/main" id="{C240D900-BB34-FD3B-81D0-4D5F2C9245AC}"/>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46" name="Text Placeholder 3">
              <a:extLst>
                <a:ext uri="{FF2B5EF4-FFF2-40B4-BE49-F238E27FC236}">
                  <a16:creationId xmlns:a16="http://schemas.microsoft.com/office/drawing/2014/main" id="{4836BFE9-828D-614C-688D-2B13CB419C1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48" name="Text Placeholder 3">
              <a:extLst>
                <a:ext uri="{FF2B5EF4-FFF2-40B4-BE49-F238E27FC236}">
                  <a16:creationId xmlns:a16="http://schemas.microsoft.com/office/drawing/2014/main" id="{659C68DE-AE84-7C5E-2077-0E4B291224DD}"/>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63" name="Text Placeholder 3">
              <a:extLst>
                <a:ext uri="{FF2B5EF4-FFF2-40B4-BE49-F238E27FC236}">
                  <a16:creationId xmlns:a16="http://schemas.microsoft.com/office/drawing/2014/main" id="{E0ECB4EB-18D7-AE38-62A9-68B726F0F2CE}"/>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64" name="Picture 63" descr="Progress, Blue 60 pictogram">
              <a:extLst>
                <a:ext uri="{FF2B5EF4-FFF2-40B4-BE49-F238E27FC236}">
                  <a16:creationId xmlns:a16="http://schemas.microsoft.com/office/drawing/2014/main" id="{9DD0183B-0CA4-ACE7-EFB9-EDE606794D1E}"/>
                </a:ext>
              </a:extLst>
            </p:cNvPr>
            <p:cNvPicPr>
              <a:picLocks noChangeAspect="1"/>
            </p:cNvPicPr>
            <p:nvPr/>
          </p:nvPicPr>
          <p:blipFill>
            <a:blip r:embed="rId2"/>
            <a:srcRect/>
            <a:stretch/>
          </p:blipFill>
          <p:spPr>
            <a:xfrm>
              <a:off x="15792707" y="712846"/>
              <a:ext cx="540000" cy="540000"/>
            </a:xfrm>
            <a:prstGeom prst="rect">
              <a:avLst/>
            </a:prstGeom>
          </p:spPr>
        </p:pic>
        <p:pic>
          <p:nvPicPr>
            <p:cNvPr id="65" name="Picture 64" descr="Strategy play, Blue 60 pictogram">
              <a:extLst>
                <a:ext uri="{FF2B5EF4-FFF2-40B4-BE49-F238E27FC236}">
                  <a16:creationId xmlns:a16="http://schemas.microsoft.com/office/drawing/2014/main" id="{BBC60688-CC3B-D9D8-1832-15E5D1AA7C7F}"/>
                </a:ext>
              </a:extLst>
            </p:cNvPr>
            <p:cNvPicPr>
              <a:picLocks noChangeAspect="1"/>
            </p:cNvPicPr>
            <p:nvPr/>
          </p:nvPicPr>
          <p:blipFill>
            <a:blip r:embed="rId3"/>
            <a:srcRect/>
            <a:stretch/>
          </p:blipFill>
          <p:spPr>
            <a:xfrm>
              <a:off x="20674077" y="712847"/>
              <a:ext cx="540000" cy="540000"/>
            </a:xfrm>
            <a:prstGeom prst="rect">
              <a:avLst/>
            </a:prstGeom>
          </p:spPr>
        </p:pic>
        <p:pic>
          <p:nvPicPr>
            <p:cNvPr id="66" name="Picture 65" descr="Inspect data, Blue 60 pictogram">
              <a:extLst>
                <a:ext uri="{FF2B5EF4-FFF2-40B4-BE49-F238E27FC236}">
                  <a16:creationId xmlns:a16="http://schemas.microsoft.com/office/drawing/2014/main" id="{763949FD-8930-61E3-43CA-72DA7B7CF10F}"/>
                </a:ext>
              </a:extLst>
            </p:cNvPr>
            <p:cNvPicPr>
              <a:picLocks noChangeAspect="1"/>
            </p:cNvPicPr>
            <p:nvPr/>
          </p:nvPicPr>
          <p:blipFill>
            <a:blip r:embed="rId4"/>
            <a:srcRect/>
            <a:stretch/>
          </p:blipFill>
          <p:spPr>
            <a:xfrm>
              <a:off x="19452914" y="712847"/>
              <a:ext cx="540000" cy="540000"/>
            </a:xfrm>
            <a:prstGeom prst="rect">
              <a:avLst/>
            </a:prstGeom>
          </p:spPr>
        </p:pic>
        <p:pic>
          <p:nvPicPr>
            <p:cNvPr id="67" name="Picture 66" descr="Deliver insights, Blue 60 pictogram">
              <a:extLst>
                <a:ext uri="{FF2B5EF4-FFF2-40B4-BE49-F238E27FC236}">
                  <a16:creationId xmlns:a16="http://schemas.microsoft.com/office/drawing/2014/main" id="{C9BE58C3-9F6A-140C-CAD0-7F37560875C3}"/>
                </a:ext>
              </a:extLst>
            </p:cNvPr>
            <p:cNvPicPr>
              <a:picLocks noChangeAspect="1"/>
            </p:cNvPicPr>
            <p:nvPr/>
          </p:nvPicPr>
          <p:blipFill>
            <a:blip r:embed="rId5"/>
            <a:srcRect/>
            <a:stretch/>
          </p:blipFill>
          <p:spPr>
            <a:xfrm>
              <a:off x="18212059" y="712847"/>
              <a:ext cx="540000" cy="540000"/>
            </a:xfrm>
            <a:prstGeom prst="rect">
              <a:avLst/>
            </a:prstGeom>
          </p:spPr>
        </p:pic>
        <p:pic>
          <p:nvPicPr>
            <p:cNvPr id="68" name="Picture 67" descr="Identity trust assessment, Blue 60 pictogram">
              <a:extLst>
                <a:ext uri="{FF2B5EF4-FFF2-40B4-BE49-F238E27FC236}">
                  <a16:creationId xmlns:a16="http://schemas.microsoft.com/office/drawing/2014/main" id="{3BB9B600-A9E6-4953-432C-3610A915D150}"/>
                </a:ext>
              </a:extLst>
            </p:cNvPr>
            <p:cNvPicPr>
              <a:picLocks noChangeAspect="1"/>
            </p:cNvPicPr>
            <p:nvPr/>
          </p:nvPicPr>
          <p:blipFill>
            <a:blip r:embed="rId6"/>
            <a:srcRect/>
            <a:stretch/>
          </p:blipFill>
          <p:spPr>
            <a:xfrm>
              <a:off x="21872264" y="712847"/>
              <a:ext cx="540000" cy="540000"/>
            </a:xfrm>
            <a:prstGeom prst="rect">
              <a:avLst/>
            </a:prstGeom>
          </p:spPr>
        </p:pic>
        <p:pic>
          <p:nvPicPr>
            <p:cNvPr id="69" name="Picture 68" descr="Security as a service, Blue 60 pictogram">
              <a:extLst>
                <a:ext uri="{FF2B5EF4-FFF2-40B4-BE49-F238E27FC236}">
                  <a16:creationId xmlns:a16="http://schemas.microsoft.com/office/drawing/2014/main" id="{C0B7E8E5-A81C-9E34-761A-6F067C2A8D5D}"/>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70" name="Picture 69" descr="Vision, Blue 60 pictogram">
              <a:extLst>
                <a:ext uri="{FF2B5EF4-FFF2-40B4-BE49-F238E27FC236}">
                  <a16:creationId xmlns:a16="http://schemas.microsoft.com/office/drawing/2014/main" id="{1FFCAD41-B238-F323-A75B-0DCFCA2E13D9}"/>
                </a:ext>
              </a:extLst>
            </p:cNvPr>
            <p:cNvPicPr>
              <a:picLocks noChangeAspect="1"/>
            </p:cNvPicPr>
            <p:nvPr/>
          </p:nvPicPr>
          <p:blipFill>
            <a:blip r:embed="rId8"/>
            <a:srcRect/>
            <a:stretch/>
          </p:blipFill>
          <p:spPr>
            <a:xfrm>
              <a:off x="17023717" y="712847"/>
              <a:ext cx="540000" cy="540000"/>
            </a:xfrm>
            <a:prstGeom prst="rect">
              <a:avLst/>
            </a:prstGeom>
          </p:spPr>
        </p:pic>
      </p:grpSp>
      <p:sp>
        <p:nvSpPr>
          <p:cNvPr id="25" name="&quot;R&quot; teal rectangle">
            <a:extLst>
              <a:ext uri="{FF2B5EF4-FFF2-40B4-BE49-F238E27FC236}">
                <a16:creationId xmlns:a16="http://schemas.microsoft.com/office/drawing/2014/main" id="{2EB02906-588C-03E3-250F-9045EDC4D6B6}"/>
              </a:ext>
              <a:ext uri="{C183D7F6-B498-43B3-948B-1728B52AA6E4}">
                <adec:decorative xmlns:adec="http://schemas.microsoft.com/office/drawing/2017/decorative" val="1"/>
              </a:ext>
            </a:extLst>
          </p:cNvPr>
          <p:cNvSpPr>
            <a:spLocks noChangeAspect="1" noChangeArrowheads="1"/>
          </p:cNvSpPr>
          <p:nvPr/>
        </p:nvSpPr>
        <p:spPr bwMode="auto">
          <a:xfrm>
            <a:off x="9337957" y="3328128"/>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0" name="&quot;R&quot; teal rectangle">
            <a:extLst>
              <a:ext uri="{FF2B5EF4-FFF2-40B4-BE49-F238E27FC236}">
                <a16:creationId xmlns:a16="http://schemas.microsoft.com/office/drawing/2014/main" id="{E277F3B5-7344-CB00-AB5A-675197D9BDC7}"/>
              </a:ext>
              <a:ext uri="{C183D7F6-B498-43B3-948B-1728B52AA6E4}">
                <adec:decorative xmlns:adec="http://schemas.microsoft.com/office/drawing/2017/decorative" val="1"/>
              </a:ext>
            </a:extLst>
          </p:cNvPr>
          <p:cNvSpPr>
            <a:spLocks noChangeAspect="1" noChangeArrowheads="1"/>
          </p:cNvSpPr>
          <p:nvPr/>
        </p:nvSpPr>
        <p:spPr bwMode="auto">
          <a:xfrm>
            <a:off x="9332607" y="4105608"/>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1" name="&quot;C&quot; gray rectangle">
            <a:extLst>
              <a:ext uri="{FF2B5EF4-FFF2-40B4-BE49-F238E27FC236}">
                <a16:creationId xmlns:a16="http://schemas.microsoft.com/office/drawing/2014/main" id="{6D671CF5-8E56-AD6F-DC61-85851870C57C}"/>
              </a:ext>
              <a:ext uri="{C183D7F6-B498-43B3-948B-1728B52AA6E4}">
                <adec:decorative xmlns:adec="http://schemas.microsoft.com/office/drawing/2017/decorative" val="1"/>
              </a:ext>
            </a:extLst>
          </p:cNvPr>
          <p:cNvSpPr>
            <a:spLocks noChangeAspect="1" noChangeArrowheads="1"/>
          </p:cNvSpPr>
          <p:nvPr/>
        </p:nvSpPr>
        <p:spPr bwMode="auto">
          <a:xfrm>
            <a:off x="9332607" y="4906338"/>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32" name="&quot;R&quot; teal rectangle">
            <a:extLst>
              <a:ext uri="{FF2B5EF4-FFF2-40B4-BE49-F238E27FC236}">
                <a16:creationId xmlns:a16="http://schemas.microsoft.com/office/drawing/2014/main" id="{A7394355-0A67-F7BA-FE4E-4184FD1312FF}"/>
              </a:ext>
              <a:ext uri="{C183D7F6-B498-43B3-948B-1728B52AA6E4}">
                <adec:decorative xmlns:adec="http://schemas.microsoft.com/office/drawing/2017/decorative" val="1"/>
              </a:ext>
            </a:extLst>
          </p:cNvPr>
          <p:cNvSpPr>
            <a:spLocks noChangeAspect="1" noChangeArrowheads="1"/>
          </p:cNvSpPr>
          <p:nvPr/>
        </p:nvSpPr>
        <p:spPr bwMode="auto">
          <a:xfrm>
            <a:off x="9314559" y="5707067"/>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4" name="&quot;A&quot; blue rectangle">
            <a:extLst>
              <a:ext uri="{FF2B5EF4-FFF2-40B4-BE49-F238E27FC236}">
                <a16:creationId xmlns:a16="http://schemas.microsoft.com/office/drawing/2014/main" id="{21A1B121-82DB-F2FD-8EA2-01D685D26011}"/>
              </a:ext>
              <a:ext uri="{C183D7F6-B498-43B3-948B-1728B52AA6E4}">
                <adec:decorative xmlns:adec="http://schemas.microsoft.com/office/drawing/2017/decorative" val="1"/>
              </a:ext>
            </a:extLst>
          </p:cNvPr>
          <p:cNvSpPr>
            <a:spLocks noChangeAspect="1" noChangeArrowheads="1"/>
          </p:cNvSpPr>
          <p:nvPr/>
        </p:nvSpPr>
        <p:spPr bwMode="auto">
          <a:xfrm>
            <a:off x="9337957" y="2174977"/>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38169866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757EBF76-E14A-561B-3F40-7713987AF1AF}"/>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90502449-69A5-3837-358F-2C4C78ED98AC}"/>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4</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0BBF4C87-3B9F-4B4C-A47C-74CD7584505E}"/>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0EF0430F-85EF-3B66-4FAA-11F1160DFC07}"/>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BB45115-E0BA-B09E-033B-0B7DE24471B0}"/>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39C58D5D-B099-45BB-E6FF-86CECBB06232}"/>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64EF638-DBC0-1504-A860-981B93A4AFEC}"/>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B4687893-C3F2-4C6F-46C2-E1089025BAB4}"/>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B29E4C41-763D-5FFB-86F1-7D7D4E8A8B42}"/>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31C8669E-6FA9-CDB7-CE59-C5E0B5EC162C}"/>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5026306"/>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Document Management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cap="none" spc="0" baseline="0">
                          <a:solidFill>
                            <a:srgbClr val="000000"/>
                          </a:solidFill>
                          <a:effectLst/>
                          <a:uFillTx/>
                          <a:latin typeface="+mn-lt"/>
                          <a:ea typeface="+mn-ea"/>
                          <a:cs typeface="+mn-cs"/>
                          <a:sym typeface="IBM Plex Sans"/>
                        </a:rPr>
                        <a:t>There are no technologies or formal methods currently in place to protect paper-based assets.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3241431"/>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Consumer Identity &amp; Access Mgmt.</a:t>
                      </a:r>
                    </a:p>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Consent Management</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cap="none" spc="0" baseline="0">
                          <a:solidFill>
                            <a:srgbClr val="000000"/>
                          </a:solidFill>
                          <a:effectLst/>
                          <a:uFillTx/>
                          <a:latin typeface="+mn-lt"/>
                          <a:ea typeface="+mn-ea"/>
                          <a:cs typeface="+mn-cs"/>
                          <a:sym typeface="IBM Plex Sans"/>
                        </a:rPr>
                        <a:t>Tools to document or track notice, choice, and consent are not currently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ID" sz="1000"/>
                        <a:t>Implement tools to manage notice, choice, and consent, along with identity access systems, to ensure clear and compliant data processing.</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9958933"/>
                  </a:ext>
                </a:extLst>
              </a:tr>
              <a:tr h="1255037">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Data Analytics</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cap="none" spc="0" baseline="0">
                          <a:solidFill>
                            <a:srgbClr val="000000"/>
                          </a:solidFill>
                          <a:effectLst/>
                          <a:uFillTx/>
                          <a:latin typeface="+mn-lt"/>
                          <a:ea typeface="+mn-ea"/>
                          <a:cs typeface="+mn-cs"/>
                          <a:sym typeface="IBM Plex Sans"/>
                        </a:rPr>
                        <a:t>Analytics on notice, choice, and consent responses are not currently performed within the organization.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The organization needs to deploy tools and analytics capabilities to effectively track, document, and analyze notice, choice, and consent responses, enabling data-driven insights and ensuring compliance with privacy regulations.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705657"/>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User Behavior Analytics</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uses </a:t>
                      </a:r>
                      <a:r>
                        <a:rPr lang="en-US" sz="1000" b="0" i="0" u="none" strike="noStrike" err="1">
                          <a:solidFill>
                            <a:srgbClr val="000000"/>
                          </a:solidFill>
                          <a:effectLst/>
                          <a:latin typeface="+mj-lt"/>
                          <a:ea typeface="+mn-ea"/>
                        </a:rPr>
                        <a:t>QRadar</a:t>
                      </a:r>
                      <a:r>
                        <a:rPr lang="en-US" sz="1000" b="0" i="0" u="none" strike="noStrike">
                          <a:solidFill>
                            <a:srgbClr val="000000"/>
                          </a:solidFill>
                          <a:effectLst/>
                          <a:latin typeface="+mj-lt"/>
                          <a:ea typeface="+mn-ea"/>
                        </a:rPr>
                        <a:t>, which supports analysis of user responses and behavior, enabling basic User Behavior Analytics capabilities.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2818817"/>
                  </a:ext>
                </a:extLst>
              </a:tr>
              <a:tr h="95027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Data Masking</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uses Thales for dynamic data masking of credit card (CC) data; however, implementation is not yet comprehensive across all classified data types.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needs to extend the implementation of dynamic data masking across all relevant systems and classified data types to ensure consistent protection of sensitive information.</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75700365"/>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22</a:t>
            </a:fld>
            <a:endParaRPr lang="en-US">
              <a:solidFill>
                <a:srgbClr val="000000"/>
              </a:solidFill>
            </a:endParaRPr>
          </a:p>
        </p:txBody>
      </p:sp>
      <p:grpSp>
        <p:nvGrpSpPr>
          <p:cNvPr id="2" name="Group 1">
            <a:extLst>
              <a:ext uri="{FF2B5EF4-FFF2-40B4-BE49-F238E27FC236}">
                <a16:creationId xmlns:a16="http://schemas.microsoft.com/office/drawing/2014/main" id="{4E5975F1-7105-7631-1675-AB0AA7481638}"/>
              </a:ext>
            </a:extLst>
          </p:cNvPr>
          <p:cNvGrpSpPr/>
          <p:nvPr/>
        </p:nvGrpSpPr>
        <p:grpSpPr>
          <a:xfrm>
            <a:off x="7711263" y="267997"/>
            <a:ext cx="4170294" cy="783142"/>
            <a:chOff x="15576932" y="535171"/>
            <a:chExt cx="8341675" cy="1566487"/>
          </a:xfrm>
        </p:grpSpPr>
        <p:sp>
          <p:nvSpPr>
            <p:cNvPr id="3" name="Oval 2">
              <a:extLst>
                <a:ext uri="{FF2B5EF4-FFF2-40B4-BE49-F238E27FC236}">
                  <a16:creationId xmlns:a16="http://schemas.microsoft.com/office/drawing/2014/main" id="{FB6AC7C2-78FD-5B17-3A3A-11997D852BE8}"/>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 name="Oval 3">
              <a:extLst>
                <a:ext uri="{FF2B5EF4-FFF2-40B4-BE49-F238E27FC236}">
                  <a16:creationId xmlns:a16="http://schemas.microsoft.com/office/drawing/2014/main" id="{6034564F-5E1C-4B67-DB46-B403E1287EA1}"/>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 name="Straight Arrow Connector 7">
              <a:extLst>
                <a:ext uri="{FF2B5EF4-FFF2-40B4-BE49-F238E27FC236}">
                  <a16:creationId xmlns:a16="http://schemas.microsoft.com/office/drawing/2014/main" id="{15567FE7-1CEC-0FB7-D586-38B69EE5A1B2}"/>
                </a:ext>
              </a:extLst>
            </p:cNvPr>
            <p:cNvCxnSpPr>
              <a:cxnSpLocks/>
              <a:stCxn id="3" idx="6"/>
              <a:endCxn id="4"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D89D3875-9215-58A7-673A-D5E820AA951F}"/>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2" name="Oval 11">
              <a:extLst>
                <a:ext uri="{FF2B5EF4-FFF2-40B4-BE49-F238E27FC236}">
                  <a16:creationId xmlns:a16="http://schemas.microsoft.com/office/drawing/2014/main" id="{62B1280C-FBEE-7696-5041-AEEA2A016C35}"/>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3" name="Straight Arrow Connector 12">
              <a:extLst>
                <a:ext uri="{FF2B5EF4-FFF2-40B4-BE49-F238E27FC236}">
                  <a16:creationId xmlns:a16="http://schemas.microsoft.com/office/drawing/2014/main" id="{3E2242F8-40CB-0936-8A1A-A9A4D757CBD8}"/>
                </a:ext>
              </a:extLst>
            </p:cNvPr>
            <p:cNvCxnSpPr>
              <a:cxnSpLocks/>
              <a:stCxn id="4" idx="6"/>
              <a:endCxn id="11"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F6CBFD7-105C-C41D-A658-E74C6B070ACC}"/>
                </a:ext>
              </a:extLst>
            </p:cNvPr>
            <p:cNvCxnSpPr>
              <a:cxnSpLocks/>
              <a:stCxn id="11" idx="6"/>
              <a:endCxn id="12"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522112EB-4C86-6F05-F29F-8D63A11B8F37}"/>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6" name="Oval 15">
              <a:extLst>
                <a:ext uri="{FF2B5EF4-FFF2-40B4-BE49-F238E27FC236}">
                  <a16:creationId xmlns:a16="http://schemas.microsoft.com/office/drawing/2014/main" id="{9761FE58-D525-5ACE-821C-9EA80C594754}"/>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8" name="Oval 27">
              <a:extLst>
                <a:ext uri="{FF2B5EF4-FFF2-40B4-BE49-F238E27FC236}">
                  <a16:creationId xmlns:a16="http://schemas.microsoft.com/office/drawing/2014/main" id="{FBCF272C-90FD-9FDB-8242-45F566481C45}"/>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9" name="Straight Arrow Connector 28">
              <a:extLst>
                <a:ext uri="{FF2B5EF4-FFF2-40B4-BE49-F238E27FC236}">
                  <a16:creationId xmlns:a16="http://schemas.microsoft.com/office/drawing/2014/main" id="{A2526135-C871-E37E-DA92-3597FE73338B}"/>
                </a:ext>
              </a:extLst>
            </p:cNvPr>
            <p:cNvCxnSpPr>
              <a:cxnSpLocks/>
              <a:stCxn id="15" idx="6"/>
              <a:endCxn id="16"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32B1644D-9F87-B6F5-C6AE-8AA150C06187}"/>
                </a:ext>
              </a:extLst>
            </p:cNvPr>
            <p:cNvCxnSpPr>
              <a:cxnSpLocks/>
              <a:stCxn id="16" idx="6"/>
              <a:endCxn id="28"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DA064927-2FDD-5807-AFD0-C700BF9976FC}"/>
                </a:ext>
              </a:extLst>
            </p:cNvPr>
            <p:cNvCxnSpPr>
              <a:cxnSpLocks/>
              <a:stCxn id="12" idx="6"/>
              <a:endCxn id="15"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6" name="Text Placeholder 3">
              <a:extLst>
                <a:ext uri="{FF2B5EF4-FFF2-40B4-BE49-F238E27FC236}">
                  <a16:creationId xmlns:a16="http://schemas.microsoft.com/office/drawing/2014/main" id="{389C6D30-ABCD-6216-4948-FA790937528C}"/>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37" name="Text Placeholder 3">
              <a:extLst>
                <a:ext uri="{FF2B5EF4-FFF2-40B4-BE49-F238E27FC236}">
                  <a16:creationId xmlns:a16="http://schemas.microsoft.com/office/drawing/2014/main" id="{72AF8EA8-0BA2-B672-DF1B-411FF430A088}"/>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43" name="Text Placeholder 3">
              <a:extLst>
                <a:ext uri="{FF2B5EF4-FFF2-40B4-BE49-F238E27FC236}">
                  <a16:creationId xmlns:a16="http://schemas.microsoft.com/office/drawing/2014/main" id="{E3D59C9A-C9C0-300C-A228-308DF989CC0D}"/>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45" name="Text Placeholder 3">
              <a:extLst>
                <a:ext uri="{FF2B5EF4-FFF2-40B4-BE49-F238E27FC236}">
                  <a16:creationId xmlns:a16="http://schemas.microsoft.com/office/drawing/2014/main" id="{C240D900-BB34-FD3B-81D0-4D5F2C9245AC}"/>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46" name="Text Placeholder 3">
              <a:extLst>
                <a:ext uri="{FF2B5EF4-FFF2-40B4-BE49-F238E27FC236}">
                  <a16:creationId xmlns:a16="http://schemas.microsoft.com/office/drawing/2014/main" id="{4836BFE9-828D-614C-688D-2B13CB419C1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48" name="Text Placeholder 3">
              <a:extLst>
                <a:ext uri="{FF2B5EF4-FFF2-40B4-BE49-F238E27FC236}">
                  <a16:creationId xmlns:a16="http://schemas.microsoft.com/office/drawing/2014/main" id="{659C68DE-AE84-7C5E-2077-0E4B291224DD}"/>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63" name="Text Placeholder 3">
              <a:extLst>
                <a:ext uri="{FF2B5EF4-FFF2-40B4-BE49-F238E27FC236}">
                  <a16:creationId xmlns:a16="http://schemas.microsoft.com/office/drawing/2014/main" id="{E0ECB4EB-18D7-AE38-62A9-68B726F0F2CE}"/>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64" name="Picture 63" descr="Progress, Blue 60 pictogram">
              <a:extLst>
                <a:ext uri="{FF2B5EF4-FFF2-40B4-BE49-F238E27FC236}">
                  <a16:creationId xmlns:a16="http://schemas.microsoft.com/office/drawing/2014/main" id="{9DD0183B-0CA4-ACE7-EFB9-EDE606794D1E}"/>
                </a:ext>
              </a:extLst>
            </p:cNvPr>
            <p:cNvPicPr>
              <a:picLocks noChangeAspect="1"/>
            </p:cNvPicPr>
            <p:nvPr/>
          </p:nvPicPr>
          <p:blipFill>
            <a:blip r:embed="rId2"/>
            <a:srcRect/>
            <a:stretch/>
          </p:blipFill>
          <p:spPr>
            <a:xfrm>
              <a:off x="15792707" y="712846"/>
              <a:ext cx="540000" cy="540000"/>
            </a:xfrm>
            <a:prstGeom prst="rect">
              <a:avLst/>
            </a:prstGeom>
          </p:spPr>
        </p:pic>
        <p:pic>
          <p:nvPicPr>
            <p:cNvPr id="65" name="Picture 64" descr="Strategy play, Blue 60 pictogram">
              <a:extLst>
                <a:ext uri="{FF2B5EF4-FFF2-40B4-BE49-F238E27FC236}">
                  <a16:creationId xmlns:a16="http://schemas.microsoft.com/office/drawing/2014/main" id="{BBC60688-CC3B-D9D8-1832-15E5D1AA7C7F}"/>
                </a:ext>
              </a:extLst>
            </p:cNvPr>
            <p:cNvPicPr>
              <a:picLocks noChangeAspect="1"/>
            </p:cNvPicPr>
            <p:nvPr/>
          </p:nvPicPr>
          <p:blipFill>
            <a:blip r:embed="rId3"/>
            <a:srcRect/>
            <a:stretch/>
          </p:blipFill>
          <p:spPr>
            <a:xfrm>
              <a:off x="20674077" y="712847"/>
              <a:ext cx="540000" cy="540000"/>
            </a:xfrm>
            <a:prstGeom prst="rect">
              <a:avLst/>
            </a:prstGeom>
          </p:spPr>
        </p:pic>
        <p:pic>
          <p:nvPicPr>
            <p:cNvPr id="66" name="Picture 65" descr="Inspect data, Blue 60 pictogram">
              <a:extLst>
                <a:ext uri="{FF2B5EF4-FFF2-40B4-BE49-F238E27FC236}">
                  <a16:creationId xmlns:a16="http://schemas.microsoft.com/office/drawing/2014/main" id="{763949FD-8930-61E3-43CA-72DA7B7CF10F}"/>
                </a:ext>
              </a:extLst>
            </p:cNvPr>
            <p:cNvPicPr>
              <a:picLocks noChangeAspect="1"/>
            </p:cNvPicPr>
            <p:nvPr/>
          </p:nvPicPr>
          <p:blipFill>
            <a:blip r:embed="rId4"/>
            <a:srcRect/>
            <a:stretch/>
          </p:blipFill>
          <p:spPr>
            <a:xfrm>
              <a:off x="19452914" y="712847"/>
              <a:ext cx="540000" cy="540000"/>
            </a:xfrm>
            <a:prstGeom prst="rect">
              <a:avLst/>
            </a:prstGeom>
          </p:spPr>
        </p:pic>
        <p:pic>
          <p:nvPicPr>
            <p:cNvPr id="67" name="Picture 66" descr="Deliver insights, Blue 60 pictogram">
              <a:extLst>
                <a:ext uri="{FF2B5EF4-FFF2-40B4-BE49-F238E27FC236}">
                  <a16:creationId xmlns:a16="http://schemas.microsoft.com/office/drawing/2014/main" id="{C9BE58C3-9F6A-140C-CAD0-7F37560875C3}"/>
                </a:ext>
              </a:extLst>
            </p:cNvPr>
            <p:cNvPicPr>
              <a:picLocks noChangeAspect="1"/>
            </p:cNvPicPr>
            <p:nvPr/>
          </p:nvPicPr>
          <p:blipFill>
            <a:blip r:embed="rId5"/>
            <a:srcRect/>
            <a:stretch/>
          </p:blipFill>
          <p:spPr>
            <a:xfrm>
              <a:off x="18212059" y="712847"/>
              <a:ext cx="540000" cy="540000"/>
            </a:xfrm>
            <a:prstGeom prst="rect">
              <a:avLst/>
            </a:prstGeom>
          </p:spPr>
        </p:pic>
        <p:pic>
          <p:nvPicPr>
            <p:cNvPr id="68" name="Picture 67" descr="Identity trust assessment, Blue 60 pictogram">
              <a:extLst>
                <a:ext uri="{FF2B5EF4-FFF2-40B4-BE49-F238E27FC236}">
                  <a16:creationId xmlns:a16="http://schemas.microsoft.com/office/drawing/2014/main" id="{3BB9B600-A9E6-4953-432C-3610A915D150}"/>
                </a:ext>
              </a:extLst>
            </p:cNvPr>
            <p:cNvPicPr>
              <a:picLocks noChangeAspect="1"/>
            </p:cNvPicPr>
            <p:nvPr/>
          </p:nvPicPr>
          <p:blipFill>
            <a:blip r:embed="rId6"/>
            <a:srcRect/>
            <a:stretch/>
          </p:blipFill>
          <p:spPr>
            <a:xfrm>
              <a:off x="21872264" y="712847"/>
              <a:ext cx="540000" cy="540000"/>
            </a:xfrm>
            <a:prstGeom prst="rect">
              <a:avLst/>
            </a:prstGeom>
          </p:spPr>
        </p:pic>
        <p:pic>
          <p:nvPicPr>
            <p:cNvPr id="69" name="Picture 68" descr="Security as a service, Blue 60 pictogram">
              <a:extLst>
                <a:ext uri="{FF2B5EF4-FFF2-40B4-BE49-F238E27FC236}">
                  <a16:creationId xmlns:a16="http://schemas.microsoft.com/office/drawing/2014/main" id="{C0B7E8E5-A81C-9E34-761A-6F067C2A8D5D}"/>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70" name="Picture 69" descr="Vision, Blue 60 pictogram">
              <a:extLst>
                <a:ext uri="{FF2B5EF4-FFF2-40B4-BE49-F238E27FC236}">
                  <a16:creationId xmlns:a16="http://schemas.microsoft.com/office/drawing/2014/main" id="{1FFCAD41-B238-F323-A75B-0DCFCA2E13D9}"/>
                </a:ext>
              </a:extLst>
            </p:cNvPr>
            <p:cNvPicPr>
              <a:picLocks noChangeAspect="1"/>
            </p:cNvPicPr>
            <p:nvPr/>
          </p:nvPicPr>
          <p:blipFill>
            <a:blip r:embed="rId8"/>
            <a:srcRect/>
            <a:stretch/>
          </p:blipFill>
          <p:spPr>
            <a:xfrm>
              <a:off x="17023717" y="712847"/>
              <a:ext cx="540000" cy="540000"/>
            </a:xfrm>
            <a:prstGeom prst="rect">
              <a:avLst/>
            </a:prstGeom>
          </p:spPr>
        </p:pic>
      </p:grpSp>
      <p:sp>
        <p:nvSpPr>
          <p:cNvPr id="27" name="&quot;R&quot; teal rectangle">
            <a:extLst>
              <a:ext uri="{FF2B5EF4-FFF2-40B4-BE49-F238E27FC236}">
                <a16:creationId xmlns:a16="http://schemas.microsoft.com/office/drawing/2014/main" id="{1B1BCF33-792E-50C3-4D7E-A58785563BAD}"/>
              </a:ext>
              <a:ext uri="{C183D7F6-B498-43B3-948B-1728B52AA6E4}">
                <adec:decorative xmlns:adec="http://schemas.microsoft.com/office/drawing/2017/decorative" val="1"/>
              </a:ext>
            </a:extLst>
          </p:cNvPr>
          <p:cNvSpPr>
            <a:spLocks noChangeAspect="1" noChangeArrowheads="1"/>
          </p:cNvSpPr>
          <p:nvPr/>
        </p:nvSpPr>
        <p:spPr bwMode="auto">
          <a:xfrm>
            <a:off x="9335571" y="475096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1" name="&quot;C&quot; gray rectangle">
            <a:extLst>
              <a:ext uri="{FF2B5EF4-FFF2-40B4-BE49-F238E27FC236}">
                <a16:creationId xmlns:a16="http://schemas.microsoft.com/office/drawing/2014/main" id="{E6203A5F-0EC1-4F5D-F2CA-D529A4820006}"/>
              </a:ext>
              <a:ext uri="{C183D7F6-B498-43B3-948B-1728B52AA6E4}">
                <adec:decorative xmlns:adec="http://schemas.microsoft.com/office/drawing/2017/decorative" val="1"/>
              </a:ext>
            </a:extLst>
          </p:cNvPr>
          <p:cNvSpPr>
            <a:spLocks noChangeAspect="1" noChangeArrowheads="1"/>
          </p:cNvSpPr>
          <p:nvPr/>
        </p:nvSpPr>
        <p:spPr bwMode="auto">
          <a:xfrm>
            <a:off x="9329476" y="187797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4" name="&quot;C&quot; gray rectangle">
            <a:extLst>
              <a:ext uri="{FF2B5EF4-FFF2-40B4-BE49-F238E27FC236}">
                <a16:creationId xmlns:a16="http://schemas.microsoft.com/office/drawing/2014/main" id="{77CFF368-777A-3E31-757B-000A310FFE2C}"/>
              </a:ext>
              <a:ext uri="{C183D7F6-B498-43B3-948B-1728B52AA6E4}">
                <adec:decorative xmlns:adec="http://schemas.microsoft.com/office/drawing/2017/decorative" val="1"/>
              </a:ext>
            </a:extLst>
          </p:cNvPr>
          <p:cNvSpPr>
            <a:spLocks noChangeAspect="1" noChangeArrowheads="1"/>
          </p:cNvSpPr>
          <p:nvPr/>
        </p:nvSpPr>
        <p:spPr bwMode="auto">
          <a:xfrm>
            <a:off x="9327857" y="2682056"/>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38" name="&quot;C&quot; gray rectangle">
            <a:extLst>
              <a:ext uri="{FF2B5EF4-FFF2-40B4-BE49-F238E27FC236}">
                <a16:creationId xmlns:a16="http://schemas.microsoft.com/office/drawing/2014/main" id="{E90E7E39-9C0A-9331-636A-2DD5D8AB96DC}"/>
              </a:ext>
              <a:ext uri="{C183D7F6-B498-43B3-948B-1728B52AA6E4}">
                <adec:decorative xmlns:adec="http://schemas.microsoft.com/office/drawing/2017/decorative" val="1"/>
              </a:ext>
            </a:extLst>
          </p:cNvPr>
          <p:cNvSpPr>
            <a:spLocks noChangeAspect="1" noChangeArrowheads="1"/>
          </p:cNvSpPr>
          <p:nvPr/>
        </p:nvSpPr>
        <p:spPr bwMode="auto">
          <a:xfrm>
            <a:off x="9327857" y="3759054"/>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40" name="&quot;A&quot; blue rectangle">
            <a:extLst>
              <a:ext uri="{FF2B5EF4-FFF2-40B4-BE49-F238E27FC236}">
                <a16:creationId xmlns:a16="http://schemas.microsoft.com/office/drawing/2014/main" id="{E98FBF31-8EF1-B222-812F-767AF669019B}"/>
              </a:ext>
              <a:ext uri="{C183D7F6-B498-43B3-948B-1728B52AA6E4}">
                <adec:decorative xmlns:adec="http://schemas.microsoft.com/office/drawing/2017/decorative" val="1"/>
              </a:ext>
            </a:extLst>
          </p:cNvPr>
          <p:cNvSpPr>
            <a:spLocks noChangeAspect="1" noChangeArrowheads="1"/>
          </p:cNvSpPr>
          <p:nvPr/>
        </p:nvSpPr>
        <p:spPr bwMode="auto">
          <a:xfrm>
            <a:off x="9327857" y="5614045"/>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31148222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757EBF76-E14A-561B-3F40-7713987AF1AF}"/>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90502449-69A5-3837-358F-2C4C78ED98AC}"/>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5</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0BBF4C87-3B9F-4B4C-A47C-74CD7584505E}"/>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0EF0430F-85EF-3B66-4FAA-11F1160DFC07}"/>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BB45115-E0BA-B09E-033B-0B7DE24471B0}"/>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39C58D5D-B099-45BB-E6FF-86CECBB06232}"/>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64EF638-DBC0-1504-A860-981B93A4AFEC}"/>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B4687893-C3F2-4C6F-46C2-E1089025BAB4}"/>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B29E4C41-763D-5FFB-86F1-7D7D4E8A8B42}"/>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31C8669E-6FA9-CDB7-CE59-C5E0B5EC162C}"/>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4569166"/>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Role Based Access Control</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Role-based access control is implemented using LDAP, allowing data access to be limited based on specific user role groups.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8007958"/>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Identity Governance and Administration</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ID" sz="1000"/>
                        <a:t>The organization uses firewalls and PAM to secure its network and control access.</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1099406"/>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Intrusion Detection System</a:t>
                      </a:r>
                    </a:p>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Intrusion Prevention System</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Firewalls and intrusion detection/prevention systems are in place, supporting the organization's network security and threat mitigation efforts.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620645"/>
                  </a:ext>
                </a:extLst>
              </a:tr>
              <a:tr h="95027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Asset Management</a:t>
                      </a:r>
                    </a:p>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Configuration Management Database</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Network devices are regularly updated with security patches and firmware upgrades, reflecting adherence to asset and configuration management best practices.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707827"/>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Asset Management</a:t>
                      </a:r>
                    </a:p>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 Configuration Management Database</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ID" sz="1000"/>
                        <a:t>The organization uses vulnerability scans to keep systems and software up to date with security patches.</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8423928"/>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23</a:t>
            </a:fld>
            <a:endParaRPr lang="en-US">
              <a:solidFill>
                <a:srgbClr val="000000"/>
              </a:solidFill>
            </a:endParaRPr>
          </a:p>
        </p:txBody>
      </p:sp>
      <p:grpSp>
        <p:nvGrpSpPr>
          <p:cNvPr id="2" name="Group 1">
            <a:extLst>
              <a:ext uri="{FF2B5EF4-FFF2-40B4-BE49-F238E27FC236}">
                <a16:creationId xmlns:a16="http://schemas.microsoft.com/office/drawing/2014/main" id="{4E5975F1-7105-7631-1675-AB0AA7481638}"/>
              </a:ext>
            </a:extLst>
          </p:cNvPr>
          <p:cNvGrpSpPr/>
          <p:nvPr/>
        </p:nvGrpSpPr>
        <p:grpSpPr>
          <a:xfrm>
            <a:off x="7711263" y="267997"/>
            <a:ext cx="4170294" cy="783142"/>
            <a:chOff x="15576932" y="535171"/>
            <a:chExt cx="8341675" cy="1566487"/>
          </a:xfrm>
        </p:grpSpPr>
        <p:sp>
          <p:nvSpPr>
            <p:cNvPr id="3" name="Oval 2">
              <a:extLst>
                <a:ext uri="{FF2B5EF4-FFF2-40B4-BE49-F238E27FC236}">
                  <a16:creationId xmlns:a16="http://schemas.microsoft.com/office/drawing/2014/main" id="{FB6AC7C2-78FD-5B17-3A3A-11997D852BE8}"/>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 name="Oval 3">
              <a:extLst>
                <a:ext uri="{FF2B5EF4-FFF2-40B4-BE49-F238E27FC236}">
                  <a16:creationId xmlns:a16="http://schemas.microsoft.com/office/drawing/2014/main" id="{6034564F-5E1C-4B67-DB46-B403E1287EA1}"/>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 name="Straight Arrow Connector 7">
              <a:extLst>
                <a:ext uri="{FF2B5EF4-FFF2-40B4-BE49-F238E27FC236}">
                  <a16:creationId xmlns:a16="http://schemas.microsoft.com/office/drawing/2014/main" id="{15567FE7-1CEC-0FB7-D586-38B69EE5A1B2}"/>
                </a:ext>
              </a:extLst>
            </p:cNvPr>
            <p:cNvCxnSpPr>
              <a:cxnSpLocks/>
              <a:stCxn id="3" idx="6"/>
              <a:endCxn id="4"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D89D3875-9215-58A7-673A-D5E820AA951F}"/>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2" name="Oval 11">
              <a:extLst>
                <a:ext uri="{FF2B5EF4-FFF2-40B4-BE49-F238E27FC236}">
                  <a16:creationId xmlns:a16="http://schemas.microsoft.com/office/drawing/2014/main" id="{62B1280C-FBEE-7696-5041-AEEA2A016C35}"/>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3" name="Straight Arrow Connector 12">
              <a:extLst>
                <a:ext uri="{FF2B5EF4-FFF2-40B4-BE49-F238E27FC236}">
                  <a16:creationId xmlns:a16="http://schemas.microsoft.com/office/drawing/2014/main" id="{3E2242F8-40CB-0936-8A1A-A9A4D757CBD8}"/>
                </a:ext>
              </a:extLst>
            </p:cNvPr>
            <p:cNvCxnSpPr>
              <a:cxnSpLocks/>
              <a:stCxn id="4" idx="6"/>
              <a:endCxn id="11"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F6CBFD7-105C-C41D-A658-E74C6B070ACC}"/>
                </a:ext>
              </a:extLst>
            </p:cNvPr>
            <p:cNvCxnSpPr>
              <a:cxnSpLocks/>
              <a:stCxn id="11" idx="6"/>
              <a:endCxn id="12"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522112EB-4C86-6F05-F29F-8D63A11B8F37}"/>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6" name="Oval 15">
              <a:extLst>
                <a:ext uri="{FF2B5EF4-FFF2-40B4-BE49-F238E27FC236}">
                  <a16:creationId xmlns:a16="http://schemas.microsoft.com/office/drawing/2014/main" id="{9761FE58-D525-5ACE-821C-9EA80C594754}"/>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8" name="Oval 27">
              <a:extLst>
                <a:ext uri="{FF2B5EF4-FFF2-40B4-BE49-F238E27FC236}">
                  <a16:creationId xmlns:a16="http://schemas.microsoft.com/office/drawing/2014/main" id="{FBCF272C-90FD-9FDB-8242-45F566481C45}"/>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9" name="Straight Arrow Connector 28">
              <a:extLst>
                <a:ext uri="{FF2B5EF4-FFF2-40B4-BE49-F238E27FC236}">
                  <a16:creationId xmlns:a16="http://schemas.microsoft.com/office/drawing/2014/main" id="{A2526135-C871-E37E-DA92-3597FE73338B}"/>
                </a:ext>
              </a:extLst>
            </p:cNvPr>
            <p:cNvCxnSpPr>
              <a:cxnSpLocks/>
              <a:stCxn id="15" idx="6"/>
              <a:endCxn id="16"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32B1644D-9F87-B6F5-C6AE-8AA150C06187}"/>
                </a:ext>
              </a:extLst>
            </p:cNvPr>
            <p:cNvCxnSpPr>
              <a:cxnSpLocks/>
              <a:stCxn id="16" idx="6"/>
              <a:endCxn id="28"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DA064927-2FDD-5807-AFD0-C700BF9976FC}"/>
                </a:ext>
              </a:extLst>
            </p:cNvPr>
            <p:cNvCxnSpPr>
              <a:cxnSpLocks/>
              <a:stCxn id="12" idx="6"/>
              <a:endCxn id="15"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6" name="Text Placeholder 3">
              <a:extLst>
                <a:ext uri="{FF2B5EF4-FFF2-40B4-BE49-F238E27FC236}">
                  <a16:creationId xmlns:a16="http://schemas.microsoft.com/office/drawing/2014/main" id="{389C6D30-ABCD-6216-4948-FA790937528C}"/>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37" name="Text Placeholder 3">
              <a:extLst>
                <a:ext uri="{FF2B5EF4-FFF2-40B4-BE49-F238E27FC236}">
                  <a16:creationId xmlns:a16="http://schemas.microsoft.com/office/drawing/2014/main" id="{72AF8EA8-0BA2-B672-DF1B-411FF430A088}"/>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43" name="Text Placeholder 3">
              <a:extLst>
                <a:ext uri="{FF2B5EF4-FFF2-40B4-BE49-F238E27FC236}">
                  <a16:creationId xmlns:a16="http://schemas.microsoft.com/office/drawing/2014/main" id="{E3D59C9A-C9C0-300C-A228-308DF989CC0D}"/>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45" name="Text Placeholder 3">
              <a:extLst>
                <a:ext uri="{FF2B5EF4-FFF2-40B4-BE49-F238E27FC236}">
                  <a16:creationId xmlns:a16="http://schemas.microsoft.com/office/drawing/2014/main" id="{C240D900-BB34-FD3B-81D0-4D5F2C9245AC}"/>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46" name="Text Placeholder 3">
              <a:extLst>
                <a:ext uri="{FF2B5EF4-FFF2-40B4-BE49-F238E27FC236}">
                  <a16:creationId xmlns:a16="http://schemas.microsoft.com/office/drawing/2014/main" id="{4836BFE9-828D-614C-688D-2B13CB419C1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48" name="Text Placeholder 3">
              <a:extLst>
                <a:ext uri="{FF2B5EF4-FFF2-40B4-BE49-F238E27FC236}">
                  <a16:creationId xmlns:a16="http://schemas.microsoft.com/office/drawing/2014/main" id="{659C68DE-AE84-7C5E-2077-0E4B291224DD}"/>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63" name="Text Placeholder 3">
              <a:extLst>
                <a:ext uri="{FF2B5EF4-FFF2-40B4-BE49-F238E27FC236}">
                  <a16:creationId xmlns:a16="http://schemas.microsoft.com/office/drawing/2014/main" id="{E0ECB4EB-18D7-AE38-62A9-68B726F0F2CE}"/>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64" name="Picture 63" descr="Progress, Blue 60 pictogram">
              <a:extLst>
                <a:ext uri="{FF2B5EF4-FFF2-40B4-BE49-F238E27FC236}">
                  <a16:creationId xmlns:a16="http://schemas.microsoft.com/office/drawing/2014/main" id="{9DD0183B-0CA4-ACE7-EFB9-EDE606794D1E}"/>
                </a:ext>
              </a:extLst>
            </p:cNvPr>
            <p:cNvPicPr>
              <a:picLocks noChangeAspect="1"/>
            </p:cNvPicPr>
            <p:nvPr/>
          </p:nvPicPr>
          <p:blipFill>
            <a:blip r:embed="rId2"/>
            <a:srcRect/>
            <a:stretch/>
          </p:blipFill>
          <p:spPr>
            <a:xfrm>
              <a:off x="15792707" y="712846"/>
              <a:ext cx="540000" cy="540000"/>
            </a:xfrm>
            <a:prstGeom prst="rect">
              <a:avLst/>
            </a:prstGeom>
          </p:spPr>
        </p:pic>
        <p:pic>
          <p:nvPicPr>
            <p:cNvPr id="65" name="Picture 64" descr="Strategy play, Blue 60 pictogram">
              <a:extLst>
                <a:ext uri="{FF2B5EF4-FFF2-40B4-BE49-F238E27FC236}">
                  <a16:creationId xmlns:a16="http://schemas.microsoft.com/office/drawing/2014/main" id="{BBC60688-CC3B-D9D8-1832-15E5D1AA7C7F}"/>
                </a:ext>
              </a:extLst>
            </p:cNvPr>
            <p:cNvPicPr>
              <a:picLocks noChangeAspect="1"/>
            </p:cNvPicPr>
            <p:nvPr/>
          </p:nvPicPr>
          <p:blipFill>
            <a:blip r:embed="rId3"/>
            <a:srcRect/>
            <a:stretch/>
          </p:blipFill>
          <p:spPr>
            <a:xfrm>
              <a:off x="20674077" y="712847"/>
              <a:ext cx="540000" cy="540000"/>
            </a:xfrm>
            <a:prstGeom prst="rect">
              <a:avLst/>
            </a:prstGeom>
          </p:spPr>
        </p:pic>
        <p:pic>
          <p:nvPicPr>
            <p:cNvPr id="66" name="Picture 65" descr="Inspect data, Blue 60 pictogram">
              <a:extLst>
                <a:ext uri="{FF2B5EF4-FFF2-40B4-BE49-F238E27FC236}">
                  <a16:creationId xmlns:a16="http://schemas.microsoft.com/office/drawing/2014/main" id="{763949FD-8930-61E3-43CA-72DA7B7CF10F}"/>
                </a:ext>
              </a:extLst>
            </p:cNvPr>
            <p:cNvPicPr>
              <a:picLocks noChangeAspect="1"/>
            </p:cNvPicPr>
            <p:nvPr/>
          </p:nvPicPr>
          <p:blipFill>
            <a:blip r:embed="rId4"/>
            <a:srcRect/>
            <a:stretch/>
          </p:blipFill>
          <p:spPr>
            <a:xfrm>
              <a:off x="19452914" y="712847"/>
              <a:ext cx="540000" cy="540000"/>
            </a:xfrm>
            <a:prstGeom prst="rect">
              <a:avLst/>
            </a:prstGeom>
          </p:spPr>
        </p:pic>
        <p:pic>
          <p:nvPicPr>
            <p:cNvPr id="67" name="Picture 66" descr="Deliver insights, Blue 60 pictogram">
              <a:extLst>
                <a:ext uri="{FF2B5EF4-FFF2-40B4-BE49-F238E27FC236}">
                  <a16:creationId xmlns:a16="http://schemas.microsoft.com/office/drawing/2014/main" id="{C9BE58C3-9F6A-140C-CAD0-7F37560875C3}"/>
                </a:ext>
              </a:extLst>
            </p:cNvPr>
            <p:cNvPicPr>
              <a:picLocks noChangeAspect="1"/>
            </p:cNvPicPr>
            <p:nvPr/>
          </p:nvPicPr>
          <p:blipFill>
            <a:blip r:embed="rId5"/>
            <a:srcRect/>
            <a:stretch/>
          </p:blipFill>
          <p:spPr>
            <a:xfrm>
              <a:off x="18212059" y="712847"/>
              <a:ext cx="540000" cy="540000"/>
            </a:xfrm>
            <a:prstGeom prst="rect">
              <a:avLst/>
            </a:prstGeom>
          </p:spPr>
        </p:pic>
        <p:pic>
          <p:nvPicPr>
            <p:cNvPr id="68" name="Picture 67" descr="Identity trust assessment, Blue 60 pictogram">
              <a:extLst>
                <a:ext uri="{FF2B5EF4-FFF2-40B4-BE49-F238E27FC236}">
                  <a16:creationId xmlns:a16="http://schemas.microsoft.com/office/drawing/2014/main" id="{3BB9B600-A9E6-4953-432C-3610A915D150}"/>
                </a:ext>
              </a:extLst>
            </p:cNvPr>
            <p:cNvPicPr>
              <a:picLocks noChangeAspect="1"/>
            </p:cNvPicPr>
            <p:nvPr/>
          </p:nvPicPr>
          <p:blipFill>
            <a:blip r:embed="rId6"/>
            <a:srcRect/>
            <a:stretch/>
          </p:blipFill>
          <p:spPr>
            <a:xfrm>
              <a:off x="21872264" y="712847"/>
              <a:ext cx="540000" cy="540000"/>
            </a:xfrm>
            <a:prstGeom prst="rect">
              <a:avLst/>
            </a:prstGeom>
          </p:spPr>
        </p:pic>
        <p:pic>
          <p:nvPicPr>
            <p:cNvPr id="69" name="Picture 68" descr="Security as a service, Blue 60 pictogram">
              <a:extLst>
                <a:ext uri="{FF2B5EF4-FFF2-40B4-BE49-F238E27FC236}">
                  <a16:creationId xmlns:a16="http://schemas.microsoft.com/office/drawing/2014/main" id="{C0B7E8E5-A81C-9E34-761A-6F067C2A8D5D}"/>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70" name="Picture 69" descr="Vision, Blue 60 pictogram">
              <a:extLst>
                <a:ext uri="{FF2B5EF4-FFF2-40B4-BE49-F238E27FC236}">
                  <a16:creationId xmlns:a16="http://schemas.microsoft.com/office/drawing/2014/main" id="{1FFCAD41-B238-F323-A75B-0DCFCA2E13D9}"/>
                </a:ext>
              </a:extLst>
            </p:cNvPr>
            <p:cNvPicPr>
              <a:picLocks noChangeAspect="1"/>
            </p:cNvPicPr>
            <p:nvPr/>
          </p:nvPicPr>
          <p:blipFill>
            <a:blip r:embed="rId8"/>
            <a:srcRect/>
            <a:stretch/>
          </p:blipFill>
          <p:spPr>
            <a:xfrm>
              <a:off x="17023717" y="712847"/>
              <a:ext cx="540000" cy="540000"/>
            </a:xfrm>
            <a:prstGeom prst="rect">
              <a:avLst/>
            </a:prstGeom>
          </p:spPr>
        </p:pic>
      </p:grpSp>
      <p:sp>
        <p:nvSpPr>
          <p:cNvPr id="25" name="&quot;R&quot; teal rectangle">
            <a:extLst>
              <a:ext uri="{FF2B5EF4-FFF2-40B4-BE49-F238E27FC236}">
                <a16:creationId xmlns:a16="http://schemas.microsoft.com/office/drawing/2014/main" id="{55B3F9E8-45E0-2D2B-DF4D-A7526DC59FB5}"/>
              </a:ext>
              <a:ext uri="{C183D7F6-B498-43B3-948B-1728B52AA6E4}">
                <adec:decorative xmlns:adec="http://schemas.microsoft.com/office/drawing/2017/decorative" val="1"/>
              </a:ext>
            </a:extLst>
          </p:cNvPr>
          <p:cNvSpPr>
            <a:spLocks noChangeAspect="1" noChangeArrowheads="1"/>
          </p:cNvSpPr>
          <p:nvPr/>
        </p:nvSpPr>
        <p:spPr bwMode="auto">
          <a:xfrm>
            <a:off x="9347314" y="4283204"/>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0" name="&quot;R&quot; teal rectangle">
            <a:extLst>
              <a:ext uri="{FF2B5EF4-FFF2-40B4-BE49-F238E27FC236}">
                <a16:creationId xmlns:a16="http://schemas.microsoft.com/office/drawing/2014/main" id="{64138B25-5AD8-CF40-37C1-444975A717A8}"/>
              </a:ext>
              <a:ext uri="{C183D7F6-B498-43B3-948B-1728B52AA6E4}">
                <adec:decorative xmlns:adec="http://schemas.microsoft.com/office/drawing/2017/decorative" val="1"/>
              </a:ext>
            </a:extLst>
          </p:cNvPr>
          <p:cNvSpPr>
            <a:spLocks noChangeAspect="1" noChangeArrowheads="1"/>
          </p:cNvSpPr>
          <p:nvPr/>
        </p:nvSpPr>
        <p:spPr bwMode="auto">
          <a:xfrm>
            <a:off x="9351225" y="510001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1" name="&quot;R&quot; teal rectangle">
            <a:extLst>
              <a:ext uri="{FF2B5EF4-FFF2-40B4-BE49-F238E27FC236}">
                <a16:creationId xmlns:a16="http://schemas.microsoft.com/office/drawing/2014/main" id="{20503E07-BA42-4634-612B-68D2579BD93E}"/>
              </a:ext>
              <a:ext uri="{C183D7F6-B498-43B3-948B-1728B52AA6E4}">
                <adec:decorative xmlns:adec="http://schemas.microsoft.com/office/drawing/2017/decorative" val="1"/>
              </a:ext>
            </a:extLst>
          </p:cNvPr>
          <p:cNvSpPr>
            <a:spLocks noChangeAspect="1" noChangeArrowheads="1"/>
          </p:cNvSpPr>
          <p:nvPr/>
        </p:nvSpPr>
        <p:spPr bwMode="auto">
          <a:xfrm>
            <a:off x="9347313" y="1862097"/>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2" name="&quot;R&quot; teal rectangle">
            <a:extLst>
              <a:ext uri="{FF2B5EF4-FFF2-40B4-BE49-F238E27FC236}">
                <a16:creationId xmlns:a16="http://schemas.microsoft.com/office/drawing/2014/main" id="{4E7F65EA-99A2-ED31-EE6B-845D43A3A588}"/>
              </a:ext>
              <a:ext uri="{C183D7F6-B498-43B3-948B-1728B52AA6E4}">
                <adec:decorative xmlns:adec="http://schemas.microsoft.com/office/drawing/2017/decorative" val="1"/>
              </a:ext>
            </a:extLst>
          </p:cNvPr>
          <p:cNvSpPr>
            <a:spLocks noChangeAspect="1" noChangeArrowheads="1"/>
          </p:cNvSpPr>
          <p:nvPr/>
        </p:nvSpPr>
        <p:spPr bwMode="auto">
          <a:xfrm>
            <a:off x="9351225" y="271381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5" name="&quot;R&quot; teal rectangle">
            <a:extLst>
              <a:ext uri="{FF2B5EF4-FFF2-40B4-BE49-F238E27FC236}">
                <a16:creationId xmlns:a16="http://schemas.microsoft.com/office/drawing/2014/main" id="{F8DF339A-7552-8EC4-B8A9-5909D34D47C6}"/>
              </a:ext>
              <a:ext uri="{C183D7F6-B498-43B3-948B-1728B52AA6E4}">
                <adec:decorative xmlns:adec="http://schemas.microsoft.com/office/drawing/2017/decorative" val="1"/>
              </a:ext>
            </a:extLst>
          </p:cNvPr>
          <p:cNvSpPr>
            <a:spLocks noChangeAspect="1" noChangeArrowheads="1"/>
          </p:cNvSpPr>
          <p:nvPr/>
        </p:nvSpPr>
        <p:spPr bwMode="auto">
          <a:xfrm>
            <a:off x="9347313" y="349224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49101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FB930-68A9-7B75-6D84-B657E3710D58}"/>
            </a:ext>
          </a:extLst>
        </p:cNvPr>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D5992EA9-DF16-72EF-ACFD-4185987CEA37}"/>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C2A309DC-842A-D240-5D37-BC046A182A98}"/>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6</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67C477E2-DBA0-094D-6B87-BBB4F0101DA6}"/>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3B3CC62A-4D6F-23BC-C6CD-B852C90D6D0D}"/>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EF8683B0-813F-4990-CAD8-1F9F95BF0F0B}"/>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910BE365-28AA-52FB-5EAE-4944AC06497C}"/>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BF9780D7-1281-C00B-D235-D279FB432052}"/>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25F27012-8515-9D82-7792-520D52FFB2D2}"/>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AF2A5961-0208-CBDE-0147-CAD630030812}"/>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A0044F1C-D8C2-43A0-7B50-5936F057D498}"/>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C7484A59-FFA1-7435-E550-C2503F6D4A35}"/>
              </a:ext>
            </a:extLst>
          </p:cNvPr>
          <p:cNvGraphicFramePr>
            <a:graphicFrameLocks/>
          </p:cNvGraphicFramePr>
          <p:nvPr/>
        </p:nvGraphicFramePr>
        <p:xfrm>
          <a:off x="2608948" y="1274949"/>
          <a:ext cx="9430919" cy="4873926"/>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7896">
                <a:tc>
                  <a:txBody>
                    <a:bodyPr/>
                    <a:lstStyle/>
                    <a:p>
                      <a:pPr marL="0" marR="0" lvl="1" indent="0" algn="l" defTabSz="1829287" rtl="0" eaLnBrk="1" fontAlgn="ctr" latinLnBrk="0" hangingPunct="1">
                        <a:lnSpc>
                          <a:spcPct val="100000"/>
                        </a:lnSpc>
                        <a:spcBef>
                          <a:spcPts val="0"/>
                        </a:spcBef>
                        <a:spcAft>
                          <a:spcPts val="600"/>
                        </a:spcAft>
                        <a:buClrTx/>
                        <a:buSzTx/>
                        <a:buFontTx/>
                        <a:buNone/>
                        <a:tabLst/>
                      </a:pPr>
                      <a:r>
                        <a:rPr lang="en-ID" sz="1000" b="0" i="0" u="none" strike="noStrike" cap="none" spc="0" baseline="0">
                          <a:solidFill>
                            <a:schemeClr val="bg1"/>
                          </a:solidFill>
                          <a:effectLst/>
                          <a:uFillTx/>
                          <a:latin typeface="+mj-lt"/>
                          <a:ea typeface="+mn-ea"/>
                          <a:cs typeface="+mn-cs"/>
                          <a:sym typeface="IBM Plex Sans"/>
                        </a:rPr>
                        <a:t>Vulnerability Management</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A vulnerability management process is in place, including regular vulnerability scanning to identify and address security risks proactively.</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j-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5953443"/>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ID" sz="1000" b="0" i="0" u="none" strike="noStrike" cap="none" spc="0" baseline="0">
                          <a:solidFill>
                            <a:schemeClr val="bg1"/>
                          </a:solidFill>
                          <a:effectLst/>
                          <a:uFillTx/>
                          <a:latin typeface="+mj-lt"/>
                          <a:ea typeface="+mn-ea"/>
                          <a:cs typeface="+mn-cs"/>
                          <a:sym typeface="IBM Plex Sans"/>
                        </a:rPr>
                        <a:t>Privilege Account Management</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Privileged accounts and access controls are managed using CyberArk</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9024901"/>
                  </a:ext>
                </a:extLst>
              </a:tr>
              <a:tr h="79789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ID" sz="1000" b="0" i="0" u="none" strike="noStrike" cap="none" spc="0" baseline="0">
                          <a:solidFill>
                            <a:schemeClr val="bg1"/>
                          </a:solidFill>
                          <a:effectLst/>
                          <a:uFillTx/>
                          <a:latin typeface="+mj-lt"/>
                          <a:ea typeface="+mn-ea"/>
                          <a:cs typeface="+mn-cs"/>
                          <a:sym typeface="IBM Plex Sans"/>
                        </a:rPr>
                        <a:t>IAST, SAST, DAST</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Secure coding practices are currently in progress and outlined in the roadmap, but have not yet been fully implemented</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Need to start to do secure coding practice in place</a:t>
                      </a:r>
                    </a:p>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9209986"/>
                  </a:ext>
                </a:extLst>
              </a:tr>
              <a:tr h="1102656">
                <a:tc>
                  <a:txBody>
                    <a:bodyPr/>
                    <a:lstStyle/>
                    <a:p>
                      <a:pPr marL="0" marR="0" indent="0" algn="l" defTabSz="1829287" rtl="0" eaLnBrk="1" fontAlgn="ctr" latinLnBrk="0" hangingPunct="1">
                        <a:lnSpc>
                          <a:spcPct val="100000"/>
                        </a:lnSpc>
                        <a:spcBef>
                          <a:spcPts val="0"/>
                        </a:spcBef>
                        <a:spcAft>
                          <a:spcPts val="600"/>
                        </a:spcAft>
                        <a:buClrTx/>
                        <a:buSzTx/>
                        <a:buFontTx/>
                        <a:buNone/>
                        <a:tabLst/>
                      </a:pPr>
                      <a:r>
                        <a:rPr lang="en-US" sz="1000" b="0" i="0" u="none" strike="noStrike" cap="none" spc="0" baseline="0">
                          <a:solidFill>
                            <a:schemeClr val="bg1"/>
                          </a:solidFill>
                          <a:effectLst/>
                          <a:uFillTx/>
                          <a:latin typeface="+mj-lt"/>
                          <a:ea typeface="+mn-ea"/>
                          <a:cs typeface="+mn-cs"/>
                          <a:sym typeface="IBM Plex Sans"/>
                        </a:rPr>
                        <a:t>Data Activity Monitoring / Data Firewall</a:t>
                      </a:r>
                    </a:p>
                  </a:txBody>
                  <a:tcPr marL="89988" marR="89988" marT="17998" marB="17998">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ctr">
                        <a:spcAft>
                          <a:spcPts val="600"/>
                        </a:spcAft>
                      </a:pPr>
                      <a:r>
                        <a:rPr lang="en-US" sz="1000" b="0" i="0" u="none" strike="noStrike">
                          <a:solidFill>
                            <a:srgbClr val="000000"/>
                          </a:solidFill>
                          <a:effectLst/>
                          <a:latin typeface="+mj-lt"/>
                          <a:ea typeface="+mn-ea"/>
                        </a:rPr>
                        <a:t>Sensitive data is protected in transit using SSL and SFTP, while data at rest is secured with password protection. However, advanced safeguards like Data Activity Monitoring or Data Firewalls are not yet in place.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US" sz="1000" b="0" i="0" u="none" strike="noStrike" cap="none" spc="0" baseline="0">
                          <a:solidFill>
                            <a:srgbClr val="000000"/>
                          </a:solidFill>
                          <a:effectLst/>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2818817"/>
                  </a:ext>
                </a:extLst>
              </a:tr>
              <a:tr h="950276">
                <a:tc>
                  <a:txBody>
                    <a:bodyPr/>
                    <a:lstStyle/>
                    <a:p>
                      <a:pPr algn="l" fontAlgn="t"/>
                      <a:r>
                        <a:rPr lang="en-ID" sz="1000" b="0" i="0" u="none" strike="noStrike" cap="none" spc="0" baseline="0">
                          <a:solidFill>
                            <a:schemeClr val="bg1"/>
                          </a:solidFill>
                          <a:effectLst/>
                          <a:uFillTx/>
                          <a:latin typeface="+mj-lt"/>
                          <a:ea typeface="+mn-ea"/>
                          <a:cs typeface="+mn-cs"/>
                          <a:sym typeface="IBM Plex Sans"/>
                        </a:rPr>
                        <a:t>Data Encryption</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t"/>
                      <a:r>
                        <a:rPr lang="en-ID" sz="1000" b="0" i="0" u="none" strike="noStrike" cap="none" spc="0" baseline="0">
                          <a:solidFill>
                            <a:srgbClr val="000000"/>
                          </a:solidFill>
                          <a:effectLst/>
                          <a:uFillTx/>
                          <a:latin typeface="+mj-lt"/>
                          <a:ea typeface="+mn-ea"/>
                          <a:cs typeface="+mn-cs"/>
                          <a:sym typeface="IBM Plex Sans"/>
                        </a:rPr>
                        <a:t>Data encryption mechanisms for sensitive information are not currently implemented.</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The organization needs to implement robust data encryption mechanisms for all sensitive information to protect data confidentiality and comply with security standards.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75700365"/>
                  </a:ext>
                </a:extLst>
              </a:tr>
            </a:tbl>
          </a:graphicData>
        </a:graphic>
      </p:graphicFrame>
      <p:sp>
        <p:nvSpPr>
          <p:cNvPr id="19" name="Footer Placeholder 3">
            <a:extLst>
              <a:ext uri="{FF2B5EF4-FFF2-40B4-BE49-F238E27FC236}">
                <a16:creationId xmlns:a16="http://schemas.microsoft.com/office/drawing/2014/main" id="{6FB86AFC-66FC-2D10-5571-2430E72CBCBD}"/>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F506BB32-99B7-8B4F-12C1-9033AC8A39B4}"/>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24</a:t>
            </a:fld>
            <a:endParaRPr lang="en-US">
              <a:solidFill>
                <a:srgbClr val="000000"/>
              </a:solidFill>
            </a:endParaRPr>
          </a:p>
        </p:txBody>
      </p:sp>
      <p:grpSp>
        <p:nvGrpSpPr>
          <p:cNvPr id="2" name="Group 1">
            <a:extLst>
              <a:ext uri="{FF2B5EF4-FFF2-40B4-BE49-F238E27FC236}">
                <a16:creationId xmlns:a16="http://schemas.microsoft.com/office/drawing/2014/main" id="{AE7A3746-6FDC-1E56-903F-B254DC7905BA}"/>
              </a:ext>
            </a:extLst>
          </p:cNvPr>
          <p:cNvGrpSpPr/>
          <p:nvPr/>
        </p:nvGrpSpPr>
        <p:grpSpPr>
          <a:xfrm>
            <a:off x="7711263" y="267997"/>
            <a:ext cx="4170294" cy="783142"/>
            <a:chOff x="15576932" y="535171"/>
            <a:chExt cx="8341675" cy="1566487"/>
          </a:xfrm>
        </p:grpSpPr>
        <p:sp>
          <p:nvSpPr>
            <p:cNvPr id="3" name="Oval 2">
              <a:extLst>
                <a:ext uri="{FF2B5EF4-FFF2-40B4-BE49-F238E27FC236}">
                  <a16:creationId xmlns:a16="http://schemas.microsoft.com/office/drawing/2014/main" id="{0B5FA8A9-87EF-FF22-8C19-A16C6CABB32A}"/>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 name="Oval 3">
              <a:extLst>
                <a:ext uri="{FF2B5EF4-FFF2-40B4-BE49-F238E27FC236}">
                  <a16:creationId xmlns:a16="http://schemas.microsoft.com/office/drawing/2014/main" id="{776B478C-FE93-A944-E795-1EA8665D7F55}"/>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 name="Straight Arrow Connector 7">
              <a:extLst>
                <a:ext uri="{FF2B5EF4-FFF2-40B4-BE49-F238E27FC236}">
                  <a16:creationId xmlns:a16="http://schemas.microsoft.com/office/drawing/2014/main" id="{A43AAC2F-3BE1-5F23-5F5C-A4E1FCD6E691}"/>
                </a:ext>
              </a:extLst>
            </p:cNvPr>
            <p:cNvCxnSpPr>
              <a:cxnSpLocks/>
              <a:stCxn id="3" idx="6"/>
              <a:endCxn id="4"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F92B7290-D343-4873-C9D4-1AA427679396}"/>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2" name="Oval 11">
              <a:extLst>
                <a:ext uri="{FF2B5EF4-FFF2-40B4-BE49-F238E27FC236}">
                  <a16:creationId xmlns:a16="http://schemas.microsoft.com/office/drawing/2014/main" id="{E2CA778B-0A42-3BB1-6D44-8235FB8D8FA6}"/>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3" name="Straight Arrow Connector 12">
              <a:extLst>
                <a:ext uri="{FF2B5EF4-FFF2-40B4-BE49-F238E27FC236}">
                  <a16:creationId xmlns:a16="http://schemas.microsoft.com/office/drawing/2014/main" id="{248DA38A-636F-4F5B-6C1F-CF29B3480E47}"/>
                </a:ext>
              </a:extLst>
            </p:cNvPr>
            <p:cNvCxnSpPr>
              <a:cxnSpLocks/>
              <a:stCxn id="4" idx="6"/>
              <a:endCxn id="11"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DB0C08CC-0D66-C6CF-7880-E6CB3AF6A405}"/>
                </a:ext>
              </a:extLst>
            </p:cNvPr>
            <p:cNvCxnSpPr>
              <a:cxnSpLocks/>
              <a:stCxn id="11" idx="6"/>
              <a:endCxn id="12"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C2E23233-0CD8-5264-887F-25FA46DAE0C2}"/>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6" name="Oval 15">
              <a:extLst>
                <a:ext uri="{FF2B5EF4-FFF2-40B4-BE49-F238E27FC236}">
                  <a16:creationId xmlns:a16="http://schemas.microsoft.com/office/drawing/2014/main" id="{3E664777-F0DD-8B65-6EB3-53F211AED35B}"/>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8" name="Oval 27">
              <a:extLst>
                <a:ext uri="{FF2B5EF4-FFF2-40B4-BE49-F238E27FC236}">
                  <a16:creationId xmlns:a16="http://schemas.microsoft.com/office/drawing/2014/main" id="{8B12479E-E9BB-C8A5-AAD7-44ACCF1DABB0}"/>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9" name="Straight Arrow Connector 28">
              <a:extLst>
                <a:ext uri="{FF2B5EF4-FFF2-40B4-BE49-F238E27FC236}">
                  <a16:creationId xmlns:a16="http://schemas.microsoft.com/office/drawing/2014/main" id="{254848DD-3FB2-5566-97EC-97D1D0B4AB81}"/>
                </a:ext>
              </a:extLst>
            </p:cNvPr>
            <p:cNvCxnSpPr>
              <a:cxnSpLocks/>
              <a:stCxn id="15" idx="6"/>
              <a:endCxn id="16"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2CB90F9B-5CD1-A00B-7E57-BFFD644DB321}"/>
                </a:ext>
              </a:extLst>
            </p:cNvPr>
            <p:cNvCxnSpPr>
              <a:cxnSpLocks/>
              <a:stCxn id="16" idx="6"/>
              <a:endCxn id="28"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2F9A081D-FF67-5C0E-C93D-63189C60AF7B}"/>
                </a:ext>
              </a:extLst>
            </p:cNvPr>
            <p:cNvCxnSpPr>
              <a:cxnSpLocks/>
              <a:stCxn id="12" idx="6"/>
              <a:endCxn id="15"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6" name="Text Placeholder 3">
              <a:extLst>
                <a:ext uri="{FF2B5EF4-FFF2-40B4-BE49-F238E27FC236}">
                  <a16:creationId xmlns:a16="http://schemas.microsoft.com/office/drawing/2014/main" id="{EC99F9A0-4C93-1387-28C7-42BD7C820D2E}"/>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37" name="Text Placeholder 3">
              <a:extLst>
                <a:ext uri="{FF2B5EF4-FFF2-40B4-BE49-F238E27FC236}">
                  <a16:creationId xmlns:a16="http://schemas.microsoft.com/office/drawing/2014/main" id="{A472CEB7-BB4D-E7DC-6194-B0DC625FF8E9}"/>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43" name="Text Placeholder 3">
              <a:extLst>
                <a:ext uri="{FF2B5EF4-FFF2-40B4-BE49-F238E27FC236}">
                  <a16:creationId xmlns:a16="http://schemas.microsoft.com/office/drawing/2014/main" id="{1BD04976-FD8E-949E-DD10-2B48B180B0C3}"/>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45" name="Text Placeholder 3">
              <a:extLst>
                <a:ext uri="{FF2B5EF4-FFF2-40B4-BE49-F238E27FC236}">
                  <a16:creationId xmlns:a16="http://schemas.microsoft.com/office/drawing/2014/main" id="{4E05FD0B-6CF1-C9A9-7CBA-621F98F5DD24}"/>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46" name="Text Placeholder 3">
              <a:extLst>
                <a:ext uri="{FF2B5EF4-FFF2-40B4-BE49-F238E27FC236}">
                  <a16:creationId xmlns:a16="http://schemas.microsoft.com/office/drawing/2014/main" id="{362BC091-52B2-0D3E-F1F4-5CA54D5414DE}"/>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48" name="Text Placeholder 3">
              <a:extLst>
                <a:ext uri="{FF2B5EF4-FFF2-40B4-BE49-F238E27FC236}">
                  <a16:creationId xmlns:a16="http://schemas.microsoft.com/office/drawing/2014/main" id="{63404788-3CE1-6D75-78DB-EAD655A98C83}"/>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63" name="Text Placeholder 3">
              <a:extLst>
                <a:ext uri="{FF2B5EF4-FFF2-40B4-BE49-F238E27FC236}">
                  <a16:creationId xmlns:a16="http://schemas.microsoft.com/office/drawing/2014/main" id="{22D22C4B-EF77-CEA9-B0A3-AAC44AF5ED66}"/>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64" name="Picture 63" descr="Progress, Blue 60 pictogram">
              <a:extLst>
                <a:ext uri="{FF2B5EF4-FFF2-40B4-BE49-F238E27FC236}">
                  <a16:creationId xmlns:a16="http://schemas.microsoft.com/office/drawing/2014/main" id="{3B154571-3A8B-7C90-0687-F7E26019E762}"/>
                </a:ext>
              </a:extLst>
            </p:cNvPr>
            <p:cNvPicPr>
              <a:picLocks noChangeAspect="1"/>
            </p:cNvPicPr>
            <p:nvPr/>
          </p:nvPicPr>
          <p:blipFill>
            <a:blip r:embed="rId2"/>
            <a:srcRect/>
            <a:stretch/>
          </p:blipFill>
          <p:spPr>
            <a:xfrm>
              <a:off x="15792707" y="712846"/>
              <a:ext cx="540000" cy="540000"/>
            </a:xfrm>
            <a:prstGeom prst="rect">
              <a:avLst/>
            </a:prstGeom>
          </p:spPr>
        </p:pic>
        <p:pic>
          <p:nvPicPr>
            <p:cNvPr id="65" name="Picture 64" descr="Strategy play, Blue 60 pictogram">
              <a:extLst>
                <a:ext uri="{FF2B5EF4-FFF2-40B4-BE49-F238E27FC236}">
                  <a16:creationId xmlns:a16="http://schemas.microsoft.com/office/drawing/2014/main" id="{461C1BB3-050B-FE66-1D06-C1FC17E1F178}"/>
                </a:ext>
              </a:extLst>
            </p:cNvPr>
            <p:cNvPicPr>
              <a:picLocks noChangeAspect="1"/>
            </p:cNvPicPr>
            <p:nvPr/>
          </p:nvPicPr>
          <p:blipFill>
            <a:blip r:embed="rId3"/>
            <a:srcRect/>
            <a:stretch/>
          </p:blipFill>
          <p:spPr>
            <a:xfrm>
              <a:off x="20674077" y="712847"/>
              <a:ext cx="540000" cy="540000"/>
            </a:xfrm>
            <a:prstGeom prst="rect">
              <a:avLst/>
            </a:prstGeom>
          </p:spPr>
        </p:pic>
        <p:pic>
          <p:nvPicPr>
            <p:cNvPr id="66" name="Picture 65" descr="Inspect data, Blue 60 pictogram">
              <a:extLst>
                <a:ext uri="{FF2B5EF4-FFF2-40B4-BE49-F238E27FC236}">
                  <a16:creationId xmlns:a16="http://schemas.microsoft.com/office/drawing/2014/main" id="{EB62DD64-C9C4-464A-08BB-BCF10DB3C0EB}"/>
                </a:ext>
              </a:extLst>
            </p:cNvPr>
            <p:cNvPicPr>
              <a:picLocks noChangeAspect="1"/>
            </p:cNvPicPr>
            <p:nvPr/>
          </p:nvPicPr>
          <p:blipFill>
            <a:blip r:embed="rId4"/>
            <a:srcRect/>
            <a:stretch/>
          </p:blipFill>
          <p:spPr>
            <a:xfrm>
              <a:off x="19452914" y="712847"/>
              <a:ext cx="540000" cy="540000"/>
            </a:xfrm>
            <a:prstGeom prst="rect">
              <a:avLst/>
            </a:prstGeom>
          </p:spPr>
        </p:pic>
        <p:pic>
          <p:nvPicPr>
            <p:cNvPr id="67" name="Picture 66" descr="Deliver insights, Blue 60 pictogram">
              <a:extLst>
                <a:ext uri="{FF2B5EF4-FFF2-40B4-BE49-F238E27FC236}">
                  <a16:creationId xmlns:a16="http://schemas.microsoft.com/office/drawing/2014/main" id="{05483A1C-527A-F306-D162-3FA16D606395}"/>
                </a:ext>
              </a:extLst>
            </p:cNvPr>
            <p:cNvPicPr>
              <a:picLocks noChangeAspect="1"/>
            </p:cNvPicPr>
            <p:nvPr/>
          </p:nvPicPr>
          <p:blipFill>
            <a:blip r:embed="rId5"/>
            <a:srcRect/>
            <a:stretch/>
          </p:blipFill>
          <p:spPr>
            <a:xfrm>
              <a:off x="18212059" y="712847"/>
              <a:ext cx="540000" cy="540000"/>
            </a:xfrm>
            <a:prstGeom prst="rect">
              <a:avLst/>
            </a:prstGeom>
          </p:spPr>
        </p:pic>
        <p:pic>
          <p:nvPicPr>
            <p:cNvPr id="68" name="Picture 67" descr="Identity trust assessment, Blue 60 pictogram">
              <a:extLst>
                <a:ext uri="{FF2B5EF4-FFF2-40B4-BE49-F238E27FC236}">
                  <a16:creationId xmlns:a16="http://schemas.microsoft.com/office/drawing/2014/main" id="{7C4BEE8A-8BD6-845F-086F-DAF8BFA4A297}"/>
                </a:ext>
              </a:extLst>
            </p:cNvPr>
            <p:cNvPicPr>
              <a:picLocks noChangeAspect="1"/>
            </p:cNvPicPr>
            <p:nvPr/>
          </p:nvPicPr>
          <p:blipFill>
            <a:blip r:embed="rId6"/>
            <a:srcRect/>
            <a:stretch/>
          </p:blipFill>
          <p:spPr>
            <a:xfrm>
              <a:off x="21872264" y="712847"/>
              <a:ext cx="540000" cy="540000"/>
            </a:xfrm>
            <a:prstGeom prst="rect">
              <a:avLst/>
            </a:prstGeom>
          </p:spPr>
        </p:pic>
        <p:pic>
          <p:nvPicPr>
            <p:cNvPr id="69" name="Picture 68" descr="Security as a service, Blue 60 pictogram">
              <a:extLst>
                <a:ext uri="{FF2B5EF4-FFF2-40B4-BE49-F238E27FC236}">
                  <a16:creationId xmlns:a16="http://schemas.microsoft.com/office/drawing/2014/main" id="{A888688C-2721-BF1C-6686-6B0AE2377542}"/>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70" name="Picture 69" descr="Vision, Blue 60 pictogram">
              <a:extLst>
                <a:ext uri="{FF2B5EF4-FFF2-40B4-BE49-F238E27FC236}">
                  <a16:creationId xmlns:a16="http://schemas.microsoft.com/office/drawing/2014/main" id="{5657F7FB-278E-D9E8-076E-B9658A6620F4}"/>
                </a:ext>
              </a:extLst>
            </p:cNvPr>
            <p:cNvPicPr>
              <a:picLocks noChangeAspect="1"/>
            </p:cNvPicPr>
            <p:nvPr/>
          </p:nvPicPr>
          <p:blipFill>
            <a:blip r:embed="rId8"/>
            <a:srcRect/>
            <a:stretch/>
          </p:blipFill>
          <p:spPr>
            <a:xfrm>
              <a:off x="17023717" y="712847"/>
              <a:ext cx="540000" cy="540000"/>
            </a:xfrm>
            <a:prstGeom prst="rect">
              <a:avLst/>
            </a:prstGeom>
          </p:spPr>
        </p:pic>
      </p:grpSp>
      <p:sp>
        <p:nvSpPr>
          <p:cNvPr id="25" name="&quot;R&quot; teal rectangle">
            <a:extLst>
              <a:ext uri="{FF2B5EF4-FFF2-40B4-BE49-F238E27FC236}">
                <a16:creationId xmlns:a16="http://schemas.microsoft.com/office/drawing/2014/main" id="{F63557DD-FAB7-BC85-4043-D65086F366BE}"/>
              </a:ext>
              <a:ext uri="{C183D7F6-B498-43B3-948B-1728B52AA6E4}">
                <adec:decorative xmlns:adec="http://schemas.microsoft.com/office/drawing/2017/decorative" val="1"/>
              </a:ext>
            </a:extLst>
          </p:cNvPr>
          <p:cNvSpPr>
            <a:spLocks noChangeAspect="1" noChangeArrowheads="1"/>
          </p:cNvSpPr>
          <p:nvPr/>
        </p:nvSpPr>
        <p:spPr bwMode="auto">
          <a:xfrm>
            <a:off x="9347314" y="4283204"/>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1" name="&quot;R&quot; teal rectangle">
            <a:extLst>
              <a:ext uri="{FF2B5EF4-FFF2-40B4-BE49-F238E27FC236}">
                <a16:creationId xmlns:a16="http://schemas.microsoft.com/office/drawing/2014/main" id="{BED9A092-5B94-74F3-FE17-DA30C58B1376}"/>
              </a:ext>
              <a:ext uri="{C183D7F6-B498-43B3-948B-1728B52AA6E4}">
                <adec:decorative xmlns:adec="http://schemas.microsoft.com/office/drawing/2017/decorative" val="1"/>
              </a:ext>
            </a:extLst>
          </p:cNvPr>
          <p:cNvSpPr>
            <a:spLocks noChangeAspect="1" noChangeArrowheads="1"/>
          </p:cNvSpPr>
          <p:nvPr/>
        </p:nvSpPr>
        <p:spPr bwMode="auto">
          <a:xfrm>
            <a:off x="9347313" y="1862097"/>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2" name="&quot;R&quot; teal rectangle">
            <a:extLst>
              <a:ext uri="{FF2B5EF4-FFF2-40B4-BE49-F238E27FC236}">
                <a16:creationId xmlns:a16="http://schemas.microsoft.com/office/drawing/2014/main" id="{632123A0-98F9-88B2-C1F3-9469C85EDAE4}"/>
              </a:ext>
              <a:ext uri="{C183D7F6-B498-43B3-948B-1728B52AA6E4}">
                <adec:decorative xmlns:adec="http://schemas.microsoft.com/office/drawing/2017/decorative" val="1"/>
              </a:ext>
            </a:extLst>
          </p:cNvPr>
          <p:cNvSpPr>
            <a:spLocks noChangeAspect="1" noChangeArrowheads="1"/>
          </p:cNvSpPr>
          <p:nvPr/>
        </p:nvSpPr>
        <p:spPr bwMode="auto">
          <a:xfrm>
            <a:off x="9351225" y="271381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4" name="&quot;A&quot; blue rectangle">
            <a:extLst>
              <a:ext uri="{FF2B5EF4-FFF2-40B4-BE49-F238E27FC236}">
                <a16:creationId xmlns:a16="http://schemas.microsoft.com/office/drawing/2014/main" id="{400FC616-351B-1E72-9963-E34080239A78}"/>
              </a:ext>
              <a:ext uri="{C183D7F6-B498-43B3-948B-1728B52AA6E4}">
                <adec:decorative xmlns:adec="http://schemas.microsoft.com/office/drawing/2017/decorative" val="1"/>
              </a:ext>
            </a:extLst>
          </p:cNvPr>
          <p:cNvSpPr>
            <a:spLocks noChangeAspect="1" noChangeArrowheads="1"/>
          </p:cNvSpPr>
          <p:nvPr/>
        </p:nvSpPr>
        <p:spPr bwMode="auto">
          <a:xfrm>
            <a:off x="9351225" y="3460984"/>
            <a:ext cx="378004" cy="375671"/>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38" name="&quot;C&quot; gray rectangle">
            <a:extLst>
              <a:ext uri="{FF2B5EF4-FFF2-40B4-BE49-F238E27FC236}">
                <a16:creationId xmlns:a16="http://schemas.microsoft.com/office/drawing/2014/main" id="{FC793742-195D-96E6-F0A4-3566745DAA9C}"/>
              </a:ext>
              <a:ext uri="{C183D7F6-B498-43B3-948B-1728B52AA6E4}">
                <adec:decorative xmlns:adec="http://schemas.microsoft.com/office/drawing/2017/decorative" val="1"/>
              </a:ext>
            </a:extLst>
          </p:cNvPr>
          <p:cNvSpPr>
            <a:spLocks noChangeAspect="1" noChangeArrowheads="1"/>
          </p:cNvSpPr>
          <p:nvPr/>
        </p:nvSpPr>
        <p:spPr bwMode="auto">
          <a:xfrm>
            <a:off x="9347313" y="5442017"/>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3234964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757EBF76-E14A-561B-3F40-7713987AF1AF}"/>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90502449-69A5-3837-358F-2C4C78ED98AC}"/>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7</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0BBF4C87-3B9F-4B4C-A47C-74CD7584505E}"/>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0EF0430F-85EF-3B66-4FAA-11F1160DFC07}"/>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BB45115-E0BA-B09E-033B-0B7DE24471B0}"/>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39C58D5D-B099-45BB-E6FF-86CECBB06232}"/>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C64EF638-DBC0-1504-A860-981B93A4AFEC}"/>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B4687893-C3F2-4C6F-46C2-E1089025BAB4}"/>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B29E4C41-763D-5FFB-86F1-7D7D4E8A8B42}"/>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31C8669E-6FA9-CDB7-CE59-C5E0B5EC162C}"/>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0C59257D-B1C2-2837-1D39-A85014830FCE}"/>
              </a:ext>
            </a:extLst>
          </p:cNvPr>
          <p:cNvGraphicFramePr>
            <a:graphicFrameLocks/>
          </p:cNvGraphicFramePr>
          <p:nvPr/>
        </p:nvGraphicFramePr>
        <p:xfrm>
          <a:off x="2608948" y="1274949"/>
          <a:ext cx="9430919" cy="4560789"/>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41900">
                <a:tc>
                  <a:txBody>
                    <a:bodyPr/>
                    <a:lstStyle/>
                    <a:p>
                      <a:pPr algn="l" fontAlgn="t"/>
                      <a:r>
                        <a:rPr lang="en-ID" sz="1000" b="0" i="0" u="none" strike="noStrike" cap="none" spc="0" baseline="0">
                          <a:solidFill>
                            <a:schemeClr val="bg1"/>
                          </a:solidFill>
                          <a:effectLst/>
                          <a:uFillTx/>
                          <a:latin typeface="+mj-lt"/>
                          <a:ea typeface="+mn-ea"/>
                          <a:cs typeface="+mn-cs"/>
                          <a:sym typeface="IBM Plex Sans"/>
                        </a:rPr>
                        <a:t>Data Backup</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t"/>
                      <a:r>
                        <a:rPr lang="en-ID" sz="1000" b="0" i="0" u="none" strike="noStrike" cap="none" spc="0" baseline="0">
                          <a:solidFill>
                            <a:srgbClr val="000000"/>
                          </a:solidFill>
                          <a:effectLst/>
                          <a:uFillTx/>
                          <a:latin typeface="+mj-lt"/>
                          <a:ea typeface="+mn-ea"/>
                          <a:cs typeface="+mn-cs"/>
                          <a:sym typeface="IBM Plex Sans"/>
                        </a:rPr>
                        <a:t>Data backup and disaster recovery procedures are in place using Veritas, indicating established safeguards for data continuity, though encryption details were not specified.</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31261600"/>
                  </a:ext>
                </a:extLst>
              </a:tr>
              <a:tr h="797896">
                <a:tc>
                  <a:txBody>
                    <a:bodyPr/>
                    <a:lstStyle/>
                    <a:p>
                      <a:pPr algn="l" fontAlgn="t"/>
                      <a:r>
                        <a:rPr lang="en-ID" sz="1000" b="0" i="0" u="none" strike="noStrike" cap="none" spc="0" baseline="0">
                          <a:solidFill>
                            <a:schemeClr val="bg1"/>
                          </a:solidFill>
                          <a:effectLst/>
                          <a:uFillTx/>
                          <a:latin typeface="+mj-lt"/>
                          <a:ea typeface="+mn-ea"/>
                          <a:cs typeface="+mn-cs"/>
                          <a:sym typeface="IBM Plex Sans"/>
                        </a:rPr>
                        <a:t>Data Storage</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t"/>
                      <a:r>
                        <a:rPr lang="en-ID" sz="1000" b="0" i="0" u="none" strike="noStrike" cap="none" spc="0" baseline="0">
                          <a:solidFill>
                            <a:srgbClr val="000000"/>
                          </a:solidFill>
                          <a:effectLst/>
                          <a:uFillTx/>
                          <a:latin typeface="+mj-lt"/>
                          <a:ea typeface="+mn-ea"/>
                          <a:cs typeface="+mn-cs"/>
                          <a:sym typeface="IBM Plex Sans"/>
                        </a:rPr>
                        <a:t>Encrypted storage is not currently implemented within the organization.</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US" sz="1000" b="0" i="0" u="none" strike="noStrike">
                          <a:solidFill>
                            <a:srgbClr val="000000"/>
                          </a:solidFill>
                          <a:effectLst/>
                          <a:latin typeface="+mj-lt"/>
                          <a:ea typeface="+mn-ea"/>
                        </a:rPr>
                        <a:t>Needs to implement encrypted storage solutions to ensure data at rest is securely protected against unauthorized access.</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83058250"/>
                  </a:ext>
                </a:extLst>
              </a:tr>
              <a:tr h="797896">
                <a:tc>
                  <a:txBody>
                    <a:bodyPr/>
                    <a:lstStyle/>
                    <a:p>
                      <a:pPr algn="l" fontAlgn="t"/>
                      <a:r>
                        <a:rPr lang="en-ID" sz="1000" b="0" i="0" u="none" strike="noStrike" cap="none" spc="0" baseline="0">
                          <a:solidFill>
                            <a:schemeClr val="bg1"/>
                          </a:solidFill>
                          <a:effectLst/>
                          <a:uFillTx/>
                          <a:latin typeface="+mj-lt"/>
                          <a:ea typeface="+mn-ea"/>
                          <a:cs typeface="+mn-cs"/>
                          <a:sym typeface="IBM Plex Sans"/>
                        </a:rPr>
                        <a:t>Identity Governance and Administration</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t"/>
                      <a:r>
                        <a:rPr lang="en-ID" sz="1000" b="0" i="0" u="none" strike="noStrike" cap="none" spc="0" baseline="0">
                          <a:solidFill>
                            <a:srgbClr val="000000"/>
                          </a:solidFill>
                          <a:effectLst/>
                          <a:uFillTx/>
                          <a:latin typeface="+mj-lt"/>
                          <a:ea typeface="+mn-ea"/>
                          <a:cs typeface="+mn-cs"/>
                          <a:sym typeface="IBM Plex Sans"/>
                        </a:rPr>
                        <a:t>User access to data is managed through Active Directory, supporting centralized control and basic enforcement of least privilege principles.</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96782495"/>
                  </a:ext>
                </a:extLst>
              </a:tr>
              <a:tr h="797896">
                <a:tc>
                  <a:txBody>
                    <a:bodyPr/>
                    <a:lstStyle/>
                    <a:p>
                      <a:pPr algn="l" fontAlgn="t"/>
                      <a:r>
                        <a:rPr lang="en-ID" sz="1000" b="0" i="0" u="none" strike="noStrike" cap="none" spc="0" baseline="0">
                          <a:solidFill>
                            <a:schemeClr val="bg1"/>
                          </a:solidFill>
                          <a:effectLst/>
                          <a:uFillTx/>
                          <a:latin typeface="+mj-lt"/>
                          <a:ea typeface="+mn-ea"/>
                          <a:cs typeface="+mn-cs"/>
                          <a:sym typeface="IBM Plex Sans"/>
                        </a:rPr>
                        <a:t>Security Information and Event Management - Monitoring and Detecting Security Incidents</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t"/>
                      <a:r>
                        <a:rPr lang="en-ID" sz="1000" b="0" i="0" u="none" strike="noStrike" cap="none" spc="0" baseline="0">
                          <a:solidFill>
                            <a:srgbClr val="000000"/>
                          </a:solidFill>
                          <a:effectLst/>
                          <a:uFillTx/>
                          <a:latin typeface="+mj-lt"/>
                          <a:ea typeface="+mn-ea"/>
                          <a:cs typeface="+mn-cs"/>
                          <a:sym typeface="IBM Plex Sans"/>
                        </a:rPr>
                        <a:t>Security incidents are monitored and detected using </a:t>
                      </a:r>
                      <a:r>
                        <a:rPr lang="en-ID" sz="1000" b="0" i="0" u="none" strike="noStrike" cap="none" spc="0" baseline="0" err="1">
                          <a:solidFill>
                            <a:srgbClr val="000000"/>
                          </a:solidFill>
                          <a:effectLst/>
                          <a:uFillTx/>
                          <a:latin typeface="+mj-lt"/>
                          <a:ea typeface="+mn-ea"/>
                          <a:cs typeface="+mn-cs"/>
                          <a:sym typeface="IBM Plex Sans"/>
                        </a:rPr>
                        <a:t>QRadar</a:t>
                      </a:r>
                      <a:r>
                        <a:rPr lang="en-ID" sz="1000" b="0" i="0" u="none" strike="noStrike" cap="none" spc="0" baseline="0">
                          <a:solidFill>
                            <a:srgbClr val="000000"/>
                          </a:solidFill>
                          <a:effectLst/>
                          <a:uFillTx/>
                          <a:latin typeface="+mj-lt"/>
                          <a:ea typeface="+mn-ea"/>
                          <a:cs typeface="+mn-cs"/>
                          <a:sym typeface="IBM Plex Sans"/>
                        </a:rPr>
                        <a:t> SIEM, providing centralized event logging and threat detection capabilities.</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87175326"/>
                  </a:ext>
                </a:extLst>
              </a:tr>
              <a:tr h="797896">
                <a:tc>
                  <a:txBody>
                    <a:bodyPr/>
                    <a:lstStyle/>
                    <a:p>
                      <a:pPr algn="l" fontAlgn="t"/>
                      <a:r>
                        <a:rPr lang="en-ID" sz="1000" b="0" i="0" u="none" strike="noStrike" cap="none" spc="0" baseline="0">
                          <a:solidFill>
                            <a:schemeClr val="bg1"/>
                          </a:solidFill>
                          <a:effectLst/>
                          <a:uFillTx/>
                          <a:latin typeface="+mj-lt"/>
                          <a:ea typeface="+mn-ea"/>
                          <a:cs typeface="+mn-cs"/>
                          <a:sym typeface="IBM Plex Sans"/>
                        </a:rPr>
                        <a:t>Security Information and Event Management – Logged Security Event</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t"/>
                      <a:r>
                        <a:rPr lang="en-ID" sz="1000" b="0" i="0" u="none" strike="noStrike" cap="none" spc="0" baseline="0">
                          <a:solidFill>
                            <a:srgbClr val="000000"/>
                          </a:solidFill>
                          <a:effectLst/>
                          <a:uFillTx/>
                          <a:latin typeface="+mj-lt"/>
                          <a:ea typeface="+mn-ea"/>
                          <a:cs typeface="+mn-cs"/>
                          <a:sym typeface="IBM Plex Sans"/>
                        </a:rPr>
                        <a:t>Security events and incidents are logged and </a:t>
                      </a:r>
                      <a:r>
                        <a:rPr lang="en-ID" sz="1000" b="0" i="0" u="none" strike="noStrike" cap="none" spc="0" baseline="0" err="1">
                          <a:solidFill>
                            <a:srgbClr val="000000"/>
                          </a:solidFill>
                          <a:effectLst/>
                          <a:uFillTx/>
                          <a:latin typeface="+mj-lt"/>
                          <a:ea typeface="+mn-ea"/>
                          <a:cs typeface="+mn-cs"/>
                          <a:sym typeface="IBM Plex Sans"/>
                        </a:rPr>
                        <a:t>analyzed</a:t>
                      </a:r>
                      <a:r>
                        <a:rPr lang="en-ID" sz="1000" b="0" i="0" u="none" strike="noStrike" cap="none" spc="0" baseline="0">
                          <a:solidFill>
                            <a:srgbClr val="000000"/>
                          </a:solidFill>
                          <a:effectLst/>
                          <a:uFillTx/>
                          <a:latin typeface="+mj-lt"/>
                          <a:ea typeface="+mn-ea"/>
                          <a:cs typeface="+mn-cs"/>
                          <a:sym typeface="IBM Plex Sans"/>
                        </a:rPr>
                        <a:t> through </a:t>
                      </a:r>
                      <a:r>
                        <a:rPr lang="en-ID" sz="1000" b="0" i="0" u="none" strike="noStrike" cap="none" spc="0" baseline="0" err="1">
                          <a:solidFill>
                            <a:srgbClr val="000000"/>
                          </a:solidFill>
                          <a:effectLst/>
                          <a:uFillTx/>
                          <a:latin typeface="+mj-lt"/>
                          <a:ea typeface="+mn-ea"/>
                          <a:cs typeface="+mn-cs"/>
                          <a:sym typeface="IBM Plex Sans"/>
                        </a:rPr>
                        <a:t>QRadar</a:t>
                      </a:r>
                      <a:r>
                        <a:rPr lang="en-ID" sz="1000" b="0" i="0" u="none" strike="noStrike" cap="none" spc="0" baseline="0">
                          <a:solidFill>
                            <a:srgbClr val="000000"/>
                          </a:solidFill>
                          <a:effectLst/>
                          <a:uFillTx/>
                          <a:latin typeface="+mj-lt"/>
                          <a:ea typeface="+mn-ea"/>
                          <a:cs typeface="+mn-cs"/>
                          <a:sym typeface="IBM Plex Sans"/>
                        </a:rPr>
                        <a:t> SIEM, enabling centralized analysis and response capabilities.</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34970958"/>
                  </a:ext>
                </a:extLst>
              </a:tr>
            </a:tbl>
          </a:graphicData>
        </a:graphic>
      </p:graphicFrame>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25</a:t>
            </a:fld>
            <a:endParaRPr lang="en-US">
              <a:solidFill>
                <a:srgbClr val="000000"/>
              </a:solidFill>
            </a:endParaRPr>
          </a:p>
        </p:txBody>
      </p:sp>
      <p:grpSp>
        <p:nvGrpSpPr>
          <p:cNvPr id="2" name="Group 1">
            <a:extLst>
              <a:ext uri="{FF2B5EF4-FFF2-40B4-BE49-F238E27FC236}">
                <a16:creationId xmlns:a16="http://schemas.microsoft.com/office/drawing/2014/main" id="{4E5975F1-7105-7631-1675-AB0AA7481638}"/>
              </a:ext>
            </a:extLst>
          </p:cNvPr>
          <p:cNvGrpSpPr/>
          <p:nvPr/>
        </p:nvGrpSpPr>
        <p:grpSpPr>
          <a:xfrm>
            <a:off x="7711263" y="267997"/>
            <a:ext cx="4170294" cy="783142"/>
            <a:chOff x="15576932" y="535171"/>
            <a:chExt cx="8341675" cy="1566487"/>
          </a:xfrm>
        </p:grpSpPr>
        <p:sp>
          <p:nvSpPr>
            <p:cNvPr id="3" name="Oval 2">
              <a:extLst>
                <a:ext uri="{FF2B5EF4-FFF2-40B4-BE49-F238E27FC236}">
                  <a16:creationId xmlns:a16="http://schemas.microsoft.com/office/drawing/2014/main" id="{FB6AC7C2-78FD-5B17-3A3A-11997D852BE8}"/>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 name="Oval 3">
              <a:extLst>
                <a:ext uri="{FF2B5EF4-FFF2-40B4-BE49-F238E27FC236}">
                  <a16:creationId xmlns:a16="http://schemas.microsoft.com/office/drawing/2014/main" id="{6034564F-5E1C-4B67-DB46-B403E1287EA1}"/>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 name="Straight Arrow Connector 7">
              <a:extLst>
                <a:ext uri="{FF2B5EF4-FFF2-40B4-BE49-F238E27FC236}">
                  <a16:creationId xmlns:a16="http://schemas.microsoft.com/office/drawing/2014/main" id="{15567FE7-1CEC-0FB7-D586-38B69EE5A1B2}"/>
                </a:ext>
              </a:extLst>
            </p:cNvPr>
            <p:cNvCxnSpPr>
              <a:cxnSpLocks/>
              <a:stCxn id="3" idx="6"/>
              <a:endCxn id="4"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D89D3875-9215-58A7-673A-D5E820AA951F}"/>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2" name="Oval 11">
              <a:extLst>
                <a:ext uri="{FF2B5EF4-FFF2-40B4-BE49-F238E27FC236}">
                  <a16:creationId xmlns:a16="http://schemas.microsoft.com/office/drawing/2014/main" id="{62B1280C-FBEE-7696-5041-AEEA2A016C35}"/>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3" name="Straight Arrow Connector 12">
              <a:extLst>
                <a:ext uri="{FF2B5EF4-FFF2-40B4-BE49-F238E27FC236}">
                  <a16:creationId xmlns:a16="http://schemas.microsoft.com/office/drawing/2014/main" id="{3E2242F8-40CB-0936-8A1A-A9A4D757CBD8}"/>
                </a:ext>
              </a:extLst>
            </p:cNvPr>
            <p:cNvCxnSpPr>
              <a:cxnSpLocks/>
              <a:stCxn id="4" idx="6"/>
              <a:endCxn id="11"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F6CBFD7-105C-C41D-A658-E74C6B070ACC}"/>
                </a:ext>
              </a:extLst>
            </p:cNvPr>
            <p:cNvCxnSpPr>
              <a:cxnSpLocks/>
              <a:stCxn id="11" idx="6"/>
              <a:endCxn id="12"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522112EB-4C86-6F05-F29F-8D63A11B8F37}"/>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6" name="Oval 15">
              <a:extLst>
                <a:ext uri="{FF2B5EF4-FFF2-40B4-BE49-F238E27FC236}">
                  <a16:creationId xmlns:a16="http://schemas.microsoft.com/office/drawing/2014/main" id="{9761FE58-D525-5ACE-821C-9EA80C594754}"/>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8" name="Oval 27">
              <a:extLst>
                <a:ext uri="{FF2B5EF4-FFF2-40B4-BE49-F238E27FC236}">
                  <a16:creationId xmlns:a16="http://schemas.microsoft.com/office/drawing/2014/main" id="{FBCF272C-90FD-9FDB-8242-45F566481C45}"/>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9" name="Straight Arrow Connector 28">
              <a:extLst>
                <a:ext uri="{FF2B5EF4-FFF2-40B4-BE49-F238E27FC236}">
                  <a16:creationId xmlns:a16="http://schemas.microsoft.com/office/drawing/2014/main" id="{A2526135-C871-E37E-DA92-3597FE73338B}"/>
                </a:ext>
              </a:extLst>
            </p:cNvPr>
            <p:cNvCxnSpPr>
              <a:cxnSpLocks/>
              <a:stCxn id="15" idx="6"/>
              <a:endCxn id="16"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32B1644D-9F87-B6F5-C6AE-8AA150C06187}"/>
                </a:ext>
              </a:extLst>
            </p:cNvPr>
            <p:cNvCxnSpPr>
              <a:cxnSpLocks/>
              <a:stCxn id="16" idx="6"/>
              <a:endCxn id="28"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DA064927-2FDD-5807-AFD0-C700BF9976FC}"/>
                </a:ext>
              </a:extLst>
            </p:cNvPr>
            <p:cNvCxnSpPr>
              <a:cxnSpLocks/>
              <a:stCxn id="12" idx="6"/>
              <a:endCxn id="15"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6" name="Text Placeholder 3">
              <a:extLst>
                <a:ext uri="{FF2B5EF4-FFF2-40B4-BE49-F238E27FC236}">
                  <a16:creationId xmlns:a16="http://schemas.microsoft.com/office/drawing/2014/main" id="{389C6D30-ABCD-6216-4948-FA790937528C}"/>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37" name="Text Placeholder 3">
              <a:extLst>
                <a:ext uri="{FF2B5EF4-FFF2-40B4-BE49-F238E27FC236}">
                  <a16:creationId xmlns:a16="http://schemas.microsoft.com/office/drawing/2014/main" id="{72AF8EA8-0BA2-B672-DF1B-411FF430A088}"/>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43" name="Text Placeholder 3">
              <a:extLst>
                <a:ext uri="{FF2B5EF4-FFF2-40B4-BE49-F238E27FC236}">
                  <a16:creationId xmlns:a16="http://schemas.microsoft.com/office/drawing/2014/main" id="{E3D59C9A-C9C0-300C-A228-308DF989CC0D}"/>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45" name="Text Placeholder 3">
              <a:extLst>
                <a:ext uri="{FF2B5EF4-FFF2-40B4-BE49-F238E27FC236}">
                  <a16:creationId xmlns:a16="http://schemas.microsoft.com/office/drawing/2014/main" id="{C240D900-BB34-FD3B-81D0-4D5F2C9245AC}"/>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46" name="Text Placeholder 3">
              <a:extLst>
                <a:ext uri="{FF2B5EF4-FFF2-40B4-BE49-F238E27FC236}">
                  <a16:creationId xmlns:a16="http://schemas.microsoft.com/office/drawing/2014/main" id="{4836BFE9-828D-614C-688D-2B13CB419C19}"/>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48" name="Text Placeholder 3">
              <a:extLst>
                <a:ext uri="{FF2B5EF4-FFF2-40B4-BE49-F238E27FC236}">
                  <a16:creationId xmlns:a16="http://schemas.microsoft.com/office/drawing/2014/main" id="{659C68DE-AE84-7C5E-2077-0E4B291224DD}"/>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63" name="Text Placeholder 3">
              <a:extLst>
                <a:ext uri="{FF2B5EF4-FFF2-40B4-BE49-F238E27FC236}">
                  <a16:creationId xmlns:a16="http://schemas.microsoft.com/office/drawing/2014/main" id="{E0ECB4EB-18D7-AE38-62A9-68B726F0F2CE}"/>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64" name="Picture 63" descr="Progress, Blue 60 pictogram">
              <a:extLst>
                <a:ext uri="{FF2B5EF4-FFF2-40B4-BE49-F238E27FC236}">
                  <a16:creationId xmlns:a16="http://schemas.microsoft.com/office/drawing/2014/main" id="{9DD0183B-0CA4-ACE7-EFB9-EDE606794D1E}"/>
                </a:ext>
              </a:extLst>
            </p:cNvPr>
            <p:cNvPicPr>
              <a:picLocks noChangeAspect="1"/>
            </p:cNvPicPr>
            <p:nvPr/>
          </p:nvPicPr>
          <p:blipFill>
            <a:blip r:embed="rId2"/>
            <a:srcRect/>
            <a:stretch/>
          </p:blipFill>
          <p:spPr>
            <a:xfrm>
              <a:off x="15792707" y="712846"/>
              <a:ext cx="540000" cy="540000"/>
            </a:xfrm>
            <a:prstGeom prst="rect">
              <a:avLst/>
            </a:prstGeom>
          </p:spPr>
        </p:pic>
        <p:pic>
          <p:nvPicPr>
            <p:cNvPr id="65" name="Picture 64" descr="Strategy play, Blue 60 pictogram">
              <a:extLst>
                <a:ext uri="{FF2B5EF4-FFF2-40B4-BE49-F238E27FC236}">
                  <a16:creationId xmlns:a16="http://schemas.microsoft.com/office/drawing/2014/main" id="{BBC60688-CC3B-D9D8-1832-15E5D1AA7C7F}"/>
                </a:ext>
              </a:extLst>
            </p:cNvPr>
            <p:cNvPicPr>
              <a:picLocks noChangeAspect="1"/>
            </p:cNvPicPr>
            <p:nvPr/>
          </p:nvPicPr>
          <p:blipFill>
            <a:blip r:embed="rId3"/>
            <a:srcRect/>
            <a:stretch/>
          </p:blipFill>
          <p:spPr>
            <a:xfrm>
              <a:off x="20674077" y="712847"/>
              <a:ext cx="540000" cy="540000"/>
            </a:xfrm>
            <a:prstGeom prst="rect">
              <a:avLst/>
            </a:prstGeom>
          </p:spPr>
        </p:pic>
        <p:pic>
          <p:nvPicPr>
            <p:cNvPr id="66" name="Picture 65" descr="Inspect data, Blue 60 pictogram">
              <a:extLst>
                <a:ext uri="{FF2B5EF4-FFF2-40B4-BE49-F238E27FC236}">
                  <a16:creationId xmlns:a16="http://schemas.microsoft.com/office/drawing/2014/main" id="{763949FD-8930-61E3-43CA-72DA7B7CF10F}"/>
                </a:ext>
              </a:extLst>
            </p:cNvPr>
            <p:cNvPicPr>
              <a:picLocks noChangeAspect="1"/>
            </p:cNvPicPr>
            <p:nvPr/>
          </p:nvPicPr>
          <p:blipFill>
            <a:blip r:embed="rId4"/>
            <a:srcRect/>
            <a:stretch/>
          </p:blipFill>
          <p:spPr>
            <a:xfrm>
              <a:off x="19452914" y="712847"/>
              <a:ext cx="540000" cy="540000"/>
            </a:xfrm>
            <a:prstGeom prst="rect">
              <a:avLst/>
            </a:prstGeom>
          </p:spPr>
        </p:pic>
        <p:pic>
          <p:nvPicPr>
            <p:cNvPr id="67" name="Picture 66" descr="Deliver insights, Blue 60 pictogram">
              <a:extLst>
                <a:ext uri="{FF2B5EF4-FFF2-40B4-BE49-F238E27FC236}">
                  <a16:creationId xmlns:a16="http://schemas.microsoft.com/office/drawing/2014/main" id="{C9BE58C3-9F6A-140C-CAD0-7F37560875C3}"/>
                </a:ext>
              </a:extLst>
            </p:cNvPr>
            <p:cNvPicPr>
              <a:picLocks noChangeAspect="1"/>
            </p:cNvPicPr>
            <p:nvPr/>
          </p:nvPicPr>
          <p:blipFill>
            <a:blip r:embed="rId5"/>
            <a:srcRect/>
            <a:stretch/>
          </p:blipFill>
          <p:spPr>
            <a:xfrm>
              <a:off x="18212059" y="712847"/>
              <a:ext cx="540000" cy="540000"/>
            </a:xfrm>
            <a:prstGeom prst="rect">
              <a:avLst/>
            </a:prstGeom>
          </p:spPr>
        </p:pic>
        <p:pic>
          <p:nvPicPr>
            <p:cNvPr id="68" name="Picture 67" descr="Identity trust assessment, Blue 60 pictogram">
              <a:extLst>
                <a:ext uri="{FF2B5EF4-FFF2-40B4-BE49-F238E27FC236}">
                  <a16:creationId xmlns:a16="http://schemas.microsoft.com/office/drawing/2014/main" id="{3BB9B600-A9E6-4953-432C-3610A915D150}"/>
                </a:ext>
              </a:extLst>
            </p:cNvPr>
            <p:cNvPicPr>
              <a:picLocks noChangeAspect="1"/>
            </p:cNvPicPr>
            <p:nvPr/>
          </p:nvPicPr>
          <p:blipFill>
            <a:blip r:embed="rId6"/>
            <a:srcRect/>
            <a:stretch/>
          </p:blipFill>
          <p:spPr>
            <a:xfrm>
              <a:off x="21872264" y="712847"/>
              <a:ext cx="540000" cy="540000"/>
            </a:xfrm>
            <a:prstGeom prst="rect">
              <a:avLst/>
            </a:prstGeom>
          </p:spPr>
        </p:pic>
        <p:pic>
          <p:nvPicPr>
            <p:cNvPr id="69" name="Picture 68" descr="Security as a service, Blue 60 pictogram">
              <a:extLst>
                <a:ext uri="{FF2B5EF4-FFF2-40B4-BE49-F238E27FC236}">
                  <a16:creationId xmlns:a16="http://schemas.microsoft.com/office/drawing/2014/main" id="{C0B7E8E5-A81C-9E34-761A-6F067C2A8D5D}"/>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70" name="Picture 69" descr="Vision, Blue 60 pictogram">
              <a:extLst>
                <a:ext uri="{FF2B5EF4-FFF2-40B4-BE49-F238E27FC236}">
                  <a16:creationId xmlns:a16="http://schemas.microsoft.com/office/drawing/2014/main" id="{1FFCAD41-B238-F323-A75B-0DCFCA2E13D9}"/>
                </a:ext>
              </a:extLst>
            </p:cNvPr>
            <p:cNvPicPr>
              <a:picLocks noChangeAspect="1"/>
            </p:cNvPicPr>
            <p:nvPr/>
          </p:nvPicPr>
          <p:blipFill>
            <a:blip r:embed="rId8"/>
            <a:srcRect/>
            <a:stretch/>
          </p:blipFill>
          <p:spPr>
            <a:xfrm>
              <a:off x="17023717" y="712847"/>
              <a:ext cx="540000" cy="540000"/>
            </a:xfrm>
            <a:prstGeom prst="rect">
              <a:avLst/>
            </a:prstGeom>
          </p:spPr>
        </p:pic>
      </p:grpSp>
      <p:sp>
        <p:nvSpPr>
          <p:cNvPr id="25" name="&quot;R&quot; teal rectangle">
            <a:extLst>
              <a:ext uri="{FF2B5EF4-FFF2-40B4-BE49-F238E27FC236}">
                <a16:creationId xmlns:a16="http://schemas.microsoft.com/office/drawing/2014/main" id="{CA13F9DF-A3D1-85F3-DCD3-B3D169CFE18C}"/>
              </a:ext>
              <a:ext uri="{C183D7F6-B498-43B3-948B-1728B52AA6E4}">
                <adec:decorative xmlns:adec="http://schemas.microsoft.com/office/drawing/2017/decorative" val="1"/>
              </a:ext>
            </a:extLst>
          </p:cNvPr>
          <p:cNvSpPr>
            <a:spLocks noChangeAspect="1" noChangeArrowheads="1"/>
          </p:cNvSpPr>
          <p:nvPr/>
        </p:nvSpPr>
        <p:spPr bwMode="auto">
          <a:xfrm>
            <a:off x="9329476" y="1862097"/>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1" name="&quot;R&quot; teal rectangle">
            <a:extLst>
              <a:ext uri="{FF2B5EF4-FFF2-40B4-BE49-F238E27FC236}">
                <a16:creationId xmlns:a16="http://schemas.microsoft.com/office/drawing/2014/main" id="{ED249811-E022-A76F-79AC-4739437ABD1E}"/>
              </a:ext>
              <a:ext uri="{C183D7F6-B498-43B3-948B-1728B52AA6E4}">
                <adec:decorative xmlns:adec="http://schemas.microsoft.com/office/drawing/2017/decorative" val="1"/>
              </a:ext>
            </a:extLst>
          </p:cNvPr>
          <p:cNvSpPr>
            <a:spLocks noChangeAspect="1" noChangeArrowheads="1"/>
          </p:cNvSpPr>
          <p:nvPr/>
        </p:nvSpPr>
        <p:spPr bwMode="auto">
          <a:xfrm>
            <a:off x="9347314" y="3483705"/>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4" name="&quot;R&quot; teal rectangle">
            <a:extLst>
              <a:ext uri="{FF2B5EF4-FFF2-40B4-BE49-F238E27FC236}">
                <a16:creationId xmlns:a16="http://schemas.microsoft.com/office/drawing/2014/main" id="{3D47F6F4-B32D-C11E-855F-4D13A16767F5}"/>
              </a:ext>
              <a:ext uri="{C183D7F6-B498-43B3-948B-1728B52AA6E4}">
                <adec:decorative xmlns:adec="http://schemas.microsoft.com/office/drawing/2017/decorative" val="1"/>
              </a:ext>
            </a:extLst>
          </p:cNvPr>
          <p:cNvSpPr>
            <a:spLocks noChangeAspect="1" noChangeArrowheads="1"/>
          </p:cNvSpPr>
          <p:nvPr/>
        </p:nvSpPr>
        <p:spPr bwMode="auto">
          <a:xfrm>
            <a:off x="9345873" y="4330331"/>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2" name="&quot;R&quot; teal rectangle">
            <a:extLst>
              <a:ext uri="{FF2B5EF4-FFF2-40B4-BE49-F238E27FC236}">
                <a16:creationId xmlns:a16="http://schemas.microsoft.com/office/drawing/2014/main" id="{8C2DDBA5-67A5-9646-C80E-575138CBA0AF}"/>
              </a:ext>
              <a:ext uri="{C183D7F6-B498-43B3-948B-1728B52AA6E4}">
                <adec:decorative xmlns:adec="http://schemas.microsoft.com/office/drawing/2017/decorative" val="1"/>
              </a:ext>
            </a:extLst>
          </p:cNvPr>
          <p:cNvSpPr>
            <a:spLocks noChangeAspect="1" noChangeArrowheads="1"/>
          </p:cNvSpPr>
          <p:nvPr/>
        </p:nvSpPr>
        <p:spPr bwMode="auto">
          <a:xfrm>
            <a:off x="9345872" y="5113473"/>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5" name="&quot;C&quot; gray rectangle">
            <a:extLst>
              <a:ext uri="{FF2B5EF4-FFF2-40B4-BE49-F238E27FC236}">
                <a16:creationId xmlns:a16="http://schemas.microsoft.com/office/drawing/2014/main" id="{3738B372-37B2-2236-F2B4-83C729D4DC0F}"/>
              </a:ext>
              <a:ext uri="{C183D7F6-B498-43B3-948B-1728B52AA6E4}">
                <adec:decorative xmlns:adec="http://schemas.microsoft.com/office/drawing/2017/decorative" val="1"/>
              </a:ext>
            </a:extLst>
          </p:cNvPr>
          <p:cNvSpPr>
            <a:spLocks noChangeAspect="1" noChangeArrowheads="1"/>
          </p:cNvSpPr>
          <p:nvPr/>
        </p:nvSpPr>
        <p:spPr bwMode="auto">
          <a:xfrm>
            <a:off x="9329476" y="2684722"/>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61095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297F-25E6-6BB0-2161-65307C257D2E}"/>
            </a:ext>
          </a:extLst>
        </p:cNvPr>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41EF783C-4407-0AB7-AE27-50B868BE994E}"/>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9" name="Title 1">
            <a:extLst>
              <a:ext uri="{FF2B5EF4-FFF2-40B4-BE49-F238E27FC236}">
                <a16:creationId xmlns:a16="http://schemas.microsoft.com/office/drawing/2014/main" id="{3438B66D-4BCF-E50C-6A53-1B3884904845}"/>
              </a:ext>
            </a:extLst>
          </p:cNvPr>
          <p:cNvSpPr txBox="1">
            <a:spLocks/>
          </p:cNvSpPr>
          <p:nvPr/>
        </p:nvSpPr>
        <p:spPr>
          <a:xfrm>
            <a:off x="211809" y="288445"/>
            <a:ext cx="2235798" cy="7626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Technology</a:t>
            </a:r>
            <a:r>
              <a:rPr lang="en-US" sz="2699" kern="0" baseline="30000">
                <a:solidFill>
                  <a:srgbClr val="000000"/>
                </a:solidFill>
                <a:latin typeface="IBM Plex Sans Light"/>
              </a:rPr>
              <a:t>8</a:t>
            </a:r>
            <a:endParaRPr lang="en-US" sz="2699" kern="0">
              <a:solidFill>
                <a:srgbClr val="000000"/>
              </a:solidFill>
              <a:latin typeface="IBM Plex Sans Light"/>
            </a:endParaRPr>
          </a:p>
        </p:txBody>
      </p:sp>
      <p:sp>
        <p:nvSpPr>
          <p:cNvPr id="10" name="Text Placeholder 3">
            <a:extLst>
              <a:ext uri="{FF2B5EF4-FFF2-40B4-BE49-F238E27FC236}">
                <a16:creationId xmlns:a16="http://schemas.microsoft.com/office/drawing/2014/main" id="{5632A410-DC27-9116-CED1-5C23D3767E71}"/>
              </a:ext>
            </a:extLst>
          </p:cNvPr>
          <p:cNvSpPr txBox="1">
            <a:spLocks/>
          </p:cNvSpPr>
          <p:nvPr/>
        </p:nvSpPr>
        <p:spPr>
          <a:xfrm>
            <a:off x="211809" y="1714723"/>
            <a:ext cx="2235798" cy="4285692"/>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lnSpc>
                <a:spcPct val="110000"/>
              </a:lnSpc>
            </a:pPr>
            <a:r>
              <a:rPr lang="en-US" sz="1400">
                <a:solidFill>
                  <a:srgbClr val="000000"/>
                </a:solidFill>
                <a:latin typeface="IBM Plex Sans Light" panose="020B0403050203000203" pitchFamily="34" charset="0"/>
              </a:rPr>
              <a:t>This section assesses the technical measures implemented to secure personal data, including encryption, access controls, data anonymization, and system monitoring.</a:t>
            </a:r>
          </a:p>
        </p:txBody>
      </p:sp>
      <p:grpSp>
        <p:nvGrpSpPr>
          <p:cNvPr id="17" name="Group 16" descr="Sample legend for RACI table with responsibility definition labels assigned to color-coded cells">
            <a:extLst>
              <a:ext uri="{FF2B5EF4-FFF2-40B4-BE49-F238E27FC236}">
                <a16:creationId xmlns:a16="http://schemas.microsoft.com/office/drawing/2014/main" id="{14DFF798-DF58-C97F-13E7-17DB4B310927}"/>
              </a:ext>
            </a:extLst>
          </p:cNvPr>
          <p:cNvGrpSpPr/>
          <p:nvPr/>
        </p:nvGrpSpPr>
        <p:grpSpPr>
          <a:xfrm>
            <a:off x="220190" y="4175289"/>
            <a:ext cx="2227417" cy="2225124"/>
            <a:chOff x="6673595" y="9163051"/>
            <a:chExt cx="4472180" cy="4450828"/>
          </a:xfrm>
        </p:grpSpPr>
        <p:sp>
          <p:nvSpPr>
            <p:cNvPr id="18" name="&quot;R&quot; teal rectangle">
              <a:extLst>
                <a:ext uri="{FF2B5EF4-FFF2-40B4-BE49-F238E27FC236}">
                  <a16:creationId xmlns:a16="http://schemas.microsoft.com/office/drawing/2014/main" id="{24E48349-2237-0A82-6F18-F2D98B3AA2BE}"/>
                </a:ext>
                <a:ext uri="{C183D7F6-B498-43B3-948B-1728B52AA6E4}">
                  <adec:decorative xmlns:adec="http://schemas.microsoft.com/office/drawing/2017/decorative" val="1"/>
                </a:ext>
              </a:extLst>
            </p:cNvPr>
            <p:cNvSpPr>
              <a:spLocks noChangeAspect="1" noChangeArrowheads="1"/>
            </p:cNvSpPr>
            <p:nvPr/>
          </p:nvSpPr>
          <p:spPr bwMode="auto">
            <a:xfrm>
              <a:off x="6675120" y="9163051"/>
              <a:ext cx="758952" cy="751439"/>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20" name="Text Box">
              <a:extLst>
                <a:ext uri="{FF2B5EF4-FFF2-40B4-BE49-F238E27FC236}">
                  <a16:creationId xmlns:a16="http://schemas.microsoft.com/office/drawing/2014/main" id="{BEE4ED5B-6668-619B-4B9A-FEF446F55066}"/>
                </a:ext>
                <a:ext uri="{C183D7F6-B498-43B3-948B-1728B52AA6E4}">
                  <adec:decorative xmlns:adec="http://schemas.microsoft.com/office/drawing/2017/decorative" val="1"/>
                </a:ext>
              </a:extLst>
            </p:cNvPr>
            <p:cNvSpPr txBox="1">
              <a:spLocks noChangeArrowheads="1"/>
            </p:cNvSpPr>
            <p:nvPr/>
          </p:nvSpPr>
          <p:spPr bwMode="auto">
            <a:xfrm>
              <a:off x="7604395" y="9163051"/>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Full Comply</a:t>
              </a:r>
            </a:p>
            <a:p>
              <a:pPr defTabSz="914239">
                <a:defRPr/>
              </a:pPr>
              <a:r>
                <a:rPr lang="en-US" altLang="en-US" sz="900" kern="0">
                  <a:solidFill>
                    <a:srgbClr val="000000"/>
                  </a:solidFill>
                  <a:latin typeface="IBM Plex Sans" panose="020B0503050203000203" pitchFamily="34" charset="0"/>
                  <a:ea typeface="MS PGothic" charset="-128"/>
                </a:rPr>
                <a:t>The organization has fully implemented the requirements of the standard or regulation</a:t>
              </a:r>
            </a:p>
          </p:txBody>
        </p:sp>
        <p:sp>
          <p:nvSpPr>
            <p:cNvPr id="21" name="&quot;A&quot; blue rectangle">
              <a:extLst>
                <a:ext uri="{FF2B5EF4-FFF2-40B4-BE49-F238E27FC236}">
                  <a16:creationId xmlns:a16="http://schemas.microsoft.com/office/drawing/2014/main" id="{27CC6206-F1CC-C415-44D8-5F798A736D49}"/>
                </a:ext>
                <a:ext uri="{C183D7F6-B498-43B3-948B-1728B52AA6E4}">
                  <adec:decorative xmlns:adec="http://schemas.microsoft.com/office/drawing/2017/decorative" val="1"/>
                </a:ext>
              </a:extLst>
            </p:cNvPr>
            <p:cNvSpPr>
              <a:spLocks noChangeAspect="1" noChangeArrowheads="1"/>
            </p:cNvSpPr>
            <p:nvPr/>
          </p:nvSpPr>
          <p:spPr bwMode="auto">
            <a:xfrm>
              <a:off x="6673595" y="10668465"/>
              <a:ext cx="758952" cy="751439"/>
            </a:xfrm>
            <a:prstGeom prst="rect">
              <a:avLst/>
            </a:prstGeom>
            <a:solidFill>
              <a:srgbClr val="FDDC69"/>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PC</a:t>
              </a:r>
              <a:endParaRPr lang="en-GB" altLang="en-US" sz="1200" kern="0">
                <a:solidFill>
                  <a:srgbClr val="000000"/>
                </a:solidFill>
                <a:latin typeface="IBM Plex Sans Light" panose="020B0403050203000203" pitchFamily="34" charset="0"/>
                <a:ea typeface="MS PGothic" charset="-128"/>
              </a:endParaRPr>
            </a:p>
          </p:txBody>
        </p:sp>
        <p:sp>
          <p:nvSpPr>
            <p:cNvPr id="22" name="Text Box">
              <a:extLst>
                <a:ext uri="{FF2B5EF4-FFF2-40B4-BE49-F238E27FC236}">
                  <a16:creationId xmlns:a16="http://schemas.microsoft.com/office/drawing/2014/main" id="{9B86EA9A-63E1-2665-FDDB-25206E1FCCA5}"/>
                </a:ext>
                <a:ext uri="{C183D7F6-B498-43B3-948B-1728B52AA6E4}">
                  <adec:decorative xmlns:adec="http://schemas.microsoft.com/office/drawing/2017/decorative" val="1"/>
                </a:ext>
              </a:extLst>
            </p:cNvPr>
            <p:cNvSpPr txBox="1">
              <a:spLocks noChangeArrowheads="1"/>
            </p:cNvSpPr>
            <p:nvPr/>
          </p:nvSpPr>
          <p:spPr bwMode="auto">
            <a:xfrm>
              <a:off x="7604395" y="10668465"/>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Partially Comply</a:t>
              </a:r>
            </a:p>
            <a:p>
              <a:pPr defTabSz="914239">
                <a:defRPr/>
              </a:pPr>
              <a:r>
                <a:rPr lang="en-US" altLang="en-US" sz="900" kern="0">
                  <a:solidFill>
                    <a:srgbClr val="000000"/>
                  </a:solidFill>
                  <a:latin typeface="IBM Plex Sans" panose="020B0503050203000203" pitchFamily="34" charset="0"/>
                  <a:ea typeface="MS PGothic" charset="-128"/>
                </a:rPr>
                <a:t>The organization has implemented some of the requirements but not all of them</a:t>
              </a:r>
            </a:p>
          </p:txBody>
        </p:sp>
        <p:sp>
          <p:nvSpPr>
            <p:cNvPr id="23" name="&quot;C&quot; gray rectangle">
              <a:extLst>
                <a:ext uri="{FF2B5EF4-FFF2-40B4-BE49-F238E27FC236}">
                  <a16:creationId xmlns:a16="http://schemas.microsoft.com/office/drawing/2014/main" id="{9506E1AC-6207-A7D9-190E-6CDED7FE031D}"/>
                </a:ext>
                <a:ext uri="{C183D7F6-B498-43B3-948B-1728B52AA6E4}">
                  <adec:decorative xmlns:adec="http://schemas.microsoft.com/office/drawing/2017/decorative" val="1"/>
                </a:ext>
              </a:extLst>
            </p:cNvPr>
            <p:cNvSpPr>
              <a:spLocks noChangeAspect="1" noChangeArrowheads="1"/>
            </p:cNvSpPr>
            <p:nvPr/>
          </p:nvSpPr>
          <p:spPr bwMode="auto">
            <a:xfrm>
              <a:off x="6690360" y="12167782"/>
              <a:ext cx="758952" cy="751439"/>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26" name="Text Box">
              <a:extLst>
                <a:ext uri="{FF2B5EF4-FFF2-40B4-BE49-F238E27FC236}">
                  <a16:creationId xmlns:a16="http://schemas.microsoft.com/office/drawing/2014/main" id="{981C3B6D-5201-97D1-8EBD-068328BC8B1C}"/>
                </a:ext>
                <a:ext uri="{C183D7F6-B498-43B3-948B-1728B52AA6E4}">
                  <adec:decorative xmlns:adec="http://schemas.microsoft.com/office/drawing/2017/decorative" val="1"/>
                </a:ext>
              </a:extLst>
            </p:cNvPr>
            <p:cNvSpPr txBox="1">
              <a:spLocks noChangeArrowheads="1"/>
            </p:cNvSpPr>
            <p:nvPr/>
          </p:nvSpPr>
          <p:spPr bwMode="auto">
            <a:xfrm>
              <a:off x="7604395" y="12173879"/>
              <a:ext cx="354138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defTabSz="914239">
                <a:defRPr/>
              </a:pPr>
              <a:r>
                <a:rPr lang="en-US" altLang="en-US" sz="900" b="1" kern="0">
                  <a:solidFill>
                    <a:srgbClr val="000000"/>
                  </a:solidFill>
                  <a:latin typeface="IBM Plex Sans SemiBold" panose="020B0503050203000203" pitchFamily="34" charset="0"/>
                  <a:ea typeface="MS PGothic" charset="-128"/>
                </a:rPr>
                <a:t>Not Comply</a:t>
              </a:r>
            </a:p>
            <a:p>
              <a:pPr defTabSz="914239">
                <a:defRPr/>
              </a:pPr>
              <a:r>
                <a:rPr lang="en-US" altLang="en-US" sz="900" kern="0">
                  <a:solidFill>
                    <a:srgbClr val="000000"/>
                  </a:solidFill>
                  <a:latin typeface="IBM Plex Sans" panose="020B0503050203000203" pitchFamily="34" charset="0"/>
                  <a:ea typeface="MS PGothic" charset="-128"/>
                </a:rPr>
                <a:t>The organization has not implemented any of the requirements.</a:t>
              </a:r>
            </a:p>
          </p:txBody>
        </p:sp>
      </p:grpSp>
      <p:graphicFrame>
        <p:nvGraphicFramePr>
          <p:cNvPr id="7" name="Content Placeholder" descr="Sample table with color-coded cells identifying role responsibilities for each step and decision in a project ">
            <a:extLst>
              <a:ext uri="{FF2B5EF4-FFF2-40B4-BE49-F238E27FC236}">
                <a16:creationId xmlns:a16="http://schemas.microsoft.com/office/drawing/2014/main" id="{C8E9F014-FACE-F246-D4CF-B2FEBA565A7E}"/>
              </a:ext>
            </a:extLst>
          </p:cNvPr>
          <p:cNvGraphicFramePr>
            <a:graphicFrameLocks/>
          </p:cNvGraphicFramePr>
          <p:nvPr/>
        </p:nvGraphicFramePr>
        <p:xfrm>
          <a:off x="2608948" y="1274949"/>
          <a:ext cx="9430920" cy="4722085"/>
        </p:xfrm>
        <a:graphic>
          <a:graphicData uri="http://schemas.openxmlformats.org/drawingml/2006/table">
            <a:tbl>
              <a:tblPr firstRow="1" bandRow="1"/>
              <a:tblGrid>
                <a:gridCol w="2267218">
                  <a:extLst>
                    <a:ext uri="{9D8B030D-6E8A-4147-A177-3AD203B41FA5}">
                      <a16:colId xmlns:a16="http://schemas.microsoft.com/office/drawing/2014/main" val="20000"/>
                    </a:ext>
                  </a:extLst>
                </a:gridCol>
                <a:gridCol w="2161894">
                  <a:extLst>
                    <a:ext uri="{9D8B030D-6E8A-4147-A177-3AD203B41FA5}">
                      <a16:colId xmlns:a16="http://schemas.microsoft.com/office/drawing/2014/main" val="20001"/>
                    </a:ext>
                  </a:extLst>
                </a:gridCol>
                <a:gridCol w="2123798">
                  <a:extLst>
                    <a:ext uri="{9D8B030D-6E8A-4147-A177-3AD203B41FA5}">
                      <a16:colId xmlns:a16="http://schemas.microsoft.com/office/drawing/2014/main" val="20002"/>
                    </a:ext>
                  </a:extLst>
                </a:gridCol>
                <a:gridCol w="733330">
                  <a:extLst>
                    <a:ext uri="{9D8B030D-6E8A-4147-A177-3AD203B41FA5}">
                      <a16:colId xmlns:a16="http://schemas.microsoft.com/office/drawing/2014/main" val="20003"/>
                    </a:ext>
                  </a:extLst>
                </a:gridCol>
                <a:gridCol w="2144680">
                  <a:extLst>
                    <a:ext uri="{9D8B030D-6E8A-4147-A177-3AD203B41FA5}">
                      <a16:colId xmlns:a16="http://schemas.microsoft.com/office/drawing/2014/main" val="20004"/>
                    </a:ext>
                  </a:extLst>
                </a:gridCol>
              </a:tblGrid>
              <a:tr h="427305">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Capability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Current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Target State</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Maturity</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725130" rtl="0" eaLnBrk="1" latinLnBrk="0" hangingPunct="1">
                        <a:spcBef>
                          <a:spcPct val="50000"/>
                        </a:spcBef>
                        <a:buClr>
                          <a:schemeClr val="tx1"/>
                        </a:buClr>
                        <a:buFont typeface="IBM Plex Sans Light" charset="2"/>
                        <a:defRPr sz="1400" b="1" kern="1200">
                          <a:solidFill>
                            <a:schemeClr val="tx1"/>
                          </a:solidFill>
                          <a:latin typeface="Arial" charset="0"/>
                          <a:ea typeface="ＭＳ Ｐゴシック" charset="-128"/>
                          <a:cs typeface=""/>
                        </a:defRPr>
                      </a:lvl1pPr>
                      <a:lvl2pPr marL="742950" indent="-285750" algn="l" defTabSz="725130" rtl="0" eaLnBrk="1" latinLnBrk="0" hangingPunct="1">
                        <a:buClr>
                          <a:schemeClr val="tx1"/>
                        </a:buClr>
                        <a:buFont typeface="Arial" charset="0"/>
                        <a:defRPr sz="1400" b="1" kern="1200">
                          <a:solidFill>
                            <a:schemeClr val="tx1"/>
                          </a:solidFill>
                          <a:latin typeface="Arial" charset="0"/>
                          <a:ea typeface="ＭＳ Ｐゴシック" charset="-128"/>
                          <a:cs typeface=""/>
                        </a:defRPr>
                      </a:lvl2pPr>
                      <a:lvl3pPr marL="1143000" indent="-228600" algn="l" defTabSz="725130" rtl="0" eaLnBrk="1" latinLnBrk="0" hangingPunct="1">
                        <a:buClr>
                          <a:schemeClr val="tx1"/>
                        </a:buClr>
                        <a:defRPr sz="1400" b="1" kern="1200">
                          <a:solidFill>
                            <a:schemeClr val="tx1"/>
                          </a:solidFill>
                          <a:latin typeface="Arial" charset="0"/>
                          <a:ea typeface="ＭＳ Ｐゴシック" charset="-128"/>
                          <a:cs typeface=""/>
                        </a:defRPr>
                      </a:lvl3pPr>
                      <a:lvl4pPr marL="16002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4pPr>
                      <a:lvl5pPr marL="2057400" indent="-228600" algn="l" defTabSz="725130" rtl="0" eaLnBrk="1" latinLnBrk="0" hangingPunct="1">
                        <a:spcBef>
                          <a:spcPct val="20000"/>
                        </a:spcBef>
                        <a:buClr>
                          <a:schemeClr val="bg1"/>
                        </a:buClr>
                        <a:defRPr sz="1400" b="1" kern="1200">
                          <a:solidFill>
                            <a:schemeClr val="bg1"/>
                          </a:solidFill>
                          <a:latin typeface="Arial" charset="0"/>
                          <a:ea typeface="ＭＳ Ｐゴシック" charset="-128"/>
                          <a:cs typeface=""/>
                        </a:defRPr>
                      </a:lvl5pPr>
                      <a:lvl6pPr marL="25146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6pPr>
                      <a:lvl7pPr marL="29718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7pPr>
                      <a:lvl8pPr marL="34290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8pPr>
                      <a:lvl9pPr marL="3886200" indent="-228600" algn="l" defTabSz="725130" rtl="0" eaLnBrk="0" fontAlgn="base" latinLnBrk="0" hangingPunct="0">
                        <a:spcBef>
                          <a:spcPct val="20000"/>
                        </a:spcBef>
                        <a:spcAft>
                          <a:spcPct val="0"/>
                        </a:spcAft>
                        <a:buClr>
                          <a:schemeClr val="bg1"/>
                        </a:buClr>
                        <a:defRPr sz="1400" b="1" kern="1200">
                          <a:solidFill>
                            <a:schemeClr val="bg1"/>
                          </a:solidFill>
                          <a:latin typeface="Arial" charset="0"/>
                          <a:ea typeface="ＭＳ Ｐゴシック" charset="-128"/>
                          <a:cs typeface=""/>
                        </a:defRPr>
                      </a:lvl9pPr>
                    </a:lstStyle>
                    <a:p>
                      <a:pPr marL="0" marR="0" lvl="0" indent="0" algn="l" defTabSz="914400" rtl="0" eaLnBrk="1" fontAlgn="base" latinLnBrk="0" hangingPunct="1">
                        <a:lnSpc>
                          <a:spcPct val="100000"/>
                        </a:lnSpc>
                        <a:spcBef>
                          <a:spcPct val="50000"/>
                        </a:spcBef>
                        <a:spcAft>
                          <a:spcPct val="0"/>
                        </a:spcAft>
                        <a:buClr>
                          <a:schemeClr val="tx1"/>
                        </a:buClr>
                        <a:buSzTx/>
                        <a:buFont typeface="IBM Plex Sans Light" charset="2"/>
                        <a:buNone/>
                        <a:tabLst/>
                      </a:pPr>
                      <a:r>
                        <a:rPr kumimoji="0" lang="en-US" altLang="en-US" sz="1000" b="0" i="0" u="none" strike="noStrike" cap="none" normalizeH="0" baseline="0">
                          <a:ln>
                            <a:noFill/>
                          </a:ln>
                          <a:solidFill>
                            <a:schemeClr val="bg1"/>
                          </a:solidFill>
                          <a:effectLst/>
                          <a:latin typeface="IBM Plex Sans Medium" panose="020B0503050203000203" pitchFamily="34" charset="0"/>
                          <a:ea typeface="IBM Plex Sans" charset="0"/>
                          <a:cs typeface="IBM Plex Sans" charset="0"/>
                        </a:rPr>
                        <a:t>Recommendation</a:t>
                      </a:r>
                    </a:p>
                  </a:txBody>
                  <a:tcPr marL="89988" marR="91428" marT="45714" marB="45714"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7896">
                <a:tc>
                  <a:txBody>
                    <a:bodyPr/>
                    <a:lstStyle/>
                    <a:p>
                      <a:pPr algn="l" fontAlgn="t"/>
                      <a:r>
                        <a:rPr lang="en-ID" sz="1000" b="0" i="0" u="none" strike="noStrike" cap="none" spc="0" baseline="0">
                          <a:solidFill>
                            <a:schemeClr val="bg1"/>
                          </a:solidFill>
                          <a:effectLst/>
                          <a:uFillTx/>
                          <a:latin typeface="+mj-lt"/>
                          <a:ea typeface="+mn-ea"/>
                          <a:cs typeface="+mn-cs"/>
                          <a:sym typeface="IBM Plex Sans"/>
                        </a:rPr>
                        <a:t>Security Orchestration, Automation and Response – Incident Response Team</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fontAlgn="t"/>
                      <a:r>
                        <a:rPr lang="en-ID" sz="1000" b="0" i="0" u="none" strike="noStrike" cap="none" spc="0" baseline="0">
                          <a:solidFill>
                            <a:srgbClr val="000000"/>
                          </a:solidFill>
                          <a:effectLst/>
                          <a:uFillTx/>
                          <a:latin typeface="+mj-lt"/>
                          <a:ea typeface="+mn-ea"/>
                          <a:cs typeface="+mn-cs"/>
                          <a:sym typeface="IBM Plex Sans"/>
                        </a:rPr>
                        <a:t>An incident response plan and designated team to handle security incidents are not currently in place.</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spcAft>
                          <a:spcPts val="600"/>
                        </a:spcAft>
                      </a:pPr>
                      <a:r>
                        <a:rPr lang="en-ID" sz="1000"/>
                        <a:t>The organization needs a clear incident response plan and a dedicated team to handle security incidents quickly and effectively.</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32460616"/>
                  </a:ext>
                </a:extLst>
              </a:tr>
              <a:tr h="797896">
                <a:tc>
                  <a:txBody>
                    <a:bodyPr/>
                    <a:lstStyle/>
                    <a:p>
                      <a:pPr algn="l" fontAlgn="t"/>
                      <a:r>
                        <a:rPr lang="en-ID" sz="1000" b="0" i="0" u="none" strike="noStrike" cap="none" spc="0" baseline="0">
                          <a:solidFill>
                            <a:schemeClr val="bg1"/>
                          </a:solidFill>
                          <a:effectLst/>
                          <a:uFillTx/>
                          <a:latin typeface="+mj-lt"/>
                          <a:ea typeface="+mn-ea"/>
                          <a:cs typeface="+mn-cs"/>
                          <a:sym typeface="IBM Plex Sans"/>
                        </a:rPr>
                        <a:t>Security Orchestration, Automation and Response</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indent="0" algn="l" defTabSz="1829287" rtl="0" eaLnBrk="1" fontAlgn="t" latinLnBrk="0" hangingPunct="1">
                        <a:lnSpc>
                          <a:spcPct val="100000"/>
                        </a:lnSpc>
                        <a:spcBef>
                          <a:spcPts val="0"/>
                        </a:spcBef>
                        <a:spcAft>
                          <a:spcPts val="0"/>
                        </a:spcAft>
                        <a:buClrTx/>
                        <a:buSzTx/>
                        <a:buFontTx/>
                        <a:buNone/>
                        <a:tabLst/>
                      </a:pPr>
                      <a:r>
                        <a:rPr lang="en-ID" sz="1000"/>
                        <a:t>There is no established process for reporting or responding to security breaches or incidents.</a:t>
                      </a:r>
                      <a:endParaRPr lang="en-ID" sz="1000" b="0" i="0" u="none" strike="noStrike" cap="none" spc="0" baseline="0">
                        <a:solidFill>
                          <a:srgbClr val="000000"/>
                        </a:solidFill>
                        <a:effectLst/>
                        <a:uFillTx/>
                        <a:latin typeface="+mn-lt"/>
                        <a:ea typeface="+mn-ea"/>
                        <a:cs typeface="+mn-cs"/>
                        <a:sym typeface="IBM Plex Sans"/>
                      </a:endParaRP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lang="en-ID" sz="1000"/>
                        <a:t>Set up clear processes and tools to quickly detect, report, and respond to security incidents.</a:t>
                      </a:r>
                      <a:endParaRPr lang="en-ID" sz="1000" b="0" i="0" u="none" strike="noStrike" cap="none" spc="0" baseline="0">
                        <a:solidFill>
                          <a:srgbClr val="000000"/>
                        </a:solidFill>
                        <a:effectLst/>
                        <a:uFillTx/>
                        <a:latin typeface="+mn-lt"/>
                        <a:ea typeface="+mn-ea"/>
                        <a:cs typeface="+mn-cs"/>
                        <a:sym typeface="IBM Plex Sans"/>
                      </a:endParaRPr>
                    </a:p>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86413643"/>
                  </a:ext>
                </a:extLst>
              </a:tr>
              <a:tr h="797896">
                <a:tc>
                  <a:txBody>
                    <a:bodyPr/>
                    <a:lstStyle/>
                    <a:p>
                      <a:pPr algn="l" fontAlgn="b"/>
                      <a:r>
                        <a:rPr lang="en-ID" sz="1000" b="0" i="0" u="none" strike="noStrike" cap="none" spc="0" baseline="0">
                          <a:solidFill>
                            <a:schemeClr val="bg1"/>
                          </a:solidFill>
                          <a:effectLst/>
                          <a:uFillTx/>
                          <a:latin typeface="+mj-lt"/>
                          <a:ea typeface="+mn-ea"/>
                          <a:cs typeface="+mn-cs"/>
                          <a:sym typeface="IBM Plex Sans"/>
                        </a:rPr>
                        <a:t>Data Governance</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indent="0" algn="l" defTabSz="1829287" rtl="0" eaLnBrk="1" fontAlgn="t" latinLnBrk="0" hangingPunct="1">
                        <a:lnSpc>
                          <a:spcPct val="100000"/>
                        </a:lnSpc>
                        <a:spcBef>
                          <a:spcPts val="0"/>
                        </a:spcBef>
                        <a:spcAft>
                          <a:spcPts val="0"/>
                        </a:spcAft>
                        <a:buClrTx/>
                        <a:buSzTx/>
                        <a:buFontTx/>
                        <a:buNone/>
                        <a:tabLst/>
                      </a:pPr>
                      <a:r>
                        <a:rPr lang="en-ID" sz="1000" b="0" i="0" u="none" strike="noStrike" cap="none" spc="0" baseline="0">
                          <a:solidFill>
                            <a:srgbClr val="000000"/>
                          </a:solidFill>
                          <a:effectLst/>
                          <a:uFillTx/>
                          <a:latin typeface="+mj-lt"/>
                          <a:ea typeface="+mn-ea"/>
                          <a:cs typeface="+mn-cs"/>
                          <a:sym typeface="IBM Plex Sans"/>
                        </a:rPr>
                        <a:t>Tools to govern and manage data are not currently in place within the organization.</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IBM Plex Sans Ligh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ID" sz="1000"/>
                        <a:t>The organization needs data governance tools and frameworks to manage, control, and protect its data effectively.</a:t>
                      </a: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736516"/>
                  </a:ext>
                </a:extLst>
              </a:tr>
              <a:tr h="797896">
                <a:tc>
                  <a:txBody>
                    <a:bodyPr/>
                    <a:lstStyle/>
                    <a:p>
                      <a:pPr algn="l" fontAlgn="b"/>
                      <a:r>
                        <a:rPr lang="en-ID" sz="1000" b="0" i="0" u="none" strike="noStrike" cap="none" spc="0" baseline="0">
                          <a:solidFill>
                            <a:schemeClr val="bg1"/>
                          </a:solidFill>
                          <a:effectLst/>
                          <a:uFillTx/>
                          <a:latin typeface="+mj-lt"/>
                          <a:ea typeface="+mn-ea"/>
                          <a:cs typeface="+mn-cs"/>
                          <a:sym typeface="IBM Plex Sans"/>
                        </a:rPr>
                        <a:t>Business Process Management</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indent="0" algn="l" defTabSz="1829287" rtl="0" eaLnBrk="1" fontAlgn="t" latinLnBrk="0" hangingPunct="1">
                        <a:lnSpc>
                          <a:spcPct val="100000"/>
                        </a:lnSpc>
                        <a:spcBef>
                          <a:spcPts val="0"/>
                        </a:spcBef>
                        <a:spcAft>
                          <a:spcPts val="0"/>
                        </a:spcAft>
                        <a:buClrTx/>
                        <a:buSzTx/>
                        <a:buFontTx/>
                        <a:buNone/>
                        <a:tabLst/>
                      </a:pPr>
                      <a:r>
                        <a:rPr lang="en-ID" sz="1000" b="0" i="0" u="none" strike="noStrike" cap="none" spc="0" baseline="0">
                          <a:solidFill>
                            <a:srgbClr val="000000"/>
                          </a:solidFill>
                          <a:effectLst/>
                          <a:uFillTx/>
                          <a:latin typeface="+mj-lt"/>
                          <a:ea typeface="+mn-ea"/>
                          <a:cs typeface="+mn-cs"/>
                          <a:sym typeface="IBM Plex Sans"/>
                        </a:rPr>
                        <a:t>The organization uses K2 as a business process management platform, supporting workflow automation and process optimization efforts.</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endParaRPr lang="en-US" sz="1000" b="0" i="0" u="none" strike="noStrike">
                        <a:solidFill>
                          <a:srgbClr val="000000"/>
                        </a:solidFill>
                        <a:effectLst/>
                        <a:latin typeface="+mj-lt"/>
                        <a:ea typeface="+mn-ea"/>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60220"/>
                  </a:ext>
                </a:extLst>
              </a:tr>
              <a:tr h="1102656">
                <a:tc>
                  <a:txBody>
                    <a:bodyPr/>
                    <a:lstStyle/>
                    <a:p>
                      <a:pPr algn="l" fontAlgn="b"/>
                      <a:r>
                        <a:rPr lang="en-ID" sz="1000" b="0" i="0" u="none" strike="noStrike" cap="none" spc="0" baseline="0">
                          <a:solidFill>
                            <a:schemeClr val="bg1"/>
                          </a:solidFill>
                          <a:effectLst/>
                          <a:uFillTx/>
                          <a:latin typeface="+mj-lt"/>
                          <a:ea typeface="+mn-ea"/>
                          <a:cs typeface="+mn-cs"/>
                          <a:sym typeface="IBM Plex Sans"/>
                        </a:rPr>
                        <a:t>Document Management</a:t>
                      </a:r>
                    </a:p>
                  </a:txBody>
                  <a:tcPr marL="89988" marR="4762" marT="4762" marB="2285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indent="0" algn="l" defTabSz="1829287" rtl="0" eaLnBrk="1" fontAlgn="t" latinLnBrk="0" hangingPunct="1">
                        <a:lnSpc>
                          <a:spcPct val="100000"/>
                        </a:lnSpc>
                        <a:spcBef>
                          <a:spcPts val="0"/>
                        </a:spcBef>
                        <a:spcAft>
                          <a:spcPts val="0"/>
                        </a:spcAft>
                        <a:buClrTx/>
                        <a:buSzTx/>
                        <a:buFontTx/>
                        <a:buNone/>
                        <a:tabLst/>
                      </a:pPr>
                      <a:r>
                        <a:rPr lang="en-ID" sz="1000" b="0" i="0" u="none" strike="noStrike" cap="none" spc="0" baseline="0">
                          <a:solidFill>
                            <a:srgbClr val="000000"/>
                          </a:solidFill>
                          <a:effectLst/>
                          <a:uFillTx/>
                          <a:latin typeface="+mj-lt"/>
                          <a:ea typeface="+mn-ea"/>
                          <a:cs typeface="+mn-cs"/>
                          <a:sym typeface="IBM Plex Sans"/>
                        </a:rPr>
                        <a:t>A document management system is not currently implemented within the organization.</a:t>
                      </a:r>
                    </a:p>
                  </a:txBody>
                  <a:tcPr marL="89988" marR="4762" marT="4762" marB="2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ctr"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a:ln>
                            <a:noFill/>
                          </a:ln>
                          <a:solidFill>
                            <a:srgbClr val="000000"/>
                          </a:solidFill>
                          <a:effectLst/>
                          <a:uLnTx/>
                          <a:uFillTx/>
                          <a:latin typeface="+mn-lt"/>
                          <a:ea typeface="+mn-ea"/>
                          <a:cs typeface="+mn-cs"/>
                          <a:sym typeface="IBM Plex Sans"/>
                        </a:rPr>
                        <a:t>Well implemented following best practice utilizing important features of the solution and covering majority of critical system.</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620" rtl="0" fontAlgn="ctr" latinLnBrk="0">
                        <a:lnSpc>
                          <a:spcPct val="100000"/>
                        </a:lnSpc>
                        <a:spcBef>
                          <a:spcPts val="0"/>
                        </a:spcBef>
                        <a:spcAft>
                          <a:spcPts val="600"/>
                        </a:spcAft>
                        <a:buClrTx/>
                        <a:buSzTx/>
                        <a:buFontTx/>
                        <a:buNone/>
                        <a:tabLst/>
                      </a:pPr>
                      <a:endParaRPr lang="en-US" sz="1000" b="0" i="0" u="none" strike="noStrike" cap="none" spc="0" baseline="0">
                        <a:solidFill>
                          <a:srgbClr val="000000"/>
                        </a:solidFill>
                        <a:effectLst/>
                        <a:uFillTx/>
                        <a:latin typeface="+mj-lt"/>
                        <a:ea typeface="+mn-ea"/>
                        <a:cs typeface="+mn-cs"/>
                        <a:sym typeface="IBM Plex Sans"/>
                      </a:endParaRP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Aft>
                          <a:spcPts val="600"/>
                        </a:spcAft>
                      </a:pPr>
                      <a:r>
                        <a:rPr lang="en-US" sz="1000" b="0" i="0" u="none" strike="noStrike">
                          <a:solidFill>
                            <a:srgbClr val="000000"/>
                          </a:solidFill>
                          <a:effectLst/>
                          <a:latin typeface="+mj-lt"/>
                          <a:ea typeface="+mn-ea"/>
                        </a:rPr>
                        <a:t>The organization needs to implement a robust document management system to efficiently store, organize, secure, and track both physical and digital documents, improving accessibility and compliance.</a:t>
                      </a:r>
                    </a:p>
                  </a:txBody>
                  <a:tcPr marL="89988" marR="89988" marT="17998" marB="17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9781588"/>
                  </a:ext>
                </a:extLst>
              </a:tr>
            </a:tbl>
          </a:graphicData>
        </a:graphic>
      </p:graphicFrame>
      <p:sp>
        <p:nvSpPr>
          <p:cNvPr id="19" name="Footer Placeholder 3">
            <a:extLst>
              <a:ext uri="{FF2B5EF4-FFF2-40B4-BE49-F238E27FC236}">
                <a16:creationId xmlns:a16="http://schemas.microsoft.com/office/drawing/2014/main" id="{02D70F22-226F-74FF-715C-47BF157C0BE2}"/>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CD1CEE2D-4892-8B9F-235D-701A16A00360}"/>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26</a:t>
            </a:fld>
            <a:endParaRPr lang="en-US">
              <a:solidFill>
                <a:srgbClr val="000000"/>
              </a:solidFill>
            </a:endParaRPr>
          </a:p>
        </p:txBody>
      </p:sp>
      <p:grpSp>
        <p:nvGrpSpPr>
          <p:cNvPr id="2" name="Group 1">
            <a:extLst>
              <a:ext uri="{FF2B5EF4-FFF2-40B4-BE49-F238E27FC236}">
                <a16:creationId xmlns:a16="http://schemas.microsoft.com/office/drawing/2014/main" id="{F583EE62-7D55-ADDA-AE83-C633EC3AC1FE}"/>
              </a:ext>
            </a:extLst>
          </p:cNvPr>
          <p:cNvGrpSpPr/>
          <p:nvPr/>
        </p:nvGrpSpPr>
        <p:grpSpPr>
          <a:xfrm>
            <a:off x="7711263" y="267997"/>
            <a:ext cx="4170294" cy="783142"/>
            <a:chOff x="15576932" y="535171"/>
            <a:chExt cx="8341675" cy="1566487"/>
          </a:xfrm>
        </p:grpSpPr>
        <p:sp>
          <p:nvSpPr>
            <p:cNvPr id="3" name="Oval 2">
              <a:extLst>
                <a:ext uri="{FF2B5EF4-FFF2-40B4-BE49-F238E27FC236}">
                  <a16:creationId xmlns:a16="http://schemas.microsoft.com/office/drawing/2014/main" id="{83A9518E-CEAB-C122-61A7-486F726DCDD1}"/>
                </a:ext>
              </a:extLst>
            </p:cNvPr>
            <p:cNvSpPr/>
            <p:nvPr/>
          </p:nvSpPr>
          <p:spPr bwMode="auto">
            <a:xfrm>
              <a:off x="1561503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4" name="Oval 3">
              <a:extLst>
                <a:ext uri="{FF2B5EF4-FFF2-40B4-BE49-F238E27FC236}">
                  <a16:creationId xmlns:a16="http://schemas.microsoft.com/office/drawing/2014/main" id="{45B03382-3111-3AF9-ED4B-7F03FAA34926}"/>
                </a:ext>
              </a:extLst>
            </p:cNvPr>
            <p:cNvSpPr/>
            <p:nvPr/>
          </p:nvSpPr>
          <p:spPr bwMode="auto">
            <a:xfrm>
              <a:off x="168460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8" name="Straight Arrow Connector 7">
              <a:extLst>
                <a:ext uri="{FF2B5EF4-FFF2-40B4-BE49-F238E27FC236}">
                  <a16:creationId xmlns:a16="http://schemas.microsoft.com/office/drawing/2014/main" id="{F0B07CCB-46C2-29E4-4E9D-676C80709D54}"/>
                </a:ext>
              </a:extLst>
            </p:cNvPr>
            <p:cNvCxnSpPr>
              <a:cxnSpLocks/>
              <a:stCxn id="3" idx="6"/>
              <a:endCxn id="4" idx="2"/>
            </p:cNvCxnSpPr>
            <p:nvPr/>
          </p:nvCxnSpPr>
          <p:spPr bwMode="auto">
            <a:xfrm>
              <a:off x="1651038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BCEE9949-1C1A-C28D-C25F-6918979D25D1}"/>
                </a:ext>
              </a:extLst>
            </p:cNvPr>
            <p:cNvSpPr/>
            <p:nvPr/>
          </p:nvSpPr>
          <p:spPr bwMode="auto">
            <a:xfrm>
              <a:off x="1803438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2" name="Oval 11">
              <a:extLst>
                <a:ext uri="{FF2B5EF4-FFF2-40B4-BE49-F238E27FC236}">
                  <a16:creationId xmlns:a16="http://schemas.microsoft.com/office/drawing/2014/main" id="{8325238C-9F9A-4A53-3931-66D249218012}"/>
                </a:ext>
              </a:extLst>
            </p:cNvPr>
            <p:cNvSpPr/>
            <p:nvPr/>
          </p:nvSpPr>
          <p:spPr bwMode="auto">
            <a:xfrm>
              <a:off x="1926539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13" name="Straight Arrow Connector 12">
              <a:extLst>
                <a:ext uri="{FF2B5EF4-FFF2-40B4-BE49-F238E27FC236}">
                  <a16:creationId xmlns:a16="http://schemas.microsoft.com/office/drawing/2014/main" id="{FE8A208C-C370-1698-997F-863C887039DD}"/>
                </a:ext>
              </a:extLst>
            </p:cNvPr>
            <p:cNvCxnSpPr>
              <a:cxnSpLocks/>
              <a:stCxn id="4" idx="6"/>
              <a:endCxn id="11" idx="2"/>
            </p:cNvCxnSpPr>
            <p:nvPr/>
          </p:nvCxnSpPr>
          <p:spPr bwMode="auto">
            <a:xfrm>
              <a:off x="1774139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D6AA4A9B-B9E4-8297-8294-4F4ED6E446A6}"/>
                </a:ext>
              </a:extLst>
            </p:cNvPr>
            <p:cNvCxnSpPr>
              <a:cxnSpLocks/>
              <a:stCxn id="11" idx="6"/>
              <a:endCxn id="12" idx="2"/>
            </p:cNvCxnSpPr>
            <p:nvPr/>
          </p:nvCxnSpPr>
          <p:spPr bwMode="auto">
            <a:xfrm>
              <a:off x="1892973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ADC68898-499B-FA37-2457-0401D057A598}"/>
                </a:ext>
              </a:extLst>
            </p:cNvPr>
            <p:cNvSpPr/>
            <p:nvPr/>
          </p:nvSpPr>
          <p:spPr bwMode="auto">
            <a:xfrm>
              <a:off x="2049640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16" name="Oval 15">
              <a:extLst>
                <a:ext uri="{FF2B5EF4-FFF2-40B4-BE49-F238E27FC236}">
                  <a16:creationId xmlns:a16="http://schemas.microsoft.com/office/drawing/2014/main" id="{9ED9BD2C-9231-7D56-CF46-EF9DA8567C25}"/>
                </a:ext>
              </a:extLst>
            </p:cNvPr>
            <p:cNvSpPr/>
            <p:nvPr/>
          </p:nvSpPr>
          <p:spPr bwMode="auto">
            <a:xfrm>
              <a:off x="21684742" y="535171"/>
              <a:ext cx="895351" cy="895351"/>
            </a:xfrm>
            <a:prstGeom prst="ellipse">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sp>
          <p:nvSpPr>
            <p:cNvPr id="28" name="Oval 27">
              <a:extLst>
                <a:ext uri="{FF2B5EF4-FFF2-40B4-BE49-F238E27FC236}">
                  <a16:creationId xmlns:a16="http://schemas.microsoft.com/office/drawing/2014/main" id="{0D1A72C7-DBE3-5E05-7A93-E7DE51BD0D98}"/>
                </a:ext>
              </a:extLst>
            </p:cNvPr>
            <p:cNvSpPr/>
            <p:nvPr/>
          </p:nvSpPr>
          <p:spPr bwMode="auto">
            <a:xfrm>
              <a:off x="22915752" y="535171"/>
              <a:ext cx="895351" cy="895351"/>
            </a:xfrm>
            <a:prstGeom prst="ellipse">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cxnSp>
          <p:nvCxnSpPr>
            <p:cNvPr id="29" name="Straight Arrow Connector 28">
              <a:extLst>
                <a:ext uri="{FF2B5EF4-FFF2-40B4-BE49-F238E27FC236}">
                  <a16:creationId xmlns:a16="http://schemas.microsoft.com/office/drawing/2014/main" id="{1753B776-BC92-2E8A-5A07-FE2F17B4799E}"/>
                </a:ext>
              </a:extLst>
            </p:cNvPr>
            <p:cNvCxnSpPr>
              <a:cxnSpLocks/>
              <a:stCxn id="15" idx="6"/>
              <a:endCxn id="16" idx="2"/>
            </p:cNvCxnSpPr>
            <p:nvPr/>
          </p:nvCxnSpPr>
          <p:spPr bwMode="auto">
            <a:xfrm>
              <a:off x="21391753" y="982847"/>
              <a:ext cx="29298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438D0E20-3D83-8E2F-265C-FD5F659DEC0F}"/>
                </a:ext>
              </a:extLst>
            </p:cNvPr>
            <p:cNvCxnSpPr>
              <a:cxnSpLocks/>
              <a:stCxn id="16" idx="6"/>
              <a:endCxn id="28" idx="2"/>
            </p:cNvCxnSpPr>
            <p:nvPr/>
          </p:nvCxnSpPr>
          <p:spPr bwMode="auto">
            <a:xfrm>
              <a:off x="2258009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CD53EF5B-C2A3-65F6-B733-693C2AAE11DD}"/>
                </a:ext>
              </a:extLst>
            </p:cNvPr>
            <p:cNvCxnSpPr>
              <a:cxnSpLocks/>
              <a:stCxn id="12" idx="6"/>
              <a:endCxn id="15" idx="2"/>
            </p:cNvCxnSpPr>
            <p:nvPr/>
          </p:nvCxnSpPr>
          <p:spPr bwMode="auto">
            <a:xfrm>
              <a:off x="20160743" y="982847"/>
              <a:ext cx="33565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6" name="Text Placeholder 3">
              <a:extLst>
                <a:ext uri="{FF2B5EF4-FFF2-40B4-BE49-F238E27FC236}">
                  <a16:creationId xmlns:a16="http://schemas.microsoft.com/office/drawing/2014/main" id="{EE7A6691-C4CE-D404-8112-AAAE67BDBC8E}"/>
                </a:ext>
              </a:extLst>
            </p:cNvPr>
            <p:cNvSpPr txBox="1">
              <a:spLocks/>
            </p:cNvSpPr>
            <p:nvPr/>
          </p:nvSpPr>
          <p:spPr>
            <a:xfrm>
              <a:off x="1557693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Practices</a:t>
              </a:r>
            </a:p>
          </p:txBody>
        </p:sp>
        <p:sp>
          <p:nvSpPr>
            <p:cNvPr id="37" name="Text Placeholder 3">
              <a:extLst>
                <a:ext uri="{FF2B5EF4-FFF2-40B4-BE49-F238E27FC236}">
                  <a16:creationId xmlns:a16="http://schemas.microsoft.com/office/drawing/2014/main" id="{066E104E-FB02-9174-C1AA-A50CE240D20A}"/>
                </a:ext>
              </a:extLst>
            </p:cNvPr>
            <p:cNvSpPr txBox="1">
              <a:spLocks/>
            </p:cNvSpPr>
            <p:nvPr/>
          </p:nvSpPr>
          <p:spPr>
            <a:xfrm>
              <a:off x="16792289"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Privacy Impact</a:t>
              </a:r>
            </a:p>
          </p:txBody>
        </p:sp>
        <p:sp>
          <p:nvSpPr>
            <p:cNvPr id="43" name="Text Placeholder 3">
              <a:extLst>
                <a:ext uri="{FF2B5EF4-FFF2-40B4-BE49-F238E27FC236}">
                  <a16:creationId xmlns:a16="http://schemas.microsoft.com/office/drawing/2014/main" id="{E57FA582-006C-9F44-307F-779F705B70C1}"/>
                </a:ext>
              </a:extLst>
            </p:cNvPr>
            <p:cNvSpPr txBox="1">
              <a:spLocks/>
            </p:cNvSpPr>
            <p:nvPr/>
          </p:nvSpPr>
          <p:spPr>
            <a:xfrm>
              <a:off x="1798564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Governance</a:t>
              </a:r>
            </a:p>
          </p:txBody>
        </p:sp>
        <p:sp>
          <p:nvSpPr>
            <p:cNvPr id="45" name="Text Placeholder 3">
              <a:extLst>
                <a:ext uri="{FF2B5EF4-FFF2-40B4-BE49-F238E27FC236}">
                  <a16:creationId xmlns:a16="http://schemas.microsoft.com/office/drawing/2014/main" id="{6FD89949-66F4-BC43-5FCB-2053A2C167D9}"/>
                </a:ext>
              </a:extLst>
            </p:cNvPr>
            <p:cNvSpPr txBox="1">
              <a:spLocks/>
            </p:cNvSpPr>
            <p:nvPr/>
          </p:nvSpPr>
          <p:spPr>
            <a:xfrm>
              <a:off x="19227514"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Data Processing</a:t>
              </a:r>
            </a:p>
          </p:txBody>
        </p:sp>
        <p:sp>
          <p:nvSpPr>
            <p:cNvPr id="46" name="Text Placeholder 3">
              <a:extLst>
                <a:ext uri="{FF2B5EF4-FFF2-40B4-BE49-F238E27FC236}">
                  <a16:creationId xmlns:a16="http://schemas.microsoft.com/office/drawing/2014/main" id="{7A18E7A2-4892-8C2D-C157-CABD286E2931}"/>
                </a:ext>
              </a:extLst>
            </p:cNvPr>
            <p:cNvSpPr txBox="1">
              <a:spLocks/>
            </p:cNvSpPr>
            <p:nvPr/>
          </p:nvSpPr>
          <p:spPr>
            <a:xfrm>
              <a:off x="20442871"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Process &amp; Risk Mgmt.</a:t>
              </a:r>
            </a:p>
          </p:txBody>
        </p:sp>
        <p:sp>
          <p:nvSpPr>
            <p:cNvPr id="48" name="Text Placeholder 3">
              <a:extLst>
                <a:ext uri="{FF2B5EF4-FFF2-40B4-BE49-F238E27FC236}">
                  <a16:creationId xmlns:a16="http://schemas.microsoft.com/office/drawing/2014/main" id="{D42C262A-B96C-563C-DF31-349A5956245E}"/>
                </a:ext>
              </a:extLst>
            </p:cNvPr>
            <p:cNvSpPr txBox="1">
              <a:spLocks/>
            </p:cNvSpPr>
            <p:nvPr/>
          </p:nvSpPr>
          <p:spPr>
            <a:xfrm>
              <a:off x="21636226"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People Readiness</a:t>
              </a:r>
            </a:p>
          </p:txBody>
        </p:sp>
        <p:sp>
          <p:nvSpPr>
            <p:cNvPr id="63" name="Text Placeholder 3">
              <a:extLst>
                <a:ext uri="{FF2B5EF4-FFF2-40B4-BE49-F238E27FC236}">
                  <a16:creationId xmlns:a16="http://schemas.microsoft.com/office/drawing/2014/main" id="{F0BCF708-7E72-D113-9731-09C22118C91E}"/>
                </a:ext>
              </a:extLst>
            </p:cNvPr>
            <p:cNvSpPr txBox="1">
              <a:spLocks/>
            </p:cNvSpPr>
            <p:nvPr/>
          </p:nvSpPr>
          <p:spPr>
            <a:xfrm>
              <a:off x="22915752" y="1584860"/>
              <a:ext cx="1002855" cy="516798"/>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gn="ctr" defTabSz="914507">
                <a:lnSpc>
                  <a:spcPct val="110000"/>
                </a:lnSpc>
              </a:pPr>
              <a:r>
                <a:rPr lang="en-US" sz="700">
                  <a:solidFill>
                    <a:srgbClr val="000000"/>
                  </a:solidFill>
                  <a:latin typeface="IBM Plex Sans Medium" panose="020B0603050203000203" pitchFamily="34" charset="0"/>
                </a:rPr>
                <a:t>Technology</a:t>
              </a:r>
            </a:p>
          </p:txBody>
        </p:sp>
        <p:pic>
          <p:nvPicPr>
            <p:cNvPr id="64" name="Picture 63" descr="Progress, Blue 60 pictogram">
              <a:extLst>
                <a:ext uri="{FF2B5EF4-FFF2-40B4-BE49-F238E27FC236}">
                  <a16:creationId xmlns:a16="http://schemas.microsoft.com/office/drawing/2014/main" id="{FABE36B1-3F0A-9ECA-A0B7-F6532AE2532A}"/>
                </a:ext>
              </a:extLst>
            </p:cNvPr>
            <p:cNvPicPr>
              <a:picLocks noChangeAspect="1"/>
            </p:cNvPicPr>
            <p:nvPr/>
          </p:nvPicPr>
          <p:blipFill>
            <a:blip r:embed="rId2"/>
            <a:srcRect/>
            <a:stretch/>
          </p:blipFill>
          <p:spPr>
            <a:xfrm>
              <a:off x="15792707" y="712846"/>
              <a:ext cx="540000" cy="540000"/>
            </a:xfrm>
            <a:prstGeom prst="rect">
              <a:avLst/>
            </a:prstGeom>
          </p:spPr>
        </p:pic>
        <p:pic>
          <p:nvPicPr>
            <p:cNvPr id="65" name="Picture 64" descr="Strategy play, Blue 60 pictogram">
              <a:extLst>
                <a:ext uri="{FF2B5EF4-FFF2-40B4-BE49-F238E27FC236}">
                  <a16:creationId xmlns:a16="http://schemas.microsoft.com/office/drawing/2014/main" id="{76A1ABB2-4935-0FCB-6E32-9B74F4B27941}"/>
                </a:ext>
              </a:extLst>
            </p:cNvPr>
            <p:cNvPicPr>
              <a:picLocks noChangeAspect="1"/>
            </p:cNvPicPr>
            <p:nvPr/>
          </p:nvPicPr>
          <p:blipFill>
            <a:blip r:embed="rId3"/>
            <a:srcRect/>
            <a:stretch/>
          </p:blipFill>
          <p:spPr>
            <a:xfrm>
              <a:off x="20674077" y="712847"/>
              <a:ext cx="540000" cy="540000"/>
            </a:xfrm>
            <a:prstGeom prst="rect">
              <a:avLst/>
            </a:prstGeom>
          </p:spPr>
        </p:pic>
        <p:pic>
          <p:nvPicPr>
            <p:cNvPr id="66" name="Picture 65" descr="Inspect data, Blue 60 pictogram">
              <a:extLst>
                <a:ext uri="{FF2B5EF4-FFF2-40B4-BE49-F238E27FC236}">
                  <a16:creationId xmlns:a16="http://schemas.microsoft.com/office/drawing/2014/main" id="{667985D5-4A94-DB00-6C3C-98649A9F89F9}"/>
                </a:ext>
              </a:extLst>
            </p:cNvPr>
            <p:cNvPicPr>
              <a:picLocks noChangeAspect="1"/>
            </p:cNvPicPr>
            <p:nvPr/>
          </p:nvPicPr>
          <p:blipFill>
            <a:blip r:embed="rId4"/>
            <a:srcRect/>
            <a:stretch/>
          </p:blipFill>
          <p:spPr>
            <a:xfrm>
              <a:off x="19452914" y="712847"/>
              <a:ext cx="540000" cy="540000"/>
            </a:xfrm>
            <a:prstGeom prst="rect">
              <a:avLst/>
            </a:prstGeom>
          </p:spPr>
        </p:pic>
        <p:pic>
          <p:nvPicPr>
            <p:cNvPr id="67" name="Picture 66" descr="Deliver insights, Blue 60 pictogram">
              <a:extLst>
                <a:ext uri="{FF2B5EF4-FFF2-40B4-BE49-F238E27FC236}">
                  <a16:creationId xmlns:a16="http://schemas.microsoft.com/office/drawing/2014/main" id="{C217FD29-8C27-EBDF-169A-5B53643CBE4C}"/>
                </a:ext>
              </a:extLst>
            </p:cNvPr>
            <p:cNvPicPr>
              <a:picLocks noChangeAspect="1"/>
            </p:cNvPicPr>
            <p:nvPr/>
          </p:nvPicPr>
          <p:blipFill>
            <a:blip r:embed="rId5"/>
            <a:srcRect/>
            <a:stretch/>
          </p:blipFill>
          <p:spPr>
            <a:xfrm>
              <a:off x="18212059" y="712847"/>
              <a:ext cx="540000" cy="540000"/>
            </a:xfrm>
            <a:prstGeom prst="rect">
              <a:avLst/>
            </a:prstGeom>
          </p:spPr>
        </p:pic>
        <p:pic>
          <p:nvPicPr>
            <p:cNvPr id="68" name="Picture 67" descr="Identity trust assessment, Blue 60 pictogram">
              <a:extLst>
                <a:ext uri="{FF2B5EF4-FFF2-40B4-BE49-F238E27FC236}">
                  <a16:creationId xmlns:a16="http://schemas.microsoft.com/office/drawing/2014/main" id="{6A78533F-3F3F-C041-CAAA-C23D9389C873}"/>
                </a:ext>
              </a:extLst>
            </p:cNvPr>
            <p:cNvPicPr>
              <a:picLocks noChangeAspect="1"/>
            </p:cNvPicPr>
            <p:nvPr/>
          </p:nvPicPr>
          <p:blipFill>
            <a:blip r:embed="rId6"/>
            <a:srcRect/>
            <a:stretch/>
          </p:blipFill>
          <p:spPr>
            <a:xfrm>
              <a:off x="21872264" y="712847"/>
              <a:ext cx="540000" cy="540000"/>
            </a:xfrm>
            <a:prstGeom prst="rect">
              <a:avLst/>
            </a:prstGeom>
          </p:spPr>
        </p:pic>
        <p:pic>
          <p:nvPicPr>
            <p:cNvPr id="69" name="Picture 68" descr="Security as a service, Blue 60 pictogram">
              <a:extLst>
                <a:ext uri="{FF2B5EF4-FFF2-40B4-BE49-F238E27FC236}">
                  <a16:creationId xmlns:a16="http://schemas.microsoft.com/office/drawing/2014/main" id="{40941532-05E5-22EA-AFE5-8701DA9E9ABB}"/>
                </a:ext>
              </a:extLst>
            </p:cNvPr>
            <p:cNvPicPr>
              <a:picLocks noChangeAspect="1"/>
            </p:cNvPicPr>
            <p:nvPr/>
          </p:nvPicPr>
          <p:blipFill>
            <a:blip r:embed="rId7">
              <a:biLevel thresh="25000"/>
            </a:blip>
            <a:srcRect/>
            <a:stretch/>
          </p:blipFill>
          <p:spPr>
            <a:xfrm>
              <a:off x="23093427" y="712847"/>
              <a:ext cx="540000" cy="540000"/>
            </a:xfrm>
            <a:prstGeom prst="rect">
              <a:avLst/>
            </a:prstGeom>
          </p:spPr>
        </p:pic>
        <p:pic>
          <p:nvPicPr>
            <p:cNvPr id="70" name="Picture 69" descr="Vision, Blue 60 pictogram">
              <a:extLst>
                <a:ext uri="{FF2B5EF4-FFF2-40B4-BE49-F238E27FC236}">
                  <a16:creationId xmlns:a16="http://schemas.microsoft.com/office/drawing/2014/main" id="{6DCD4A32-F550-E53E-5335-3D4201629790}"/>
                </a:ext>
              </a:extLst>
            </p:cNvPr>
            <p:cNvPicPr>
              <a:picLocks noChangeAspect="1"/>
            </p:cNvPicPr>
            <p:nvPr/>
          </p:nvPicPr>
          <p:blipFill>
            <a:blip r:embed="rId8"/>
            <a:srcRect/>
            <a:stretch/>
          </p:blipFill>
          <p:spPr>
            <a:xfrm>
              <a:off x="17023717" y="712847"/>
              <a:ext cx="540000" cy="540000"/>
            </a:xfrm>
            <a:prstGeom prst="rect">
              <a:avLst/>
            </a:prstGeom>
          </p:spPr>
        </p:pic>
      </p:grpSp>
      <p:sp>
        <p:nvSpPr>
          <p:cNvPr id="24" name="&quot;R&quot; teal rectangle">
            <a:extLst>
              <a:ext uri="{FF2B5EF4-FFF2-40B4-BE49-F238E27FC236}">
                <a16:creationId xmlns:a16="http://schemas.microsoft.com/office/drawing/2014/main" id="{ED843198-B2F2-47A9-E3B3-77878EF9FFDD}"/>
              </a:ext>
              <a:ext uri="{C183D7F6-B498-43B3-948B-1728B52AA6E4}">
                <adec:decorative xmlns:adec="http://schemas.microsoft.com/office/drawing/2017/decorative" val="1"/>
              </a:ext>
            </a:extLst>
          </p:cNvPr>
          <p:cNvSpPr>
            <a:spLocks noChangeAspect="1" noChangeArrowheads="1"/>
          </p:cNvSpPr>
          <p:nvPr/>
        </p:nvSpPr>
        <p:spPr bwMode="auto">
          <a:xfrm>
            <a:off x="9347314" y="4304882"/>
            <a:ext cx="378004" cy="375671"/>
          </a:xfrm>
          <a:prstGeom prst="rect">
            <a:avLst/>
          </a:prstGeom>
          <a:solidFill>
            <a:srgbClr val="A7F0BA"/>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FC</a:t>
            </a:r>
            <a:endParaRPr lang="en-GB" altLang="en-US" sz="1200" kern="0">
              <a:solidFill>
                <a:srgbClr val="000000"/>
              </a:solidFill>
              <a:latin typeface="IBM Plex Sans Light" panose="020B0403050203000203" pitchFamily="34" charset="0"/>
              <a:ea typeface="MS PGothic" charset="-128"/>
            </a:endParaRPr>
          </a:p>
        </p:txBody>
      </p:sp>
      <p:sp>
        <p:nvSpPr>
          <p:cNvPr id="32" name="&quot;C&quot; gray rectangle">
            <a:extLst>
              <a:ext uri="{FF2B5EF4-FFF2-40B4-BE49-F238E27FC236}">
                <a16:creationId xmlns:a16="http://schemas.microsoft.com/office/drawing/2014/main" id="{D0B42F42-C0F6-1D25-F60F-E0A0D289FDE6}"/>
              </a:ext>
              <a:ext uri="{C183D7F6-B498-43B3-948B-1728B52AA6E4}">
                <adec:decorative xmlns:adec="http://schemas.microsoft.com/office/drawing/2017/decorative" val="1"/>
              </a:ext>
            </a:extLst>
          </p:cNvPr>
          <p:cNvSpPr>
            <a:spLocks noChangeAspect="1" noChangeArrowheads="1"/>
          </p:cNvSpPr>
          <p:nvPr/>
        </p:nvSpPr>
        <p:spPr bwMode="auto">
          <a:xfrm>
            <a:off x="9334286" y="1929909"/>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35" name="&quot;C&quot; gray rectangle">
            <a:extLst>
              <a:ext uri="{FF2B5EF4-FFF2-40B4-BE49-F238E27FC236}">
                <a16:creationId xmlns:a16="http://schemas.microsoft.com/office/drawing/2014/main" id="{C6F47DAF-C405-0DB3-062F-7C8B038453BD}"/>
              </a:ext>
              <a:ext uri="{C183D7F6-B498-43B3-948B-1728B52AA6E4}">
                <adec:decorative xmlns:adec="http://schemas.microsoft.com/office/drawing/2017/decorative" val="1"/>
              </a:ext>
            </a:extLst>
          </p:cNvPr>
          <p:cNvSpPr>
            <a:spLocks noChangeAspect="1" noChangeArrowheads="1"/>
          </p:cNvSpPr>
          <p:nvPr/>
        </p:nvSpPr>
        <p:spPr bwMode="auto">
          <a:xfrm>
            <a:off x="9334286" y="2708761"/>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38" name="&quot;C&quot; gray rectangle">
            <a:extLst>
              <a:ext uri="{FF2B5EF4-FFF2-40B4-BE49-F238E27FC236}">
                <a16:creationId xmlns:a16="http://schemas.microsoft.com/office/drawing/2014/main" id="{7D8F36CC-0C81-C541-4B0E-D8A7A24F5BBE}"/>
              </a:ext>
              <a:ext uri="{C183D7F6-B498-43B3-948B-1728B52AA6E4}">
                <adec:decorative xmlns:adec="http://schemas.microsoft.com/office/drawing/2017/decorative" val="1"/>
              </a:ext>
            </a:extLst>
          </p:cNvPr>
          <p:cNvSpPr>
            <a:spLocks noChangeAspect="1" noChangeArrowheads="1"/>
          </p:cNvSpPr>
          <p:nvPr/>
        </p:nvSpPr>
        <p:spPr bwMode="auto">
          <a:xfrm>
            <a:off x="9335654" y="3498073"/>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
        <p:nvSpPr>
          <p:cNvPr id="39" name="&quot;C&quot; gray rectangle">
            <a:extLst>
              <a:ext uri="{FF2B5EF4-FFF2-40B4-BE49-F238E27FC236}">
                <a16:creationId xmlns:a16="http://schemas.microsoft.com/office/drawing/2014/main" id="{79661BF7-478C-E616-6702-A8F87816B01E}"/>
              </a:ext>
              <a:ext uri="{C183D7F6-B498-43B3-948B-1728B52AA6E4}">
                <adec:decorative xmlns:adec="http://schemas.microsoft.com/office/drawing/2017/decorative" val="1"/>
              </a:ext>
            </a:extLst>
          </p:cNvPr>
          <p:cNvSpPr>
            <a:spLocks noChangeAspect="1" noChangeArrowheads="1"/>
          </p:cNvSpPr>
          <p:nvPr/>
        </p:nvSpPr>
        <p:spPr bwMode="auto">
          <a:xfrm>
            <a:off x="9347313" y="5239887"/>
            <a:ext cx="378004" cy="375671"/>
          </a:xfrm>
          <a:prstGeom prst="rect">
            <a:avLst/>
          </a:prstGeom>
          <a:solidFill>
            <a:srgbClr val="FFB3B8"/>
          </a:solidFill>
          <a:ln w="12700">
            <a:solidFill>
              <a:schemeClr val="tx1"/>
            </a:solidFill>
            <a:miter lim="800000"/>
            <a:headEnd/>
            <a:tailEnd/>
          </a:ln>
        </p:spPr>
        <p:txBody>
          <a:bodyPr wrap="none" lIns="64000" tIns="64000" rIns="64000" bIns="64000"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239">
              <a:spcBef>
                <a:spcPct val="50000"/>
              </a:spcBef>
              <a:defRPr/>
            </a:pPr>
            <a:r>
              <a:rPr lang="en-US" altLang="en-US" sz="1200" kern="0">
                <a:solidFill>
                  <a:srgbClr val="000000"/>
                </a:solidFill>
                <a:latin typeface="IBM Plex Sans Light" panose="020B0403050203000203" pitchFamily="34" charset="0"/>
                <a:ea typeface="MS PGothic" charset="-128"/>
              </a:rPr>
              <a:t>NC</a:t>
            </a:r>
            <a:endParaRPr lang="en-GB" altLang="en-US" sz="1200" kern="0">
              <a:solidFill>
                <a:srgbClr val="000000"/>
              </a:solidFill>
              <a:latin typeface="IBM Plex Sans Light" panose="020B0403050203000203" pitchFamily="34" charset="0"/>
              <a:ea typeface="MS PGothic" charset="-128"/>
            </a:endParaRPr>
          </a:p>
        </p:txBody>
      </p:sp>
    </p:spTree>
    <p:extLst>
      <p:ext uri="{BB962C8B-B14F-4D97-AF65-F5344CB8AC3E}">
        <p14:creationId xmlns:p14="http://schemas.microsoft.com/office/powerpoint/2010/main" val="1442050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B6AD87D7-BF7D-76C2-8E7A-BAEA09106652}"/>
              </a:ext>
            </a:extLst>
          </p:cNvPr>
          <p:cNvSpPr/>
          <p:nvPr/>
        </p:nvSpPr>
        <p:spPr bwMode="auto">
          <a:xfrm>
            <a:off x="1780944" y="851141"/>
            <a:ext cx="10062169" cy="5489299"/>
          </a:xfrm>
          <a:prstGeom prst="rect">
            <a:avLst/>
          </a:prstGeom>
          <a:solidFill>
            <a:srgbClr val="0F62FE">
              <a:lumMod val="50000"/>
            </a:srgbClr>
          </a:solidFill>
          <a:ln w="9525" cap="flat" cmpd="sng" algn="ctr">
            <a:noFill/>
            <a:prstDash val="solid"/>
            <a:miter lim="800000"/>
            <a:headEnd type="none" w="med" len="med"/>
            <a:tailEnd type="none" w="med" len="med"/>
          </a:ln>
          <a:effectLst>
            <a:reflection blurRad="6350" stA="12884" endPos="15367" dir="5400000" sy="-100000" algn="bl" rotWithShape="0"/>
          </a:effectLst>
        </p:spPr>
        <p:txBody>
          <a:bodyPr vert="horz" wrap="square" lIns="47994" tIns="97523" rIns="47994" bIns="47994" numCol="1" rtlCol="0" anchor="t" anchorCtr="0" compatLnSpc="1">
            <a:prstTxWarp prst="textNoShape">
              <a:avLst/>
            </a:prstTxWarp>
          </a:bodyPr>
          <a:lstStyle/>
          <a:p>
            <a:pPr algn="ctr" defTabSz="914427">
              <a:defRPr/>
            </a:pPr>
            <a:r>
              <a:rPr lang="en-US" sz="1400" kern="0">
                <a:solidFill>
                  <a:srgbClr val="FFFFFF"/>
                </a:solidFill>
                <a:latin typeface="IBM Plex Sans ExtraLight" panose="020B0303050000000000" pitchFamily="34" charset="77"/>
                <a:ea typeface="ＭＳ Ｐゴシック"/>
              </a:rPr>
              <a:t>Data Privacy Platform</a:t>
            </a:r>
          </a:p>
        </p:txBody>
      </p:sp>
      <p:sp>
        <p:nvSpPr>
          <p:cNvPr id="10" name="Rounded Rectangle 131">
            <a:extLst>
              <a:ext uri="{FF2B5EF4-FFF2-40B4-BE49-F238E27FC236}">
                <a16:creationId xmlns:a16="http://schemas.microsoft.com/office/drawing/2014/main" id="{07D2725A-8FEF-C864-AD58-9533FDCB93FC}"/>
              </a:ext>
            </a:extLst>
          </p:cNvPr>
          <p:cNvSpPr/>
          <p:nvPr/>
        </p:nvSpPr>
        <p:spPr bwMode="auto">
          <a:xfrm>
            <a:off x="1932240" y="1354770"/>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Governance Risk &amp; Compliance</a:t>
            </a:r>
          </a:p>
        </p:txBody>
      </p:sp>
      <p:sp>
        <p:nvSpPr>
          <p:cNvPr id="11" name="Rounded Rectangle 132">
            <a:extLst>
              <a:ext uri="{FF2B5EF4-FFF2-40B4-BE49-F238E27FC236}">
                <a16:creationId xmlns:a16="http://schemas.microsoft.com/office/drawing/2014/main" id="{CD68BFF9-7376-E914-EF0F-389F1C575E0C}"/>
              </a:ext>
            </a:extLst>
          </p:cNvPr>
          <p:cNvSpPr/>
          <p:nvPr/>
        </p:nvSpPr>
        <p:spPr bwMode="auto">
          <a:xfrm>
            <a:off x="5216674" y="1354770"/>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Business Process Management</a:t>
            </a:r>
          </a:p>
        </p:txBody>
      </p:sp>
      <p:sp>
        <p:nvSpPr>
          <p:cNvPr id="12" name="Rounded Rectangle 133">
            <a:extLst>
              <a:ext uri="{FF2B5EF4-FFF2-40B4-BE49-F238E27FC236}">
                <a16:creationId xmlns:a16="http://schemas.microsoft.com/office/drawing/2014/main" id="{503090BB-41F6-CDB7-D8F1-ADD19373F2AF}"/>
              </a:ext>
            </a:extLst>
          </p:cNvPr>
          <p:cNvSpPr/>
          <p:nvPr/>
        </p:nvSpPr>
        <p:spPr bwMode="auto">
          <a:xfrm>
            <a:off x="8501108" y="1354770"/>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Data Governance</a:t>
            </a:r>
          </a:p>
        </p:txBody>
      </p:sp>
      <p:cxnSp>
        <p:nvCxnSpPr>
          <p:cNvPr id="28" name="Straight Arrow Connector 27">
            <a:extLst>
              <a:ext uri="{FF2B5EF4-FFF2-40B4-BE49-F238E27FC236}">
                <a16:creationId xmlns:a16="http://schemas.microsoft.com/office/drawing/2014/main" id="{7B185605-BE32-12BC-D1D0-D0E9797B737D}"/>
              </a:ext>
            </a:extLst>
          </p:cNvPr>
          <p:cNvCxnSpPr>
            <a:cxnSpLocks/>
          </p:cNvCxnSpPr>
          <p:nvPr/>
        </p:nvCxnSpPr>
        <p:spPr bwMode="auto">
          <a:xfrm>
            <a:off x="1932240" y="2657575"/>
            <a:ext cx="970407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9D5F005E-30B1-FE95-E47D-6CE14D314C91}"/>
              </a:ext>
            </a:extLst>
          </p:cNvPr>
          <p:cNvSpPr>
            <a:spLocks noGrp="1"/>
          </p:cNvSpPr>
          <p:nvPr>
            <p:ph type="title"/>
          </p:nvPr>
        </p:nvSpPr>
        <p:spPr>
          <a:xfrm>
            <a:off x="211808" y="288445"/>
            <a:ext cx="10654802" cy="762695"/>
          </a:xfrm>
        </p:spPr>
        <p:txBody>
          <a:bodyPr/>
          <a:lstStyle/>
          <a:p>
            <a:r>
              <a:rPr lang="en-US" sz="2699" dirty="0"/>
              <a:t>PDP Law compliance mapping to Company A Technology</a:t>
            </a:r>
          </a:p>
        </p:txBody>
      </p:sp>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27</a:t>
            </a:fld>
            <a:endParaRPr lang="en-US">
              <a:solidFill>
                <a:srgbClr val="000000"/>
              </a:solidFill>
            </a:endParaRPr>
          </a:p>
        </p:txBody>
      </p:sp>
      <p:sp>
        <p:nvSpPr>
          <p:cNvPr id="49" name="Rounded Rectangle 131">
            <a:extLst>
              <a:ext uri="{FF2B5EF4-FFF2-40B4-BE49-F238E27FC236}">
                <a16:creationId xmlns:a16="http://schemas.microsoft.com/office/drawing/2014/main" id="{BB83B6C5-47DA-B0CF-7173-A240FB457071}"/>
              </a:ext>
            </a:extLst>
          </p:cNvPr>
          <p:cNvSpPr/>
          <p:nvPr/>
        </p:nvSpPr>
        <p:spPr bwMode="auto">
          <a:xfrm>
            <a:off x="1932240" y="1991794"/>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Data Discovery &amp; Classification</a:t>
            </a:r>
          </a:p>
        </p:txBody>
      </p:sp>
      <p:sp>
        <p:nvSpPr>
          <p:cNvPr id="50" name="Rounded Rectangle 132">
            <a:extLst>
              <a:ext uri="{FF2B5EF4-FFF2-40B4-BE49-F238E27FC236}">
                <a16:creationId xmlns:a16="http://schemas.microsoft.com/office/drawing/2014/main" id="{67C1758F-D31D-0BBA-5A08-0C13B9C291EC}"/>
              </a:ext>
            </a:extLst>
          </p:cNvPr>
          <p:cNvSpPr/>
          <p:nvPr/>
        </p:nvSpPr>
        <p:spPr bwMode="auto">
          <a:xfrm>
            <a:off x="5216674" y="1991794"/>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Master Data Management</a:t>
            </a:r>
          </a:p>
        </p:txBody>
      </p:sp>
      <p:sp>
        <p:nvSpPr>
          <p:cNvPr id="51" name="Rounded Rectangle 133">
            <a:extLst>
              <a:ext uri="{FF2B5EF4-FFF2-40B4-BE49-F238E27FC236}">
                <a16:creationId xmlns:a16="http://schemas.microsoft.com/office/drawing/2014/main" id="{A2FDE906-F25D-7B87-389F-F3C8BF7AC023}"/>
              </a:ext>
            </a:extLst>
          </p:cNvPr>
          <p:cNvSpPr/>
          <p:nvPr/>
        </p:nvSpPr>
        <p:spPr bwMode="auto">
          <a:xfrm>
            <a:off x="8501108" y="1991794"/>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     Business Intelligence</a:t>
            </a:r>
          </a:p>
        </p:txBody>
      </p:sp>
      <p:sp>
        <p:nvSpPr>
          <p:cNvPr id="52" name="Rounded Rectangle 131">
            <a:extLst>
              <a:ext uri="{FF2B5EF4-FFF2-40B4-BE49-F238E27FC236}">
                <a16:creationId xmlns:a16="http://schemas.microsoft.com/office/drawing/2014/main" id="{E7EC1888-2928-4323-57A0-550F781BC6FD}"/>
              </a:ext>
            </a:extLst>
          </p:cNvPr>
          <p:cNvSpPr/>
          <p:nvPr/>
        </p:nvSpPr>
        <p:spPr bwMode="auto">
          <a:xfrm>
            <a:off x="1932615" y="2791790"/>
            <a:ext cx="4772112"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Consent Management</a:t>
            </a:r>
          </a:p>
        </p:txBody>
      </p:sp>
      <p:sp>
        <p:nvSpPr>
          <p:cNvPr id="53" name="Rounded Rectangle 131">
            <a:extLst>
              <a:ext uri="{FF2B5EF4-FFF2-40B4-BE49-F238E27FC236}">
                <a16:creationId xmlns:a16="http://schemas.microsoft.com/office/drawing/2014/main" id="{E220A96C-60B5-95E4-10CC-9C2E53D5DC0B}"/>
              </a:ext>
            </a:extLst>
          </p:cNvPr>
          <p:cNvSpPr/>
          <p:nvPr/>
        </p:nvSpPr>
        <p:spPr bwMode="auto">
          <a:xfrm>
            <a:off x="6864201" y="2791790"/>
            <a:ext cx="4772112"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T&amp;C Management</a:t>
            </a:r>
          </a:p>
        </p:txBody>
      </p:sp>
      <p:cxnSp>
        <p:nvCxnSpPr>
          <p:cNvPr id="54" name="Straight Arrow Connector 53">
            <a:extLst>
              <a:ext uri="{FF2B5EF4-FFF2-40B4-BE49-F238E27FC236}">
                <a16:creationId xmlns:a16="http://schemas.microsoft.com/office/drawing/2014/main" id="{77171CD8-FD93-7E7E-D25A-5E6CFE7352D8}"/>
              </a:ext>
            </a:extLst>
          </p:cNvPr>
          <p:cNvCxnSpPr>
            <a:cxnSpLocks/>
          </p:cNvCxnSpPr>
          <p:nvPr/>
        </p:nvCxnSpPr>
        <p:spPr bwMode="auto">
          <a:xfrm>
            <a:off x="1932615" y="3457571"/>
            <a:ext cx="970407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60" name="Group 59">
            <a:extLst>
              <a:ext uri="{FF2B5EF4-FFF2-40B4-BE49-F238E27FC236}">
                <a16:creationId xmlns:a16="http://schemas.microsoft.com/office/drawing/2014/main" id="{AD8B8F63-9235-F685-4E8B-F90B579D65F1}"/>
              </a:ext>
            </a:extLst>
          </p:cNvPr>
          <p:cNvGrpSpPr/>
          <p:nvPr/>
        </p:nvGrpSpPr>
        <p:grpSpPr>
          <a:xfrm>
            <a:off x="1932239" y="3601309"/>
            <a:ext cx="9704449" cy="539930"/>
            <a:chOff x="3864981" y="7297914"/>
            <a:chExt cx="20652373" cy="1080000"/>
          </a:xfrm>
        </p:grpSpPr>
        <p:sp>
          <p:nvSpPr>
            <p:cNvPr id="55" name="Rounded Rectangle 131">
              <a:extLst>
                <a:ext uri="{FF2B5EF4-FFF2-40B4-BE49-F238E27FC236}">
                  <a16:creationId xmlns:a16="http://schemas.microsoft.com/office/drawing/2014/main" id="{83348804-633E-183D-C777-792C4F166091}"/>
                </a:ext>
              </a:extLst>
            </p:cNvPr>
            <p:cNvSpPr/>
            <p:nvPr/>
          </p:nvSpPr>
          <p:spPr bwMode="auto">
            <a:xfrm>
              <a:off x="3864981" y="7297914"/>
              <a:ext cx="3888369" cy="108000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SIEM / SOAR</a:t>
              </a:r>
            </a:p>
          </p:txBody>
        </p:sp>
        <p:sp>
          <p:nvSpPr>
            <p:cNvPr id="56" name="Rounded Rectangle 131">
              <a:extLst>
                <a:ext uri="{FF2B5EF4-FFF2-40B4-BE49-F238E27FC236}">
                  <a16:creationId xmlns:a16="http://schemas.microsoft.com/office/drawing/2014/main" id="{74892C54-C1EB-4873-996A-FEA2EA4E454B}"/>
                </a:ext>
              </a:extLst>
            </p:cNvPr>
            <p:cNvSpPr/>
            <p:nvPr/>
          </p:nvSpPr>
          <p:spPr bwMode="auto">
            <a:xfrm>
              <a:off x="8055981" y="7297914"/>
              <a:ext cx="3888370" cy="108000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Access Control and Authorization</a:t>
              </a:r>
            </a:p>
          </p:txBody>
        </p:sp>
        <p:sp>
          <p:nvSpPr>
            <p:cNvPr id="57" name="Rounded Rectangle 131">
              <a:extLst>
                <a:ext uri="{FF2B5EF4-FFF2-40B4-BE49-F238E27FC236}">
                  <a16:creationId xmlns:a16="http://schemas.microsoft.com/office/drawing/2014/main" id="{9A1ABC58-81CE-9E87-AA71-C963FFDDDC65}"/>
                </a:ext>
              </a:extLst>
            </p:cNvPr>
            <p:cNvSpPr/>
            <p:nvPr/>
          </p:nvSpPr>
          <p:spPr bwMode="auto">
            <a:xfrm>
              <a:off x="12246982" y="7297914"/>
              <a:ext cx="3888370" cy="108000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Data Protection</a:t>
              </a:r>
            </a:p>
          </p:txBody>
        </p:sp>
        <p:sp>
          <p:nvSpPr>
            <p:cNvPr id="58" name="Rounded Rectangle 131">
              <a:extLst>
                <a:ext uri="{FF2B5EF4-FFF2-40B4-BE49-F238E27FC236}">
                  <a16:creationId xmlns:a16="http://schemas.microsoft.com/office/drawing/2014/main" id="{D898057D-4F9E-7D87-A99B-8CA2568F95DA}"/>
                </a:ext>
              </a:extLst>
            </p:cNvPr>
            <p:cNvSpPr/>
            <p:nvPr/>
          </p:nvSpPr>
          <p:spPr bwMode="auto">
            <a:xfrm>
              <a:off x="16437983" y="7297914"/>
              <a:ext cx="3888370" cy="108000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Data Masking</a:t>
              </a:r>
            </a:p>
          </p:txBody>
        </p:sp>
        <p:sp>
          <p:nvSpPr>
            <p:cNvPr id="59" name="Rounded Rectangle 131">
              <a:extLst>
                <a:ext uri="{FF2B5EF4-FFF2-40B4-BE49-F238E27FC236}">
                  <a16:creationId xmlns:a16="http://schemas.microsoft.com/office/drawing/2014/main" id="{9DFE2C51-04FB-B538-799D-425D0B868F7F}"/>
                </a:ext>
              </a:extLst>
            </p:cNvPr>
            <p:cNvSpPr/>
            <p:nvPr/>
          </p:nvSpPr>
          <p:spPr bwMode="auto">
            <a:xfrm>
              <a:off x="20628984" y="7297914"/>
              <a:ext cx="3888370" cy="108000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Document Management</a:t>
              </a:r>
            </a:p>
          </p:txBody>
        </p:sp>
      </p:grpSp>
      <p:grpSp>
        <p:nvGrpSpPr>
          <p:cNvPr id="89" name="Group 88">
            <a:extLst>
              <a:ext uri="{FF2B5EF4-FFF2-40B4-BE49-F238E27FC236}">
                <a16:creationId xmlns:a16="http://schemas.microsoft.com/office/drawing/2014/main" id="{56680856-FE67-B2F1-DF46-AA8DDAC4D393}"/>
              </a:ext>
            </a:extLst>
          </p:cNvPr>
          <p:cNvGrpSpPr/>
          <p:nvPr/>
        </p:nvGrpSpPr>
        <p:grpSpPr>
          <a:xfrm>
            <a:off x="1932239" y="4426094"/>
            <a:ext cx="9704073" cy="941729"/>
            <a:chOff x="3864981" y="8947698"/>
            <a:chExt cx="13866315" cy="1883704"/>
          </a:xfrm>
        </p:grpSpPr>
        <p:sp>
          <p:nvSpPr>
            <p:cNvPr id="68" name="Rectangle 67">
              <a:extLst>
                <a:ext uri="{FF2B5EF4-FFF2-40B4-BE49-F238E27FC236}">
                  <a16:creationId xmlns:a16="http://schemas.microsoft.com/office/drawing/2014/main" id="{B0CDBFB5-3B12-01E0-C293-D5858BC3FABB}"/>
                </a:ext>
              </a:extLst>
            </p:cNvPr>
            <p:cNvSpPr/>
            <p:nvPr/>
          </p:nvSpPr>
          <p:spPr bwMode="auto">
            <a:xfrm>
              <a:off x="3864982" y="8947698"/>
              <a:ext cx="13861706" cy="1883704"/>
            </a:xfrm>
            <a:prstGeom prst="rect">
              <a:avLst/>
            </a:prstGeom>
            <a:gradFill>
              <a:gsLst>
                <a:gs pos="99000">
                  <a:srgbClr val="0F62FE"/>
                </a:gs>
                <a:gs pos="0">
                  <a:srgbClr val="0F62FE">
                    <a:alpha val="0"/>
                  </a:srgbClr>
                </a:gs>
              </a:gsLst>
              <a:lin ang="16200000" scaled="1"/>
            </a:gradFill>
            <a:ln w="19050" cap="flat" cmpd="sng" algn="ctr">
              <a:noFill/>
              <a:prstDash val="solid"/>
              <a:miter lim="800000"/>
              <a:headEnd type="none" w="med" len="med"/>
              <a:tailEnd type="none" w="med" len="med"/>
            </a:ln>
            <a:effectLst/>
          </p:spPr>
          <p:txBody>
            <a:bodyPr vert="horz" wrap="square" lIns="47994" tIns="47994" rIns="47994" bIns="47994" numCol="1" rtlCol="0" anchor="ctr" anchorCtr="0" compatLnSpc="1">
              <a:prstTxWarp prst="textNoShape">
                <a:avLst/>
              </a:prstTxWarp>
            </a:bodyPr>
            <a:lstStyle/>
            <a:p>
              <a:pPr algn="ctr" defTabSz="1218971" fontAlgn="base">
                <a:spcBef>
                  <a:spcPct val="0"/>
                </a:spcBef>
                <a:spcAft>
                  <a:spcPct val="0"/>
                </a:spcAft>
                <a:defRPr/>
              </a:pPr>
              <a:endParaRPr lang="en-US" sz="1333" kern="0">
                <a:solidFill>
                  <a:srgbClr val="FFFFFF"/>
                </a:solidFill>
                <a:latin typeface="IBM Plex Sans Light"/>
                <a:ea typeface="ＭＳ Ｐゴシック" pitchFamily="34" charset="-128"/>
              </a:endParaRPr>
            </a:p>
          </p:txBody>
        </p:sp>
        <p:sp>
          <p:nvSpPr>
            <p:cNvPr id="69" name="Title 15">
              <a:extLst>
                <a:ext uri="{FF2B5EF4-FFF2-40B4-BE49-F238E27FC236}">
                  <a16:creationId xmlns:a16="http://schemas.microsoft.com/office/drawing/2014/main" id="{C0CDD64E-A0E1-6B27-0D0D-807654DA9AF7}"/>
                </a:ext>
              </a:extLst>
            </p:cNvPr>
            <p:cNvSpPr txBox="1">
              <a:spLocks/>
            </p:cNvSpPr>
            <p:nvPr/>
          </p:nvSpPr>
          <p:spPr>
            <a:xfrm>
              <a:off x="4782399" y="9620289"/>
              <a:ext cx="1827055" cy="874086"/>
            </a:xfrm>
            <a:prstGeom prst="rect">
              <a:avLst/>
            </a:prstGeom>
            <a:noFill/>
            <a:ln w="6350" cap="flat" cmpd="sng" algn="ctr">
              <a:no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bodyPr>
            <a:lstStyle>
              <a:defPPr>
                <a:defRPr lang="en-US"/>
              </a:defPPr>
              <a:lvl1pPr marR="0" lvl="0" indent="0" defTabSz="914400" fontAlgn="base">
                <a:lnSpc>
                  <a:spcPct val="100000"/>
                </a:lnSpc>
                <a:spcBef>
                  <a:spcPct val="0"/>
                </a:spcBef>
                <a:spcAft>
                  <a:spcPct val="0"/>
                </a:spcAft>
                <a:buClrTx/>
                <a:buSzTx/>
                <a:buFontTx/>
                <a:buNone/>
                <a:tabLst/>
                <a:defRPr sz="1000">
                  <a:solidFill>
                    <a:srgbClr val="FFFFFF"/>
                  </a:solidFill>
                  <a:latin typeface="IBM Plex Sans Medium" panose="020B0503050203000203" pitchFamily="34" charset="0"/>
                  <a:ea typeface="ＭＳ Ｐゴシック" pitchFamily="34" charset="-128"/>
                </a:defRPr>
              </a:lvl1pPr>
              <a:lvl2pPr marL="342991" defTabSz="685983">
                <a:defRPr sz="1350">
                  <a:solidFill>
                    <a:schemeClr val="dk1"/>
                  </a:solidFill>
                </a:defRPr>
              </a:lvl2pPr>
              <a:lvl3pPr marL="685983" defTabSz="685983">
                <a:defRPr sz="1350">
                  <a:solidFill>
                    <a:schemeClr val="dk1"/>
                  </a:solidFill>
                </a:defRPr>
              </a:lvl3pPr>
              <a:lvl4pPr marL="1028974" defTabSz="685983">
                <a:defRPr sz="1350">
                  <a:solidFill>
                    <a:schemeClr val="dk1"/>
                  </a:solidFill>
                </a:defRPr>
              </a:lvl4pPr>
              <a:lvl5pPr marL="1371966" defTabSz="685983">
                <a:defRPr sz="1350">
                  <a:solidFill>
                    <a:schemeClr val="dk1"/>
                  </a:solidFill>
                </a:defRPr>
              </a:lvl5pPr>
              <a:lvl6pPr marL="1714957" defTabSz="685983">
                <a:defRPr sz="1350">
                  <a:solidFill>
                    <a:schemeClr val="dk1"/>
                  </a:solidFill>
                </a:defRPr>
              </a:lvl6pPr>
              <a:lvl7pPr marL="2057949" defTabSz="685983">
                <a:defRPr sz="1350">
                  <a:solidFill>
                    <a:schemeClr val="dk1"/>
                  </a:solidFill>
                </a:defRPr>
              </a:lvl7pPr>
              <a:lvl8pPr marL="2400940" defTabSz="685983">
                <a:defRPr sz="1350">
                  <a:solidFill>
                    <a:schemeClr val="dk1"/>
                  </a:solidFill>
                </a:defRPr>
              </a:lvl8pPr>
              <a:lvl9pPr marL="2743932" defTabSz="685983">
                <a:defRPr sz="1350">
                  <a:solidFill>
                    <a:schemeClr val="dk1"/>
                  </a:solidFill>
                </a:defRPr>
              </a:lvl9pPr>
            </a:lstStyle>
            <a:p>
              <a:pPr algn="ctr" defTabSz="1218971">
                <a:defRPr/>
              </a:pPr>
              <a:r>
                <a:rPr lang="en-US" sz="1066" kern="0">
                  <a:latin typeface="IBM Plex Sans Light" panose="020B0403050203000203" pitchFamily="34" charset="0"/>
                  <a:sym typeface="Helvetica"/>
                </a:rPr>
                <a:t>Endpoint</a:t>
              </a:r>
            </a:p>
          </p:txBody>
        </p:sp>
        <p:sp>
          <p:nvSpPr>
            <p:cNvPr id="70" name="Title 15">
              <a:extLst>
                <a:ext uri="{FF2B5EF4-FFF2-40B4-BE49-F238E27FC236}">
                  <a16:creationId xmlns:a16="http://schemas.microsoft.com/office/drawing/2014/main" id="{41357AB8-E897-631B-A5F8-3FF270AA6FDC}"/>
                </a:ext>
              </a:extLst>
            </p:cNvPr>
            <p:cNvSpPr txBox="1">
              <a:spLocks/>
            </p:cNvSpPr>
            <p:nvPr/>
          </p:nvSpPr>
          <p:spPr>
            <a:xfrm>
              <a:off x="9862197" y="9620289"/>
              <a:ext cx="1747768" cy="874086"/>
            </a:xfrm>
            <a:prstGeom prst="rect">
              <a:avLst/>
            </a:prstGeom>
            <a:noFill/>
            <a:ln w="6350" cap="flat" cmpd="sng" algn="ctr">
              <a:no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bodyPr>
            <a:lstStyle>
              <a:defPPr>
                <a:defRPr lang="en-US"/>
              </a:defPPr>
              <a:lvl1pPr marR="0" lvl="0" indent="0" algn="ctr" defTabSz="914400" fontAlgn="base">
                <a:lnSpc>
                  <a:spcPct val="100000"/>
                </a:lnSpc>
                <a:spcBef>
                  <a:spcPct val="0"/>
                </a:spcBef>
                <a:spcAft>
                  <a:spcPct val="0"/>
                </a:spcAft>
                <a:buClrTx/>
                <a:buSzTx/>
                <a:buFontTx/>
                <a:buNone/>
                <a:tabLst/>
                <a:defRPr sz="900">
                  <a:solidFill>
                    <a:srgbClr val="FFFFFF"/>
                  </a:solidFill>
                  <a:latin typeface="IBM Plex Sans Light" panose="020B0403050203000203" pitchFamily="34" charset="0"/>
                  <a:ea typeface="ＭＳ Ｐゴシック" pitchFamily="34" charset="-128"/>
                </a:defRPr>
              </a:lvl1pPr>
              <a:lvl2pPr marL="342991" defTabSz="685983">
                <a:defRPr sz="1350">
                  <a:solidFill>
                    <a:schemeClr val="dk1"/>
                  </a:solidFill>
                </a:defRPr>
              </a:lvl2pPr>
              <a:lvl3pPr marL="685983" defTabSz="685983">
                <a:defRPr sz="1350">
                  <a:solidFill>
                    <a:schemeClr val="dk1"/>
                  </a:solidFill>
                </a:defRPr>
              </a:lvl3pPr>
              <a:lvl4pPr marL="1028974" defTabSz="685983">
                <a:defRPr sz="1350">
                  <a:solidFill>
                    <a:schemeClr val="dk1"/>
                  </a:solidFill>
                </a:defRPr>
              </a:lvl4pPr>
              <a:lvl5pPr marL="1371966" defTabSz="685983">
                <a:defRPr sz="1350">
                  <a:solidFill>
                    <a:schemeClr val="dk1"/>
                  </a:solidFill>
                </a:defRPr>
              </a:lvl5pPr>
              <a:lvl6pPr marL="1714957" defTabSz="685983">
                <a:defRPr sz="1350">
                  <a:solidFill>
                    <a:schemeClr val="dk1"/>
                  </a:solidFill>
                </a:defRPr>
              </a:lvl6pPr>
              <a:lvl7pPr marL="2057949" defTabSz="685983">
                <a:defRPr sz="1350">
                  <a:solidFill>
                    <a:schemeClr val="dk1"/>
                  </a:solidFill>
                </a:defRPr>
              </a:lvl7pPr>
              <a:lvl8pPr marL="2400940" defTabSz="685983">
                <a:defRPr sz="1350">
                  <a:solidFill>
                    <a:schemeClr val="dk1"/>
                  </a:solidFill>
                </a:defRPr>
              </a:lvl8pPr>
              <a:lvl9pPr marL="2743932" defTabSz="685983">
                <a:defRPr sz="1350">
                  <a:solidFill>
                    <a:schemeClr val="dk1"/>
                  </a:solidFill>
                </a:defRPr>
              </a:lvl9pPr>
            </a:lstStyle>
            <a:p>
              <a:pPr defTabSz="1218971">
                <a:defRPr/>
              </a:pPr>
              <a:r>
                <a:rPr lang="en-US" sz="1066" kern="0">
                  <a:sym typeface="Helvetica"/>
                </a:rPr>
                <a:t>Database</a:t>
              </a:r>
            </a:p>
          </p:txBody>
        </p:sp>
        <p:sp>
          <p:nvSpPr>
            <p:cNvPr id="71" name="Title 15">
              <a:extLst>
                <a:ext uri="{FF2B5EF4-FFF2-40B4-BE49-F238E27FC236}">
                  <a16:creationId xmlns:a16="http://schemas.microsoft.com/office/drawing/2014/main" id="{CE926473-5C47-EE0B-4B62-A9151B443D6E}"/>
                </a:ext>
              </a:extLst>
            </p:cNvPr>
            <p:cNvSpPr txBox="1">
              <a:spLocks/>
            </p:cNvSpPr>
            <p:nvPr/>
          </p:nvSpPr>
          <p:spPr>
            <a:xfrm>
              <a:off x="7397800" y="9620289"/>
              <a:ext cx="1676051" cy="874086"/>
            </a:xfrm>
            <a:prstGeom prst="rect">
              <a:avLst/>
            </a:prstGeom>
            <a:noFill/>
            <a:ln w="6350" cap="flat" cmpd="sng" algn="ctr">
              <a:no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bodyPr>
            <a:lstStyle>
              <a:defPPr>
                <a:defRPr lang="en-US"/>
              </a:defPPr>
              <a:lvl1pPr marR="0" lvl="0" indent="0" algn="ctr" defTabSz="914400" fontAlgn="base">
                <a:lnSpc>
                  <a:spcPct val="100000"/>
                </a:lnSpc>
                <a:spcBef>
                  <a:spcPct val="0"/>
                </a:spcBef>
                <a:spcAft>
                  <a:spcPct val="0"/>
                </a:spcAft>
                <a:buClrTx/>
                <a:buSzTx/>
                <a:buFontTx/>
                <a:buNone/>
                <a:tabLst/>
                <a:defRPr sz="900">
                  <a:solidFill>
                    <a:srgbClr val="FFFFFF"/>
                  </a:solidFill>
                  <a:latin typeface="IBM Plex Sans Light" panose="020B0403050203000203" pitchFamily="34" charset="0"/>
                  <a:ea typeface="ＭＳ Ｐゴシック" pitchFamily="34" charset="-128"/>
                </a:defRPr>
              </a:lvl1pPr>
              <a:lvl2pPr marL="342991" defTabSz="685983">
                <a:defRPr sz="1350">
                  <a:solidFill>
                    <a:schemeClr val="dk1"/>
                  </a:solidFill>
                </a:defRPr>
              </a:lvl2pPr>
              <a:lvl3pPr marL="685983" defTabSz="685983">
                <a:defRPr sz="1350">
                  <a:solidFill>
                    <a:schemeClr val="dk1"/>
                  </a:solidFill>
                </a:defRPr>
              </a:lvl3pPr>
              <a:lvl4pPr marL="1028974" defTabSz="685983">
                <a:defRPr sz="1350">
                  <a:solidFill>
                    <a:schemeClr val="dk1"/>
                  </a:solidFill>
                </a:defRPr>
              </a:lvl4pPr>
              <a:lvl5pPr marL="1371966" defTabSz="685983">
                <a:defRPr sz="1350">
                  <a:solidFill>
                    <a:schemeClr val="dk1"/>
                  </a:solidFill>
                </a:defRPr>
              </a:lvl5pPr>
              <a:lvl6pPr marL="1714957" defTabSz="685983">
                <a:defRPr sz="1350">
                  <a:solidFill>
                    <a:schemeClr val="dk1"/>
                  </a:solidFill>
                </a:defRPr>
              </a:lvl6pPr>
              <a:lvl7pPr marL="2057949" defTabSz="685983">
                <a:defRPr sz="1350">
                  <a:solidFill>
                    <a:schemeClr val="dk1"/>
                  </a:solidFill>
                </a:defRPr>
              </a:lvl7pPr>
              <a:lvl8pPr marL="2400940" defTabSz="685983">
                <a:defRPr sz="1350">
                  <a:solidFill>
                    <a:schemeClr val="dk1"/>
                  </a:solidFill>
                </a:defRPr>
              </a:lvl8pPr>
              <a:lvl9pPr marL="2743932" defTabSz="685983">
                <a:defRPr sz="1350">
                  <a:solidFill>
                    <a:schemeClr val="dk1"/>
                  </a:solidFill>
                </a:defRPr>
              </a:lvl9pPr>
            </a:lstStyle>
            <a:p>
              <a:pPr defTabSz="1218971">
                <a:defRPr/>
              </a:pPr>
              <a:r>
                <a:rPr lang="en-US" sz="1066" kern="0">
                  <a:sym typeface="Helvetica"/>
                </a:rPr>
                <a:t>Application</a:t>
              </a:r>
            </a:p>
          </p:txBody>
        </p:sp>
        <p:sp>
          <p:nvSpPr>
            <p:cNvPr id="76" name="Title 15">
              <a:extLst>
                <a:ext uri="{FF2B5EF4-FFF2-40B4-BE49-F238E27FC236}">
                  <a16:creationId xmlns:a16="http://schemas.microsoft.com/office/drawing/2014/main" id="{026C5AD6-D7A8-0452-8FA8-034E52459533}"/>
                </a:ext>
              </a:extLst>
            </p:cNvPr>
            <p:cNvSpPr txBox="1">
              <a:spLocks/>
            </p:cNvSpPr>
            <p:nvPr/>
          </p:nvSpPr>
          <p:spPr>
            <a:xfrm>
              <a:off x="12130177" y="9620289"/>
              <a:ext cx="2602089" cy="874086"/>
            </a:xfrm>
            <a:prstGeom prst="rect">
              <a:avLst/>
            </a:prstGeom>
            <a:noFill/>
            <a:ln w="6350" cap="flat" cmpd="sng" algn="ctr">
              <a:no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bodyPr>
            <a:lstStyle>
              <a:defPPr>
                <a:defRPr lang="en-US"/>
              </a:defPPr>
              <a:lvl1pPr marR="0" lvl="0" indent="0" algn="ctr" defTabSz="914400" fontAlgn="base">
                <a:lnSpc>
                  <a:spcPct val="100000"/>
                </a:lnSpc>
                <a:spcBef>
                  <a:spcPct val="0"/>
                </a:spcBef>
                <a:spcAft>
                  <a:spcPct val="0"/>
                </a:spcAft>
                <a:buClrTx/>
                <a:buSzTx/>
                <a:buFontTx/>
                <a:buNone/>
                <a:tabLst/>
                <a:defRPr sz="900">
                  <a:solidFill>
                    <a:srgbClr val="FFFFFF"/>
                  </a:solidFill>
                  <a:latin typeface="IBM Plex Sans Light" panose="020B0403050203000203" pitchFamily="34" charset="0"/>
                  <a:ea typeface="ＭＳ Ｐゴシック" pitchFamily="34" charset="-128"/>
                </a:defRPr>
              </a:lvl1pPr>
              <a:lvl2pPr marL="342991" defTabSz="685983">
                <a:defRPr sz="1350">
                  <a:solidFill>
                    <a:schemeClr val="dk1"/>
                  </a:solidFill>
                </a:defRPr>
              </a:lvl2pPr>
              <a:lvl3pPr marL="685983" defTabSz="685983">
                <a:defRPr sz="1350">
                  <a:solidFill>
                    <a:schemeClr val="dk1"/>
                  </a:solidFill>
                </a:defRPr>
              </a:lvl3pPr>
              <a:lvl4pPr marL="1028974" defTabSz="685983">
                <a:defRPr sz="1350">
                  <a:solidFill>
                    <a:schemeClr val="dk1"/>
                  </a:solidFill>
                </a:defRPr>
              </a:lvl4pPr>
              <a:lvl5pPr marL="1371966" defTabSz="685983">
                <a:defRPr sz="1350">
                  <a:solidFill>
                    <a:schemeClr val="dk1"/>
                  </a:solidFill>
                </a:defRPr>
              </a:lvl5pPr>
              <a:lvl6pPr marL="1714957" defTabSz="685983">
                <a:defRPr sz="1350">
                  <a:solidFill>
                    <a:schemeClr val="dk1"/>
                  </a:solidFill>
                </a:defRPr>
              </a:lvl6pPr>
              <a:lvl7pPr marL="2057949" defTabSz="685983">
                <a:defRPr sz="1350">
                  <a:solidFill>
                    <a:schemeClr val="dk1"/>
                  </a:solidFill>
                </a:defRPr>
              </a:lvl7pPr>
              <a:lvl8pPr marL="2400940" defTabSz="685983">
                <a:defRPr sz="1350">
                  <a:solidFill>
                    <a:schemeClr val="dk1"/>
                  </a:solidFill>
                </a:defRPr>
              </a:lvl8pPr>
              <a:lvl9pPr marL="2743932" defTabSz="685983">
                <a:defRPr sz="1350">
                  <a:solidFill>
                    <a:schemeClr val="dk1"/>
                  </a:solidFill>
                </a:defRPr>
              </a:lvl9pPr>
            </a:lstStyle>
            <a:p>
              <a:pPr defTabSz="1218971">
                <a:defRPr/>
              </a:pPr>
              <a:r>
                <a:rPr lang="en-US" sz="1066" kern="0">
                  <a:sym typeface="Helvetica"/>
                </a:rPr>
                <a:t>Server</a:t>
              </a:r>
            </a:p>
          </p:txBody>
        </p:sp>
        <p:sp>
          <p:nvSpPr>
            <p:cNvPr id="78" name="Title 15">
              <a:extLst>
                <a:ext uri="{FF2B5EF4-FFF2-40B4-BE49-F238E27FC236}">
                  <a16:creationId xmlns:a16="http://schemas.microsoft.com/office/drawing/2014/main" id="{45BA6399-3EF1-234B-F835-635CD0739902}"/>
                </a:ext>
              </a:extLst>
            </p:cNvPr>
            <p:cNvSpPr txBox="1">
              <a:spLocks/>
            </p:cNvSpPr>
            <p:nvPr/>
          </p:nvSpPr>
          <p:spPr>
            <a:xfrm>
              <a:off x="15252475" y="9620289"/>
              <a:ext cx="1541571" cy="874086"/>
            </a:xfrm>
            <a:prstGeom prst="rect">
              <a:avLst/>
            </a:prstGeom>
            <a:noFill/>
            <a:ln w="6350" cap="flat" cmpd="sng" algn="ctr">
              <a:no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bodyPr>
            <a:lstStyle>
              <a:defPPr>
                <a:defRPr lang="en-US"/>
              </a:defPPr>
              <a:lvl1pPr marR="0" lvl="0" indent="0" algn="ctr" defTabSz="914400" fontAlgn="base">
                <a:lnSpc>
                  <a:spcPct val="100000"/>
                </a:lnSpc>
                <a:spcBef>
                  <a:spcPct val="0"/>
                </a:spcBef>
                <a:spcAft>
                  <a:spcPct val="0"/>
                </a:spcAft>
                <a:buClrTx/>
                <a:buSzTx/>
                <a:buFontTx/>
                <a:buNone/>
                <a:tabLst/>
                <a:defRPr sz="900">
                  <a:solidFill>
                    <a:srgbClr val="FFFFFF"/>
                  </a:solidFill>
                  <a:latin typeface="IBM Plex Sans Light" panose="020B0403050203000203" pitchFamily="34" charset="0"/>
                  <a:ea typeface="ＭＳ Ｐゴシック" pitchFamily="34" charset="-128"/>
                </a:defRPr>
              </a:lvl1pPr>
              <a:lvl2pPr marL="342991" defTabSz="685983">
                <a:defRPr sz="1350">
                  <a:solidFill>
                    <a:schemeClr val="dk1"/>
                  </a:solidFill>
                </a:defRPr>
              </a:lvl2pPr>
              <a:lvl3pPr marL="685983" defTabSz="685983">
                <a:defRPr sz="1350">
                  <a:solidFill>
                    <a:schemeClr val="dk1"/>
                  </a:solidFill>
                </a:defRPr>
              </a:lvl3pPr>
              <a:lvl4pPr marL="1028974" defTabSz="685983">
                <a:defRPr sz="1350">
                  <a:solidFill>
                    <a:schemeClr val="dk1"/>
                  </a:solidFill>
                </a:defRPr>
              </a:lvl4pPr>
              <a:lvl5pPr marL="1371966" defTabSz="685983">
                <a:defRPr sz="1350">
                  <a:solidFill>
                    <a:schemeClr val="dk1"/>
                  </a:solidFill>
                </a:defRPr>
              </a:lvl5pPr>
              <a:lvl6pPr marL="1714957" defTabSz="685983">
                <a:defRPr sz="1350">
                  <a:solidFill>
                    <a:schemeClr val="dk1"/>
                  </a:solidFill>
                </a:defRPr>
              </a:lvl6pPr>
              <a:lvl7pPr marL="2057949" defTabSz="685983">
                <a:defRPr sz="1350">
                  <a:solidFill>
                    <a:schemeClr val="dk1"/>
                  </a:solidFill>
                </a:defRPr>
              </a:lvl7pPr>
              <a:lvl8pPr marL="2400940" defTabSz="685983">
                <a:defRPr sz="1350">
                  <a:solidFill>
                    <a:schemeClr val="dk1"/>
                  </a:solidFill>
                </a:defRPr>
              </a:lvl8pPr>
              <a:lvl9pPr marL="2743932" defTabSz="685983">
                <a:defRPr sz="1350">
                  <a:solidFill>
                    <a:schemeClr val="dk1"/>
                  </a:solidFill>
                </a:defRPr>
              </a:lvl9pPr>
            </a:lstStyle>
            <a:p>
              <a:pPr defTabSz="1218971">
                <a:defRPr/>
              </a:pPr>
              <a:r>
                <a:rPr lang="en-US" sz="1066" kern="0">
                  <a:sym typeface="Helvetica"/>
                </a:rPr>
                <a:t>Network</a:t>
              </a:r>
            </a:p>
          </p:txBody>
        </p:sp>
        <p:sp>
          <p:nvSpPr>
            <p:cNvPr id="80" name="TextBox 79">
              <a:extLst>
                <a:ext uri="{FF2B5EF4-FFF2-40B4-BE49-F238E27FC236}">
                  <a16:creationId xmlns:a16="http://schemas.microsoft.com/office/drawing/2014/main" id="{BA0D1866-011F-B709-64AD-F883A2BCC508}"/>
                </a:ext>
              </a:extLst>
            </p:cNvPr>
            <p:cNvSpPr txBox="1"/>
            <p:nvPr/>
          </p:nvSpPr>
          <p:spPr>
            <a:xfrm>
              <a:off x="3864981" y="9064705"/>
              <a:ext cx="13866315" cy="615634"/>
            </a:xfrm>
            <a:prstGeom prst="rect">
              <a:avLst/>
            </a:prstGeom>
            <a:noFill/>
          </p:spPr>
          <p:txBody>
            <a:bodyPr wrap="square">
              <a:spAutoFit/>
            </a:bodyPr>
            <a:lstStyle/>
            <a:p>
              <a:pPr algn="ctr" defTabSz="914471" hangingPunct="0">
                <a:defRPr/>
              </a:pPr>
              <a:r>
                <a:rPr lang="en-US" sz="1400" kern="0">
                  <a:solidFill>
                    <a:srgbClr val="FFFFFF"/>
                  </a:solidFill>
                  <a:latin typeface="IBM Plex Sans Light"/>
                  <a:sym typeface="Helvetica"/>
                </a:rPr>
                <a:t>Enterprise Systems</a:t>
              </a:r>
            </a:p>
          </p:txBody>
        </p:sp>
        <p:cxnSp>
          <p:nvCxnSpPr>
            <p:cNvPr id="81" name="Straight Connector 80">
              <a:extLst>
                <a:ext uri="{FF2B5EF4-FFF2-40B4-BE49-F238E27FC236}">
                  <a16:creationId xmlns:a16="http://schemas.microsoft.com/office/drawing/2014/main" id="{B10B2958-3745-930A-595F-1C843313947C}"/>
                </a:ext>
              </a:extLst>
            </p:cNvPr>
            <p:cNvCxnSpPr>
              <a:cxnSpLocks/>
            </p:cNvCxnSpPr>
            <p:nvPr/>
          </p:nvCxnSpPr>
          <p:spPr bwMode="auto">
            <a:xfrm>
              <a:off x="4078485" y="9287286"/>
              <a:ext cx="4717207" cy="0"/>
            </a:xfrm>
            <a:prstGeom prst="line">
              <a:avLst/>
            </a:prstGeom>
            <a:noFill/>
            <a:ln w="12700" cap="flat" cmpd="sng" algn="ctr">
              <a:gradFill flip="none" rotWithShape="1">
                <a:gsLst>
                  <a:gs pos="0">
                    <a:srgbClr val="FFFFFF"/>
                  </a:gs>
                  <a:gs pos="92000">
                    <a:srgbClr val="FFFFFF">
                      <a:alpha val="0"/>
                    </a:srgbClr>
                  </a:gs>
                </a:gsLst>
                <a:lin ang="10800000" scaled="1"/>
                <a:tileRect/>
              </a:gradFill>
              <a:prstDash val="solid"/>
              <a:headEnd type="none" w="med" len="med"/>
              <a:tailEnd type="none" w="med" len="med"/>
            </a:ln>
            <a:effectLst/>
          </p:spPr>
        </p:cxnSp>
        <p:cxnSp>
          <p:nvCxnSpPr>
            <p:cNvPr id="82" name="Straight Connector 81">
              <a:extLst>
                <a:ext uri="{FF2B5EF4-FFF2-40B4-BE49-F238E27FC236}">
                  <a16:creationId xmlns:a16="http://schemas.microsoft.com/office/drawing/2014/main" id="{B36C9912-1B00-44EB-3B2B-487C50992542}"/>
                </a:ext>
              </a:extLst>
            </p:cNvPr>
            <p:cNvCxnSpPr>
              <a:cxnSpLocks/>
            </p:cNvCxnSpPr>
            <p:nvPr/>
          </p:nvCxnSpPr>
          <p:spPr bwMode="auto">
            <a:xfrm flipH="1">
              <a:off x="12761283" y="9287286"/>
              <a:ext cx="4717207" cy="0"/>
            </a:xfrm>
            <a:prstGeom prst="line">
              <a:avLst/>
            </a:prstGeom>
            <a:noFill/>
            <a:ln w="12700" cap="flat" cmpd="sng" algn="ctr">
              <a:gradFill flip="none" rotWithShape="1">
                <a:gsLst>
                  <a:gs pos="0">
                    <a:srgbClr val="FFFFFF"/>
                  </a:gs>
                  <a:gs pos="92000">
                    <a:srgbClr val="FFFFFF">
                      <a:alpha val="0"/>
                    </a:srgbClr>
                  </a:gs>
                </a:gsLst>
                <a:lin ang="10800000" scaled="1"/>
                <a:tileRect/>
              </a:gradFill>
              <a:prstDash val="solid"/>
              <a:headEnd type="none" w="med" len="med"/>
              <a:tailEnd type="none" w="med" len="med"/>
            </a:ln>
            <a:effectLst/>
          </p:spPr>
        </p:cxnSp>
      </p:grpSp>
      <p:cxnSp>
        <p:nvCxnSpPr>
          <p:cNvPr id="99" name="Straight Arrow Connector 98">
            <a:extLst>
              <a:ext uri="{FF2B5EF4-FFF2-40B4-BE49-F238E27FC236}">
                <a16:creationId xmlns:a16="http://schemas.microsoft.com/office/drawing/2014/main" id="{A2F556BD-46C3-9884-8241-464C9A8531BC}"/>
              </a:ext>
            </a:extLst>
          </p:cNvPr>
          <p:cNvCxnSpPr>
            <a:cxnSpLocks/>
          </p:cNvCxnSpPr>
          <p:nvPr/>
        </p:nvCxnSpPr>
        <p:spPr bwMode="auto">
          <a:xfrm>
            <a:off x="1929014" y="4286138"/>
            <a:ext cx="970407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a:extLst>
              <a:ext uri="{FF2B5EF4-FFF2-40B4-BE49-F238E27FC236}">
                <a16:creationId xmlns:a16="http://schemas.microsoft.com/office/drawing/2014/main" id="{1F89889D-9E32-2C9E-4AEB-BB6DB763A6BF}"/>
              </a:ext>
            </a:extLst>
          </p:cNvPr>
          <p:cNvCxnSpPr>
            <a:cxnSpLocks/>
          </p:cNvCxnSpPr>
          <p:nvPr/>
        </p:nvCxnSpPr>
        <p:spPr bwMode="auto">
          <a:xfrm>
            <a:off x="1929014" y="5495656"/>
            <a:ext cx="970407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29" name="Rounded Rectangle 131">
            <a:extLst>
              <a:ext uri="{FF2B5EF4-FFF2-40B4-BE49-F238E27FC236}">
                <a16:creationId xmlns:a16="http://schemas.microsoft.com/office/drawing/2014/main" id="{D634FA3E-FAD5-E533-EBB4-ABAB6606D3B8}"/>
              </a:ext>
            </a:extLst>
          </p:cNvPr>
          <p:cNvSpPr/>
          <p:nvPr/>
        </p:nvSpPr>
        <p:spPr bwMode="auto">
          <a:xfrm>
            <a:off x="1929014" y="5644736"/>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Secure Server</a:t>
            </a:r>
          </a:p>
        </p:txBody>
      </p:sp>
      <p:sp>
        <p:nvSpPr>
          <p:cNvPr id="130" name="Rounded Rectangle 132">
            <a:extLst>
              <a:ext uri="{FF2B5EF4-FFF2-40B4-BE49-F238E27FC236}">
                <a16:creationId xmlns:a16="http://schemas.microsoft.com/office/drawing/2014/main" id="{3C53F036-A31F-F0B3-DDA4-EEFAF1FE9172}"/>
              </a:ext>
            </a:extLst>
          </p:cNvPr>
          <p:cNvSpPr/>
          <p:nvPr/>
        </p:nvSpPr>
        <p:spPr bwMode="auto">
          <a:xfrm>
            <a:off x="5213448" y="5644736"/>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Secure Storage</a:t>
            </a:r>
          </a:p>
        </p:txBody>
      </p:sp>
      <p:sp>
        <p:nvSpPr>
          <p:cNvPr id="131" name="Rounded Rectangle 133">
            <a:extLst>
              <a:ext uri="{FF2B5EF4-FFF2-40B4-BE49-F238E27FC236}">
                <a16:creationId xmlns:a16="http://schemas.microsoft.com/office/drawing/2014/main" id="{C2B880B9-4E2B-4F25-52EB-78A4D2975EDE}"/>
              </a:ext>
            </a:extLst>
          </p:cNvPr>
          <p:cNvSpPr/>
          <p:nvPr/>
        </p:nvSpPr>
        <p:spPr bwMode="auto">
          <a:xfrm>
            <a:off x="8497882" y="5644736"/>
            <a:ext cx="3135205" cy="539930"/>
          </a:xfrm>
          <a:prstGeom prst="rect">
            <a:avLst/>
          </a:prstGeom>
          <a:solidFill>
            <a:srgbClr val="0048B9"/>
          </a:solidFill>
          <a:ln w="38100" cap="rnd"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71" hangingPunct="0">
              <a:defRPr/>
            </a:pPr>
            <a:r>
              <a:rPr lang="en-US" sz="1200" kern="0">
                <a:solidFill>
                  <a:srgbClr val="FFFFFF"/>
                </a:solidFill>
                <a:latin typeface="IBM Plex Sans Light"/>
                <a:sym typeface="Helvetica"/>
              </a:rPr>
              <a:t>Secure Backup</a:t>
            </a:r>
          </a:p>
        </p:txBody>
      </p:sp>
      <p:sp>
        <p:nvSpPr>
          <p:cNvPr id="135" name="TextBox 134">
            <a:extLst>
              <a:ext uri="{FF2B5EF4-FFF2-40B4-BE49-F238E27FC236}">
                <a16:creationId xmlns:a16="http://schemas.microsoft.com/office/drawing/2014/main" id="{8633352C-ACEB-E0A6-198B-EA0537E9BB03}"/>
              </a:ext>
            </a:extLst>
          </p:cNvPr>
          <p:cNvSpPr txBox="1"/>
          <p:nvPr/>
        </p:nvSpPr>
        <p:spPr>
          <a:xfrm>
            <a:off x="211809" y="1604713"/>
            <a:ext cx="1513631" cy="5399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defTabSz="1218956">
              <a:spcBef>
                <a:spcPts val="1450"/>
              </a:spcBef>
              <a:buSzPct val="100000"/>
            </a:pPr>
            <a:r>
              <a:rPr lang="en-US" kern="0">
                <a:solidFill>
                  <a:srgbClr val="000000"/>
                </a:solidFill>
                <a:latin typeface="IBM Plex Sans Light"/>
                <a:sym typeface="IBM Plex Sans Light"/>
              </a:rPr>
              <a:t>Governance Lifecycle</a:t>
            </a:r>
            <a:endParaRPr lang="en-ID" kern="0">
              <a:solidFill>
                <a:srgbClr val="000000"/>
              </a:solidFill>
              <a:latin typeface="IBM Plex Sans Light"/>
              <a:sym typeface="IBM Plex Sans Light"/>
            </a:endParaRPr>
          </a:p>
        </p:txBody>
      </p:sp>
      <p:sp>
        <p:nvSpPr>
          <p:cNvPr id="136" name="TextBox 135">
            <a:extLst>
              <a:ext uri="{FF2B5EF4-FFF2-40B4-BE49-F238E27FC236}">
                <a16:creationId xmlns:a16="http://schemas.microsoft.com/office/drawing/2014/main" id="{965F60E8-FF3E-DC36-DE25-EDA954663434}"/>
              </a:ext>
            </a:extLst>
          </p:cNvPr>
          <p:cNvSpPr txBox="1"/>
          <p:nvPr/>
        </p:nvSpPr>
        <p:spPr>
          <a:xfrm>
            <a:off x="211809" y="2791790"/>
            <a:ext cx="1513631" cy="5399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defTabSz="1218956">
              <a:spcBef>
                <a:spcPts val="1450"/>
              </a:spcBef>
              <a:buSzPct val="100000"/>
            </a:pPr>
            <a:r>
              <a:rPr lang="en-US" kern="0">
                <a:solidFill>
                  <a:srgbClr val="000000"/>
                </a:solidFill>
                <a:latin typeface="IBM Plex Sans Light"/>
                <a:sym typeface="IBM Plex Sans Light"/>
              </a:rPr>
              <a:t>Consent Management</a:t>
            </a:r>
            <a:endParaRPr lang="en-ID" kern="0">
              <a:solidFill>
                <a:srgbClr val="000000"/>
              </a:solidFill>
              <a:latin typeface="IBM Plex Sans Light"/>
              <a:sym typeface="IBM Plex Sans Light"/>
            </a:endParaRPr>
          </a:p>
        </p:txBody>
      </p:sp>
      <p:sp>
        <p:nvSpPr>
          <p:cNvPr id="137" name="TextBox 136">
            <a:extLst>
              <a:ext uri="{FF2B5EF4-FFF2-40B4-BE49-F238E27FC236}">
                <a16:creationId xmlns:a16="http://schemas.microsoft.com/office/drawing/2014/main" id="{66A43669-774D-E63A-EDD2-7646AC8A9130}"/>
              </a:ext>
            </a:extLst>
          </p:cNvPr>
          <p:cNvSpPr txBox="1"/>
          <p:nvPr/>
        </p:nvSpPr>
        <p:spPr>
          <a:xfrm>
            <a:off x="191665" y="3579903"/>
            <a:ext cx="1513631" cy="5399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defTabSz="1218956">
              <a:spcBef>
                <a:spcPts val="1450"/>
              </a:spcBef>
              <a:buSzPct val="100000"/>
            </a:pPr>
            <a:r>
              <a:rPr lang="en-US" kern="0">
                <a:solidFill>
                  <a:srgbClr val="000000"/>
                </a:solidFill>
                <a:latin typeface="IBM Plex Sans Light"/>
                <a:sym typeface="IBM Plex Sans Light"/>
              </a:rPr>
              <a:t>Enterprise Security</a:t>
            </a:r>
            <a:endParaRPr lang="en-ID" kern="0">
              <a:solidFill>
                <a:srgbClr val="000000"/>
              </a:solidFill>
              <a:latin typeface="IBM Plex Sans Light"/>
              <a:sym typeface="IBM Plex Sans Light"/>
            </a:endParaRPr>
          </a:p>
        </p:txBody>
      </p:sp>
      <p:sp>
        <p:nvSpPr>
          <p:cNvPr id="138" name="TextBox 137">
            <a:extLst>
              <a:ext uri="{FF2B5EF4-FFF2-40B4-BE49-F238E27FC236}">
                <a16:creationId xmlns:a16="http://schemas.microsoft.com/office/drawing/2014/main" id="{B5239FB2-F9AA-847C-BAD0-4E316B71815B}"/>
              </a:ext>
            </a:extLst>
          </p:cNvPr>
          <p:cNvSpPr txBox="1"/>
          <p:nvPr/>
        </p:nvSpPr>
        <p:spPr>
          <a:xfrm>
            <a:off x="211809" y="5649858"/>
            <a:ext cx="1513631" cy="5399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defTabSz="1218956">
              <a:spcBef>
                <a:spcPts val="1450"/>
              </a:spcBef>
              <a:buSzPct val="100000"/>
            </a:pPr>
            <a:r>
              <a:rPr lang="en-US" kern="0">
                <a:solidFill>
                  <a:srgbClr val="000000"/>
                </a:solidFill>
                <a:latin typeface="IBM Plex Sans Light"/>
                <a:sym typeface="IBM Plex Sans Light"/>
              </a:rPr>
              <a:t>Secure Infrastructure</a:t>
            </a:r>
            <a:endParaRPr lang="en-ID" kern="0">
              <a:solidFill>
                <a:srgbClr val="000000"/>
              </a:solidFill>
              <a:latin typeface="IBM Plex Sans Light"/>
              <a:sym typeface="IBM Plex Sans Light"/>
            </a:endParaRPr>
          </a:p>
        </p:txBody>
      </p:sp>
      <p:sp>
        <p:nvSpPr>
          <p:cNvPr id="147" name="Rectangle 146">
            <a:extLst>
              <a:ext uri="{FF2B5EF4-FFF2-40B4-BE49-F238E27FC236}">
                <a16:creationId xmlns:a16="http://schemas.microsoft.com/office/drawing/2014/main" id="{6C34463C-62F9-33A9-9EED-5793C0430261}"/>
              </a:ext>
            </a:extLst>
          </p:cNvPr>
          <p:cNvSpPr/>
          <p:nvPr/>
        </p:nvSpPr>
        <p:spPr>
          <a:xfrm>
            <a:off x="5401949" y="2699958"/>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
        <p:nvSpPr>
          <p:cNvPr id="148" name="Rectangle 147">
            <a:extLst>
              <a:ext uri="{FF2B5EF4-FFF2-40B4-BE49-F238E27FC236}">
                <a16:creationId xmlns:a16="http://schemas.microsoft.com/office/drawing/2014/main" id="{F8FEC91A-37E5-A93B-F935-9F6531159334}"/>
              </a:ext>
            </a:extLst>
          </p:cNvPr>
          <p:cNvSpPr/>
          <p:nvPr/>
        </p:nvSpPr>
        <p:spPr>
          <a:xfrm>
            <a:off x="10332919" y="2727330"/>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
        <p:nvSpPr>
          <p:cNvPr id="5" name="Rectangle 4">
            <a:extLst>
              <a:ext uri="{FF2B5EF4-FFF2-40B4-BE49-F238E27FC236}">
                <a16:creationId xmlns:a16="http://schemas.microsoft.com/office/drawing/2014/main" id="{F2486DC0-739E-A1F3-69EB-1F0C09025A72}"/>
              </a:ext>
            </a:extLst>
          </p:cNvPr>
          <p:cNvSpPr/>
          <p:nvPr/>
        </p:nvSpPr>
        <p:spPr>
          <a:xfrm>
            <a:off x="6910540" y="3506398"/>
            <a:ext cx="827892" cy="211193"/>
          </a:xfrm>
          <a:prstGeom prst="rect">
            <a:avLst/>
          </a:prstGeom>
          <a:solidFill>
            <a:schemeClr val="accent2"/>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defTabSz="914507"/>
            <a:r>
              <a:rPr lang="en-US" sz="900">
                <a:solidFill>
                  <a:srgbClr val="FFFFFF"/>
                </a:solidFill>
                <a:latin typeface="IBM Plex Sans Medium" panose="020B0603050203000203" pitchFamily="34" charset="0"/>
              </a:rPr>
              <a:t>SSL &amp; SFTP</a:t>
            </a:r>
          </a:p>
        </p:txBody>
      </p:sp>
      <p:sp>
        <p:nvSpPr>
          <p:cNvPr id="8" name="Rectangle 7">
            <a:extLst>
              <a:ext uri="{FF2B5EF4-FFF2-40B4-BE49-F238E27FC236}">
                <a16:creationId xmlns:a16="http://schemas.microsoft.com/office/drawing/2014/main" id="{803C9DB0-EC05-914F-1BC6-175BABB42340}"/>
              </a:ext>
            </a:extLst>
          </p:cNvPr>
          <p:cNvSpPr/>
          <p:nvPr/>
        </p:nvSpPr>
        <p:spPr>
          <a:xfrm>
            <a:off x="4900803" y="3491507"/>
            <a:ext cx="827892" cy="211193"/>
          </a:xfrm>
          <a:prstGeom prst="rect">
            <a:avLst/>
          </a:prstGeom>
          <a:solidFill>
            <a:schemeClr val="accent2"/>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defTabSz="914507"/>
            <a:r>
              <a:rPr lang="en-US" sz="900" err="1">
                <a:solidFill>
                  <a:srgbClr val="FFFFFF"/>
                </a:solidFill>
                <a:latin typeface="IBM Plex Sans Medium" panose="020B0603050203000203" pitchFamily="34" charset="0"/>
              </a:rPr>
              <a:t>Cyberark</a:t>
            </a:r>
            <a:endParaRPr lang="en-US" sz="900">
              <a:solidFill>
                <a:srgbClr val="FFFFFF"/>
              </a:solidFill>
              <a:latin typeface="IBM Plex Sans Medium" panose="020B0603050203000203" pitchFamily="34" charset="0"/>
            </a:endParaRPr>
          </a:p>
        </p:txBody>
      </p:sp>
      <p:sp>
        <p:nvSpPr>
          <p:cNvPr id="9" name="Rectangle 8">
            <a:extLst>
              <a:ext uri="{FF2B5EF4-FFF2-40B4-BE49-F238E27FC236}">
                <a16:creationId xmlns:a16="http://schemas.microsoft.com/office/drawing/2014/main" id="{9CEFC490-A783-5018-2B8B-5ABE298442EE}"/>
              </a:ext>
            </a:extLst>
          </p:cNvPr>
          <p:cNvSpPr/>
          <p:nvPr/>
        </p:nvSpPr>
        <p:spPr>
          <a:xfrm>
            <a:off x="2781024" y="3517413"/>
            <a:ext cx="1018746" cy="196255"/>
          </a:xfrm>
          <a:prstGeom prst="rect">
            <a:avLst/>
          </a:prstGeom>
          <a:solidFill>
            <a:schemeClr val="accent2"/>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defTabSz="914507"/>
            <a:r>
              <a:rPr lang="en-US" sz="900">
                <a:solidFill>
                  <a:srgbClr val="FFFFFF"/>
                </a:solidFill>
                <a:latin typeface="IBM Plex Sans Medium" panose="020B0603050203000203" pitchFamily="34" charset="0"/>
              </a:rPr>
              <a:t>IBM </a:t>
            </a:r>
            <a:r>
              <a:rPr lang="en-US" sz="900" err="1">
                <a:solidFill>
                  <a:srgbClr val="FFFFFF"/>
                </a:solidFill>
                <a:latin typeface="IBM Plex Sans Medium" panose="020B0603050203000203" pitchFamily="34" charset="0"/>
              </a:rPr>
              <a:t>Qradar</a:t>
            </a:r>
            <a:r>
              <a:rPr lang="en-US" sz="900">
                <a:solidFill>
                  <a:srgbClr val="FFFFFF"/>
                </a:solidFill>
                <a:latin typeface="IBM Plex Sans Medium" panose="020B0603050203000203" pitchFamily="34" charset="0"/>
              </a:rPr>
              <a:t> SIEM</a:t>
            </a:r>
          </a:p>
        </p:txBody>
      </p:sp>
      <p:sp>
        <p:nvSpPr>
          <p:cNvPr id="3" name="Rectangle 2">
            <a:extLst>
              <a:ext uri="{FF2B5EF4-FFF2-40B4-BE49-F238E27FC236}">
                <a16:creationId xmlns:a16="http://schemas.microsoft.com/office/drawing/2014/main" id="{4EE1D0EA-BD28-A699-BF28-67E175A6BD58}"/>
              </a:ext>
            </a:extLst>
          </p:cNvPr>
          <p:cNvSpPr/>
          <p:nvPr/>
        </p:nvSpPr>
        <p:spPr>
          <a:xfrm>
            <a:off x="3846641" y="1245026"/>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
        <p:nvSpPr>
          <p:cNvPr id="4" name="Rectangle 3">
            <a:extLst>
              <a:ext uri="{FF2B5EF4-FFF2-40B4-BE49-F238E27FC236}">
                <a16:creationId xmlns:a16="http://schemas.microsoft.com/office/drawing/2014/main" id="{E403777C-D86C-7F36-547D-B4F688985231}"/>
              </a:ext>
            </a:extLst>
          </p:cNvPr>
          <p:cNvSpPr/>
          <p:nvPr/>
        </p:nvSpPr>
        <p:spPr>
          <a:xfrm>
            <a:off x="7100730" y="1251775"/>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
        <p:nvSpPr>
          <p:cNvPr id="21" name="Rectangle 20">
            <a:extLst>
              <a:ext uri="{FF2B5EF4-FFF2-40B4-BE49-F238E27FC236}">
                <a16:creationId xmlns:a16="http://schemas.microsoft.com/office/drawing/2014/main" id="{D2F18499-18C7-218E-171B-7B41110B195F}"/>
              </a:ext>
            </a:extLst>
          </p:cNvPr>
          <p:cNvSpPr/>
          <p:nvPr/>
        </p:nvSpPr>
        <p:spPr>
          <a:xfrm>
            <a:off x="10464038" y="1244728"/>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
        <p:nvSpPr>
          <p:cNvPr id="22" name="Rectangle 21">
            <a:extLst>
              <a:ext uri="{FF2B5EF4-FFF2-40B4-BE49-F238E27FC236}">
                <a16:creationId xmlns:a16="http://schemas.microsoft.com/office/drawing/2014/main" id="{233B22C9-6DAC-E3B8-BFE9-E116CC0ED8D7}"/>
              </a:ext>
            </a:extLst>
          </p:cNvPr>
          <p:cNvSpPr/>
          <p:nvPr/>
        </p:nvSpPr>
        <p:spPr>
          <a:xfrm>
            <a:off x="3846641" y="1951301"/>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
        <p:nvSpPr>
          <p:cNvPr id="23" name="Rectangle 22">
            <a:extLst>
              <a:ext uri="{FF2B5EF4-FFF2-40B4-BE49-F238E27FC236}">
                <a16:creationId xmlns:a16="http://schemas.microsoft.com/office/drawing/2014/main" id="{9157097C-2D30-275F-26A9-BE5711FD968D}"/>
              </a:ext>
            </a:extLst>
          </p:cNvPr>
          <p:cNvSpPr/>
          <p:nvPr/>
        </p:nvSpPr>
        <p:spPr>
          <a:xfrm>
            <a:off x="7100730" y="1912123"/>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
        <p:nvSpPr>
          <p:cNvPr id="24" name="Rectangle 23">
            <a:extLst>
              <a:ext uri="{FF2B5EF4-FFF2-40B4-BE49-F238E27FC236}">
                <a16:creationId xmlns:a16="http://schemas.microsoft.com/office/drawing/2014/main" id="{3F3FBB8A-B3D3-14D8-5D79-54641C12EB5D}"/>
              </a:ext>
            </a:extLst>
          </p:cNvPr>
          <p:cNvSpPr/>
          <p:nvPr/>
        </p:nvSpPr>
        <p:spPr>
          <a:xfrm>
            <a:off x="10712311" y="1923644"/>
            <a:ext cx="924001" cy="211193"/>
          </a:xfrm>
          <a:prstGeom prst="rect">
            <a:avLst/>
          </a:prstGeom>
          <a:solidFill>
            <a:schemeClr val="accent2"/>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defTabSz="914507"/>
            <a:r>
              <a:rPr lang="en-US" sz="1000">
                <a:solidFill>
                  <a:srgbClr val="FFFFFF"/>
                </a:solidFill>
                <a:latin typeface="IBM Plex Sans Medium" panose="020B0603050203000203" pitchFamily="34" charset="0"/>
              </a:rPr>
              <a:t>IBM Cognos</a:t>
            </a:r>
          </a:p>
        </p:txBody>
      </p:sp>
      <p:sp>
        <p:nvSpPr>
          <p:cNvPr id="25" name="Rectangle 24">
            <a:extLst>
              <a:ext uri="{FF2B5EF4-FFF2-40B4-BE49-F238E27FC236}">
                <a16:creationId xmlns:a16="http://schemas.microsoft.com/office/drawing/2014/main" id="{A104E569-CE9F-D810-97F4-DE44BFFD20C8}"/>
              </a:ext>
            </a:extLst>
          </p:cNvPr>
          <p:cNvSpPr/>
          <p:nvPr/>
        </p:nvSpPr>
        <p:spPr>
          <a:xfrm>
            <a:off x="8375428" y="3502475"/>
            <a:ext cx="1319239" cy="248604"/>
          </a:xfrm>
          <a:prstGeom prst="rect">
            <a:avLst/>
          </a:prstGeom>
          <a:solidFill>
            <a:schemeClr val="accent2"/>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900">
                <a:solidFill>
                  <a:srgbClr val="FFFFFF"/>
                </a:solidFill>
                <a:latin typeface="IBM Plex Sans Medium" panose="020B0603050203000203" pitchFamily="34" charset="0"/>
              </a:rPr>
              <a:t>Thales </a:t>
            </a:r>
          </a:p>
          <a:p>
            <a:pPr algn="ctr" defTabSz="914507"/>
            <a:r>
              <a:rPr lang="en-US" sz="450">
                <a:solidFill>
                  <a:srgbClr val="FFFFFF"/>
                </a:solidFill>
                <a:latin typeface="IBM Plex Sans Medium" panose="020B0603050203000203" pitchFamily="34" charset="0"/>
              </a:rPr>
              <a:t>(hasn’t been implemented across all process)</a:t>
            </a:r>
            <a:r>
              <a:rPr lang="en-US" sz="700">
                <a:solidFill>
                  <a:srgbClr val="FFFFFF"/>
                </a:solidFill>
                <a:latin typeface="IBM Plex Sans Medium" panose="020B0603050203000203" pitchFamily="34" charset="0"/>
              </a:rPr>
              <a:t>  </a:t>
            </a:r>
          </a:p>
        </p:txBody>
      </p:sp>
      <p:sp>
        <p:nvSpPr>
          <p:cNvPr id="26" name="Rectangle 25">
            <a:extLst>
              <a:ext uri="{FF2B5EF4-FFF2-40B4-BE49-F238E27FC236}">
                <a16:creationId xmlns:a16="http://schemas.microsoft.com/office/drawing/2014/main" id="{B51B6902-9DA8-8C75-2666-1590D00EAC04}"/>
              </a:ext>
            </a:extLst>
          </p:cNvPr>
          <p:cNvSpPr/>
          <p:nvPr/>
        </p:nvSpPr>
        <p:spPr>
          <a:xfrm>
            <a:off x="10385164" y="3488624"/>
            <a:ext cx="1247923" cy="211193"/>
          </a:xfrm>
          <a:prstGeom prst="rect">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507"/>
            <a:r>
              <a:rPr lang="en-US" sz="1000">
                <a:solidFill>
                  <a:srgbClr val="FFFFFF"/>
                </a:solidFill>
                <a:latin typeface="IBM Plex Sans Medium" panose="020B0603050203000203" pitchFamily="34" charset="0"/>
              </a:rPr>
              <a:t>None</a:t>
            </a:r>
          </a:p>
        </p:txBody>
      </p:sp>
    </p:spTree>
    <p:extLst>
      <p:ext uri="{BB962C8B-B14F-4D97-AF65-F5344CB8AC3E}">
        <p14:creationId xmlns:p14="http://schemas.microsoft.com/office/powerpoint/2010/main" val="34063648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F42BE51-2314-B1D7-0E39-3512524B209E}"/>
              </a:ext>
            </a:extLst>
          </p:cNvPr>
          <p:cNvSpPr/>
          <p:nvPr/>
        </p:nvSpPr>
        <p:spPr bwMode="auto">
          <a:xfrm>
            <a:off x="6069026" y="416409"/>
            <a:ext cx="593546" cy="593546"/>
          </a:xfrm>
          <a:prstGeom prst="ellipse">
            <a:avLst/>
          </a:prstGeom>
          <a:solidFill>
            <a:srgbClr val="FFB3B8"/>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ysClr val="windowText" lastClr="000000"/>
              </a:solidFill>
              <a:latin typeface="IBM Plex Sans Light"/>
            </a:endParaRPr>
          </a:p>
        </p:txBody>
      </p:sp>
      <p:sp>
        <p:nvSpPr>
          <p:cNvPr id="5" name="Oval 4">
            <a:extLst>
              <a:ext uri="{FF2B5EF4-FFF2-40B4-BE49-F238E27FC236}">
                <a16:creationId xmlns:a16="http://schemas.microsoft.com/office/drawing/2014/main" id="{534E6AF9-5210-A03C-9B2C-ECC98C4AE230}"/>
              </a:ext>
            </a:extLst>
          </p:cNvPr>
          <p:cNvSpPr/>
          <p:nvPr/>
        </p:nvSpPr>
        <p:spPr bwMode="auto">
          <a:xfrm>
            <a:off x="9066460" y="416409"/>
            <a:ext cx="593546" cy="593546"/>
          </a:xfrm>
          <a:prstGeom prst="ellipse">
            <a:avLst/>
          </a:prstGeom>
          <a:solidFill>
            <a:srgbClr val="FFC000"/>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ysClr val="windowText" lastClr="000000"/>
              </a:solidFill>
              <a:latin typeface="IBM Plex Sans Light"/>
            </a:endParaRPr>
          </a:p>
        </p:txBody>
      </p:sp>
      <p:sp>
        <p:nvSpPr>
          <p:cNvPr id="2" name="Rectangle 1" descr="Vertical quarter slide background in blue 10">
            <a:extLst>
              <a:ext uri="{FF2B5EF4-FFF2-40B4-BE49-F238E27FC236}">
                <a16:creationId xmlns:a16="http://schemas.microsoft.com/office/drawing/2014/main" id="{B6F9633A-E72C-79A1-8D0A-31DC41B1E0C9}"/>
              </a:ext>
            </a:extLst>
          </p:cNvPr>
          <p:cNvSpPr/>
          <p:nvPr/>
        </p:nvSpPr>
        <p:spPr bwMode="auto">
          <a:xfrm>
            <a:off x="0" y="447"/>
            <a:ext cx="2532179" cy="685710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a:solidFill>
                <a:srgbClr val="FFFFFF"/>
              </a:solidFill>
              <a:latin typeface="IBM Plex Sans Light"/>
            </a:endParaRPr>
          </a:p>
        </p:txBody>
      </p:sp>
      <p:sp>
        <p:nvSpPr>
          <p:cNvPr id="6" name="Title 1">
            <a:extLst>
              <a:ext uri="{FF2B5EF4-FFF2-40B4-BE49-F238E27FC236}">
                <a16:creationId xmlns:a16="http://schemas.microsoft.com/office/drawing/2014/main" id="{233D7DD1-0650-1615-312E-08623FE7E9CE}"/>
              </a:ext>
            </a:extLst>
          </p:cNvPr>
          <p:cNvSpPr>
            <a:spLocks noGrp="1"/>
          </p:cNvSpPr>
          <p:nvPr>
            <p:ph type="title"/>
          </p:nvPr>
        </p:nvSpPr>
        <p:spPr>
          <a:xfrm>
            <a:off x="211809" y="288445"/>
            <a:ext cx="2474590" cy="2286496"/>
          </a:xfrm>
        </p:spPr>
        <p:txBody>
          <a:bodyPr/>
          <a:lstStyle/>
          <a:p>
            <a:r>
              <a:rPr lang="en-US" sz="2699"/>
              <a:t>Key Findings</a:t>
            </a:r>
          </a:p>
        </p:txBody>
      </p:sp>
      <p:cxnSp>
        <p:nvCxnSpPr>
          <p:cNvPr id="20" name="Straight Connector 19" descr="Vertical column divider line">
            <a:extLst>
              <a:ext uri="{FF2B5EF4-FFF2-40B4-BE49-F238E27FC236}">
                <a16:creationId xmlns:a16="http://schemas.microsoft.com/office/drawing/2014/main" id="{C1D9C084-88E9-34A7-13E5-E2FD966219DE}"/>
              </a:ext>
            </a:extLst>
          </p:cNvPr>
          <p:cNvCxnSpPr>
            <a:cxnSpLocks/>
          </p:cNvCxnSpPr>
          <p:nvPr/>
        </p:nvCxnSpPr>
        <p:spPr bwMode="auto">
          <a:xfrm>
            <a:off x="5810954" y="590926"/>
            <a:ext cx="0" cy="571504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line">
            <a:extLst>
              <a:ext uri="{FF2B5EF4-FFF2-40B4-BE49-F238E27FC236}">
                <a16:creationId xmlns:a16="http://schemas.microsoft.com/office/drawing/2014/main" id="{4844FDFD-0920-1712-4A3C-B2EBEEC28C9D}"/>
              </a:ext>
            </a:extLst>
          </p:cNvPr>
          <p:cNvCxnSpPr>
            <a:cxnSpLocks/>
          </p:cNvCxnSpPr>
          <p:nvPr/>
        </p:nvCxnSpPr>
        <p:spPr bwMode="auto">
          <a:xfrm>
            <a:off x="8863473" y="590926"/>
            <a:ext cx="0" cy="571504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2">
            <a:extLst>
              <a:ext uri="{FF2B5EF4-FFF2-40B4-BE49-F238E27FC236}">
                <a16:creationId xmlns:a16="http://schemas.microsoft.com/office/drawing/2014/main" id="{C446DCFF-CDFF-5A0D-973C-0D3A3B3CCE78}"/>
              </a:ext>
            </a:extLst>
          </p:cNvPr>
          <p:cNvSpPr>
            <a:spLocks noGrp="1"/>
          </p:cNvSpPr>
          <p:nvPr>
            <p:ph type="ftr" sz="quarter" idx="12"/>
          </p:nvPr>
        </p:nvSpPr>
        <p:spPr>
          <a:xfrm>
            <a:off x="284125" y="6401731"/>
            <a:ext cx="3330142" cy="190475"/>
          </a:xfrm>
        </p:spPr>
        <p:txBody>
          <a:bodyPr/>
          <a:lstStyle/>
          <a:p>
            <a:pPr defTabSz="914507"/>
            <a:r>
              <a:rPr lang="en-US">
                <a:solidFill>
                  <a:srgbClr val="000000"/>
                </a:solidFill>
                <a:ea typeface="Times New Roman" panose="02020603050405020304" pitchFamily="18" charset="0"/>
              </a:rPr>
              <a:t>IBM Confidential</a:t>
            </a:r>
          </a:p>
        </p:txBody>
      </p:sp>
      <p:sp>
        <p:nvSpPr>
          <p:cNvPr id="4" name="Slide Number Placeholder 3">
            <a:extLst>
              <a:ext uri="{FF2B5EF4-FFF2-40B4-BE49-F238E27FC236}">
                <a16:creationId xmlns:a16="http://schemas.microsoft.com/office/drawing/2014/main" id="{2FA85521-4264-1A36-2818-56C1447EE6D9}"/>
              </a:ext>
            </a:extLst>
          </p:cNvPr>
          <p:cNvSpPr>
            <a:spLocks noGrp="1"/>
          </p:cNvSpPr>
          <p:nvPr>
            <p:ph type="sldNum" sz="quarter" idx="4"/>
          </p:nvPr>
        </p:nvSpPr>
        <p:spPr>
          <a:xfrm>
            <a:off x="5829747" y="3203953"/>
            <a:ext cx="121828" cy="123111"/>
          </a:xfrm>
        </p:spPr>
        <p:txBody>
          <a:bodyPr/>
          <a:lstStyle/>
          <a:p>
            <a:pPr defTabSz="914507"/>
            <a:fld id="{86CB4B4D-7CA3-9044-876B-883B54F8677D}" type="slidenum">
              <a:rPr lang="en-US">
                <a:solidFill>
                  <a:srgbClr val="000000"/>
                </a:solidFill>
              </a:rPr>
              <a:pPr defTabSz="914507"/>
              <a:t>28</a:t>
            </a:fld>
            <a:endParaRPr lang="en-US">
              <a:solidFill>
                <a:srgbClr val="000000"/>
              </a:solidFill>
            </a:endParaRPr>
          </a:p>
        </p:txBody>
      </p:sp>
      <p:sp>
        <p:nvSpPr>
          <p:cNvPr id="25" name="Text Placeholder 4">
            <a:extLst>
              <a:ext uri="{FF2B5EF4-FFF2-40B4-BE49-F238E27FC236}">
                <a16:creationId xmlns:a16="http://schemas.microsoft.com/office/drawing/2014/main" id="{2163549F-85A8-ABDB-0D43-6CA443F9AB25}"/>
              </a:ext>
            </a:extLst>
          </p:cNvPr>
          <p:cNvSpPr txBox="1">
            <a:spLocks/>
          </p:cNvSpPr>
          <p:nvPr/>
        </p:nvSpPr>
        <p:spPr>
          <a:xfrm>
            <a:off x="3050588" y="1287209"/>
            <a:ext cx="2609510" cy="5018766"/>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r>
              <a:rPr lang="en-US" sz="2200" dirty="0">
                <a:solidFill>
                  <a:srgbClr val="000000"/>
                </a:solidFill>
              </a:rPr>
              <a:t>Privacy </a:t>
            </a:r>
          </a:p>
          <a:p>
            <a:pPr defTabSz="914507"/>
            <a:r>
              <a:rPr lang="en-US" sz="2200" dirty="0">
                <a:solidFill>
                  <a:srgbClr val="000000"/>
                </a:solidFill>
              </a:rPr>
              <a:t>Practices</a:t>
            </a:r>
            <a:endParaRPr lang="en-US" sz="1000" dirty="0">
              <a:solidFill>
                <a:srgbClr val="000000"/>
              </a:solidFill>
            </a:endParaRPr>
          </a:p>
          <a:p>
            <a:pPr defTabSz="914507"/>
            <a:endParaRPr lang="en-US" sz="1000" dirty="0">
              <a:solidFill>
                <a:srgbClr val="000000"/>
              </a:solidFill>
            </a:endParaRPr>
          </a:p>
          <a:p>
            <a:pPr defTabSz="914507"/>
            <a:r>
              <a:rPr lang="en-US" sz="1000" dirty="0">
                <a:solidFill>
                  <a:srgbClr val="000000"/>
                </a:solidFill>
              </a:rPr>
              <a:t>Company A demonstrates foundational compliance in its privacy practices. The organization has a clear grasp of personal data collection and consent, especially from its core banking systems. Explicit consent is obtained for data collection and sharing with third parties, and data deletion requests are supported. </a:t>
            </a:r>
          </a:p>
          <a:p>
            <a:pPr defTabSz="914507"/>
            <a:endParaRPr lang="en-US" sz="1000" dirty="0">
              <a:solidFill>
                <a:srgbClr val="000000"/>
              </a:solidFill>
            </a:endParaRPr>
          </a:p>
          <a:p>
            <a:pPr defTabSz="914507"/>
            <a:r>
              <a:rPr lang="en-US" sz="1000" dirty="0">
                <a:solidFill>
                  <a:srgbClr val="000000"/>
                </a:solidFill>
              </a:rPr>
              <a:t>However, full data subject rights—such as automated access requests or preference management—are not yet enabled, leading to only partial compliance in fulfilling data subject rights. A Privacy Impact Assessment (PIA) process has not been introduced, and there are no formal risk mitigation strategies for new initiatives. While incident monitoring and escalation procedures exist, access controls and training for personnel remain limited. The bank lacks a formal Data Protection Officer (DPO), and inventories of processed data or incident reporting procedures are still under development. </a:t>
            </a:r>
          </a:p>
          <a:p>
            <a:pPr defTabSz="914507"/>
            <a:endParaRPr lang="en-US" sz="1000" dirty="0">
              <a:solidFill>
                <a:srgbClr val="000000"/>
              </a:solidFill>
            </a:endParaRPr>
          </a:p>
          <a:p>
            <a:pPr defTabSz="914507"/>
            <a:r>
              <a:rPr lang="en-US" sz="1000" dirty="0">
                <a:solidFill>
                  <a:srgbClr val="000000"/>
                </a:solidFill>
              </a:rPr>
              <a:t>Overall, although foundational elements are in place, the governance and privacy accountability mechanisms are still maturing.</a:t>
            </a:r>
            <a:endParaRPr lang="en-RO" sz="1000">
              <a:solidFill>
                <a:srgbClr val="000000"/>
              </a:solidFill>
            </a:endParaRPr>
          </a:p>
        </p:txBody>
      </p:sp>
      <p:sp>
        <p:nvSpPr>
          <p:cNvPr id="35" name="Text Placeholder 4">
            <a:extLst>
              <a:ext uri="{FF2B5EF4-FFF2-40B4-BE49-F238E27FC236}">
                <a16:creationId xmlns:a16="http://schemas.microsoft.com/office/drawing/2014/main" id="{E27A9124-90EF-7C28-3020-EDDAAF2B0343}"/>
              </a:ext>
            </a:extLst>
          </p:cNvPr>
          <p:cNvSpPr txBox="1">
            <a:spLocks/>
          </p:cNvSpPr>
          <p:nvPr/>
        </p:nvSpPr>
        <p:spPr>
          <a:xfrm>
            <a:off x="6084273" y="1287209"/>
            <a:ext cx="2609510" cy="5018766"/>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r>
              <a:rPr lang="en-US" sz="2200" dirty="0">
                <a:solidFill>
                  <a:srgbClr val="000000"/>
                </a:solidFill>
                <a:latin typeface="IBM Plex Sans"/>
              </a:rPr>
              <a:t>Data Governance and Processing</a:t>
            </a:r>
          </a:p>
          <a:p>
            <a:pPr defTabSz="914507"/>
            <a:endParaRPr lang="en-US" sz="1000" dirty="0">
              <a:solidFill>
                <a:srgbClr val="000000"/>
              </a:solidFill>
            </a:endParaRPr>
          </a:p>
          <a:p>
            <a:pPr defTabSz="914507"/>
            <a:r>
              <a:rPr lang="en-US" sz="1000" dirty="0">
                <a:solidFill>
                  <a:srgbClr val="000000"/>
                </a:solidFill>
              </a:rPr>
              <a:t>Company A is in the early stages of implementing data governance. A framework is being drafted with roles like data stewards and owners in progress, but not yet formalized. Data governance is not currently treated as a strategic function. Metadata management, standardized definitions, and centralized data catalogs are absent, and lifecycle data management practices are not mature. While data classification is in place and the data pipeline from OLTP to data fabric is well understood, mechanisms to manage consent, audit data access, and monitor third-party data processing are lacking. </a:t>
            </a:r>
          </a:p>
          <a:p>
            <a:pPr defTabSz="914507"/>
            <a:endParaRPr lang="en-US" sz="1000" dirty="0">
              <a:solidFill>
                <a:srgbClr val="000000"/>
              </a:solidFill>
            </a:endParaRPr>
          </a:p>
          <a:p>
            <a:pPr defTabSz="914507"/>
            <a:r>
              <a:rPr lang="en-US" sz="1000" dirty="0">
                <a:solidFill>
                  <a:srgbClr val="000000"/>
                </a:solidFill>
              </a:rPr>
              <a:t>The organization shows readiness with its data process flow and understands the need for protecting PII; however, governance tools (such as for lineage, profiling, or cataloging) are not yet in place, and there is no operational monitoring of vendor PDP compliance. </a:t>
            </a:r>
          </a:p>
          <a:p>
            <a:pPr defTabSz="914507"/>
            <a:endParaRPr lang="en-US" sz="1000" dirty="0">
              <a:solidFill>
                <a:srgbClr val="000000"/>
              </a:solidFill>
            </a:endParaRPr>
          </a:p>
          <a:p>
            <a:pPr defTabSz="914507"/>
            <a:r>
              <a:rPr lang="en-US" sz="1000" dirty="0">
                <a:solidFill>
                  <a:srgbClr val="000000"/>
                </a:solidFill>
              </a:rPr>
              <a:t>Existing security controls (e.g., PAM and supervisor approvals) help mitigate unauthorized access, but consent and transparency processes remain limited.</a:t>
            </a:r>
          </a:p>
        </p:txBody>
      </p:sp>
      <p:sp>
        <p:nvSpPr>
          <p:cNvPr id="37" name="Text Placeholder 12">
            <a:extLst>
              <a:ext uri="{FF2B5EF4-FFF2-40B4-BE49-F238E27FC236}">
                <a16:creationId xmlns:a16="http://schemas.microsoft.com/office/drawing/2014/main" id="{5CED3C8E-2B18-833E-00E7-32F1692DC57D}"/>
              </a:ext>
            </a:extLst>
          </p:cNvPr>
          <p:cNvSpPr txBox="1">
            <a:spLocks/>
          </p:cNvSpPr>
          <p:nvPr/>
        </p:nvSpPr>
        <p:spPr>
          <a:xfrm>
            <a:off x="6095333" y="486094"/>
            <a:ext cx="571426" cy="454174"/>
          </a:xfrm>
          <a:prstGeom prst="rect">
            <a:avLst/>
          </a:prstGeom>
        </p:spPr>
        <p:txBody>
          <a:bodyPr anchor="ct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defTabSz="1218956"/>
            <a:r>
              <a:rPr lang="en-US" sz="1400" kern="0">
                <a:solidFill>
                  <a:sysClr val="windowText" lastClr="000000"/>
                </a:solidFill>
                <a:latin typeface="IBM Plex Sans Light"/>
              </a:rPr>
              <a:t>48</a:t>
            </a:r>
            <a:r>
              <a:rPr lang="en-RO" sz="1400" kern="0">
                <a:solidFill>
                  <a:sysClr val="windowText" lastClr="000000"/>
                </a:solidFill>
                <a:latin typeface="IBM Plex Sans Light"/>
              </a:rPr>
              <a:t>%</a:t>
            </a:r>
          </a:p>
        </p:txBody>
      </p:sp>
      <p:sp>
        <p:nvSpPr>
          <p:cNvPr id="41" name="Text Placeholder 4">
            <a:extLst>
              <a:ext uri="{FF2B5EF4-FFF2-40B4-BE49-F238E27FC236}">
                <a16:creationId xmlns:a16="http://schemas.microsoft.com/office/drawing/2014/main" id="{BA222AB3-4C01-FA0D-40B5-4E5A5BF1F637}"/>
              </a:ext>
            </a:extLst>
          </p:cNvPr>
          <p:cNvSpPr txBox="1">
            <a:spLocks/>
          </p:cNvSpPr>
          <p:nvPr/>
        </p:nvSpPr>
        <p:spPr>
          <a:xfrm>
            <a:off x="9066460" y="1287209"/>
            <a:ext cx="2609510" cy="5018766"/>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r>
              <a:rPr lang="en-US" sz="2200">
                <a:solidFill>
                  <a:srgbClr val="000000"/>
                </a:solidFill>
              </a:rPr>
              <a:t>Technology</a:t>
            </a:r>
          </a:p>
          <a:p>
            <a:pPr defTabSz="914507"/>
            <a:endParaRPr lang="en-US" sz="1000">
              <a:solidFill>
                <a:srgbClr val="000000"/>
              </a:solidFill>
            </a:endParaRPr>
          </a:p>
          <a:p>
            <a:pPr defTabSz="914507"/>
            <a:endParaRPr lang="en-US" sz="1000">
              <a:solidFill>
                <a:srgbClr val="000000"/>
              </a:solidFill>
            </a:endParaRPr>
          </a:p>
          <a:p>
            <a:pPr defTabSz="914507"/>
            <a:endParaRPr lang="en-US" sz="1000">
              <a:solidFill>
                <a:srgbClr val="000000"/>
              </a:solidFill>
            </a:endParaRPr>
          </a:p>
          <a:p>
            <a:pPr defTabSz="914507"/>
            <a:r>
              <a:rPr lang="en-US" sz="1000">
                <a:solidFill>
                  <a:srgbClr val="000000"/>
                </a:solidFill>
              </a:rPr>
              <a:t>The organization has implemented several foundational technologies to safeguard data, such as SSL/SFTP for data in transit, </a:t>
            </a:r>
            <a:r>
              <a:rPr lang="en-US" sz="1000" err="1">
                <a:solidFill>
                  <a:srgbClr val="000000"/>
                </a:solidFill>
              </a:rPr>
              <a:t>Trellix</a:t>
            </a:r>
            <a:r>
              <a:rPr lang="en-US" sz="1000">
                <a:solidFill>
                  <a:srgbClr val="000000"/>
                </a:solidFill>
              </a:rPr>
              <a:t> DLP for loss prevention, </a:t>
            </a:r>
            <a:r>
              <a:rPr lang="en-US" sz="1000" err="1">
                <a:solidFill>
                  <a:srgbClr val="000000"/>
                </a:solidFill>
              </a:rPr>
              <a:t>QRadar</a:t>
            </a:r>
            <a:r>
              <a:rPr lang="en-US" sz="1000">
                <a:solidFill>
                  <a:srgbClr val="000000"/>
                </a:solidFill>
              </a:rPr>
              <a:t> for SIEM, and firewalls for network protection. </a:t>
            </a:r>
          </a:p>
          <a:p>
            <a:pPr defTabSz="914507"/>
            <a:endParaRPr lang="en-US" sz="1000">
              <a:solidFill>
                <a:srgbClr val="000000"/>
              </a:solidFill>
            </a:endParaRPr>
          </a:p>
          <a:p>
            <a:pPr defTabSz="914507"/>
            <a:r>
              <a:rPr lang="en-US" sz="1000">
                <a:solidFill>
                  <a:srgbClr val="000000"/>
                </a:solidFill>
              </a:rPr>
              <a:t>However, critical gaps exist in encryption (no data-at-rest encryption), consent management tools, data discovery, and anomaly detection capabilities. The use of LDAP for role-based access is a strength, but it does not extend to full CIAM or consent management functionalities. Paper-based asset protection is absent, and secure coding practices are still in the roadmap phase. While Veritas is used for backup and recovery, encrypted storage and comprehensive endpoint protection tools are not yet in place. Business process platforms like K2 exist, but there’s no document management system to support PDP documentation requirements. </a:t>
            </a:r>
          </a:p>
          <a:p>
            <a:pPr defTabSz="914507"/>
            <a:endParaRPr lang="en-US" sz="1000">
              <a:solidFill>
                <a:srgbClr val="000000"/>
              </a:solidFill>
            </a:endParaRPr>
          </a:p>
          <a:p>
            <a:pPr defTabSz="914507"/>
            <a:r>
              <a:rPr lang="en-US" sz="1000">
                <a:solidFill>
                  <a:srgbClr val="000000"/>
                </a:solidFill>
              </a:rPr>
              <a:t>The current setup offers a solid foundation, but additional capabilities are needed to ensure compliance with PDP requirements.</a:t>
            </a:r>
          </a:p>
        </p:txBody>
      </p:sp>
      <p:sp>
        <p:nvSpPr>
          <p:cNvPr id="43" name="Text Placeholder 12">
            <a:extLst>
              <a:ext uri="{FF2B5EF4-FFF2-40B4-BE49-F238E27FC236}">
                <a16:creationId xmlns:a16="http://schemas.microsoft.com/office/drawing/2014/main" id="{E124E5EE-38B0-2F43-AE52-A62036E9F436}"/>
              </a:ext>
            </a:extLst>
          </p:cNvPr>
          <p:cNvSpPr txBox="1">
            <a:spLocks/>
          </p:cNvSpPr>
          <p:nvPr/>
        </p:nvSpPr>
        <p:spPr>
          <a:xfrm>
            <a:off x="9077520" y="486094"/>
            <a:ext cx="571426" cy="454174"/>
          </a:xfrm>
          <a:prstGeom prst="rect">
            <a:avLst/>
          </a:prstGeom>
        </p:spPr>
        <p:txBody>
          <a:bodyPr anchor="ct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defTabSz="1218956"/>
            <a:r>
              <a:rPr lang="en-US" sz="1400" kern="0">
                <a:solidFill>
                  <a:sysClr val="windowText" lastClr="000000"/>
                </a:solidFill>
                <a:latin typeface="IBM Plex Sans Light"/>
              </a:rPr>
              <a:t>62</a:t>
            </a:r>
            <a:r>
              <a:rPr lang="en-RO" sz="1400" kern="0">
                <a:solidFill>
                  <a:sysClr val="windowText" lastClr="000000"/>
                </a:solidFill>
                <a:latin typeface="IBM Plex Sans Light"/>
              </a:rPr>
              <a:t>%</a:t>
            </a:r>
          </a:p>
        </p:txBody>
      </p:sp>
      <p:sp>
        <p:nvSpPr>
          <p:cNvPr id="9" name="Oval 8">
            <a:extLst>
              <a:ext uri="{FF2B5EF4-FFF2-40B4-BE49-F238E27FC236}">
                <a16:creationId xmlns:a16="http://schemas.microsoft.com/office/drawing/2014/main" id="{25AE8F84-83EC-ED91-1984-6C3F87C61B5C}"/>
              </a:ext>
            </a:extLst>
          </p:cNvPr>
          <p:cNvSpPr/>
          <p:nvPr/>
        </p:nvSpPr>
        <p:spPr bwMode="auto">
          <a:xfrm>
            <a:off x="3014844" y="451030"/>
            <a:ext cx="593546" cy="593546"/>
          </a:xfrm>
          <a:prstGeom prst="ellipse">
            <a:avLst/>
          </a:prstGeom>
          <a:solidFill>
            <a:srgbClr val="FFB3B8"/>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ysClr val="windowText" lastClr="000000"/>
              </a:solidFill>
              <a:latin typeface="IBM Plex Sans Light"/>
            </a:endParaRPr>
          </a:p>
        </p:txBody>
      </p:sp>
      <p:sp>
        <p:nvSpPr>
          <p:cNvPr id="10" name="Text Placeholder 12">
            <a:extLst>
              <a:ext uri="{FF2B5EF4-FFF2-40B4-BE49-F238E27FC236}">
                <a16:creationId xmlns:a16="http://schemas.microsoft.com/office/drawing/2014/main" id="{8CFE6712-20C7-396B-DC96-AB68813A28A0}"/>
              </a:ext>
            </a:extLst>
          </p:cNvPr>
          <p:cNvSpPr txBox="1">
            <a:spLocks/>
          </p:cNvSpPr>
          <p:nvPr/>
        </p:nvSpPr>
        <p:spPr>
          <a:xfrm>
            <a:off x="3041150" y="520716"/>
            <a:ext cx="571426" cy="454174"/>
          </a:xfrm>
          <a:prstGeom prst="rect">
            <a:avLst/>
          </a:prstGeom>
        </p:spPr>
        <p:txBody>
          <a:bodyPr anchor="ct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defTabSz="1218956"/>
            <a:r>
              <a:rPr lang="en-US" sz="1400" kern="0">
                <a:solidFill>
                  <a:sysClr val="windowText" lastClr="000000"/>
                </a:solidFill>
                <a:latin typeface="IBM Plex Sans Light"/>
              </a:rPr>
              <a:t>38</a:t>
            </a:r>
            <a:r>
              <a:rPr lang="en-RO" sz="1400" kern="0">
                <a:solidFill>
                  <a:sysClr val="windowText" lastClr="000000"/>
                </a:solidFill>
                <a:latin typeface="IBM Plex Sans Light"/>
              </a:rPr>
              <a:t>%</a:t>
            </a:r>
          </a:p>
        </p:txBody>
      </p:sp>
    </p:spTree>
    <p:extLst>
      <p:ext uri="{BB962C8B-B14F-4D97-AF65-F5344CB8AC3E}">
        <p14:creationId xmlns:p14="http://schemas.microsoft.com/office/powerpoint/2010/main" val="3978764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005E-30B1-FE95-E47D-6CE14D314C91}"/>
              </a:ext>
            </a:extLst>
          </p:cNvPr>
          <p:cNvSpPr>
            <a:spLocks noGrp="1"/>
          </p:cNvSpPr>
          <p:nvPr>
            <p:ph type="title"/>
          </p:nvPr>
        </p:nvSpPr>
        <p:spPr>
          <a:xfrm>
            <a:off x="211808" y="288445"/>
            <a:ext cx="10654802" cy="762695"/>
          </a:xfrm>
        </p:spPr>
        <p:txBody>
          <a:bodyPr/>
          <a:lstStyle/>
          <a:p>
            <a:r>
              <a:rPr lang="en-US" sz="2699"/>
              <a:t>Top recommended actions</a:t>
            </a:r>
          </a:p>
        </p:txBody>
      </p:sp>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29</a:t>
            </a:fld>
            <a:endParaRPr lang="en-US">
              <a:solidFill>
                <a:srgbClr val="000000"/>
              </a:solidFill>
            </a:endParaRPr>
          </a:p>
        </p:txBody>
      </p:sp>
      <p:sp>
        <p:nvSpPr>
          <p:cNvPr id="86" name="Text Placeholder">
            <a:extLst>
              <a:ext uri="{FF2B5EF4-FFF2-40B4-BE49-F238E27FC236}">
                <a16:creationId xmlns:a16="http://schemas.microsoft.com/office/drawing/2014/main" id="{557FACD7-A9E3-A910-9865-27BF48BA6F7F}"/>
              </a:ext>
            </a:extLst>
          </p:cNvPr>
          <p:cNvSpPr txBox="1">
            <a:spLocks/>
          </p:cNvSpPr>
          <p:nvPr/>
        </p:nvSpPr>
        <p:spPr>
          <a:xfrm>
            <a:off x="287998" y="1157535"/>
            <a:ext cx="4693661" cy="5149106"/>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a:lstStyle>
          <a:p>
            <a:pPr defTabSz="457109">
              <a:spcBef>
                <a:spcPts val="550"/>
              </a:spcBef>
              <a:defRPr/>
            </a:pPr>
            <a:r>
              <a:rPr lang="en-US" sz="1600" kern="0">
                <a:solidFill>
                  <a:srgbClr val="000000"/>
                </a:solidFill>
                <a:latin typeface="IBM Plex Sans Medium" panose="020B0603050203000203" pitchFamily="34" charset="0"/>
              </a:rPr>
              <a:t>Action Items:</a:t>
            </a:r>
          </a:p>
          <a:p>
            <a:pPr defTabSz="457109">
              <a:spcBef>
                <a:spcPts val="550"/>
              </a:spcBef>
              <a:defRPr/>
            </a:pPr>
            <a:endParaRPr lang="en-US" sz="1600" kern="0">
              <a:solidFill>
                <a:srgbClr val="000000"/>
              </a:solidFill>
              <a:latin typeface="IBM Plex Sans Light"/>
            </a:endParaRPr>
          </a:p>
          <a:p>
            <a:pPr marL="257124" indent="-257124" defTabSz="914507" fontAlgn="t">
              <a:spcBef>
                <a:spcPts val="0"/>
              </a:spcBef>
              <a:spcAft>
                <a:spcPts val="500"/>
              </a:spcAft>
              <a:buFont typeface="+mj-lt"/>
              <a:buAutoNum type="arabicPeriod"/>
            </a:pPr>
            <a:r>
              <a:rPr lang="en-US" sz="1200" b="1">
                <a:solidFill>
                  <a:srgbClr val="292929"/>
                </a:solidFill>
                <a:latin typeface="IBM Plex Sans Light"/>
              </a:rPr>
              <a:t>Deploy Data Protection</a:t>
            </a:r>
            <a:r>
              <a:rPr lang="en-US" sz="1200">
                <a:solidFill>
                  <a:srgbClr val="292929"/>
                </a:solidFill>
                <a:latin typeface="IBM Plex Sans Light"/>
              </a:rPr>
              <a:t>: For activity monitoring and policy enforcement across databases</a:t>
            </a:r>
          </a:p>
          <a:p>
            <a:pPr marL="257124" indent="-257124" defTabSz="914507" fontAlgn="t">
              <a:spcBef>
                <a:spcPts val="0"/>
              </a:spcBef>
              <a:spcAft>
                <a:spcPts val="500"/>
              </a:spcAft>
              <a:buFont typeface="+mj-lt"/>
              <a:buAutoNum type="arabicPeriod"/>
            </a:pPr>
            <a:r>
              <a:rPr lang="en-US" sz="1200" b="1">
                <a:solidFill>
                  <a:srgbClr val="292929"/>
                </a:solidFill>
                <a:latin typeface="IBM Plex Sans Light"/>
              </a:rPr>
              <a:t>Implement Data Encryption</a:t>
            </a:r>
            <a:r>
              <a:rPr lang="en-US" sz="1200">
                <a:solidFill>
                  <a:srgbClr val="292929"/>
                </a:solidFill>
                <a:latin typeface="IBM Plex Sans Light"/>
              </a:rPr>
              <a:t>: Apply encryption at rest for structured and unstructured sensitive data, especially in core banking.</a:t>
            </a:r>
          </a:p>
          <a:p>
            <a:pPr marL="257124" indent="-257124" defTabSz="914507" fontAlgn="t">
              <a:spcBef>
                <a:spcPts val="0"/>
              </a:spcBef>
              <a:spcAft>
                <a:spcPts val="500"/>
              </a:spcAft>
              <a:buFont typeface="+mj-lt"/>
              <a:buAutoNum type="arabicPeriod"/>
            </a:pPr>
            <a:r>
              <a:rPr lang="en-US" sz="1200" b="1">
                <a:solidFill>
                  <a:srgbClr val="292929"/>
                </a:solidFill>
                <a:latin typeface="IBM Plex Sans Light"/>
              </a:rPr>
              <a:t>Implement Security Discover &amp; Classify</a:t>
            </a:r>
            <a:r>
              <a:rPr lang="en-US" sz="1200">
                <a:solidFill>
                  <a:srgbClr val="292929"/>
                </a:solidFill>
                <a:latin typeface="IBM Plex Sans Light"/>
              </a:rPr>
              <a:t>: To map and classify all personal and sensitive data, including at rest and in motion, across core banking, big data, and endpoints. </a:t>
            </a:r>
          </a:p>
          <a:p>
            <a:pPr marL="257124" indent="-257124" defTabSz="914507" fontAlgn="t">
              <a:spcBef>
                <a:spcPts val="0"/>
              </a:spcBef>
              <a:spcAft>
                <a:spcPts val="500"/>
              </a:spcAft>
              <a:buFont typeface="+mj-lt"/>
              <a:buAutoNum type="arabicPeriod"/>
            </a:pPr>
            <a:r>
              <a:rPr lang="en-US" sz="1200" b="1">
                <a:solidFill>
                  <a:srgbClr val="292929"/>
                </a:solidFill>
                <a:latin typeface="IBM Plex Sans Light"/>
              </a:rPr>
              <a:t>Implement Data Governance Tooling:</a:t>
            </a:r>
            <a:r>
              <a:rPr lang="en-US" sz="1200">
                <a:solidFill>
                  <a:srgbClr val="292929"/>
                </a:solidFill>
                <a:latin typeface="IBM Plex Sans Light"/>
              </a:rPr>
              <a:t> Establish a centralized data catalog with governance rules, metadata management, and access policies to enforce enterprise-wide data governance</a:t>
            </a:r>
          </a:p>
          <a:p>
            <a:pPr marL="257124" indent="-257124" defTabSz="914507" fontAlgn="t">
              <a:spcBef>
                <a:spcPts val="0"/>
              </a:spcBef>
              <a:spcAft>
                <a:spcPts val="500"/>
              </a:spcAft>
              <a:buFont typeface="+mj-lt"/>
              <a:buAutoNum type="arabicPeriod"/>
            </a:pPr>
            <a:r>
              <a:rPr lang="en-US" sz="1200" b="1">
                <a:solidFill>
                  <a:srgbClr val="292929"/>
                </a:solidFill>
                <a:latin typeface="IBM Plex Sans Light"/>
              </a:rPr>
              <a:t>Deploy Application Performance Monitoring</a:t>
            </a:r>
            <a:r>
              <a:rPr lang="en-US" sz="1200">
                <a:solidFill>
                  <a:srgbClr val="292929"/>
                </a:solidFill>
                <a:latin typeface="IBM Plex Sans Light"/>
              </a:rPr>
              <a:t>: Gain observability and detect anomalies in real time across data pipelines and applications—useful for data breach detection and ensuring availability &amp; integrity.</a:t>
            </a:r>
          </a:p>
          <a:p>
            <a:pPr marL="257124" indent="-257124" defTabSz="914507" fontAlgn="t">
              <a:spcBef>
                <a:spcPts val="0"/>
              </a:spcBef>
              <a:spcAft>
                <a:spcPts val="500"/>
              </a:spcAft>
              <a:buFont typeface="+mj-lt"/>
              <a:buAutoNum type="arabicPeriod"/>
            </a:pPr>
            <a:r>
              <a:rPr lang="en-US" sz="1200" b="1">
                <a:solidFill>
                  <a:srgbClr val="292929"/>
                </a:solidFill>
                <a:latin typeface="IBM Plex Sans Light"/>
              </a:rPr>
              <a:t>Formalize Consent Management Tooling</a:t>
            </a:r>
            <a:r>
              <a:rPr lang="en-US" sz="1200">
                <a:solidFill>
                  <a:srgbClr val="292929"/>
                </a:solidFill>
                <a:latin typeface="IBM Plex Sans Light"/>
              </a:rPr>
              <a:t>: Implement CIAM or similar solutions to automate consent capture, preference management, and consent lifecycle in compliance</a:t>
            </a:r>
          </a:p>
          <a:p>
            <a:pPr marL="257124" indent="-257124" defTabSz="914507" fontAlgn="t">
              <a:spcBef>
                <a:spcPts val="0"/>
              </a:spcBef>
              <a:spcAft>
                <a:spcPts val="500"/>
              </a:spcAft>
              <a:buFont typeface="+mj-lt"/>
              <a:buAutoNum type="arabicPeriod"/>
            </a:pPr>
            <a:r>
              <a:rPr lang="en-US" sz="1200" b="1">
                <a:solidFill>
                  <a:srgbClr val="292929"/>
                </a:solidFill>
                <a:latin typeface="IBM Plex Sans Light"/>
              </a:rPr>
              <a:t>Introduce Governance Tooling</a:t>
            </a:r>
            <a:r>
              <a:rPr lang="en-US" sz="1200">
                <a:solidFill>
                  <a:srgbClr val="292929"/>
                </a:solidFill>
                <a:latin typeface="IBM Plex Sans Light"/>
              </a:rPr>
              <a:t>: Centralize privacy governance, incident tracking, and risk management aligned to PDP. While highly effective, it's more suitable as a longer-term governance enabler.</a:t>
            </a:r>
          </a:p>
        </p:txBody>
      </p:sp>
      <p:sp>
        <p:nvSpPr>
          <p:cNvPr id="88" name="Rectangle 1">
            <a:extLst>
              <a:ext uri="{FF2B5EF4-FFF2-40B4-BE49-F238E27FC236}">
                <a16:creationId xmlns:a16="http://schemas.microsoft.com/office/drawing/2014/main" id="{88933243-00F9-BFEC-7FD3-121DCE047813}"/>
              </a:ext>
              <a:ext uri="{C183D7F6-B498-43B3-948B-1728B52AA6E4}">
                <adec:decorative xmlns:adec="http://schemas.microsoft.com/office/drawing/2017/decorative" val="1"/>
              </a:ext>
            </a:extLst>
          </p:cNvPr>
          <p:cNvSpPr/>
          <p:nvPr/>
        </p:nvSpPr>
        <p:spPr>
          <a:xfrm>
            <a:off x="6279162" y="1204844"/>
            <a:ext cx="5343856" cy="4036537"/>
          </a:xfrm>
          <a:prstGeom prst="rect">
            <a:avLst/>
          </a:prstGeom>
          <a:solidFill>
            <a:srgbClr val="F4F4F4"/>
          </a:solidFill>
        </p:spPr>
        <p:txBody>
          <a:bodyPr wrap="square" lIns="0" tIns="0" rIns="0" bIns="0" rtlCol="0" anchor="ctr">
            <a:noAutofit/>
          </a:bodyPr>
          <a:lstStyle/>
          <a:p>
            <a:pPr algn="ctr" defTabSz="342835">
              <a:defRPr/>
            </a:pPr>
            <a:endParaRPr lang="en-US" sz="1400" kern="0">
              <a:solidFill>
                <a:srgbClr val="FFFFFF"/>
              </a:solidFill>
              <a:latin typeface="IBM Plex Sans Light"/>
              <a:cs typeface="Arial"/>
            </a:endParaRPr>
          </a:p>
        </p:txBody>
      </p:sp>
      <p:sp>
        <p:nvSpPr>
          <p:cNvPr id="90" name="Rectangle 2">
            <a:extLst>
              <a:ext uri="{FF2B5EF4-FFF2-40B4-BE49-F238E27FC236}">
                <a16:creationId xmlns:a16="http://schemas.microsoft.com/office/drawing/2014/main" id="{4CAD7E28-48C9-7A7D-21D4-E50BFF68DF6A}"/>
              </a:ext>
              <a:ext uri="{C183D7F6-B498-43B3-948B-1728B52AA6E4}">
                <adec:decorative xmlns:adec="http://schemas.microsoft.com/office/drawing/2017/decorative" val="1"/>
              </a:ext>
            </a:extLst>
          </p:cNvPr>
          <p:cNvSpPr>
            <a:spLocks noChangeArrowheads="1"/>
          </p:cNvSpPr>
          <p:nvPr/>
        </p:nvSpPr>
        <p:spPr bwMode="auto">
          <a:xfrm>
            <a:off x="8975529" y="1203251"/>
            <a:ext cx="2647485" cy="2051114"/>
          </a:xfrm>
          <a:prstGeom prst="rect">
            <a:avLst/>
          </a:prstGeom>
          <a:solidFill>
            <a:srgbClr val="E0E0E0"/>
          </a:solidFill>
          <a:ln>
            <a:no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lnSpc>
                <a:spcPct val="90000"/>
              </a:lnSpc>
              <a:spcBef>
                <a:spcPct val="50000"/>
              </a:spcBef>
              <a:defRPr/>
            </a:pPr>
            <a:r>
              <a:rPr lang="en-US" altLang="en-US" kern="0">
                <a:solidFill>
                  <a:srgbClr val="FFFFFF"/>
                </a:solidFill>
                <a:latin typeface="IBM Plex Sans Light"/>
              </a:rPr>
              <a:t>Major Projects</a:t>
            </a:r>
          </a:p>
        </p:txBody>
      </p:sp>
      <p:sp>
        <p:nvSpPr>
          <p:cNvPr id="92" name="Line ">
            <a:extLst>
              <a:ext uri="{FF2B5EF4-FFF2-40B4-BE49-F238E27FC236}">
                <a16:creationId xmlns:a16="http://schemas.microsoft.com/office/drawing/2014/main" id="{FEE2FBC4-1999-BF3F-B334-C54A3A592E0E}"/>
              </a:ext>
              <a:ext uri="{C183D7F6-B498-43B3-948B-1728B52AA6E4}">
                <adec:decorative xmlns:adec="http://schemas.microsoft.com/office/drawing/2017/decorative" val="1"/>
              </a:ext>
            </a:extLst>
          </p:cNvPr>
          <p:cNvSpPr>
            <a:spLocks noChangeShapeType="1"/>
          </p:cNvSpPr>
          <p:nvPr/>
        </p:nvSpPr>
        <p:spPr bwMode="blackWhite">
          <a:xfrm>
            <a:off x="6289430" y="3254365"/>
            <a:ext cx="5312449" cy="0"/>
          </a:xfrm>
          <a:prstGeom prst="line">
            <a:avLst/>
          </a:prstGeom>
          <a:noFill/>
          <a:ln w="3175">
            <a:solidFill>
              <a:srgbClr val="8D8D8D"/>
            </a:solidFill>
            <a:prstDash val="sysDot"/>
            <a:round/>
            <a:headEnd/>
            <a:tailEnd/>
          </a:ln>
          <a:extLst>
            <a:ext uri="{909E8E84-426E-40DD-AFC4-6F175D3DCCD1}">
              <a14:hiddenFill xmlns:a14="http://schemas.microsoft.com/office/drawing/2010/main">
                <a:noFill/>
              </a14:hiddenFill>
            </a:ext>
          </a:extLst>
        </p:spPr>
        <p:txBody>
          <a:bodyPr wrap="square" lIns="33746" tIns="17548" rIns="33746" bIns="17548" anchor="ctr">
            <a:spAutoFit/>
          </a:bodyPr>
          <a:lstStyle/>
          <a:p>
            <a:pPr defTabSz="342835">
              <a:defRPr/>
            </a:pPr>
            <a:endParaRPr lang="en-US" sz="1600" kern="0">
              <a:solidFill>
                <a:srgbClr val="000000"/>
              </a:solidFill>
              <a:latin typeface="IBM Plex Sans Light"/>
            </a:endParaRPr>
          </a:p>
        </p:txBody>
      </p:sp>
      <p:sp>
        <p:nvSpPr>
          <p:cNvPr id="95" name="Line">
            <a:extLst>
              <a:ext uri="{FF2B5EF4-FFF2-40B4-BE49-F238E27FC236}">
                <a16:creationId xmlns:a16="http://schemas.microsoft.com/office/drawing/2014/main" id="{C66572AE-34EF-FC32-DB1C-83B2FAC33918}"/>
              </a:ext>
              <a:ext uri="{C183D7F6-B498-43B3-948B-1728B52AA6E4}">
                <adec:decorative xmlns:adec="http://schemas.microsoft.com/office/drawing/2017/decorative" val="1"/>
              </a:ext>
            </a:extLst>
          </p:cNvPr>
          <p:cNvSpPr>
            <a:spLocks noChangeShapeType="1"/>
          </p:cNvSpPr>
          <p:nvPr/>
        </p:nvSpPr>
        <p:spPr bwMode="blackWhite">
          <a:xfrm>
            <a:off x="8970669" y="1203251"/>
            <a:ext cx="0" cy="4042300"/>
          </a:xfrm>
          <a:prstGeom prst="line">
            <a:avLst/>
          </a:prstGeom>
          <a:noFill/>
          <a:ln w="3175" cap="sq">
            <a:solidFill>
              <a:srgbClr val="8D8D8D"/>
            </a:solidFill>
            <a:prstDash val="sysDot"/>
            <a:round/>
            <a:headEnd/>
            <a:tailEnd/>
          </a:ln>
          <a:extLst>
            <a:ext uri="{909E8E84-426E-40DD-AFC4-6F175D3DCCD1}">
              <a14:hiddenFill xmlns:a14="http://schemas.microsoft.com/office/drawing/2010/main">
                <a:noFill/>
              </a14:hiddenFill>
            </a:ext>
          </a:extLst>
        </p:spPr>
        <p:txBody>
          <a:bodyPr lIns="33746" tIns="17548" rIns="33746" bIns="17548" anchor="ctr">
            <a:spAutoFit/>
          </a:bodyPr>
          <a:lstStyle/>
          <a:p>
            <a:pPr defTabSz="342835">
              <a:defRPr/>
            </a:pPr>
            <a:endParaRPr lang="en-US" sz="1600" kern="0">
              <a:solidFill>
                <a:srgbClr val="000000"/>
              </a:solidFill>
              <a:latin typeface="IBM Plex Sans Light"/>
            </a:endParaRPr>
          </a:p>
        </p:txBody>
      </p:sp>
      <p:sp>
        <p:nvSpPr>
          <p:cNvPr id="97" name="Text Box 1">
            <a:extLst>
              <a:ext uri="{FF2B5EF4-FFF2-40B4-BE49-F238E27FC236}">
                <a16:creationId xmlns:a16="http://schemas.microsoft.com/office/drawing/2014/main" id="{1C55DE05-A0A3-34F0-30B6-7CCFDFA54D20}"/>
              </a:ext>
            </a:extLst>
          </p:cNvPr>
          <p:cNvSpPr txBox="1">
            <a:spLocks noChangeArrowheads="1"/>
          </p:cNvSpPr>
          <p:nvPr/>
        </p:nvSpPr>
        <p:spPr bwMode="blackWhite">
          <a:xfrm rot="10800000">
            <a:off x="5211704" y="2184973"/>
            <a:ext cx="283595" cy="2002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33746" tIns="17548" rIns="33746" bIns="17548">
            <a:spAutoFit/>
          </a:bodyPr>
          <a:lstStyle>
            <a:lvl1pPr marL="114300" indent="-114300">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marL="57140" indent="-57140" algn="ctr" defTabSz="342835">
              <a:spcBef>
                <a:spcPct val="50000"/>
              </a:spcBef>
              <a:defRPr/>
            </a:pPr>
            <a:r>
              <a:rPr lang="en-US" altLang="en-US" kern="0">
                <a:solidFill>
                  <a:srgbClr val="000000"/>
                </a:solidFill>
                <a:latin typeface="IBM Plex Sans Light"/>
                <a:ea typeface="MS PGothic" charset="-128"/>
              </a:rPr>
              <a:t>Impact</a:t>
            </a:r>
          </a:p>
        </p:txBody>
      </p:sp>
      <p:sp>
        <p:nvSpPr>
          <p:cNvPr id="98" name="Text Box 2">
            <a:extLst>
              <a:ext uri="{FF2B5EF4-FFF2-40B4-BE49-F238E27FC236}">
                <a16:creationId xmlns:a16="http://schemas.microsoft.com/office/drawing/2014/main" id="{974A9D4D-3D97-D77C-270A-B53ED2F82EE3}"/>
              </a:ext>
            </a:extLst>
          </p:cNvPr>
          <p:cNvSpPr txBox="1">
            <a:spLocks noChangeArrowheads="1"/>
          </p:cNvSpPr>
          <p:nvPr/>
        </p:nvSpPr>
        <p:spPr bwMode="blackWhite">
          <a:xfrm>
            <a:off x="5387238" y="5049394"/>
            <a:ext cx="904369" cy="18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746" tIns="17548" rIns="33746" bIns="17548">
            <a:spAutoFit/>
          </a:bodyPr>
          <a:lstStyle>
            <a:lvl1pPr marL="114300" indent="-114300">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marL="57140" indent="-57140" algn="r" defTabSz="342835">
              <a:spcBef>
                <a:spcPct val="50000"/>
              </a:spcBef>
              <a:defRPr/>
            </a:pPr>
            <a:r>
              <a:rPr lang="en-US" altLang="en-US" sz="1000" kern="0">
                <a:solidFill>
                  <a:srgbClr val="000000"/>
                </a:solidFill>
                <a:latin typeface="IBM Plex Sans Light"/>
                <a:ea typeface="MS PGothic" charset="-128"/>
              </a:rPr>
              <a:t>Not at all</a:t>
            </a:r>
          </a:p>
        </p:txBody>
      </p:sp>
      <p:sp>
        <p:nvSpPr>
          <p:cNvPr id="101" name="Text Box 4">
            <a:extLst>
              <a:ext uri="{FF2B5EF4-FFF2-40B4-BE49-F238E27FC236}">
                <a16:creationId xmlns:a16="http://schemas.microsoft.com/office/drawing/2014/main" id="{E16420AF-6090-6D92-85D2-960D8D23E9C8}"/>
              </a:ext>
            </a:extLst>
          </p:cNvPr>
          <p:cNvSpPr txBox="1">
            <a:spLocks noChangeArrowheads="1"/>
          </p:cNvSpPr>
          <p:nvPr/>
        </p:nvSpPr>
        <p:spPr bwMode="blackWhite">
          <a:xfrm>
            <a:off x="5387238" y="3122756"/>
            <a:ext cx="904369" cy="18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746" tIns="17548" rIns="33746" bIns="17548">
            <a:spAutoFit/>
          </a:bodyPr>
          <a:lstStyle>
            <a:lvl1pPr marL="114300" indent="-114300">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marL="57140" indent="-57140" algn="r" defTabSz="342835">
              <a:spcBef>
                <a:spcPct val="50000"/>
              </a:spcBef>
              <a:defRPr/>
            </a:pPr>
            <a:r>
              <a:rPr lang="en-US" altLang="en-US" sz="1000" kern="0">
                <a:solidFill>
                  <a:srgbClr val="000000"/>
                </a:solidFill>
                <a:latin typeface="IBM Plex Sans Light"/>
                <a:ea typeface="MS PGothic" charset="-128"/>
              </a:rPr>
              <a:t>Moderate</a:t>
            </a:r>
          </a:p>
        </p:txBody>
      </p:sp>
      <p:sp>
        <p:nvSpPr>
          <p:cNvPr id="103" name="Text Box 6">
            <a:extLst>
              <a:ext uri="{FF2B5EF4-FFF2-40B4-BE49-F238E27FC236}">
                <a16:creationId xmlns:a16="http://schemas.microsoft.com/office/drawing/2014/main" id="{CE598E5A-97AD-7DE1-905C-162FACD68B39}"/>
              </a:ext>
            </a:extLst>
          </p:cNvPr>
          <p:cNvSpPr txBox="1">
            <a:spLocks noChangeArrowheads="1"/>
          </p:cNvSpPr>
          <p:nvPr/>
        </p:nvSpPr>
        <p:spPr bwMode="blackWhite">
          <a:xfrm>
            <a:off x="5387238" y="1119929"/>
            <a:ext cx="904369" cy="18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746" tIns="17548" rIns="33746" bIns="17548">
            <a:spAutoFit/>
          </a:bodyPr>
          <a:lstStyle>
            <a:lvl1pPr marL="114300" indent="-114300">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marL="57140" indent="-57140" algn="r" defTabSz="342835">
              <a:spcBef>
                <a:spcPct val="50000"/>
              </a:spcBef>
              <a:defRPr/>
            </a:pPr>
            <a:r>
              <a:rPr lang="en-US" altLang="en-US" sz="1000" kern="0">
                <a:solidFill>
                  <a:srgbClr val="000000"/>
                </a:solidFill>
                <a:latin typeface="IBM Plex Sans Light"/>
                <a:ea typeface="MS PGothic" charset="-128"/>
              </a:rPr>
              <a:t>Radical</a:t>
            </a:r>
          </a:p>
        </p:txBody>
      </p:sp>
      <p:sp>
        <p:nvSpPr>
          <p:cNvPr id="104" name="Text Box 7">
            <a:extLst>
              <a:ext uri="{FF2B5EF4-FFF2-40B4-BE49-F238E27FC236}">
                <a16:creationId xmlns:a16="http://schemas.microsoft.com/office/drawing/2014/main" id="{787BCF31-A3CF-1C16-9B1E-58BD1E8644B1}"/>
              </a:ext>
            </a:extLst>
          </p:cNvPr>
          <p:cNvSpPr txBox="1">
            <a:spLocks noChangeArrowheads="1"/>
          </p:cNvSpPr>
          <p:nvPr/>
        </p:nvSpPr>
        <p:spPr bwMode="blackWhite">
          <a:xfrm rot="16200000">
            <a:off x="8864811" y="4988454"/>
            <a:ext cx="283595" cy="1657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33746" tIns="17548" rIns="33746" bIns="17548">
            <a:spAutoFit/>
          </a:bodyPr>
          <a:lstStyle>
            <a:lvl1pPr marL="114300" indent="-114300">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marL="57140" indent="-57140" algn="ctr" defTabSz="342835">
              <a:spcBef>
                <a:spcPct val="50000"/>
              </a:spcBef>
              <a:defRPr/>
            </a:pPr>
            <a:r>
              <a:rPr lang="en-US" altLang="en-US" kern="0">
                <a:solidFill>
                  <a:srgbClr val="000000"/>
                </a:solidFill>
                <a:latin typeface="IBM Plex Sans Light"/>
                <a:ea typeface="MS PGothic" charset="-128"/>
              </a:rPr>
              <a:t>Complexity</a:t>
            </a:r>
          </a:p>
        </p:txBody>
      </p:sp>
      <p:sp>
        <p:nvSpPr>
          <p:cNvPr id="105" name="Text Box 8">
            <a:extLst>
              <a:ext uri="{FF2B5EF4-FFF2-40B4-BE49-F238E27FC236}">
                <a16:creationId xmlns:a16="http://schemas.microsoft.com/office/drawing/2014/main" id="{AF4C93CF-658A-66DF-0E6D-5F73084A870D}"/>
              </a:ext>
            </a:extLst>
          </p:cNvPr>
          <p:cNvSpPr txBox="1">
            <a:spLocks noChangeArrowheads="1"/>
          </p:cNvSpPr>
          <p:nvPr/>
        </p:nvSpPr>
        <p:spPr bwMode="blackWhite">
          <a:xfrm>
            <a:off x="5797223" y="5273551"/>
            <a:ext cx="966935" cy="18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746" tIns="17548" rIns="33746" bIns="17548">
            <a:spAutoFit/>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spcBef>
                <a:spcPct val="50000"/>
              </a:spcBef>
              <a:defRPr/>
            </a:pPr>
            <a:r>
              <a:rPr lang="en-US" altLang="en-US" sz="1000" kern="0">
                <a:solidFill>
                  <a:srgbClr val="000000"/>
                </a:solidFill>
                <a:latin typeface="IBM Plex Sans Light"/>
                <a:ea typeface="MS PGothic" charset="-128"/>
              </a:rPr>
              <a:t>Low</a:t>
            </a:r>
          </a:p>
        </p:txBody>
      </p:sp>
      <p:sp>
        <p:nvSpPr>
          <p:cNvPr id="108" name="Text Box 10">
            <a:extLst>
              <a:ext uri="{FF2B5EF4-FFF2-40B4-BE49-F238E27FC236}">
                <a16:creationId xmlns:a16="http://schemas.microsoft.com/office/drawing/2014/main" id="{3500BAF4-7DBB-D38F-62AD-7A19674118DD}"/>
              </a:ext>
            </a:extLst>
          </p:cNvPr>
          <p:cNvSpPr txBox="1">
            <a:spLocks noChangeArrowheads="1"/>
          </p:cNvSpPr>
          <p:nvPr/>
        </p:nvSpPr>
        <p:spPr bwMode="blackWhite">
          <a:xfrm>
            <a:off x="8431571" y="5273551"/>
            <a:ext cx="1038981" cy="18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746" tIns="17548" rIns="33746" bIns="17548">
            <a:spAutoFit/>
          </a:bodyPr>
          <a:lstStyle>
            <a:lvl1pPr marL="114300" indent="-114300">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marL="57140" indent="-57140" algn="ctr" defTabSz="342835">
              <a:spcBef>
                <a:spcPct val="50000"/>
              </a:spcBef>
              <a:defRPr/>
            </a:pPr>
            <a:r>
              <a:rPr lang="en-US" altLang="en-US" sz="1000" kern="0">
                <a:solidFill>
                  <a:srgbClr val="000000"/>
                </a:solidFill>
                <a:latin typeface="IBM Plex Sans Light"/>
                <a:ea typeface="MS PGothic" charset="-128"/>
              </a:rPr>
              <a:t>Moderate</a:t>
            </a:r>
          </a:p>
        </p:txBody>
      </p:sp>
      <p:sp>
        <p:nvSpPr>
          <p:cNvPr id="110" name="Text Box 12">
            <a:extLst>
              <a:ext uri="{FF2B5EF4-FFF2-40B4-BE49-F238E27FC236}">
                <a16:creationId xmlns:a16="http://schemas.microsoft.com/office/drawing/2014/main" id="{5B477806-C0B2-2A76-0DC5-260D697F378C}"/>
              </a:ext>
            </a:extLst>
          </p:cNvPr>
          <p:cNvSpPr txBox="1">
            <a:spLocks noChangeArrowheads="1"/>
          </p:cNvSpPr>
          <p:nvPr/>
        </p:nvSpPr>
        <p:spPr bwMode="blackWhite">
          <a:xfrm>
            <a:off x="11163956" y="5273551"/>
            <a:ext cx="904369" cy="18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746" tIns="17548" rIns="33746" bIns="17548">
            <a:spAutoFit/>
          </a:bodyPr>
          <a:lstStyle>
            <a:lvl1pPr marL="114300" indent="-114300">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marL="57140" indent="-57140" algn="ctr" defTabSz="342835">
              <a:spcBef>
                <a:spcPct val="50000"/>
              </a:spcBef>
              <a:defRPr/>
            </a:pPr>
            <a:r>
              <a:rPr lang="en-US" altLang="en-US" sz="1000" kern="0">
                <a:solidFill>
                  <a:srgbClr val="000000"/>
                </a:solidFill>
                <a:latin typeface="IBM Plex Sans Light"/>
                <a:ea typeface="MS PGothic" charset="-128"/>
              </a:rPr>
              <a:t>High</a:t>
            </a:r>
          </a:p>
        </p:txBody>
      </p:sp>
      <p:sp>
        <p:nvSpPr>
          <p:cNvPr id="171" name="Rectangle 2">
            <a:extLst>
              <a:ext uri="{FF2B5EF4-FFF2-40B4-BE49-F238E27FC236}">
                <a16:creationId xmlns:a16="http://schemas.microsoft.com/office/drawing/2014/main" id="{2431E2D4-70CA-8134-EF04-125C51253EC0}"/>
              </a:ext>
              <a:ext uri="{C183D7F6-B498-43B3-948B-1728B52AA6E4}">
                <adec:decorative xmlns:adec="http://schemas.microsoft.com/office/drawing/2017/decorative" val="1"/>
              </a:ext>
            </a:extLst>
          </p:cNvPr>
          <p:cNvSpPr>
            <a:spLocks noChangeArrowheads="1"/>
          </p:cNvSpPr>
          <p:nvPr/>
        </p:nvSpPr>
        <p:spPr bwMode="auto">
          <a:xfrm>
            <a:off x="6288645" y="1203251"/>
            <a:ext cx="2681651" cy="2051114"/>
          </a:xfrm>
          <a:prstGeom prst="rect">
            <a:avLst/>
          </a:prstGeom>
          <a:solidFill>
            <a:srgbClr val="E0E0E0"/>
          </a:solidFill>
          <a:ln>
            <a:no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lnSpc>
                <a:spcPct val="90000"/>
              </a:lnSpc>
              <a:spcBef>
                <a:spcPct val="50000"/>
              </a:spcBef>
              <a:defRPr/>
            </a:pPr>
            <a:r>
              <a:rPr lang="en-US" altLang="en-US" kern="0">
                <a:solidFill>
                  <a:srgbClr val="FFFFFF"/>
                </a:solidFill>
                <a:latin typeface="IBM Plex Sans Light"/>
              </a:rPr>
              <a:t>Quick Wins</a:t>
            </a:r>
          </a:p>
        </p:txBody>
      </p:sp>
      <p:sp>
        <p:nvSpPr>
          <p:cNvPr id="172" name="Oval 14">
            <a:extLst>
              <a:ext uri="{FF2B5EF4-FFF2-40B4-BE49-F238E27FC236}">
                <a16:creationId xmlns:a16="http://schemas.microsoft.com/office/drawing/2014/main" id="{A2726390-D3B2-4F74-8436-64600BDF95AD}"/>
              </a:ext>
              <a:ext uri="{C183D7F6-B498-43B3-948B-1728B52AA6E4}">
                <adec:decorative xmlns:adec="http://schemas.microsoft.com/office/drawing/2017/decorative" val="1"/>
              </a:ext>
            </a:extLst>
          </p:cNvPr>
          <p:cNvSpPr>
            <a:spLocks noChangeAspect="1" noChangeArrowheads="1"/>
          </p:cNvSpPr>
          <p:nvPr>
            <p:custDataLst>
              <p:tags r:id="rId1"/>
            </p:custDataLst>
          </p:nvPr>
        </p:nvSpPr>
        <p:spPr bwMode="auto">
          <a:xfrm>
            <a:off x="6561683" y="1348700"/>
            <a:ext cx="439427" cy="440131"/>
          </a:xfrm>
          <a:prstGeom prst="ellipse">
            <a:avLst/>
          </a:prstGeom>
          <a:solidFill>
            <a:schemeClr val="accent1"/>
          </a:solidFill>
          <a:ln w="3175">
            <a:solidFill>
              <a:schemeClr val="bg1"/>
            </a:solid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defRPr/>
            </a:pPr>
            <a:r>
              <a:rPr lang="en-US" altLang="en-US" sz="1000" kern="0">
                <a:solidFill>
                  <a:srgbClr val="FFFFFF"/>
                </a:solidFill>
                <a:latin typeface="IBM Plex Sans Medium" panose="020B0503050203000203" pitchFamily="34" charset="0"/>
                <a:ea typeface="MS PGothic" charset="-128"/>
              </a:rPr>
              <a:t>1.</a:t>
            </a:r>
          </a:p>
        </p:txBody>
      </p:sp>
      <p:sp>
        <p:nvSpPr>
          <p:cNvPr id="173" name="Oval 14">
            <a:extLst>
              <a:ext uri="{FF2B5EF4-FFF2-40B4-BE49-F238E27FC236}">
                <a16:creationId xmlns:a16="http://schemas.microsoft.com/office/drawing/2014/main" id="{028F01BA-7F4A-5CBE-BC70-C4A39C378F43}"/>
              </a:ext>
              <a:ext uri="{C183D7F6-B498-43B3-948B-1728B52AA6E4}">
                <adec:decorative xmlns:adec="http://schemas.microsoft.com/office/drawing/2017/decorative" val="1"/>
              </a:ext>
            </a:extLst>
          </p:cNvPr>
          <p:cNvSpPr>
            <a:spLocks noChangeAspect="1" noChangeArrowheads="1"/>
          </p:cNvSpPr>
          <p:nvPr>
            <p:custDataLst>
              <p:tags r:id="rId2"/>
            </p:custDataLst>
          </p:nvPr>
        </p:nvSpPr>
        <p:spPr bwMode="auto">
          <a:xfrm>
            <a:off x="7080345" y="2528364"/>
            <a:ext cx="439427" cy="440131"/>
          </a:xfrm>
          <a:prstGeom prst="ellipse">
            <a:avLst/>
          </a:prstGeom>
          <a:solidFill>
            <a:schemeClr val="accent1"/>
          </a:solidFill>
          <a:ln w="3175">
            <a:solidFill>
              <a:schemeClr val="bg1"/>
            </a:solid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defRPr/>
            </a:pPr>
            <a:r>
              <a:rPr lang="en-US" altLang="en-US" sz="1000" kern="0">
                <a:solidFill>
                  <a:srgbClr val="FFFFFF"/>
                </a:solidFill>
                <a:latin typeface="IBM Plex Sans Medium" panose="020B0503050203000203" pitchFamily="34" charset="0"/>
                <a:ea typeface="MS PGothic" charset="-128"/>
              </a:rPr>
              <a:t>3.</a:t>
            </a:r>
          </a:p>
        </p:txBody>
      </p:sp>
      <p:sp>
        <p:nvSpPr>
          <p:cNvPr id="174" name="Oval 14">
            <a:extLst>
              <a:ext uri="{FF2B5EF4-FFF2-40B4-BE49-F238E27FC236}">
                <a16:creationId xmlns:a16="http://schemas.microsoft.com/office/drawing/2014/main" id="{2FCD1336-11F5-5BD6-1F5A-80853915C563}"/>
              </a:ext>
              <a:ext uri="{C183D7F6-B498-43B3-948B-1728B52AA6E4}">
                <adec:decorative xmlns:adec="http://schemas.microsoft.com/office/drawing/2017/decorative" val="1"/>
              </a:ext>
            </a:extLst>
          </p:cNvPr>
          <p:cNvSpPr>
            <a:spLocks noChangeAspect="1" noChangeArrowheads="1"/>
          </p:cNvSpPr>
          <p:nvPr>
            <p:custDataLst>
              <p:tags r:id="rId3"/>
            </p:custDataLst>
          </p:nvPr>
        </p:nvSpPr>
        <p:spPr bwMode="auto">
          <a:xfrm>
            <a:off x="8399455" y="1348700"/>
            <a:ext cx="439427" cy="440131"/>
          </a:xfrm>
          <a:prstGeom prst="ellipse">
            <a:avLst/>
          </a:prstGeom>
          <a:solidFill>
            <a:schemeClr val="accent1"/>
          </a:solidFill>
          <a:ln w="3175">
            <a:solidFill>
              <a:schemeClr val="bg1"/>
            </a:solid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defRPr/>
            </a:pPr>
            <a:r>
              <a:rPr lang="en-US" altLang="en-US" sz="1000" kern="0">
                <a:solidFill>
                  <a:srgbClr val="FFFFFF"/>
                </a:solidFill>
                <a:latin typeface="IBM Plex Sans Medium" panose="020B0503050203000203" pitchFamily="34" charset="0"/>
                <a:ea typeface="MS PGothic" charset="-128"/>
              </a:rPr>
              <a:t>2.</a:t>
            </a:r>
          </a:p>
        </p:txBody>
      </p:sp>
      <p:sp>
        <p:nvSpPr>
          <p:cNvPr id="175" name="Oval 14">
            <a:extLst>
              <a:ext uri="{FF2B5EF4-FFF2-40B4-BE49-F238E27FC236}">
                <a16:creationId xmlns:a16="http://schemas.microsoft.com/office/drawing/2014/main" id="{FF6C25C7-1D30-85A8-F88B-BB1962709FE3}"/>
              </a:ext>
              <a:ext uri="{C183D7F6-B498-43B3-948B-1728B52AA6E4}">
                <adec:decorative xmlns:adec="http://schemas.microsoft.com/office/drawing/2017/decorative" val="1"/>
              </a:ext>
            </a:extLst>
          </p:cNvPr>
          <p:cNvSpPr>
            <a:spLocks noChangeAspect="1" noChangeArrowheads="1"/>
          </p:cNvSpPr>
          <p:nvPr>
            <p:custDataLst>
              <p:tags r:id="rId4"/>
            </p:custDataLst>
          </p:nvPr>
        </p:nvSpPr>
        <p:spPr bwMode="auto">
          <a:xfrm>
            <a:off x="8432351" y="2920406"/>
            <a:ext cx="439427" cy="440131"/>
          </a:xfrm>
          <a:prstGeom prst="ellipse">
            <a:avLst/>
          </a:prstGeom>
          <a:solidFill>
            <a:schemeClr val="accent1"/>
          </a:solidFill>
          <a:ln w="3175">
            <a:solidFill>
              <a:schemeClr val="bg1"/>
            </a:solid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defRPr/>
            </a:pPr>
            <a:r>
              <a:rPr lang="en-US" altLang="en-US" sz="1000" kern="0">
                <a:solidFill>
                  <a:srgbClr val="FFFFFF"/>
                </a:solidFill>
                <a:latin typeface="IBM Plex Sans Medium" panose="020B0503050203000203" pitchFamily="34" charset="0"/>
                <a:ea typeface="MS PGothic" charset="-128"/>
              </a:rPr>
              <a:t>5.</a:t>
            </a:r>
          </a:p>
        </p:txBody>
      </p:sp>
      <p:sp>
        <p:nvSpPr>
          <p:cNvPr id="176" name="Oval 14">
            <a:extLst>
              <a:ext uri="{FF2B5EF4-FFF2-40B4-BE49-F238E27FC236}">
                <a16:creationId xmlns:a16="http://schemas.microsoft.com/office/drawing/2014/main" id="{4019F6B9-DF75-5CD5-E989-D5D14E0466E7}"/>
              </a:ext>
              <a:ext uri="{C183D7F6-B498-43B3-948B-1728B52AA6E4}">
                <adec:decorative xmlns:adec="http://schemas.microsoft.com/office/drawing/2017/decorative" val="1"/>
              </a:ext>
            </a:extLst>
          </p:cNvPr>
          <p:cNvSpPr>
            <a:spLocks noChangeAspect="1" noChangeArrowheads="1"/>
          </p:cNvSpPr>
          <p:nvPr>
            <p:custDataLst>
              <p:tags r:id="rId5"/>
            </p:custDataLst>
          </p:nvPr>
        </p:nvSpPr>
        <p:spPr bwMode="auto">
          <a:xfrm>
            <a:off x="7946672" y="3711748"/>
            <a:ext cx="439427" cy="440131"/>
          </a:xfrm>
          <a:prstGeom prst="ellipse">
            <a:avLst/>
          </a:prstGeom>
          <a:solidFill>
            <a:schemeClr val="accent1"/>
          </a:solidFill>
          <a:ln w="3175">
            <a:solidFill>
              <a:schemeClr val="bg1"/>
            </a:solid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defRPr/>
            </a:pPr>
            <a:r>
              <a:rPr lang="en-US" altLang="en-US" sz="1000" kern="0">
                <a:solidFill>
                  <a:srgbClr val="FFFFFF"/>
                </a:solidFill>
                <a:latin typeface="IBM Plex Sans Medium" panose="020B0503050203000203" pitchFamily="34" charset="0"/>
                <a:ea typeface="MS PGothic" charset="-128"/>
              </a:rPr>
              <a:t>7.</a:t>
            </a:r>
          </a:p>
        </p:txBody>
      </p:sp>
      <p:sp>
        <p:nvSpPr>
          <p:cNvPr id="177" name="Oval 14">
            <a:extLst>
              <a:ext uri="{FF2B5EF4-FFF2-40B4-BE49-F238E27FC236}">
                <a16:creationId xmlns:a16="http://schemas.microsoft.com/office/drawing/2014/main" id="{53FB2694-4FEA-9EAB-5784-EAF63B362F6B}"/>
              </a:ext>
              <a:ext uri="{C183D7F6-B498-43B3-948B-1728B52AA6E4}">
                <adec:decorative xmlns:adec="http://schemas.microsoft.com/office/drawing/2017/decorative" val="1"/>
              </a:ext>
            </a:extLst>
          </p:cNvPr>
          <p:cNvSpPr>
            <a:spLocks noChangeAspect="1" noChangeArrowheads="1"/>
          </p:cNvSpPr>
          <p:nvPr>
            <p:custDataLst>
              <p:tags r:id="rId6"/>
            </p:custDataLst>
          </p:nvPr>
        </p:nvSpPr>
        <p:spPr bwMode="auto">
          <a:xfrm>
            <a:off x="6793646" y="3711748"/>
            <a:ext cx="439427" cy="440131"/>
          </a:xfrm>
          <a:prstGeom prst="ellipse">
            <a:avLst/>
          </a:prstGeom>
          <a:solidFill>
            <a:schemeClr val="accent1"/>
          </a:solidFill>
          <a:ln w="3175">
            <a:solidFill>
              <a:schemeClr val="bg1"/>
            </a:solid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defRPr/>
            </a:pPr>
            <a:r>
              <a:rPr lang="en-US" altLang="en-US" sz="1000" kern="0">
                <a:solidFill>
                  <a:srgbClr val="FFFFFF"/>
                </a:solidFill>
                <a:latin typeface="IBM Plex Sans Medium" panose="020B0503050203000203" pitchFamily="34" charset="0"/>
                <a:ea typeface="MS PGothic" charset="-128"/>
              </a:rPr>
              <a:t>6.</a:t>
            </a:r>
          </a:p>
        </p:txBody>
      </p:sp>
      <p:sp>
        <p:nvSpPr>
          <p:cNvPr id="178" name="TextBox 177">
            <a:extLst>
              <a:ext uri="{FF2B5EF4-FFF2-40B4-BE49-F238E27FC236}">
                <a16:creationId xmlns:a16="http://schemas.microsoft.com/office/drawing/2014/main" id="{A29E9D70-F68B-4C8D-14B7-8875D0921FAF}"/>
              </a:ext>
            </a:extLst>
          </p:cNvPr>
          <p:cNvSpPr txBox="1"/>
          <p:nvPr/>
        </p:nvSpPr>
        <p:spPr>
          <a:xfrm>
            <a:off x="7011206" y="4121272"/>
            <a:ext cx="1256463" cy="2835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algn="ctr" defTabSz="1218956">
              <a:spcBef>
                <a:spcPts val="1450"/>
              </a:spcBef>
              <a:buSzPct val="100000"/>
            </a:pPr>
            <a:r>
              <a:rPr lang="en-US" sz="1400" kern="0">
                <a:solidFill>
                  <a:srgbClr val="FFFFFF">
                    <a:lumMod val="75000"/>
                  </a:srgbClr>
                </a:solidFill>
                <a:latin typeface="IBM Plex Sans Light"/>
                <a:sym typeface="IBM Plex Sans Light"/>
              </a:rPr>
              <a:t>Fill-Ins</a:t>
            </a:r>
            <a:endParaRPr lang="en-ID" sz="1400" kern="0">
              <a:solidFill>
                <a:srgbClr val="FFFFFF">
                  <a:lumMod val="75000"/>
                </a:srgbClr>
              </a:solidFill>
              <a:latin typeface="IBM Plex Sans Light"/>
              <a:sym typeface="IBM Plex Sans Light"/>
            </a:endParaRPr>
          </a:p>
        </p:txBody>
      </p:sp>
      <p:sp>
        <p:nvSpPr>
          <p:cNvPr id="179" name="TextBox 178">
            <a:extLst>
              <a:ext uri="{FF2B5EF4-FFF2-40B4-BE49-F238E27FC236}">
                <a16:creationId xmlns:a16="http://schemas.microsoft.com/office/drawing/2014/main" id="{4AA99CDF-4CE8-4441-53EB-EF93BDC703AB}"/>
              </a:ext>
            </a:extLst>
          </p:cNvPr>
          <p:cNvSpPr txBox="1"/>
          <p:nvPr/>
        </p:nvSpPr>
        <p:spPr>
          <a:xfrm>
            <a:off x="9614904" y="4121272"/>
            <a:ext cx="1331827" cy="2835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algn="ctr" defTabSz="1218956">
              <a:spcBef>
                <a:spcPts val="1450"/>
              </a:spcBef>
              <a:buSzPct val="100000"/>
            </a:pPr>
            <a:r>
              <a:rPr lang="en-US" sz="1400" kern="0">
                <a:solidFill>
                  <a:srgbClr val="FFFFFF">
                    <a:lumMod val="75000"/>
                  </a:srgbClr>
                </a:solidFill>
                <a:latin typeface="IBM Plex Sans Light"/>
                <a:sym typeface="IBM Plex Sans Light"/>
              </a:rPr>
              <a:t>Thankless Task</a:t>
            </a:r>
            <a:endParaRPr lang="en-ID" sz="1400" kern="0">
              <a:solidFill>
                <a:srgbClr val="FFFFFF">
                  <a:lumMod val="75000"/>
                </a:srgbClr>
              </a:solidFill>
              <a:latin typeface="IBM Plex Sans Light"/>
              <a:sym typeface="IBM Plex Sans Light"/>
            </a:endParaRPr>
          </a:p>
        </p:txBody>
      </p:sp>
      <p:sp>
        <p:nvSpPr>
          <p:cNvPr id="5" name="Oval 14">
            <a:extLst>
              <a:ext uri="{FF2B5EF4-FFF2-40B4-BE49-F238E27FC236}">
                <a16:creationId xmlns:a16="http://schemas.microsoft.com/office/drawing/2014/main" id="{69BF7E79-EB8E-97DD-E6DA-CC24B32AAB7B}"/>
              </a:ext>
              <a:ext uri="{C183D7F6-B498-43B3-948B-1728B52AA6E4}">
                <adec:decorative xmlns:adec="http://schemas.microsoft.com/office/drawing/2017/decorative" val="1"/>
              </a:ext>
            </a:extLst>
          </p:cNvPr>
          <p:cNvSpPr>
            <a:spLocks noChangeAspect="1" noChangeArrowheads="1"/>
          </p:cNvSpPr>
          <p:nvPr>
            <p:custDataLst>
              <p:tags r:id="rId7"/>
            </p:custDataLst>
          </p:nvPr>
        </p:nvSpPr>
        <p:spPr bwMode="auto">
          <a:xfrm>
            <a:off x="7894032" y="2784501"/>
            <a:ext cx="439427" cy="440131"/>
          </a:xfrm>
          <a:prstGeom prst="ellipse">
            <a:avLst/>
          </a:prstGeom>
          <a:solidFill>
            <a:schemeClr val="accent1"/>
          </a:solidFill>
          <a:ln w="3175">
            <a:solidFill>
              <a:schemeClr val="bg1"/>
            </a:solidFill>
          </a:ln>
        </p:spPr>
        <p:txBody>
          <a:bodyPr wrap="none" anchor="ct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342835">
              <a:defRPr/>
            </a:pPr>
            <a:r>
              <a:rPr lang="en-US" altLang="en-US" sz="1000" kern="0">
                <a:solidFill>
                  <a:srgbClr val="FFFFFF"/>
                </a:solidFill>
                <a:latin typeface="IBM Plex Sans Medium" panose="020B0503050203000203" pitchFamily="34" charset="0"/>
                <a:ea typeface="MS PGothic" charset="-128"/>
              </a:rPr>
              <a:t>4.</a:t>
            </a:r>
          </a:p>
        </p:txBody>
      </p:sp>
    </p:spTree>
    <p:extLst>
      <p:ext uri="{BB962C8B-B14F-4D97-AF65-F5344CB8AC3E}">
        <p14:creationId xmlns:p14="http://schemas.microsoft.com/office/powerpoint/2010/main" val="41101053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250"/>
                                  </p:stCondLst>
                                  <p:childTnLst>
                                    <p:set>
                                      <p:cBhvr>
                                        <p:cTn id="9" dur="1" fill="hold">
                                          <p:stCondLst>
                                            <p:cond delay="0"/>
                                          </p:stCondLst>
                                        </p:cTn>
                                        <p:tgtEl>
                                          <p:spTgt spid="174"/>
                                        </p:tgtEl>
                                        <p:attrNameLst>
                                          <p:attrName>style.visibility</p:attrName>
                                        </p:attrNameLst>
                                      </p:cBhvr>
                                      <p:to>
                                        <p:strVal val="visible"/>
                                      </p:to>
                                    </p:set>
                                  </p:childTnLst>
                                </p:cTn>
                              </p:par>
                            </p:childTnLst>
                          </p:cTn>
                        </p:par>
                        <p:par>
                          <p:cTn id="10" fill="hold">
                            <p:stCondLst>
                              <p:cond delay="250"/>
                            </p:stCondLst>
                            <p:childTnLst>
                              <p:par>
                                <p:cTn id="11" presetID="1" presetClass="entr" presetSubtype="0" fill="hold" grpId="0" nodeType="afterEffect">
                                  <p:stCondLst>
                                    <p:cond delay="250"/>
                                  </p:stCondLst>
                                  <p:childTnLst>
                                    <p:set>
                                      <p:cBhvr>
                                        <p:cTn id="12" dur="1" fill="hold">
                                          <p:stCondLst>
                                            <p:cond delay="0"/>
                                          </p:stCondLst>
                                        </p:cTn>
                                        <p:tgtEl>
                                          <p:spTgt spid="173"/>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250"/>
                                  </p:stCondLst>
                                  <p:childTnLst>
                                    <p:set>
                                      <p:cBhvr>
                                        <p:cTn id="15" dur="1" fill="hold">
                                          <p:stCondLst>
                                            <p:cond delay="0"/>
                                          </p:stCondLst>
                                        </p:cTn>
                                        <p:tgtEl>
                                          <p:spTgt spid="175"/>
                                        </p:tgtEl>
                                        <p:attrNameLst>
                                          <p:attrName>style.visibility</p:attrName>
                                        </p:attrNameLst>
                                      </p:cBhvr>
                                      <p:to>
                                        <p:strVal val="visible"/>
                                      </p:to>
                                    </p:set>
                                  </p:childTnLst>
                                </p:cTn>
                              </p:par>
                            </p:childTnLst>
                          </p:cTn>
                        </p:par>
                        <p:par>
                          <p:cTn id="16" fill="hold">
                            <p:stCondLst>
                              <p:cond delay="750"/>
                            </p:stCondLst>
                            <p:childTnLst>
                              <p:par>
                                <p:cTn id="17" presetID="1" presetClass="entr" presetSubtype="0" fill="hold" grpId="0" nodeType="afterEffect">
                                  <p:stCondLst>
                                    <p:cond delay="250"/>
                                  </p:stCondLst>
                                  <p:childTnLst>
                                    <p:set>
                                      <p:cBhvr>
                                        <p:cTn id="18" dur="1" fill="hold">
                                          <p:stCondLst>
                                            <p:cond delay="0"/>
                                          </p:stCondLst>
                                        </p:cTn>
                                        <p:tgtEl>
                                          <p:spTgt spid="177"/>
                                        </p:tgtEl>
                                        <p:attrNameLst>
                                          <p:attrName>style.visibility</p:attrName>
                                        </p:attrNameLst>
                                      </p:cBhvr>
                                      <p:to>
                                        <p:strVal val="visible"/>
                                      </p:to>
                                    </p:set>
                                  </p:childTnLst>
                                </p:cTn>
                              </p:par>
                            </p:childTnLst>
                          </p:cTn>
                        </p:par>
                        <p:par>
                          <p:cTn id="19" fill="hold">
                            <p:stCondLst>
                              <p:cond delay="1000"/>
                            </p:stCondLst>
                            <p:childTnLst>
                              <p:par>
                                <p:cTn id="20" presetID="1" presetClass="entr" presetSubtype="0" fill="hold" grpId="0" nodeType="afterEffect">
                                  <p:stCondLst>
                                    <p:cond delay="250"/>
                                  </p:stCondLst>
                                  <p:childTnLst>
                                    <p:set>
                                      <p:cBhvr>
                                        <p:cTn id="21" dur="1" fill="hold">
                                          <p:stCondLst>
                                            <p:cond delay="0"/>
                                          </p:stCondLst>
                                        </p:cTn>
                                        <p:tgtEl>
                                          <p:spTgt spid="176"/>
                                        </p:tgtEl>
                                        <p:attrNameLst>
                                          <p:attrName>style.visibility</p:attrName>
                                        </p:attrNameLst>
                                      </p:cBhvr>
                                      <p:to>
                                        <p:strVal val="visible"/>
                                      </p:to>
                                    </p:set>
                                  </p:childTnLst>
                                </p:cTn>
                              </p:par>
                            </p:childTnLst>
                          </p:cTn>
                        </p:par>
                        <p:par>
                          <p:cTn id="22" fill="hold">
                            <p:stCondLst>
                              <p:cond delay="1250"/>
                            </p:stCondLst>
                            <p:childTnLst>
                              <p:par>
                                <p:cTn id="23" presetID="1" presetClass="entr" presetSubtype="0" fill="hold" grpId="0" nodeType="afterEffect">
                                  <p:stCondLst>
                                    <p:cond delay="25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animBg="1"/>
      <p:bldP spid="173" grpId="0" animBg="1"/>
      <p:bldP spid="174" grpId="0" animBg="1"/>
      <p:bldP spid="175" grpId="0" animBg="1"/>
      <p:bldP spid="176" grpId="0" animBg="1"/>
      <p:bldP spid="177"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005E-30B1-FE95-E47D-6CE14D314C91}"/>
              </a:ext>
            </a:extLst>
          </p:cNvPr>
          <p:cNvSpPr>
            <a:spLocks noGrp="1"/>
          </p:cNvSpPr>
          <p:nvPr>
            <p:ph type="title"/>
          </p:nvPr>
        </p:nvSpPr>
        <p:spPr>
          <a:xfrm>
            <a:off x="211808" y="288445"/>
            <a:ext cx="10654802" cy="762695"/>
          </a:xfrm>
        </p:spPr>
        <p:txBody>
          <a:bodyPr/>
          <a:lstStyle/>
          <a:p>
            <a:r>
              <a:rPr lang="en-US" sz="2699"/>
              <a:t>Closing the technology gap</a:t>
            </a:r>
          </a:p>
        </p:txBody>
      </p:sp>
      <p:sp>
        <p:nvSpPr>
          <p:cNvPr id="19" name="Footer Placeholder 3">
            <a:extLst>
              <a:ext uri="{FF2B5EF4-FFF2-40B4-BE49-F238E27FC236}">
                <a16:creationId xmlns:a16="http://schemas.microsoft.com/office/drawing/2014/main" id="{26F3CADC-C035-4D0D-A4F1-82892E4A1DF6}"/>
              </a:ext>
            </a:extLst>
          </p:cNvPr>
          <p:cNvSpPr>
            <a:spLocks noGrp="1"/>
          </p:cNvSpPr>
          <p:nvPr>
            <p:ph type="ftr" sz="quarter" idx="12"/>
          </p:nvPr>
        </p:nvSpPr>
        <p:spPr>
          <a:xfrm>
            <a:off x="287999" y="6400413"/>
            <a:ext cx="2477765" cy="190475"/>
          </a:xfrm>
        </p:spPr>
        <p:txBody>
          <a:bodyPr/>
          <a:lstStyle/>
          <a:p>
            <a:pPr defTabSz="914507"/>
            <a:r>
              <a:rPr lang="en-US">
                <a:solidFill>
                  <a:srgbClr val="000000"/>
                </a:solidFill>
                <a:ea typeface="Times New Roman" panose="02020603050405020304" pitchFamily="18" charset="0"/>
              </a:rPr>
              <a:t>IBM Confidential</a:t>
            </a:r>
          </a:p>
        </p:txBody>
      </p:sp>
      <p:sp>
        <p:nvSpPr>
          <p:cNvPr id="6" name="Slide Number Placeholder 5">
            <a:extLst>
              <a:ext uri="{FF2B5EF4-FFF2-40B4-BE49-F238E27FC236}">
                <a16:creationId xmlns:a16="http://schemas.microsoft.com/office/drawing/2014/main" id="{7B50686E-EF17-CE07-C770-89D8E591E76E}"/>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30</a:t>
            </a:fld>
            <a:endParaRPr lang="en-US">
              <a:solidFill>
                <a:srgbClr val="000000"/>
              </a:solidFill>
            </a:endParaRPr>
          </a:p>
        </p:txBody>
      </p:sp>
      <p:sp>
        <p:nvSpPr>
          <p:cNvPr id="42" name="Right Triangle 41">
            <a:extLst>
              <a:ext uri="{FF2B5EF4-FFF2-40B4-BE49-F238E27FC236}">
                <a16:creationId xmlns:a16="http://schemas.microsoft.com/office/drawing/2014/main" id="{E781D583-7D5A-9928-3E07-A870CBFAD1AE}"/>
              </a:ext>
            </a:extLst>
          </p:cNvPr>
          <p:cNvSpPr/>
          <p:nvPr/>
        </p:nvSpPr>
        <p:spPr>
          <a:xfrm rot="10800000">
            <a:off x="586306" y="1145770"/>
            <a:ext cx="414769" cy="548961"/>
          </a:xfrm>
          <a:prstGeom prst="rtTriangle">
            <a:avLst/>
          </a:prstGeom>
          <a:solidFill>
            <a:srgbClr val="002D9C">
              <a:lumMod val="20000"/>
              <a:lumOff val="80000"/>
            </a:srgbClr>
          </a:solidFill>
          <a:ln w="25400" cap="flat">
            <a:noFill/>
            <a:prstDash val="solid"/>
            <a:round/>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endParaRPr lang="en-US" sz="600" kern="0">
              <a:solidFill>
                <a:srgbClr val="FFFFFF"/>
              </a:solidFill>
              <a:latin typeface="IBM Plex Sans Medium"/>
              <a:ea typeface="IBM Plex Sans Medium"/>
              <a:cs typeface="IBM Plex Sans Medium"/>
              <a:sym typeface="IBM Plex Sans Medium"/>
            </a:endParaRPr>
          </a:p>
        </p:txBody>
      </p:sp>
      <p:sp>
        <p:nvSpPr>
          <p:cNvPr id="43" name="Rounded Rectangle 3">
            <a:extLst>
              <a:ext uri="{FF2B5EF4-FFF2-40B4-BE49-F238E27FC236}">
                <a16:creationId xmlns:a16="http://schemas.microsoft.com/office/drawing/2014/main" id="{447C8D64-B104-82AD-BC13-E5834C14E2F1}"/>
              </a:ext>
            </a:extLst>
          </p:cNvPr>
          <p:cNvSpPr/>
          <p:nvPr/>
        </p:nvSpPr>
        <p:spPr>
          <a:xfrm>
            <a:off x="824751" y="1283772"/>
            <a:ext cx="3939794" cy="184654"/>
          </a:xfrm>
          <a:prstGeom prst="roundRect">
            <a:avLst>
              <a:gd name="adj" fmla="val 0"/>
            </a:avLst>
          </a:prstGeom>
          <a:solidFill>
            <a:srgbClr val="FFFFFF">
              <a:lumMod val="95000"/>
            </a:srgbClr>
          </a:solidFill>
          <a:ln w="25400" cap="flat">
            <a:noFill/>
            <a:prstDash val="solid"/>
            <a:round/>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endParaRPr lang="en-US" sz="600" kern="0">
              <a:solidFill>
                <a:srgbClr val="FFFFFF"/>
              </a:solidFill>
              <a:latin typeface="IBM Plex Sans Medium"/>
              <a:ea typeface="IBM Plex Sans Medium"/>
              <a:cs typeface="IBM Plex Sans Medium"/>
              <a:sym typeface="IBM Plex Sans Medium"/>
            </a:endParaRPr>
          </a:p>
        </p:txBody>
      </p:sp>
      <p:sp>
        <p:nvSpPr>
          <p:cNvPr id="44" name="Rounded Rectangle 5">
            <a:extLst>
              <a:ext uri="{FF2B5EF4-FFF2-40B4-BE49-F238E27FC236}">
                <a16:creationId xmlns:a16="http://schemas.microsoft.com/office/drawing/2014/main" id="{8ABCD0AA-CBEC-3A60-98ED-1E680007EE17}"/>
              </a:ext>
            </a:extLst>
          </p:cNvPr>
          <p:cNvSpPr/>
          <p:nvPr/>
        </p:nvSpPr>
        <p:spPr>
          <a:xfrm>
            <a:off x="586306" y="975498"/>
            <a:ext cx="4178239" cy="307764"/>
          </a:xfrm>
          <a:prstGeom prst="rect">
            <a:avLst/>
          </a:prstGeom>
          <a:solidFill>
            <a:schemeClr val="accent1">
              <a:lumMod val="50000"/>
            </a:schemeClr>
          </a:solidFill>
          <a:ln w="25400" cap="flat">
            <a:noFill/>
            <a:prstDash val="solid"/>
            <a:round/>
          </a:ln>
          <a:effectLst/>
          <a:sp3d/>
        </p:spPr>
        <p:txBody>
          <a:bodyPr rot="0" spcFirstLastPara="1" vertOverflow="overflow" horzOverflow="overflow" vert="horz" wrap="square" lIns="45714" tIns="45714" rIns="45714" bIns="45714" numCol="1" spcCol="38100" rtlCol="0" anchor="t">
            <a:spAutoFit/>
          </a:bodyPr>
          <a:lstStyle/>
          <a:p>
            <a:pPr algn="ctr" defTabSz="342922">
              <a:defRPr/>
            </a:pPr>
            <a:r>
              <a:rPr lang="en-US" sz="1400" kern="0">
                <a:solidFill>
                  <a:srgbClr val="FFFFFF"/>
                </a:solidFill>
                <a:latin typeface="IBM Plex Sans Light"/>
                <a:sym typeface="IBM Plex Sans Light"/>
              </a:rPr>
              <a:t>Initiatives</a:t>
            </a:r>
            <a:endParaRPr lang="en-US" sz="1400" kern="0">
              <a:solidFill>
                <a:srgbClr val="FFFFFF"/>
              </a:solidFill>
              <a:latin typeface="IBM Plex Sans"/>
            </a:endParaRPr>
          </a:p>
        </p:txBody>
      </p:sp>
      <p:sp>
        <p:nvSpPr>
          <p:cNvPr id="45" name="Rounded Rectangle 7">
            <a:extLst>
              <a:ext uri="{FF2B5EF4-FFF2-40B4-BE49-F238E27FC236}">
                <a16:creationId xmlns:a16="http://schemas.microsoft.com/office/drawing/2014/main" id="{B1ED0604-5B23-7520-B566-51BB591056EA}"/>
              </a:ext>
            </a:extLst>
          </p:cNvPr>
          <p:cNvSpPr/>
          <p:nvPr/>
        </p:nvSpPr>
        <p:spPr>
          <a:xfrm>
            <a:off x="5999224" y="1283772"/>
            <a:ext cx="5625518" cy="184654"/>
          </a:xfrm>
          <a:prstGeom prst="roundRect">
            <a:avLst>
              <a:gd name="adj" fmla="val 0"/>
            </a:avLst>
          </a:prstGeom>
          <a:solidFill>
            <a:srgbClr val="FFFFFF">
              <a:lumMod val="95000"/>
            </a:srgbClr>
          </a:solidFill>
          <a:ln w="25400" cap="flat">
            <a:noFill/>
            <a:prstDash val="solid"/>
            <a:round/>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endParaRPr lang="en-US" sz="600" kern="0">
              <a:solidFill>
                <a:srgbClr val="FFFFFF"/>
              </a:solidFill>
              <a:latin typeface="IBM Plex Sans Medium"/>
              <a:ea typeface="IBM Plex Sans Medium"/>
              <a:cs typeface="IBM Plex Sans Medium"/>
              <a:sym typeface="IBM Plex Sans Medium"/>
            </a:endParaRPr>
          </a:p>
        </p:txBody>
      </p:sp>
      <p:sp>
        <p:nvSpPr>
          <p:cNvPr id="46" name="Oval 45">
            <a:extLst>
              <a:ext uri="{FF2B5EF4-FFF2-40B4-BE49-F238E27FC236}">
                <a16:creationId xmlns:a16="http://schemas.microsoft.com/office/drawing/2014/main" id="{EC9C9891-1D15-86CC-78D6-945E3CFD8DB5}"/>
              </a:ext>
            </a:extLst>
          </p:cNvPr>
          <p:cNvSpPr/>
          <p:nvPr/>
        </p:nvSpPr>
        <p:spPr>
          <a:xfrm>
            <a:off x="969456" y="1681627"/>
            <a:ext cx="269965" cy="273600"/>
          </a:xfrm>
          <a:prstGeom prst="ellipse">
            <a:avLst/>
          </a:prstGeom>
          <a:solidFill>
            <a:schemeClr val="accent1">
              <a:lumMod val="50000"/>
            </a:schemeClr>
          </a:solidFill>
          <a:ln w="25400" cap="flat">
            <a:noFill/>
            <a:prstDash val="solid"/>
            <a:round/>
          </a:ln>
          <a:effectLst/>
          <a:sp3d/>
        </p:spPr>
        <p:txBody>
          <a:bodyPr rot="0" spcFirstLastPara="1" vertOverflow="overflow" horzOverflow="overflow" vert="horz" wrap="square" lIns="0" tIns="0" rIns="0" bIns="0" numCol="1" spcCol="38100" rtlCol="0" anchor="ctr">
            <a:spAutoFit/>
          </a:bodyPr>
          <a:lstStyle/>
          <a:p>
            <a:pPr algn="ctr" defTabSz="342922" hangingPunct="0">
              <a:defRPr/>
            </a:pPr>
            <a:r>
              <a:rPr lang="en-US" sz="700" kern="0" dirty="0">
                <a:solidFill>
                  <a:srgbClr val="FFFFFF"/>
                </a:solidFill>
                <a:latin typeface="IBM Plex Sans Medium"/>
                <a:ea typeface="IBM Plex Sans Medium"/>
                <a:cs typeface="IBM Plex Sans Medium"/>
                <a:sym typeface="IBM Plex Sans Medium"/>
              </a:rPr>
              <a:t>1.</a:t>
            </a:r>
          </a:p>
        </p:txBody>
      </p:sp>
      <p:sp>
        <p:nvSpPr>
          <p:cNvPr id="47" name="Oval 46">
            <a:extLst>
              <a:ext uri="{FF2B5EF4-FFF2-40B4-BE49-F238E27FC236}">
                <a16:creationId xmlns:a16="http://schemas.microsoft.com/office/drawing/2014/main" id="{BCC61DE6-6DD8-E6FF-C671-5AF424349E5E}"/>
              </a:ext>
            </a:extLst>
          </p:cNvPr>
          <p:cNvSpPr/>
          <p:nvPr/>
        </p:nvSpPr>
        <p:spPr>
          <a:xfrm>
            <a:off x="966559" y="2173163"/>
            <a:ext cx="269965" cy="273600"/>
          </a:xfrm>
          <a:prstGeom prst="ellipse">
            <a:avLst/>
          </a:prstGeom>
          <a:solidFill>
            <a:schemeClr val="accent1">
              <a:lumMod val="50000"/>
            </a:schemeClr>
          </a:solidFill>
          <a:ln w="25400" cap="flat">
            <a:noFill/>
            <a:prstDash val="solid"/>
            <a:round/>
          </a:ln>
          <a:effectLst/>
          <a:sp3d/>
        </p:spPr>
        <p:txBody>
          <a:bodyPr rot="0" spcFirstLastPara="1" vertOverflow="overflow" horzOverflow="overflow" vert="horz" wrap="square" lIns="0" tIns="0" rIns="0" bIns="0" numCol="1" spcCol="38100" rtlCol="0" anchor="ctr">
            <a:spAutoFit/>
          </a:bodyPr>
          <a:lstStyle/>
          <a:p>
            <a:pPr algn="ctr" defTabSz="342922" hangingPunct="0">
              <a:defRPr/>
            </a:pPr>
            <a:r>
              <a:rPr lang="en-US" sz="700" kern="0" dirty="0">
                <a:solidFill>
                  <a:srgbClr val="FFFFFF"/>
                </a:solidFill>
                <a:latin typeface="IBM Plex Sans Medium"/>
                <a:ea typeface="IBM Plex Sans Medium"/>
                <a:cs typeface="IBM Plex Sans Medium"/>
                <a:sym typeface="IBM Plex Sans Medium"/>
              </a:rPr>
              <a:t>2.</a:t>
            </a:r>
          </a:p>
        </p:txBody>
      </p:sp>
      <p:sp>
        <p:nvSpPr>
          <p:cNvPr id="50" name="TextBox 49">
            <a:extLst>
              <a:ext uri="{FF2B5EF4-FFF2-40B4-BE49-F238E27FC236}">
                <a16:creationId xmlns:a16="http://schemas.microsoft.com/office/drawing/2014/main" id="{2807869E-1CD9-5EF8-9BAE-CAF8A9D46E82}"/>
              </a:ext>
            </a:extLst>
          </p:cNvPr>
          <p:cNvSpPr txBox="1"/>
          <p:nvPr/>
        </p:nvSpPr>
        <p:spPr>
          <a:xfrm>
            <a:off x="1330550" y="1596369"/>
            <a:ext cx="3246550" cy="3785640"/>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600" kern="0">
                <a:solidFill>
                  <a:srgbClr val="535353">
                    <a:lumMod val="50000"/>
                  </a:srgbClr>
                </a:solidFill>
                <a:latin typeface="IBM Plex Sans Light"/>
                <a:sym typeface="IBM Plex Sans Light"/>
              </a:rPr>
              <a:t>Guardium Data Protection</a:t>
            </a:r>
          </a:p>
          <a:p>
            <a:pPr defTabSz="342922" hangingPunct="0">
              <a:defRPr/>
            </a:pPr>
            <a:endParaRPr lang="en-US" sz="1600" kern="0">
              <a:solidFill>
                <a:srgbClr val="535353">
                  <a:lumMod val="50000"/>
                </a:srgbClr>
              </a:solidFill>
              <a:latin typeface="IBM Plex Sans Light"/>
              <a:sym typeface="IBM Plex Sans Light"/>
            </a:endParaRPr>
          </a:p>
          <a:p>
            <a:pPr defTabSz="342922" hangingPunct="0">
              <a:defRPr/>
            </a:pPr>
            <a:r>
              <a:rPr lang="en-US" sz="1600" kern="0">
                <a:solidFill>
                  <a:srgbClr val="535353">
                    <a:lumMod val="50000"/>
                  </a:srgbClr>
                </a:solidFill>
                <a:latin typeface="IBM Plex Sans Light"/>
                <a:sym typeface="IBM Plex Sans Light"/>
              </a:rPr>
              <a:t>Guardium Data Encryption</a:t>
            </a:r>
          </a:p>
          <a:p>
            <a:pPr defTabSz="342922" hangingPunct="0">
              <a:defRPr/>
            </a:pPr>
            <a:endParaRPr lang="en-US" sz="1600" kern="0">
              <a:solidFill>
                <a:srgbClr val="535353">
                  <a:lumMod val="50000"/>
                </a:srgbClr>
              </a:solidFill>
              <a:latin typeface="IBM Plex Sans Light"/>
              <a:sym typeface="IBM Plex Sans Light"/>
            </a:endParaRPr>
          </a:p>
          <a:p>
            <a:pPr defTabSz="342922" hangingPunct="0">
              <a:defRPr/>
            </a:pPr>
            <a:r>
              <a:rPr lang="en-US" sz="1600" kern="0">
                <a:solidFill>
                  <a:srgbClr val="535353">
                    <a:lumMod val="50000"/>
                  </a:srgbClr>
                </a:solidFill>
                <a:latin typeface="IBM Plex Sans Light"/>
              </a:rPr>
              <a:t>IBM Security Discover &amp; Classify</a:t>
            </a:r>
            <a:endParaRPr lang="en-US" sz="1600" kern="0">
              <a:solidFill>
                <a:srgbClr val="535353">
                  <a:lumMod val="50000"/>
                </a:srgbClr>
              </a:solidFill>
              <a:latin typeface="IBM Plex Sans Light"/>
              <a:sym typeface="IBM Plex Sans Light"/>
            </a:endParaRPr>
          </a:p>
          <a:p>
            <a:pPr defTabSz="342922" hangingPunct="0">
              <a:defRPr/>
            </a:pPr>
            <a:endParaRPr lang="en-US" sz="1600" kern="0">
              <a:solidFill>
                <a:srgbClr val="535353">
                  <a:lumMod val="50000"/>
                </a:srgbClr>
              </a:solidFill>
              <a:latin typeface="IBM Plex Sans Light"/>
              <a:sym typeface="IBM Plex Sans Light"/>
            </a:endParaRPr>
          </a:p>
          <a:p>
            <a:pPr defTabSz="342922" hangingPunct="0">
              <a:defRPr/>
            </a:pPr>
            <a:r>
              <a:rPr lang="en-ID" sz="1600">
                <a:solidFill>
                  <a:srgbClr val="000000"/>
                </a:solidFill>
                <a:latin typeface="IBM Plex Sans Light"/>
              </a:rPr>
              <a:t>IBM Knowledge </a:t>
            </a:r>
            <a:r>
              <a:rPr lang="en-ID" sz="1600" err="1">
                <a:solidFill>
                  <a:srgbClr val="000000"/>
                </a:solidFill>
                <a:latin typeface="IBM Plex Sans Light"/>
              </a:rPr>
              <a:t>Catalog</a:t>
            </a:r>
            <a:r>
              <a:rPr lang="en-ID" sz="1600">
                <a:solidFill>
                  <a:srgbClr val="000000"/>
                </a:solidFill>
                <a:latin typeface="IBM Plex Sans Light"/>
              </a:rPr>
              <a:t> (Data Governance)</a:t>
            </a:r>
          </a:p>
          <a:p>
            <a:pPr defTabSz="342922" hangingPunct="0">
              <a:defRPr/>
            </a:pPr>
            <a:endParaRPr lang="en-ID" sz="1600">
              <a:solidFill>
                <a:srgbClr val="000000"/>
              </a:solidFill>
              <a:latin typeface="IBM Plex Sans Light"/>
            </a:endParaRPr>
          </a:p>
          <a:p>
            <a:pPr defTabSz="342922" hangingPunct="0">
              <a:defRPr/>
            </a:pPr>
            <a:r>
              <a:rPr lang="en-ID" sz="1600" err="1">
                <a:solidFill>
                  <a:srgbClr val="000000"/>
                </a:solidFill>
                <a:latin typeface="IBM Plex Sans Light"/>
              </a:rPr>
              <a:t>Instana</a:t>
            </a:r>
            <a:r>
              <a:rPr lang="en-ID" sz="1600">
                <a:solidFill>
                  <a:srgbClr val="000000"/>
                </a:solidFill>
                <a:latin typeface="IBM Plex Sans Light"/>
              </a:rPr>
              <a:t> (Application Performance Monitoring)</a:t>
            </a:r>
          </a:p>
          <a:p>
            <a:pPr defTabSz="342922" hangingPunct="0">
              <a:defRPr/>
            </a:pPr>
            <a:endParaRPr lang="en-ID" sz="1600">
              <a:solidFill>
                <a:srgbClr val="000000"/>
              </a:solidFill>
              <a:latin typeface="IBM Plex Sans Light"/>
            </a:endParaRPr>
          </a:p>
          <a:p>
            <a:pPr defTabSz="342922" hangingPunct="0">
              <a:defRPr/>
            </a:pPr>
            <a:r>
              <a:rPr lang="en-ID" sz="1600">
                <a:solidFill>
                  <a:srgbClr val="000000"/>
                </a:solidFill>
                <a:latin typeface="IBM Plex Sans Light"/>
              </a:rPr>
              <a:t>IBM Verify (Consent Management)</a:t>
            </a:r>
          </a:p>
          <a:p>
            <a:pPr defTabSz="342922" hangingPunct="0">
              <a:defRPr/>
            </a:pPr>
            <a:endParaRPr lang="en-ID" sz="1600" kern="0">
              <a:solidFill>
                <a:srgbClr val="535353">
                  <a:lumMod val="50000"/>
                </a:srgbClr>
              </a:solidFill>
              <a:latin typeface="IBM Plex Sans Light"/>
            </a:endParaRPr>
          </a:p>
          <a:p>
            <a:pPr defTabSz="342922" hangingPunct="0">
              <a:defRPr/>
            </a:pPr>
            <a:r>
              <a:rPr lang="en-US" sz="1600" kern="0">
                <a:solidFill>
                  <a:srgbClr val="535353">
                    <a:lumMod val="50000"/>
                  </a:srgbClr>
                </a:solidFill>
                <a:latin typeface="IBM Plex Sans Light"/>
              </a:rPr>
              <a:t>IBM OpenPages (GRC)</a:t>
            </a:r>
          </a:p>
        </p:txBody>
      </p:sp>
      <p:sp>
        <p:nvSpPr>
          <p:cNvPr id="51" name="TextBox 50">
            <a:extLst>
              <a:ext uri="{FF2B5EF4-FFF2-40B4-BE49-F238E27FC236}">
                <a16:creationId xmlns:a16="http://schemas.microsoft.com/office/drawing/2014/main" id="{955813EF-F201-F87B-9959-85A1AD74EC1A}"/>
              </a:ext>
            </a:extLst>
          </p:cNvPr>
          <p:cNvSpPr txBox="1"/>
          <p:nvPr/>
        </p:nvSpPr>
        <p:spPr>
          <a:xfrm>
            <a:off x="6393692" y="1508683"/>
            <a:ext cx="4997707" cy="461653"/>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200" kern="0">
                <a:solidFill>
                  <a:srgbClr val="535353">
                    <a:lumMod val="50000"/>
                  </a:srgbClr>
                </a:solidFill>
                <a:latin typeface="IBM Plex Sans Light"/>
                <a:sym typeface="IBM Plex Sans Light"/>
              </a:rPr>
              <a:t>Enables monitoring and control of data access and usage, critical for security and auditability.</a:t>
            </a:r>
          </a:p>
        </p:txBody>
      </p:sp>
      <p:sp>
        <p:nvSpPr>
          <p:cNvPr id="52" name="Rounded Rectangle 5">
            <a:extLst>
              <a:ext uri="{FF2B5EF4-FFF2-40B4-BE49-F238E27FC236}">
                <a16:creationId xmlns:a16="http://schemas.microsoft.com/office/drawing/2014/main" id="{B808537D-CB7E-94F0-7B78-87D3BBDFC30C}"/>
              </a:ext>
            </a:extLst>
          </p:cNvPr>
          <p:cNvSpPr/>
          <p:nvPr/>
        </p:nvSpPr>
        <p:spPr>
          <a:xfrm>
            <a:off x="5999224" y="975483"/>
            <a:ext cx="5625518" cy="307764"/>
          </a:xfrm>
          <a:prstGeom prst="rect">
            <a:avLst/>
          </a:prstGeom>
          <a:solidFill>
            <a:srgbClr val="0F62FE"/>
          </a:solidFill>
          <a:ln w="25400" cap="flat">
            <a:noFill/>
            <a:prstDash val="solid"/>
            <a:round/>
          </a:ln>
          <a:effectLst/>
          <a:sp3d/>
        </p:spPr>
        <p:txBody>
          <a:bodyPr rot="0" spcFirstLastPara="1" vertOverflow="overflow" horzOverflow="overflow" vert="horz" wrap="square" lIns="45714" tIns="45714" rIns="45714" bIns="45714" numCol="1" spcCol="38100" rtlCol="0" anchor="ctr">
            <a:spAutoFit/>
          </a:bodyPr>
          <a:lstStyle/>
          <a:p>
            <a:pPr algn="ctr" defTabSz="342922" hangingPunct="0">
              <a:defRPr/>
            </a:pPr>
            <a:r>
              <a:rPr lang="en-US" sz="1400" kern="0">
                <a:solidFill>
                  <a:srgbClr val="FFFFFF"/>
                </a:solidFill>
                <a:latin typeface="IBM Plex Sans Light"/>
                <a:sym typeface="IBM Plex Sans Light"/>
              </a:rPr>
              <a:t>Urgency</a:t>
            </a:r>
          </a:p>
        </p:txBody>
      </p:sp>
      <p:sp>
        <p:nvSpPr>
          <p:cNvPr id="60" name="Oval 59">
            <a:extLst>
              <a:ext uri="{FF2B5EF4-FFF2-40B4-BE49-F238E27FC236}">
                <a16:creationId xmlns:a16="http://schemas.microsoft.com/office/drawing/2014/main" id="{F93E19BB-4044-3644-FA23-A3CDD6BE3EC6}"/>
              </a:ext>
            </a:extLst>
          </p:cNvPr>
          <p:cNvSpPr/>
          <p:nvPr/>
        </p:nvSpPr>
        <p:spPr>
          <a:xfrm>
            <a:off x="6138541" y="1613311"/>
            <a:ext cx="269965" cy="273600"/>
          </a:xfrm>
          <a:prstGeom prst="ellipse">
            <a:avLst/>
          </a:prstGeom>
          <a:solidFill>
            <a:srgbClr val="0F62FE"/>
          </a:solidFill>
          <a:ln w="25400" cap="flat">
            <a:noFill/>
            <a:prstDash val="solid"/>
            <a:round/>
          </a:ln>
          <a:effectLst/>
          <a:sp3d/>
        </p:spPr>
        <p:txBody>
          <a:bodyPr rot="0" spcFirstLastPara="1" vertOverflow="overflow" horzOverflow="overflow" vert="horz" wrap="square" lIns="0" tIns="0" rIns="0" bIns="0" numCol="1" spcCol="38100" rtlCol="0" anchor="ctr">
            <a:sp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1.</a:t>
            </a:r>
          </a:p>
        </p:txBody>
      </p:sp>
      <p:sp>
        <p:nvSpPr>
          <p:cNvPr id="61" name="Oval 60">
            <a:extLst>
              <a:ext uri="{FF2B5EF4-FFF2-40B4-BE49-F238E27FC236}">
                <a16:creationId xmlns:a16="http://schemas.microsoft.com/office/drawing/2014/main" id="{ED95F2EB-CCA2-7D28-2F23-FEEFFC827703}"/>
              </a:ext>
            </a:extLst>
          </p:cNvPr>
          <p:cNvSpPr/>
          <p:nvPr/>
        </p:nvSpPr>
        <p:spPr>
          <a:xfrm>
            <a:off x="6138541" y="2138264"/>
            <a:ext cx="269965" cy="273600"/>
          </a:xfrm>
          <a:prstGeom prst="ellipse">
            <a:avLst/>
          </a:prstGeom>
          <a:solidFill>
            <a:srgbClr val="0F62FE"/>
          </a:solidFill>
          <a:ln w="25400" cap="flat">
            <a:noFill/>
            <a:prstDash val="solid"/>
            <a:round/>
          </a:ln>
          <a:effectLst/>
          <a:sp3d/>
        </p:spPr>
        <p:txBody>
          <a:bodyPr rot="0" spcFirstLastPara="1" vertOverflow="overflow" horzOverflow="overflow" vert="horz" wrap="square" lIns="0" tIns="0" rIns="0" bIns="0" numCol="1" spcCol="38100" rtlCol="0" anchor="ctr">
            <a:sp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2.</a:t>
            </a:r>
          </a:p>
        </p:txBody>
      </p:sp>
      <p:sp>
        <p:nvSpPr>
          <p:cNvPr id="65" name="Isosceles Triangle 64">
            <a:extLst>
              <a:ext uri="{FF2B5EF4-FFF2-40B4-BE49-F238E27FC236}">
                <a16:creationId xmlns:a16="http://schemas.microsoft.com/office/drawing/2014/main" id="{F11D0400-C5EA-09D2-24E6-EC3B20F737D7}"/>
              </a:ext>
            </a:extLst>
          </p:cNvPr>
          <p:cNvSpPr/>
          <p:nvPr/>
        </p:nvSpPr>
        <p:spPr bwMode="auto">
          <a:xfrm rot="5400000">
            <a:off x="3567075" y="3272705"/>
            <a:ext cx="3647601" cy="612609"/>
          </a:xfrm>
          <a:prstGeom prst="triangl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ID" sz="700">
              <a:solidFill>
                <a:srgbClr val="FFFFFF"/>
              </a:solidFill>
              <a:latin typeface="IBM Plex Sans Light"/>
            </a:endParaRPr>
          </a:p>
        </p:txBody>
      </p:sp>
      <p:pic>
        <p:nvPicPr>
          <p:cNvPr id="3" name="Picture 2" descr="Data privacy, Black pictogram">
            <a:extLst>
              <a:ext uri="{FF2B5EF4-FFF2-40B4-BE49-F238E27FC236}">
                <a16:creationId xmlns:a16="http://schemas.microsoft.com/office/drawing/2014/main" id="{31C567E0-FC6F-8955-D360-EB7A40183749}"/>
              </a:ext>
            </a:extLst>
          </p:cNvPr>
          <p:cNvPicPr>
            <a:picLocks noChangeAspect="1"/>
          </p:cNvPicPr>
          <p:nvPr/>
        </p:nvPicPr>
        <p:blipFill>
          <a:blip r:embed="rId2">
            <a:lum bright="70000" contrast="-70000"/>
          </a:blip>
          <a:srcRect/>
          <a:stretch/>
        </p:blipFill>
        <p:spPr>
          <a:xfrm>
            <a:off x="3982790" y="5309025"/>
            <a:ext cx="754324" cy="754324"/>
          </a:xfrm>
          <a:prstGeom prst="rect">
            <a:avLst/>
          </a:prstGeom>
        </p:spPr>
      </p:pic>
      <p:sp>
        <p:nvSpPr>
          <p:cNvPr id="4" name="Oval 3">
            <a:extLst>
              <a:ext uri="{FF2B5EF4-FFF2-40B4-BE49-F238E27FC236}">
                <a16:creationId xmlns:a16="http://schemas.microsoft.com/office/drawing/2014/main" id="{57209281-A755-229C-3EF0-D1DA63AF30D9}"/>
              </a:ext>
            </a:extLst>
          </p:cNvPr>
          <p:cNvSpPr>
            <a:spLocks/>
          </p:cNvSpPr>
          <p:nvPr/>
        </p:nvSpPr>
        <p:spPr>
          <a:xfrm>
            <a:off x="966559" y="2595933"/>
            <a:ext cx="269965" cy="269965"/>
          </a:xfrm>
          <a:prstGeom prst="ellipse">
            <a:avLst/>
          </a:prstGeom>
          <a:solidFill>
            <a:schemeClr val="accent1">
              <a:lumMod val="50000"/>
            </a:schemeClr>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3.</a:t>
            </a:r>
          </a:p>
        </p:txBody>
      </p:sp>
      <p:sp>
        <p:nvSpPr>
          <p:cNvPr id="5" name="Oval 4">
            <a:extLst>
              <a:ext uri="{FF2B5EF4-FFF2-40B4-BE49-F238E27FC236}">
                <a16:creationId xmlns:a16="http://schemas.microsoft.com/office/drawing/2014/main" id="{800842E0-37C0-27D1-9EFC-0631CE55D85B}"/>
              </a:ext>
            </a:extLst>
          </p:cNvPr>
          <p:cNvSpPr>
            <a:spLocks/>
          </p:cNvSpPr>
          <p:nvPr/>
        </p:nvSpPr>
        <p:spPr>
          <a:xfrm>
            <a:off x="966559" y="3089262"/>
            <a:ext cx="269965" cy="269965"/>
          </a:xfrm>
          <a:prstGeom prst="ellipse">
            <a:avLst/>
          </a:prstGeom>
          <a:solidFill>
            <a:schemeClr val="accent1">
              <a:lumMod val="50000"/>
            </a:schemeClr>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4.</a:t>
            </a:r>
          </a:p>
        </p:txBody>
      </p:sp>
      <p:sp>
        <p:nvSpPr>
          <p:cNvPr id="7" name="Oval 6">
            <a:extLst>
              <a:ext uri="{FF2B5EF4-FFF2-40B4-BE49-F238E27FC236}">
                <a16:creationId xmlns:a16="http://schemas.microsoft.com/office/drawing/2014/main" id="{374D8652-3C37-1C6A-7EAC-A18203BA60E1}"/>
              </a:ext>
            </a:extLst>
          </p:cNvPr>
          <p:cNvSpPr>
            <a:spLocks/>
          </p:cNvSpPr>
          <p:nvPr/>
        </p:nvSpPr>
        <p:spPr>
          <a:xfrm>
            <a:off x="966559" y="3817717"/>
            <a:ext cx="269965" cy="269965"/>
          </a:xfrm>
          <a:prstGeom prst="ellipse">
            <a:avLst/>
          </a:prstGeom>
          <a:solidFill>
            <a:schemeClr val="accent1">
              <a:lumMod val="50000"/>
            </a:schemeClr>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5.</a:t>
            </a:r>
          </a:p>
        </p:txBody>
      </p:sp>
      <p:sp>
        <p:nvSpPr>
          <p:cNvPr id="8" name="Oval 7">
            <a:extLst>
              <a:ext uri="{FF2B5EF4-FFF2-40B4-BE49-F238E27FC236}">
                <a16:creationId xmlns:a16="http://schemas.microsoft.com/office/drawing/2014/main" id="{E769A4BF-1B3E-C90C-A9B3-F9A87CD81A06}"/>
              </a:ext>
            </a:extLst>
          </p:cNvPr>
          <p:cNvSpPr>
            <a:spLocks/>
          </p:cNvSpPr>
          <p:nvPr/>
        </p:nvSpPr>
        <p:spPr>
          <a:xfrm>
            <a:off x="966559" y="4546172"/>
            <a:ext cx="269965" cy="269965"/>
          </a:xfrm>
          <a:prstGeom prst="ellipse">
            <a:avLst/>
          </a:prstGeom>
          <a:solidFill>
            <a:schemeClr val="accent1">
              <a:lumMod val="50000"/>
            </a:schemeClr>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6.</a:t>
            </a:r>
          </a:p>
        </p:txBody>
      </p:sp>
      <p:sp>
        <p:nvSpPr>
          <p:cNvPr id="9" name="TextBox 8">
            <a:extLst>
              <a:ext uri="{FF2B5EF4-FFF2-40B4-BE49-F238E27FC236}">
                <a16:creationId xmlns:a16="http://schemas.microsoft.com/office/drawing/2014/main" id="{2BAD21BE-A662-06C0-6155-A85E44D0ED32}"/>
              </a:ext>
            </a:extLst>
          </p:cNvPr>
          <p:cNvSpPr txBox="1"/>
          <p:nvPr/>
        </p:nvSpPr>
        <p:spPr>
          <a:xfrm>
            <a:off x="6393692" y="2035248"/>
            <a:ext cx="4997707" cy="461653"/>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200" kern="0">
                <a:solidFill>
                  <a:srgbClr val="535353">
                    <a:lumMod val="50000"/>
                  </a:srgbClr>
                </a:solidFill>
                <a:latin typeface="IBM Plex Sans Light"/>
                <a:sym typeface="IBM Plex Sans Light"/>
              </a:rPr>
              <a:t>Encrypts sensitive personal data, ensuring secure data-at-rest in compliance with PDP Law.</a:t>
            </a:r>
          </a:p>
        </p:txBody>
      </p:sp>
      <p:sp>
        <p:nvSpPr>
          <p:cNvPr id="10" name="TextBox 9">
            <a:extLst>
              <a:ext uri="{FF2B5EF4-FFF2-40B4-BE49-F238E27FC236}">
                <a16:creationId xmlns:a16="http://schemas.microsoft.com/office/drawing/2014/main" id="{1398F42A-3382-FF05-384C-4C1390C611EA}"/>
              </a:ext>
            </a:extLst>
          </p:cNvPr>
          <p:cNvSpPr txBox="1"/>
          <p:nvPr/>
        </p:nvSpPr>
        <p:spPr>
          <a:xfrm>
            <a:off x="6393692" y="2566815"/>
            <a:ext cx="4997707" cy="461653"/>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200" kern="0">
                <a:solidFill>
                  <a:srgbClr val="535353">
                    <a:lumMod val="50000"/>
                  </a:srgbClr>
                </a:solidFill>
                <a:latin typeface="IBM Plex Sans Light"/>
                <a:sym typeface="IBM Plex Sans Light"/>
              </a:rPr>
              <a:t>Enables the organization to know where all personal data resides, essential for risk management and classification.</a:t>
            </a:r>
          </a:p>
        </p:txBody>
      </p:sp>
      <p:sp>
        <p:nvSpPr>
          <p:cNvPr id="11" name="Oval 10">
            <a:extLst>
              <a:ext uri="{FF2B5EF4-FFF2-40B4-BE49-F238E27FC236}">
                <a16:creationId xmlns:a16="http://schemas.microsoft.com/office/drawing/2014/main" id="{4DEBEC7E-5B65-B72E-C72F-E2B995B5DD68}"/>
              </a:ext>
            </a:extLst>
          </p:cNvPr>
          <p:cNvSpPr/>
          <p:nvPr/>
        </p:nvSpPr>
        <p:spPr>
          <a:xfrm>
            <a:off x="6138541" y="2623338"/>
            <a:ext cx="269965" cy="269965"/>
          </a:xfrm>
          <a:prstGeom prst="ellipse">
            <a:avLst/>
          </a:prstGeom>
          <a:solidFill>
            <a:srgbClr val="0F62FE"/>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3.</a:t>
            </a:r>
          </a:p>
        </p:txBody>
      </p:sp>
      <p:sp>
        <p:nvSpPr>
          <p:cNvPr id="13" name="TextBox 12">
            <a:extLst>
              <a:ext uri="{FF2B5EF4-FFF2-40B4-BE49-F238E27FC236}">
                <a16:creationId xmlns:a16="http://schemas.microsoft.com/office/drawing/2014/main" id="{7449B18D-585A-C51D-8CF8-8B63D058C60D}"/>
              </a:ext>
            </a:extLst>
          </p:cNvPr>
          <p:cNvSpPr txBox="1"/>
          <p:nvPr/>
        </p:nvSpPr>
        <p:spPr>
          <a:xfrm>
            <a:off x="6393692" y="3708145"/>
            <a:ext cx="4997707" cy="461653"/>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200" kern="0">
                <a:solidFill>
                  <a:srgbClr val="535353">
                    <a:lumMod val="50000"/>
                  </a:srgbClr>
                </a:solidFill>
                <a:latin typeface="IBM Plex Sans Light"/>
                <a:sym typeface="IBM Plex Sans Light"/>
              </a:rPr>
              <a:t>Monitors system health and detects anomalies in real time to proactively address breaches.</a:t>
            </a:r>
          </a:p>
        </p:txBody>
      </p:sp>
      <p:sp>
        <p:nvSpPr>
          <p:cNvPr id="14" name="Oval 13">
            <a:extLst>
              <a:ext uri="{FF2B5EF4-FFF2-40B4-BE49-F238E27FC236}">
                <a16:creationId xmlns:a16="http://schemas.microsoft.com/office/drawing/2014/main" id="{50B99AAC-849F-36B5-C995-9E9684B30C42}"/>
              </a:ext>
            </a:extLst>
          </p:cNvPr>
          <p:cNvSpPr/>
          <p:nvPr/>
        </p:nvSpPr>
        <p:spPr>
          <a:xfrm>
            <a:off x="6138541" y="3148292"/>
            <a:ext cx="269965" cy="269965"/>
          </a:xfrm>
          <a:prstGeom prst="ellipse">
            <a:avLst/>
          </a:prstGeom>
          <a:solidFill>
            <a:srgbClr val="0F62FE"/>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4.</a:t>
            </a:r>
          </a:p>
        </p:txBody>
      </p:sp>
      <p:sp>
        <p:nvSpPr>
          <p:cNvPr id="16" name="TextBox 15">
            <a:extLst>
              <a:ext uri="{FF2B5EF4-FFF2-40B4-BE49-F238E27FC236}">
                <a16:creationId xmlns:a16="http://schemas.microsoft.com/office/drawing/2014/main" id="{C1152EE8-744D-DC2D-1336-756A0D0396C3}"/>
              </a:ext>
            </a:extLst>
          </p:cNvPr>
          <p:cNvSpPr txBox="1"/>
          <p:nvPr/>
        </p:nvSpPr>
        <p:spPr>
          <a:xfrm>
            <a:off x="6393692" y="4285810"/>
            <a:ext cx="4997707" cy="461653"/>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200" kern="0">
                <a:solidFill>
                  <a:srgbClr val="535353">
                    <a:lumMod val="50000"/>
                  </a:srgbClr>
                </a:solidFill>
                <a:latin typeface="IBM Plex Sans Light"/>
                <a:sym typeface="IBM Plex Sans Light"/>
              </a:rPr>
              <a:t>Captures and manages user consent, ensuring the organization respects and tracks data preferences.</a:t>
            </a:r>
          </a:p>
        </p:txBody>
      </p:sp>
      <p:sp>
        <p:nvSpPr>
          <p:cNvPr id="17" name="Oval 16">
            <a:extLst>
              <a:ext uri="{FF2B5EF4-FFF2-40B4-BE49-F238E27FC236}">
                <a16:creationId xmlns:a16="http://schemas.microsoft.com/office/drawing/2014/main" id="{D585320C-F4E0-339A-2480-E5E3741BD796}"/>
              </a:ext>
            </a:extLst>
          </p:cNvPr>
          <p:cNvSpPr/>
          <p:nvPr/>
        </p:nvSpPr>
        <p:spPr>
          <a:xfrm>
            <a:off x="6138541" y="3723452"/>
            <a:ext cx="269965" cy="269965"/>
          </a:xfrm>
          <a:prstGeom prst="ellipse">
            <a:avLst/>
          </a:prstGeom>
          <a:solidFill>
            <a:srgbClr val="0F62FE"/>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5.</a:t>
            </a:r>
          </a:p>
        </p:txBody>
      </p:sp>
      <p:sp>
        <p:nvSpPr>
          <p:cNvPr id="18" name="TextBox 17">
            <a:extLst>
              <a:ext uri="{FF2B5EF4-FFF2-40B4-BE49-F238E27FC236}">
                <a16:creationId xmlns:a16="http://schemas.microsoft.com/office/drawing/2014/main" id="{6C3C9D16-A344-0B00-CFD5-E6CE40B7B818}"/>
              </a:ext>
            </a:extLst>
          </p:cNvPr>
          <p:cNvSpPr txBox="1"/>
          <p:nvPr/>
        </p:nvSpPr>
        <p:spPr>
          <a:xfrm>
            <a:off x="6393692" y="4808258"/>
            <a:ext cx="4997707" cy="461653"/>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200" kern="0">
                <a:solidFill>
                  <a:srgbClr val="535353">
                    <a:lumMod val="50000"/>
                  </a:srgbClr>
                </a:solidFill>
                <a:latin typeface="IBM Plex Sans Light"/>
                <a:sym typeface="IBM Plex Sans Light"/>
              </a:rPr>
              <a:t>Provides structured privacy governance, incident workflows, and regulatory compliance alignment.</a:t>
            </a:r>
          </a:p>
        </p:txBody>
      </p:sp>
      <p:sp>
        <p:nvSpPr>
          <p:cNvPr id="20" name="Oval 19">
            <a:extLst>
              <a:ext uri="{FF2B5EF4-FFF2-40B4-BE49-F238E27FC236}">
                <a16:creationId xmlns:a16="http://schemas.microsoft.com/office/drawing/2014/main" id="{7D53A610-085B-FFD9-FDFF-945F4D99D73F}"/>
              </a:ext>
            </a:extLst>
          </p:cNvPr>
          <p:cNvSpPr/>
          <p:nvPr/>
        </p:nvSpPr>
        <p:spPr>
          <a:xfrm>
            <a:off x="6138541" y="4254337"/>
            <a:ext cx="269965" cy="269965"/>
          </a:xfrm>
          <a:prstGeom prst="ellipse">
            <a:avLst/>
          </a:prstGeom>
          <a:solidFill>
            <a:srgbClr val="0F62FE"/>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6.</a:t>
            </a:r>
          </a:p>
        </p:txBody>
      </p:sp>
      <p:sp>
        <p:nvSpPr>
          <p:cNvPr id="21" name="Oval 20">
            <a:extLst>
              <a:ext uri="{FF2B5EF4-FFF2-40B4-BE49-F238E27FC236}">
                <a16:creationId xmlns:a16="http://schemas.microsoft.com/office/drawing/2014/main" id="{39122F27-E927-4495-D440-B9B5B3E9BDB9}"/>
              </a:ext>
            </a:extLst>
          </p:cNvPr>
          <p:cNvSpPr/>
          <p:nvPr/>
        </p:nvSpPr>
        <p:spPr>
          <a:xfrm>
            <a:off x="6136612" y="4849474"/>
            <a:ext cx="269965" cy="269965"/>
          </a:xfrm>
          <a:prstGeom prst="ellipse">
            <a:avLst/>
          </a:prstGeom>
          <a:solidFill>
            <a:srgbClr val="0F62FE"/>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7.</a:t>
            </a:r>
          </a:p>
        </p:txBody>
      </p:sp>
      <p:sp>
        <p:nvSpPr>
          <p:cNvPr id="22" name="Oval 21">
            <a:extLst>
              <a:ext uri="{FF2B5EF4-FFF2-40B4-BE49-F238E27FC236}">
                <a16:creationId xmlns:a16="http://schemas.microsoft.com/office/drawing/2014/main" id="{F0483FC3-2313-75DB-C70F-36253B3D9534}"/>
              </a:ext>
            </a:extLst>
          </p:cNvPr>
          <p:cNvSpPr>
            <a:spLocks/>
          </p:cNvSpPr>
          <p:nvPr/>
        </p:nvSpPr>
        <p:spPr>
          <a:xfrm>
            <a:off x="977996" y="5039060"/>
            <a:ext cx="269965" cy="269965"/>
          </a:xfrm>
          <a:prstGeom prst="ellipse">
            <a:avLst/>
          </a:prstGeom>
          <a:solidFill>
            <a:schemeClr val="accent1">
              <a:lumMod val="50000"/>
            </a:schemeClr>
          </a:solidFill>
          <a:ln w="25400" cap="flat">
            <a:noFill/>
            <a:prstDash val="solid"/>
            <a:round/>
          </a:ln>
          <a:effectLst/>
          <a:sp3d/>
        </p:spPr>
        <p:txBody>
          <a:bodyPr rot="0" spcFirstLastPara="1" vertOverflow="overflow" horzOverflow="overflow" vert="horz" wrap="square" lIns="0" tIns="0" rIns="0" bIns="0" numCol="1" spcCol="38100" rtlCol="0" anchor="ctr">
            <a:noAutofit/>
          </a:bodyPr>
          <a:lstStyle/>
          <a:p>
            <a:pPr algn="ctr" defTabSz="342922" hangingPunct="0">
              <a:defRPr/>
            </a:pPr>
            <a:r>
              <a:rPr lang="en-US" sz="700" kern="0">
                <a:solidFill>
                  <a:srgbClr val="FFFFFF"/>
                </a:solidFill>
                <a:latin typeface="IBM Plex Sans Medium"/>
                <a:ea typeface="IBM Plex Sans Medium"/>
                <a:cs typeface="IBM Plex Sans Medium"/>
                <a:sym typeface="IBM Plex Sans Medium"/>
              </a:rPr>
              <a:t>7.</a:t>
            </a:r>
          </a:p>
        </p:txBody>
      </p:sp>
      <p:sp>
        <p:nvSpPr>
          <p:cNvPr id="23" name="TextBox 22">
            <a:extLst>
              <a:ext uri="{FF2B5EF4-FFF2-40B4-BE49-F238E27FC236}">
                <a16:creationId xmlns:a16="http://schemas.microsoft.com/office/drawing/2014/main" id="{CA609569-0631-168E-F11F-1ACB04F17D8D}"/>
              </a:ext>
            </a:extLst>
          </p:cNvPr>
          <p:cNvSpPr txBox="1"/>
          <p:nvPr/>
        </p:nvSpPr>
        <p:spPr>
          <a:xfrm>
            <a:off x="6408948" y="3116081"/>
            <a:ext cx="4997707" cy="461653"/>
          </a:xfrm>
          <a:prstGeom prst="rect">
            <a:avLst/>
          </a:prstGeom>
          <a:noFill/>
          <a:ln w="12700" cap="flat">
            <a:noFill/>
            <a:miter lim="400000"/>
          </a:ln>
          <a:effectLst/>
          <a:sp3d/>
        </p:spPr>
        <p:txBody>
          <a:bodyPr rot="0" spcFirstLastPara="1" vertOverflow="overflow" horzOverflow="overflow" vert="horz" wrap="square" lIns="45714" tIns="45714" rIns="45714" bIns="45714" numCol="1" spcCol="38100" rtlCol="0" anchor="t">
            <a:spAutoFit/>
          </a:bodyPr>
          <a:lstStyle/>
          <a:p>
            <a:pPr defTabSz="342922" hangingPunct="0">
              <a:defRPr/>
            </a:pPr>
            <a:r>
              <a:rPr lang="en-US" sz="1200" kern="0">
                <a:solidFill>
                  <a:srgbClr val="535353">
                    <a:lumMod val="50000"/>
                  </a:srgbClr>
                </a:solidFill>
                <a:latin typeface="IBM Plex Sans Light"/>
                <a:sym typeface="IBM Plex Sans Light"/>
              </a:rPr>
              <a:t>Establishes metadata governance, access rules, and glossary standards, enabling traceability and access control across the data lifecycle.</a:t>
            </a:r>
          </a:p>
        </p:txBody>
      </p:sp>
    </p:spTree>
    <p:extLst>
      <p:ext uri="{BB962C8B-B14F-4D97-AF65-F5344CB8AC3E}">
        <p14:creationId xmlns:p14="http://schemas.microsoft.com/office/powerpoint/2010/main" val="5573025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CDE521E-8D9E-7980-3E94-0EADC665A20E}"/>
              </a:ext>
            </a:extLst>
          </p:cNvPr>
          <p:cNvSpPr>
            <a:spLocks noGrp="1"/>
          </p:cNvSpPr>
          <p:nvPr>
            <p:ph type="title"/>
          </p:nvPr>
        </p:nvSpPr>
        <p:spPr>
          <a:xfrm>
            <a:off x="164190" y="349254"/>
            <a:ext cx="10654802" cy="762695"/>
          </a:xfrm>
        </p:spPr>
        <p:txBody>
          <a:bodyPr/>
          <a:lstStyle/>
          <a:p>
            <a:r>
              <a:rPr lang="en-US" sz="2699"/>
              <a:t>Next Steps</a:t>
            </a:r>
          </a:p>
        </p:txBody>
      </p:sp>
      <p:pic>
        <p:nvPicPr>
          <p:cNvPr id="8" name="Picture Placeholder" descr="picture placeholde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p:pic>
      <p:sp>
        <p:nvSpPr>
          <p:cNvPr id="6" name="Text Placeholder 1"/>
          <p:cNvSpPr>
            <a:spLocks noGrp="1"/>
          </p:cNvSpPr>
          <p:nvPr>
            <p:ph type="body" sz="quarter" idx="13"/>
          </p:nvPr>
        </p:nvSpPr>
        <p:spPr>
          <a:xfrm>
            <a:off x="164190" y="1658343"/>
            <a:ext cx="5778637" cy="4335723"/>
          </a:xfrm>
        </p:spPr>
        <p:txBody>
          <a:bodyPr/>
          <a:lstStyle/>
          <a:p>
            <a:r>
              <a:rPr lang="en-US"/>
              <a:t>Selected technology deep-dive discussion</a:t>
            </a:r>
          </a:p>
          <a:p>
            <a:r>
              <a:rPr lang="en-US" sz="1333"/>
              <a:t>Discuss further with us to understand how specific technology within IBM can help you to comply with the PDP Law. See IBM’s approach to the selected technology in action and get started with in-app guidance through common use cases.</a:t>
            </a:r>
          </a:p>
          <a:p>
            <a:r>
              <a:rPr lang="en-US" sz="1400">
                <a:solidFill>
                  <a:srgbClr val="0061FF"/>
                </a:solidFill>
                <a:latin typeface="IBM Plex Sans Light" panose="020B0403050203000203" pitchFamily="34" charset="0"/>
                <a:hlinkClick r:id="rId3"/>
              </a:rPr>
              <a:t>Ask your rep to engage</a:t>
            </a:r>
            <a:endParaRPr lang="en-US" sz="1400">
              <a:solidFill>
                <a:srgbClr val="0061FF"/>
              </a:solidFill>
              <a:latin typeface="IBM Plex Sans Light" panose="020B0403050203000203" pitchFamily="34" charset="0"/>
            </a:endParaRPr>
          </a:p>
          <a:p>
            <a:endParaRPr lang="en-US" sz="1400">
              <a:solidFill>
                <a:srgbClr val="0061FF"/>
              </a:solidFill>
              <a:latin typeface="IBM Plex Sans Light" panose="020B0403050203000203" pitchFamily="34" charset="0"/>
            </a:endParaRPr>
          </a:p>
          <a:p>
            <a:endParaRPr lang="en-US" sz="1400">
              <a:solidFill>
                <a:srgbClr val="0061FF"/>
              </a:solidFill>
              <a:latin typeface="IBM Plex Sans Light" panose="020B0403050203000203" pitchFamily="34" charset="0"/>
            </a:endParaRPr>
          </a:p>
          <a:p>
            <a:r>
              <a:rPr lang="en-US" sz="1400">
                <a:latin typeface="IBM Plex Sans Light" panose="020B0403050203000203" pitchFamily="34" charset="0"/>
              </a:rPr>
              <a:t>More details about our solutions to support your privacy journey:</a:t>
            </a:r>
          </a:p>
          <a:p>
            <a:r>
              <a:rPr lang="en-US" sz="1400">
                <a:latin typeface="IBM Plex Sans Light" panose="020B0403050203000203" pitchFamily="34" charset="0"/>
                <a:hlinkClick r:id="rId4"/>
              </a:rPr>
              <a:t>ibm.com/data-privacy</a:t>
            </a:r>
            <a:endParaRPr lang="en-US" sz="1400">
              <a:latin typeface="IBM Plex Sans Light" panose="020B0403050203000203" pitchFamily="34" charset="0"/>
            </a:endParaRPr>
          </a:p>
          <a:p>
            <a:endParaRPr lang="en-US" sz="1400">
              <a:latin typeface="IBM Plex Sans Light" panose="020B0403050203000203" pitchFamily="34" charset="0"/>
            </a:endParaRPr>
          </a:p>
          <a:p>
            <a:endParaRPr lang="en-US" sz="1333"/>
          </a:p>
        </p:txBody>
      </p:sp>
      <p:sp>
        <p:nvSpPr>
          <p:cNvPr id="5" name="Slide Number Placeholder"/>
          <p:cNvSpPr>
            <a:spLocks noGrp="1"/>
          </p:cNvSpPr>
          <p:nvPr>
            <p:ph type="sldNum" sz="quarter" idx="11"/>
          </p:nvPr>
        </p:nvSpPr>
        <p:spPr>
          <a:xfrm>
            <a:off x="11782872" y="6468968"/>
            <a:ext cx="121828" cy="123111"/>
          </a:xfrm>
        </p:spPr>
        <p:txBody>
          <a:bodyPr/>
          <a:lstStyle/>
          <a:p>
            <a:pPr defTabSz="914507"/>
            <a:fld id="{59395FB3-9C97-154F-86B2-7E381B951268}" type="slidenum">
              <a:rPr lang="en-US">
                <a:solidFill>
                  <a:srgbClr val="FFFFFF"/>
                </a:solidFill>
              </a:rPr>
              <a:pPr defTabSz="914507"/>
              <a:t>31</a:t>
            </a:fld>
            <a:endParaRPr lang="en-US">
              <a:solidFill>
                <a:srgbClr val="FFFFFF"/>
              </a:solidFill>
            </a:endParaRPr>
          </a:p>
        </p:txBody>
      </p:sp>
      <p:pic>
        <p:nvPicPr>
          <p:cNvPr id="19" name="Picture 18" descr="Bee, Blue 60 pictogram">
            <a:extLst>
              <a:ext uri="{FF2B5EF4-FFF2-40B4-BE49-F238E27FC236}">
                <a16:creationId xmlns:a16="http://schemas.microsoft.com/office/drawing/2014/main" id="{C2AA3603-7FC6-4995-63E7-19879BF84C10}"/>
              </a:ext>
            </a:extLst>
          </p:cNvPr>
          <p:cNvPicPr>
            <a:picLocks noChangeAspect="1"/>
          </p:cNvPicPr>
          <p:nvPr/>
        </p:nvPicPr>
        <p:blipFill>
          <a:blip r:embed="rId5">
            <a:biLevel thresh="50000"/>
          </a:blip>
          <a:srcRect/>
          <a:stretch/>
        </p:blipFill>
        <p:spPr>
          <a:xfrm>
            <a:off x="5333306" y="6095653"/>
            <a:ext cx="609521" cy="609521"/>
          </a:xfrm>
          <a:prstGeom prst="rect">
            <a:avLst/>
          </a:prstGeom>
        </p:spPr>
      </p:pic>
      <p:sp>
        <p:nvSpPr>
          <p:cNvPr id="20" name="Footer Placeholder 3">
            <a:extLst>
              <a:ext uri="{FF2B5EF4-FFF2-40B4-BE49-F238E27FC236}">
                <a16:creationId xmlns:a16="http://schemas.microsoft.com/office/drawing/2014/main" id="{12B98D31-0DF5-404A-8894-BFE42902A4EB}"/>
              </a:ext>
            </a:extLst>
          </p:cNvPr>
          <p:cNvSpPr txBox="1">
            <a:spLocks/>
          </p:cNvSpPr>
          <p:nvPr/>
        </p:nvSpPr>
        <p:spPr>
          <a:xfrm>
            <a:off x="240380" y="6440413"/>
            <a:ext cx="2477765" cy="190475"/>
          </a:xfrm>
          <a:prstGeom prst="rect">
            <a:avLst/>
          </a:prstGeom>
        </p:spPr>
        <p:txBody>
          <a:bodyPr/>
          <a:ls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r>
              <a:rPr lang="en-US" sz="800">
                <a:solidFill>
                  <a:srgbClr val="000000"/>
                </a:solidFill>
                <a:latin typeface="IBM Plex Sans" panose="020B0503050203000203" pitchFamily="34" charset="0"/>
                <a:ea typeface="Times New Roman" panose="02020603050405020304" pitchFamily="18" charset="0"/>
              </a:rPr>
              <a:t>IBM Confidential</a:t>
            </a:r>
          </a:p>
        </p:txBody>
      </p:sp>
    </p:spTree>
    <p:extLst>
      <p:ext uri="{BB962C8B-B14F-4D97-AF65-F5344CB8AC3E}">
        <p14:creationId xmlns:p14="http://schemas.microsoft.com/office/powerpoint/2010/main" val="2017711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ntent Placeholder 4">
            <a:extLst>
              <a:ext uri="{FF2B5EF4-FFF2-40B4-BE49-F238E27FC236}">
                <a16:creationId xmlns:a16="http://schemas.microsoft.com/office/drawing/2014/main" id="{B7AFBFB7-E17B-320B-778E-3A556DB828E2}"/>
              </a:ext>
            </a:extLst>
          </p:cNvPr>
          <p:cNvSpPr txBox="1">
            <a:spLocks/>
          </p:cNvSpPr>
          <p:nvPr/>
        </p:nvSpPr>
        <p:spPr>
          <a:xfrm>
            <a:off x="6443017" y="2475193"/>
            <a:ext cx="5399297" cy="428472"/>
          </a:xfrm>
          <a:prstGeom prst="rect">
            <a:avLst/>
          </a:prstGeom>
        </p:spPr>
        <p:txBody>
          <a:bodyPr vert="horz" lIns="91428" tIns="45714" rIns="91428" bIns="45714"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217">
              <a:buNone/>
              <a:defRPr/>
            </a:pPr>
            <a:r>
              <a:rPr lang="en-US" sz="1600">
                <a:solidFill>
                  <a:srgbClr val="000000"/>
                </a:solidFill>
                <a:latin typeface="IBM Plex Sans Light"/>
              </a:rPr>
              <a:t>Compliance &amp; Process Automation Quick Start</a:t>
            </a:r>
          </a:p>
          <a:p>
            <a:pPr marL="0" indent="0" defTabSz="914217">
              <a:buNone/>
              <a:defRPr/>
            </a:pPr>
            <a:endParaRPr lang="en-US" sz="1600">
              <a:solidFill>
                <a:srgbClr val="000000"/>
              </a:solidFill>
              <a:latin typeface="IBM Plex Sans Light"/>
            </a:endParaRPr>
          </a:p>
        </p:txBody>
      </p:sp>
      <p:pic>
        <p:nvPicPr>
          <p:cNvPr id="36" name="Picture">
            <a:extLst>
              <a:ext uri="{FF2B5EF4-FFF2-40B4-BE49-F238E27FC236}">
                <a16:creationId xmlns:a16="http://schemas.microsoft.com/office/drawing/2014/main" id="{FA021A23-7BB4-54A8-7A6F-5C7828C2B176}"/>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3359" b="16537"/>
          <a:stretch/>
        </p:blipFill>
        <p:spPr>
          <a:xfrm>
            <a:off x="6565211" y="3477565"/>
            <a:ext cx="5625996" cy="3379990"/>
          </a:xfrm>
          <a:prstGeom prst="rect">
            <a:avLst/>
          </a:prstGeom>
        </p:spPr>
      </p:pic>
      <p:sp>
        <p:nvSpPr>
          <p:cNvPr id="2" name="Slide Number Placeholder 4">
            <a:extLst>
              <a:ext uri="{FF2B5EF4-FFF2-40B4-BE49-F238E27FC236}">
                <a16:creationId xmlns:a16="http://schemas.microsoft.com/office/drawing/2014/main" id="{0E913E04-1BE9-F16B-AEFB-2742FBFF4161}"/>
              </a:ext>
            </a:extLst>
          </p:cNvPr>
          <p:cNvSpPr>
            <a:spLocks noGrp="1"/>
          </p:cNvSpPr>
          <p:nvPr>
            <p:ph type="sldNum" sz="quarter" idx="11"/>
          </p:nvPr>
        </p:nvSpPr>
        <p:spPr>
          <a:xfrm>
            <a:off x="11783575" y="6461429"/>
            <a:ext cx="121828" cy="123111"/>
          </a:xfrm>
        </p:spPr>
        <p:txBody>
          <a:bodyPr/>
          <a:lstStyle/>
          <a:p>
            <a:pPr defTabSz="914194"/>
            <a:fld id="{F340E423-AC49-674F-B87E-EB73F7A22223}" type="slidenum">
              <a:rPr lang="en-US">
                <a:solidFill>
                  <a:srgbClr val="000000"/>
                </a:solidFill>
                <a:latin typeface="IBM Plex Sans Light"/>
              </a:rPr>
              <a:pPr defTabSz="914194"/>
              <a:t>32</a:t>
            </a:fld>
            <a:endParaRPr lang="en-US">
              <a:solidFill>
                <a:srgbClr val="000000"/>
              </a:solidFill>
              <a:latin typeface="IBM Plex Sans Light"/>
            </a:endParaRPr>
          </a:p>
        </p:txBody>
      </p:sp>
      <p:sp>
        <p:nvSpPr>
          <p:cNvPr id="10" name="Content Placeholder 4">
            <a:extLst>
              <a:ext uri="{FF2B5EF4-FFF2-40B4-BE49-F238E27FC236}">
                <a16:creationId xmlns:a16="http://schemas.microsoft.com/office/drawing/2014/main" id="{2E81EF16-1A10-A01F-FCD7-1049FC3A2A2E}"/>
              </a:ext>
            </a:extLst>
          </p:cNvPr>
          <p:cNvSpPr txBox="1">
            <a:spLocks/>
          </p:cNvSpPr>
          <p:nvPr/>
        </p:nvSpPr>
        <p:spPr>
          <a:xfrm>
            <a:off x="492834" y="880794"/>
            <a:ext cx="5399297" cy="382537"/>
          </a:xfrm>
          <a:prstGeom prst="rect">
            <a:avLst/>
          </a:prstGeom>
        </p:spPr>
        <p:txBody>
          <a:bodyPr vert="horz" lIns="0" tIns="0" rIns="0" bIns="0" rtlCol="0">
            <a:noAutofit/>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defTabSz="914507">
              <a:spcBef>
                <a:spcPts val="733"/>
              </a:spcBef>
            </a:pPr>
            <a:r>
              <a:rPr lang="en-US" sz="1600" kern="0">
                <a:solidFill>
                  <a:srgbClr val="000000"/>
                </a:solidFill>
                <a:latin typeface="IBM Plex Sans Light"/>
              </a:rPr>
              <a:t>Consent Management Quick Start</a:t>
            </a:r>
          </a:p>
        </p:txBody>
      </p:sp>
      <p:sp>
        <p:nvSpPr>
          <p:cNvPr id="12" name="Rectangle 11">
            <a:extLst>
              <a:ext uri="{FF2B5EF4-FFF2-40B4-BE49-F238E27FC236}">
                <a16:creationId xmlns:a16="http://schemas.microsoft.com/office/drawing/2014/main" id="{7028D6BF-2833-36C2-0D1F-F700D8D488D8}"/>
              </a:ext>
            </a:extLst>
          </p:cNvPr>
          <p:cNvSpPr/>
          <p:nvPr/>
        </p:nvSpPr>
        <p:spPr>
          <a:xfrm>
            <a:off x="492834" y="1170509"/>
            <a:ext cx="5399297" cy="1095193"/>
          </a:xfrm>
          <a:prstGeom prst="rect">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16" indent="-171416" defTabSz="914217">
              <a:buFontTx/>
              <a:buChar char="–"/>
              <a:defRPr/>
            </a:pPr>
            <a:r>
              <a:rPr lang="en-US" sz="1200">
                <a:solidFill>
                  <a:srgbClr val="000000"/>
                </a:solidFill>
                <a:latin typeface="IBM Plex Sans Medium" panose="020B0603050203000203" pitchFamily="34" charset="0"/>
              </a:rPr>
              <a:t>IBM Security Verify Access</a:t>
            </a:r>
            <a:r>
              <a:rPr lang="en-US" sz="1200">
                <a:solidFill>
                  <a:srgbClr val="000000"/>
                </a:solidFill>
                <a:latin typeface="IBM Plex Sans Light"/>
              </a:rPr>
              <a:t> – Access Management (Single Sign-On / Consumer Identity and Access Management / Adaptive Access) Use-Case</a:t>
            </a:r>
          </a:p>
          <a:p>
            <a:pPr marL="171416" indent="-171416" defTabSz="914217">
              <a:buFontTx/>
              <a:buChar char="–"/>
              <a:defRPr/>
            </a:pPr>
            <a:r>
              <a:rPr lang="en-US" sz="1200">
                <a:solidFill>
                  <a:srgbClr val="000000"/>
                </a:solidFill>
                <a:latin typeface="IBM Plex Sans Medium" panose="020B0603050203000203" pitchFamily="34" charset="0"/>
              </a:rPr>
              <a:t>IBM Security Trusteer Pinpoint Detect</a:t>
            </a:r>
            <a:r>
              <a:rPr lang="en-US" sz="1200">
                <a:solidFill>
                  <a:srgbClr val="000000"/>
                </a:solidFill>
                <a:latin typeface="IBM Plex Sans Light"/>
              </a:rPr>
              <a:t> – Identity Risk Fraud Detection System (Known Users) Use-Case</a:t>
            </a:r>
          </a:p>
          <a:p>
            <a:pPr marL="171416" indent="-171416" defTabSz="914217">
              <a:buFontTx/>
              <a:buChar char="–"/>
              <a:defRPr/>
            </a:pPr>
            <a:r>
              <a:rPr lang="en-US" sz="1200">
                <a:solidFill>
                  <a:srgbClr val="000000"/>
                </a:solidFill>
                <a:latin typeface="IBM Plex Sans Medium" panose="020B0603050203000203" pitchFamily="34" charset="0"/>
              </a:rPr>
              <a:t>IBM Security Verify Privilege Vault</a:t>
            </a:r>
            <a:r>
              <a:rPr lang="en-US" sz="1200">
                <a:solidFill>
                  <a:srgbClr val="000000"/>
                </a:solidFill>
                <a:latin typeface="IBM Plex Sans Light"/>
              </a:rPr>
              <a:t> – Privilege Access Management Use-Case</a:t>
            </a:r>
          </a:p>
        </p:txBody>
      </p:sp>
      <p:sp>
        <p:nvSpPr>
          <p:cNvPr id="16" name="Content Placeholder 4">
            <a:extLst>
              <a:ext uri="{FF2B5EF4-FFF2-40B4-BE49-F238E27FC236}">
                <a16:creationId xmlns:a16="http://schemas.microsoft.com/office/drawing/2014/main" id="{9C36675B-E0DC-A758-0534-70775D1A6729}"/>
              </a:ext>
            </a:extLst>
          </p:cNvPr>
          <p:cNvSpPr txBox="1">
            <a:spLocks/>
          </p:cNvSpPr>
          <p:nvPr/>
        </p:nvSpPr>
        <p:spPr>
          <a:xfrm>
            <a:off x="492834" y="3589407"/>
            <a:ext cx="5399297" cy="428472"/>
          </a:xfrm>
          <a:prstGeom prst="rect">
            <a:avLst/>
          </a:prstGeom>
        </p:spPr>
        <p:txBody>
          <a:bodyPr vert="horz" lIns="91428" tIns="45714" rIns="91428" bIns="45714"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217">
              <a:buNone/>
              <a:defRPr/>
            </a:pPr>
            <a:r>
              <a:rPr lang="en-US" sz="1600">
                <a:solidFill>
                  <a:srgbClr val="000000"/>
                </a:solidFill>
                <a:latin typeface="IBM Plex Sans Light"/>
              </a:rPr>
              <a:t>Data Security Quick Start</a:t>
            </a:r>
          </a:p>
        </p:txBody>
      </p:sp>
      <p:sp>
        <p:nvSpPr>
          <p:cNvPr id="20" name="Content Placeholder 4">
            <a:extLst>
              <a:ext uri="{FF2B5EF4-FFF2-40B4-BE49-F238E27FC236}">
                <a16:creationId xmlns:a16="http://schemas.microsoft.com/office/drawing/2014/main" id="{408A3077-79EA-DC60-A5BD-690079EE4928}"/>
              </a:ext>
            </a:extLst>
          </p:cNvPr>
          <p:cNvSpPr txBox="1">
            <a:spLocks/>
          </p:cNvSpPr>
          <p:nvPr/>
        </p:nvSpPr>
        <p:spPr>
          <a:xfrm>
            <a:off x="6443016" y="880794"/>
            <a:ext cx="5399297" cy="428472"/>
          </a:xfrm>
          <a:prstGeom prst="rect">
            <a:avLst/>
          </a:prstGeom>
        </p:spPr>
        <p:txBody>
          <a:bodyPr vert="horz" lIns="91428" tIns="45714" rIns="91428" bIns="45714"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217">
              <a:buNone/>
              <a:defRPr/>
            </a:pPr>
            <a:r>
              <a:rPr lang="en-US" sz="1600">
                <a:solidFill>
                  <a:srgbClr val="000000"/>
                </a:solidFill>
                <a:latin typeface="IBM Plex Sans Light"/>
              </a:rPr>
              <a:t>Data Governance Quick Start</a:t>
            </a:r>
          </a:p>
        </p:txBody>
      </p:sp>
      <p:sp>
        <p:nvSpPr>
          <p:cNvPr id="21" name="Content Placeholder 4">
            <a:extLst>
              <a:ext uri="{FF2B5EF4-FFF2-40B4-BE49-F238E27FC236}">
                <a16:creationId xmlns:a16="http://schemas.microsoft.com/office/drawing/2014/main" id="{4F323A98-FE2A-32CC-AAF2-566A2DF812FF}"/>
              </a:ext>
            </a:extLst>
          </p:cNvPr>
          <p:cNvSpPr txBox="1">
            <a:spLocks/>
          </p:cNvSpPr>
          <p:nvPr/>
        </p:nvSpPr>
        <p:spPr>
          <a:xfrm>
            <a:off x="492834" y="2468351"/>
            <a:ext cx="5399297" cy="428472"/>
          </a:xfrm>
          <a:prstGeom prst="rect">
            <a:avLst/>
          </a:prstGeom>
        </p:spPr>
        <p:txBody>
          <a:bodyPr vert="horz" lIns="91428" tIns="45714" rIns="91428" bIns="45714"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217">
              <a:buNone/>
              <a:defRPr/>
            </a:pPr>
            <a:r>
              <a:rPr lang="en-US" sz="1600">
                <a:solidFill>
                  <a:srgbClr val="000000"/>
                </a:solidFill>
                <a:latin typeface="IBM Plex Sans Light"/>
              </a:rPr>
              <a:t>Endpoint Security Quick Start</a:t>
            </a:r>
          </a:p>
        </p:txBody>
      </p:sp>
      <p:sp>
        <p:nvSpPr>
          <p:cNvPr id="22" name="Rectangle 21">
            <a:extLst>
              <a:ext uri="{FF2B5EF4-FFF2-40B4-BE49-F238E27FC236}">
                <a16:creationId xmlns:a16="http://schemas.microsoft.com/office/drawing/2014/main" id="{38D68C6F-76D6-2994-A857-A7AA559D9E4B}"/>
              </a:ext>
            </a:extLst>
          </p:cNvPr>
          <p:cNvSpPr/>
          <p:nvPr/>
        </p:nvSpPr>
        <p:spPr>
          <a:xfrm>
            <a:off x="492835" y="2820140"/>
            <a:ext cx="5399297" cy="570498"/>
          </a:xfrm>
          <a:prstGeom prst="rect">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93636" indent="-193636" defTabSz="914217">
              <a:buFontTx/>
              <a:buChar char="–"/>
              <a:defRPr/>
            </a:pPr>
            <a:r>
              <a:rPr lang="en-US" sz="1200">
                <a:solidFill>
                  <a:srgbClr val="000000"/>
                </a:solidFill>
                <a:latin typeface="IBM Plex Sans Medium" panose="020B0603050203000203" pitchFamily="34" charset="0"/>
              </a:rPr>
              <a:t>IBM Security MaaS360 with Watson</a:t>
            </a:r>
            <a:r>
              <a:rPr lang="en-US" sz="1200">
                <a:solidFill>
                  <a:srgbClr val="000000"/>
                </a:solidFill>
                <a:latin typeface="IBM Plex Sans Light"/>
              </a:rPr>
              <a:t> – Unified Endpoint Management / BYOD Use-Case</a:t>
            </a:r>
            <a:r>
              <a:rPr lang="en-US" sz="1200">
                <a:solidFill>
                  <a:prstClr val="white"/>
                </a:solidFill>
                <a:latin typeface="IBM Plex Sans Light"/>
              </a:rPr>
              <a:t> </a:t>
            </a:r>
            <a:endParaRPr lang="en-US" sz="1200">
              <a:solidFill>
                <a:srgbClr val="4472C4">
                  <a:lumMod val="50000"/>
                </a:srgbClr>
              </a:solidFill>
              <a:latin typeface="IBM Plex Sans Light"/>
            </a:endParaRPr>
          </a:p>
        </p:txBody>
      </p:sp>
      <p:sp>
        <p:nvSpPr>
          <p:cNvPr id="23" name="Rectangle 22">
            <a:extLst>
              <a:ext uri="{FF2B5EF4-FFF2-40B4-BE49-F238E27FC236}">
                <a16:creationId xmlns:a16="http://schemas.microsoft.com/office/drawing/2014/main" id="{60C762AB-AA80-5894-6916-5C1311B3E95C}"/>
              </a:ext>
            </a:extLst>
          </p:cNvPr>
          <p:cNvSpPr/>
          <p:nvPr/>
        </p:nvSpPr>
        <p:spPr>
          <a:xfrm>
            <a:off x="492835" y="3900228"/>
            <a:ext cx="5399297" cy="2150143"/>
          </a:xfrm>
          <a:prstGeom prst="rect">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16" indent="-171416" defTabSz="914217">
              <a:buFont typeface="Symbol" panose="05050102010706020507" pitchFamily="18" charset="2"/>
              <a:buChar char="-"/>
              <a:defRPr/>
            </a:pPr>
            <a:r>
              <a:rPr lang="en-US" sz="1200">
                <a:solidFill>
                  <a:prstClr val="black"/>
                </a:solidFill>
                <a:latin typeface="IBM Plex Sans Medium" panose="020B0603050203000203" pitchFamily="34" charset="0"/>
              </a:rPr>
              <a:t>IBM Security Verify Access</a:t>
            </a:r>
            <a:r>
              <a:rPr lang="en-US" sz="1200">
                <a:solidFill>
                  <a:prstClr val="black"/>
                </a:solidFill>
                <a:latin typeface="IBM Plex Sans Light"/>
              </a:rPr>
              <a:t> – Access Management (Single Sign-On / Consumer Identity and Access Management / Adaptive Access) Use-Case</a:t>
            </a:r>
          </a:p>
          <a:p>
            <a:pPr marL="171416" indent="-171416" defTabSz="914217">
              <a:buFont typeface="Symbol" panose="05050102010706020507" pitchFamily="18" charset="2"/>
              <a:buChar char="-"/>
              <a:defRPr/>
            </a:pPr>
            <a:r>
              <a:rPr lang="en-US" sz="1200">
                <a:solidFill>
                  <a:prstClr val="black"/>
                </a:solidFill>
                <a:latin typeface="IBM Plex Sans Medium" panose="020B0603050203000203" pitchFamily="34" charset="0"/>
              </a:rPr>
              <a:t>IBM Security Trusteer Pinpoint Detect</a:t>
            </a:r>
            <a:r>
              <a:rPr lang="en-US" sz="1200">
                <a:solidFill>
                  <a:prstClr val="black"/>
                </a:solidFill>
                <a:latin typeface="IBM Plex Sans Light"/>
              </a:rPr>
              <a:t> – Identity Risk Fraud Detection System (Known Users) Use-Case</a:t>
            </a:r>
          </a:p>
          <a:p>
            <a:pPr marL="171416" indent="-171416" defTabSz="914217">
              <a:buFont typeface="Symbol" panose="05050102010706020507" pitchFamily="18" charset="2"/>
              <a:buChar char="-"/>
              <a:defRPr/>
            </a:pPr>
            <a:r>
              <a:rPr lang="en-US" sz="1200">
                <a:solidFill>
                  <a:prstClr val="black"/>
                </a:solidFill>
                <a:latin typeface="IBM Plex Sans Medium" panose="020B0603050203000203" pitchFamily="34" charset="0"/>
              </a:rPr>
              <a:t>IBM Security Verify Privilege Vault</a:t>
            </a:r>
            <a:r>
              <a:rPr lang="en-US" sz="1200">
                <a:solidFill>
                  <a:prstClr val="black"/>
                </a:solidFill>
                <a:latin typeface="IBM Plex Sans Light"/>
              </a:rPr>
              <a:t> – Privilege Access Management Use-Case</a:t>
            </a:r>
          </a:p>
          <a:p>
            <a:pPr marL="171416" indent="-171416" defTabSz="914217">
              <a:buFont typeface="Symbol" panose="05050102010706020507" pitchFamily="18" charset="2"/>
              <a:buChar char="-"/>
              <a:defRPr/>
            </a:pPr>
            <a:r>
              <a:rPr lang="en-US" sz="1200">
                <a:solidFill>
                  <a:prstClr val="black"/>
                </a:solidFill>
                <a:latin typeface="IBM Plex Sans Medium" panose="020B0603050203000203" pitchFamily="34" charset="0"/>
              </a:rPr>
              <a:t>IBM Security Discover and Classify</a:t>
            </a:r>
            <a:r>
              <a:rPr lang="en-US" sz="1200">
                <a:solidFill>
                  <a:prstClr val="black"/>
                </a:solidFill>
                <a:latin typeface="IBM Plex Sans Light"/>
              </a:rPr>
              <a:t> – Discover and Classify Use-Case</a:t>
            </a:r>
          </a:p>
          <a:p>
            <a:pPr marL="171416" indent="-171416" defTabSz="914217">
              <a:buFont typeface="Symbol" panose="05050102010706020507" pitchFamily="18" charset="2"/>
              <a:buChar char="-"/>
              <a:defRPr/>
            </a:pPr>
            <a:r>
              <a:rPr lang="en-US" sz="1200">
                <a:solidFill>
                  <a:prstClr val="black"/>
                </a:solidFill>
                <a:latin typeface="IBM Plex Sans Medium" panose="020B0603050203000203" pitchFamily="34" charset="0"/>
              </a:rPr>
              <a:t>IBM Security Guardium Data Protection</a:t>
            </a:r>
            <a:r>
              <a:rPr lang="en-US" sz="1200">
                <a:solidFill>
                  <a:prstClr val="black"/>
                </a:solidFill>
                <a:latin typeface="IBM Plex Sans Light"/>
              </a:rPr>
              <a:t> – Data Protection / Firewall / Activity Monitoring Use-Case</a:t>
            </a:r>
          </a:p>
          <a:p>
            <a:pPr marL="171416" indent="-171416" defTabSz="914217">
              <a:buFont typeface="Symbol" panose="05050102010706020507" pitchFamily="18" charset="2"/>
              <a:buChar char="-"/>
              <a:defRPr/>
            </a:pPr>
            <a:r>
              <a:rPr lang="en-US" sz="1200">
                <a:solidFill>
                  <a:prstClr val="black"/>
                </a:solidFill>
                <a:latin typeface="IBM Plex Sans Medium" panose="020B0603050203000203" pitchFamily="34" charset="0"/>
              </a:rPr>
              <a:t>IBM Security Guardium Data Encryption with Live Data Transformation</a:t>
            </a:r>
            <a:r>
              <a:rPr lang="en-US" sz="1200">
                <a:solidFill>
                  <a:prstClr val="black"/>
                </a:solidFill>
                <a:latin typeface="IBM Plex Sans Light"/>
              </a:rPr>
              <a:t> – Data Encryption Use-Case</a:t>
            </a:r>
          </a:p>
          <a:p>
            <a:pPr marL="171416" indent="-171416" defTabSz="914217">
              <a:buFont typeface="Symbol" panose="05050102010706020507" pitchFamily="18" charset="2"/>
              <a:buChar char="-"/>
              <a:defRPr/>
            </a:pPr>
            <a:r>
              <a:rPr lang="en-US" sz="1200">
                <a:solidFill>
                  <a:prstClr val="black"/>
                </a:solidFill>
                <a:latin typeface="IBM Plex Sans Medium" panose="020B0603050203000203" pitchFamily="34" charset="0"/>
              </a:rPr>
              <a:t>IBM Security Guardium for Tokenization</a:t>
            </a:r>
            <a:r>
              <a:rPr lang="en-US" sz="1200">
                <a:solidFill>
                  <a:prstClr val="black"/>
                </a:solidFill>
                <a:latin typeface="IBM Plex Sans Light"/>
              </a:rPr>
              <a:t> – Data Tokenization part of Encryption Use-Case</a:t>
            </a:r>
          </a:p>
          <a:p>
            <a:pPr marL="171416" indent="-171416" algn="ctr" defTabSz="914217">
              <a:buFont typeface="Symbol" panose="05050102010706020507" pitchFamily="18" charset="2"/>
              <a:buChar char="-"/>
              <a:defRPr/>
            </a:pPr>
            <a:endParaRPr lang="en-US" sz="1200">
              <a:solidFill>
                <a:srgbClr val="4472C4">
                  <a:lumMod val="50000"/>
                </a:srgbClr>
              </a:solidFill>
              <a:latin typeface="IBM Plex Sans Light"/>
            </a:endParaRPr>
          </a:p>
        </p:txBody>
      </p:sp>
      <p:sp>
        <p:nvSpPr>
          <p:cNvPr id="24" name="Rectangle 23">
            <a:extLst>
              <a:ext uri="{FF2B5EF4-FFF2-40B4-BE49-F238E27FC236}">
                <a16:creationId xmlns:a16="http://schemas.microsoft.com/office/drawing/2014/main" id="{6E344E1B-2C49-1D96-D567-34C2E53CB96F}"/>
              </a:ext>
            </a:extLst>
          </p:cNvPr>
          <p:cNvSpPr/>
          <p:nvPr/>
        </p:nvSpPr>
        <p:spPr>
          <a:xfrm>
            <a:off x="6443016" y="1170509"/>
            <a:ext cx="5399297" cy="1095193"/>
          </a:xfrm>
          <a:prstGeom prst="rect">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93636" indent="-193636" defTabSz="914217">
              <a:buFont typeface="IBM Plex Sans Light" panose="020B0403050203000203" pitchFamily="34" charset="0"/>
              <a:buChar char="–"/>
              <a:defRPr/>
            </a:pPr>
            <a:r>
              <a:rPr lang="en-US" sz="1200">
                <a:solidFill>
                  <a:srgbClr val="000000"/>
                </a:solidFill>
                <a:latin typeface="IBM Plex Sans Medium" panose="020B0603050203000203" pitchFamily="34" charset="0"/>
              </a:rPr>
              <a:t>IBM Cloud Pak for Data Express Package</a:t>
            </a:r>
            <a:r>
              <a:rPr lang="en-US" sz="1200">
                <a:solidFill>
                  <a:srgbClr val="000000"/>
                </a:solidFill>
                <a:latin typeface="IBM Plex Sans Light"/>
              </a:rPr>
              <a:t> – end-to-end data governance to manage data categorization, data refinery, metadata management, catalog management, and data governance reporting</a:t>
            </a:r>
          </a:p>
          <a:p>
            <a:pPr marL="193636" indent="-193636" algn="ctr" defTabSz="914217">
              <a:buFont typeface="IBM Plex Sans Light" panose="020B0403050203000203" pitchFamily="34" charset="0"/>
              <a:buChar char="–"/>
              <a:defRPr/>
            </a:pPr>
            <a:endParaRPr lang="en-US" sz="1200">
              <a:solidFill>
                <a:srgbClr val="000000"/>
              </a:solidFill>
              <a:latin typeface="IBM Plex Sans Light"/>
            </a:endParaRPr>
          </a:p>
        </p:txBody>
      </p:sp>
      <p:sp>
        <p:nvSpPr>
          <p:cNvPr id="27" name="Rectangle 26">
            <a:extLst>
              <a:ext uri="{FF2B5EF4-FFF2-40B4-BE49-F238E27FC236}">
                <a16:creationId xmlns:a16="http://schemas.microsoft.com/office/drawing/2014/main" id="{DA5494BD-35C4-42CF-052B-F5520E657EDC}"/>
              </a:ext>
            </a:extLst>
          </p:cNvPr>
          <p:cNvSpPr/>
          <p:nvPr/>
        </p:nvSpPr>
        <p:spPr>
          <a:xfrm>
            <a:off x="6443017" y="2820141"/>
            <a:ext cx="5399297" cy="570498"/>
          </a:xfrm>
          <a:prstGeom prst="rect">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93636" indent="-193636" defTabSz="914217">
              <a:buFont typeface="IBM Plex Sans Medium" panose="020B0603050203000203" pitchFamily="34" charset="0"/>
              <a:buChar char="–"/>
              <a:defRPr/>
            </a:pPr>
            <a:r>
              <a:rPr lang="en-US" sz="1200">
                <a:solidFill>
                  <a:srgbClr val="000000"/>
                </a:solidFill>
                <a:latin typeface="IBM Plex Sans Medium" panose="020B0603050203000203" pitchFamily="34" charset="0"/>
              </a:rPr>
              <a:t>IBM Business Automation Workflow</a:t>
            </a:r>
            <a:r>
              <a:rPr lang="en-US" sz="1200">
                <a:solidFill>
                  <a:srgbClr val="000000"/>
                </a:solidFill>
                <a:latin typeface="IBM Plex Sans Light"/>
              </a:rPr>
              <a:t> for 25 concurrent users</a:t>
            </a:r>
          </a:p>
        </p:txBody>
      </p:sp>
      <p:sp>
        <p:nvSpPr>
          <p:cNvPr id="3" name="Footer Placeholder 3">
            <a:extLst>
              <a:ext uri="{FF2B5EF4-FFF2-40B4-BE49-F238E27FC236}">
                <a16:creationId xmlns:a16="http://schemas.microsoft.com/office/drawing/2014/main" id="{E46A5F36-6E34-30CC-F88A-09CC5C8F7196}"/>
              </a:ext>
            </a:extLst>
          </p:cNvPr>
          <p:cNvSpPr txBox="1">
            <a:spLocks/>
          </p:cNvSpPr>
          <p:nvPr/>
        </p:nvSpPr>
        <p:spPr>
          <a:xfrm>
            <a:off x="240380" y="6448032"/>
            <a:ext cx="2477765" cy="190475"/>
          </a:xfrm>
          <a:prstGeom prst="rect">
            <a:avLst/>
          </a:prstGeom>
        </p:spPr>
        <p:txBody>
          <a:bodyPr/>
          <a:ls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507"/>
            <a:r>
              <a:rPr lang="en-US" sz="800">
                <a:solidFill>
                  <a:srgbClr val="000000"/>
                </a:solidFill>
                <a:latin typeface="IBM Plex Sans" panose="020B0503050203000203" pitchFamily="34" charset="0"/>
                <a:ea typeface="Times New Roman" panose="02020603050405020304" pitchFamily="18" charset="0"/>
              </a:rPr>
              <a:t>IBM Confidential</a:t>
            </a:r>
          </a:p>
        </p:txBody>
      </p:sp>
      <p:sp>
        <p:nvSpPr>
          <p:cNvPr id="4" name="Title 1">
            <a:extLst>
              <a:ext uri="{FF2B5EF4-FFF2-40B4-BE49-F238E27FC236}">
                <a16:creationId xmlns:a16="http://schemas.microsoft.com/office/drawing/2014/main" id="{83B31526-98D1-2627-62EE-9EED23D6D6D3}"/>
              </a:ext>
            </a:extLst>
          </p:cNvPr>
          <p:cNvSpPr txBox="1">
            <a:spLocks/>
          </p:cNvSpPr>
          <p:nvPr/>
        </p:nvSpPr>
        <p:spPr>
          <a:xfrm>
            <a:off x="249904" y="336064"/>
            <a:ext cx="10654802" cy="7626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218956"/>
            <a:r>
              <a:rPr lang="en-US" sz="2699" kern="0">
                <a:solidFill>
                  <a:srgbClr val="000000"/>
                </a:solidFill>
                <a:latin typeface="IBM Plex Sans Light"/>
              </a:rPr>
              <a:t>IBM PDP Law Compliance Quick-Start Package </a:t>
            </a:r>
          </a:p>
        </p:txBody>
      </p:sp>
    </p:spTree>
    <p:extLst>
      <p:ext uri="{BB962C8B-B14F-4D97-AF65-F5344CB8AC3E}">
        <p14:creationId xmlns:p14="http://schemas.microsoft.com/office/powerpoint/2010/main" val="3296529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41617CC-B80D-DCAF-D8E3-946DDAFE3374}"/>
              </a:ext>
            </a:extLst>
          </p:cNvPr>
          <p:cNvSpPr>
            <a:spLocks noGrp="1"/>
          </p:cNvSpPr>
          <p:nvPr>
            <p:ph type="title" idx="4294967295"/>
          </p:nvPr>
        </p:nvSpPr>
        <p:spPr>
          <a:xfrm>
            <a:off x="287999" y="288445"/>
            <a:ext cx="2477765" cy="1429357"/>
          </a:xfrm>
          <a:prstGeom prst="rect">
            <a:avLst/>
          </a:prstGeom>
          <a:noFill/>
          <a:ln w="12700">
            <a:noFill/>
            <a:prstDash/>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Bef>
                <a:spcPts val="300"/>
              </a:spcBef>
              <a:defRPr/>
            </a:pPr>
            <a:r>
              <a:rPr lang="en-US"/>
              <a:t>Thank you</a:t>
            </a:r>
          </a:p>
        </p:txBody>
      </p:sp>
      <p:cxnSp>
        <p:nvCxnSpPr>
          <p:cNvPr id="9" name="Straight Connector 8" descr="Vertical column divider">
            <a:extLst>
              <a:ext uri="{FF2B5EF4-FFF2-40B4-BE49-F238E27FC236}">
                <a16:creationId xmlns:a16="http://schemas.microsoft.com/office/drawing/2014/main" id="{9415B11D-B235-E982-A6FA-D9B223BB6331}"/>
              </a:ext>
            </a:extLst>
          </p:cNvPr>
          <p:cNvCxnSpPr/>
          <p:nvPr/>
        </p:nvCxnSpPr>
        <p:spPr bwMode="auto">
          <a:xfrm>
            <a:off x="9142810" y="285366"/>
            <a:ext cx="0" cy="571504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21AFA5D2-7279-1504-D403-697770E7B396}"/>
              </a:ext>
            </a:extLst>
          </p:cNvPr>
          <p:cNvSpPr>
            <a:spLocks noGrp="1"/>
          </p:cNvSpPr>
          <p:nvPr>
            <p:ph type="body" sz="quarter" idx="15"/>
          </p:nvPr>
        </p:nvSpPr>
        <p:spPr/>
        <p:txBody>
          <a:bodyPr/>
          <a:lstStyle/>
          <a:p>
            <a:pPr algn="just"/>
            <a:r>
              <a:rPr lang="en-US"/>
              <a:t>© Copyright IBM Corporation 2025. All rights reserved. The information contained in these materials is provided for informational purposes only and is provided AS IS without warranty of any kind, express or implied. Any statement of direction represents IBM’s current intent, is subject to change or withdrawal, and represents only goals and objectives.  IBM, the IBM logo, and other IBM products and services are trademarks of the International Business Machines Corporation, in the United States, other countries, or both. Other company, product, or service names may be trademarks or service marks of others.</a:t>
            </a:r>
          </a:p>
          <a:p>
            <a:pPr algn="just"/>
            <a:endParaRPr lang="en-US"/>
          </a:p>
          <a:p>
            <a:pPr algn="just"/>
            <a:r>
              <a:rPr lang="en-US"/>
              <a:t>Statement of Good Security Practices: IT system security involves protecting systems and information through prevention, detection, and response to improper access from within and outside your enterprise. Improper access can result in information being altered, destroyed, misappropriated, or misused or can result in damage to or misuse of your systems, including for use in attacks on others. No IT system or product should be considered completely secure, and no single product, service, or security measure can be completely effective in preventing improper use or access. IBM systems, products, and services are designed to be part of a lawful, comprehensive security approach, which will necessarily involve additional operational procedures and may require other systems, products, or services to be most effective. IBM does not warrant that any systems, products, or services are immune from, or will make your enterprise immune from, the malicious or illegal conduct of any party.</a:t>
            </a:r>
          </a:p>
        </p:txBody>
      </p:sp>
      <p:sp>
        <p:nvSpPr>
          <p:cNvPr id="10" name="Footer Placeholder 1">
            <a:extLst>
              <a:ext uri="{FF2B5EF4-FFF2-40B4-BE49-F238E27FC236}">
                <a16:creationId xmlns:a16="http://schemas.microsoft.com/office/drawing/2014/main" id="{3F2BF173-4B3B-9DAB-A195-4E7D00A71151}"/>
              </a:ext>
            </a:extLst>
          </p:cNvPr>
          <p:cNvSpPr>
            <a:spLocks noGrp="1"/>
          </p:cNvSpPr>
          <p:nvPr>
            <p:ph type="ftr" sz="quarter" idx="16"/>
          </p:nvPr>
        </p:nvSpPr>
        <p:spPr>
          <a:xfrm>
            <a:off x="287999" y="6400413"/>
            <a:ext cx="2477765" cy="190475"/>
          </a:xfrm>
        </p:spPr>
        <p:txBody>
          <a:bodyPr/>
          <a:lstStyle/>
          <a:p>
            <a:pPr defTabSz="914507"/>
            <a:r>
              <a:rPr lang="en-US">
                <a:solidFill>
                  <a:srgbClr val="000000"/>
                </a:solidFill>
              </a:rPr>
              <a:t>IBM Confidential</a:t>
            </a:r>
          </a:p>
        </p:txBody>
      </p:sp>
      <p:sp>
        <p:nvSpPr>
          <p:cNvPr id="6" name="Slide Number Placeholder 2">
            <a:extLst>
              <a:ext uri="{FF2B5EF4-FFF2-40B4-BE49-F238E27FC236}">
                <a16:creationId xmlns:a16="http://schemas.microsoft.com/office/drawing/2014/main" id="{545BC389-64A2-850F-A1BF-F1B3DB604D38}"/>
              </a:ext>
            </a:extLst>
          </p:cNvPr>
          <p:cNvSpPr>
            <a:spLocks noGrp="1"/>
          </p:cNvSpPr>
          <p:nvPr>
            <p:ph type="sldNum" sz="quarter" idx="4"/>
          </p:nvPr>
        </p:nvSpPr>
        <p:spPr>
          <a:xfrm>
            <a:off x="11782872" y="6464956"/>
            <a:ext cx="121828" cy="123111"/>
          </a:xfrm>
        </p:spPr>
        <p:txBody>
          <a:bodyPr/>
          <a:lstStyle/>
          <a:p>
            <a:pPr defTabSz="914507"/>
            <a:fld id="{86CB4B4D-7CA3-9044-876B-883B54F8677D}" type="slidenum">
              <a:rPr lang="en-US">
                <a:solidFill>
                  <a:srgbClr val="000000"/>
                </a:solidFill>
              </a:rPr>
              <a:pPr defTabSz="914507"/>
              <a:t>33</a:t>
            </a:fld>
            <a:endParaRPr lang="en-US">
              <a:solidFill>
                <a:srgbClr val="000000"/>
              </a:solidFill>
            </a:endParaRPr>
          </a:p>
        </p:txBody>
      </p:sp>
    </p:spTree>
    <p:extLst>
      <p:ext uri="{BB962C8B-B14F-4D97-AF65-F5344CB8AC3E}">
        <p14:creationId xmlns:p14="http://schemas.microsoft.com/office/powerpoint/2010/main" val="2619362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T7X9UmryZ0.hliCqXU66p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T7X9UmryZ0.hliCqXU66p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T7X9UmryZ0.hliCqXU66p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T7X9UmryZ0.hliCqXU66p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T7X9UmryZ0.hliCqXU66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7X9UmryZ0.hliCqXU66p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T7X9UmryZ0.hliCqXU66p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3.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230309_IBM_presentation_sample_layouts_v_1_4_Plex_LS" id="{3E7A50B4-F9CE-5A46-A742-02DC46899AE3}" vid="{BB6DAD99-7B0D-5D4D-A04C-82EBAB824FB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8824</Words>
  <Application>Microsoft Macintosh PowerPoint</Application>
  <PresentationFormat>Widescreen</PresentationFormat>
  <Paragraphs>1174</Paragraphs>
  <Slides>33</Slides>
  <Notes>3</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33</vt:i4>
      </vt:variant>
    </vt:vector>
  </HeadingPairs>
  <TitlesOfParts>
    <vt:vector size="49" baseType="lpstr">
      <vt:lpstr>Aptos</vt:lpstr>
      <vt:lpstr>Aptos Display</vt:lpstr>
      <vt:lpstr>Arial</vt:lpstr>
      <vt:lpstr>Helvetica</vt:lpstr>
      <vt:lpstr>IBM Plex Sans</vt:lpstr>
      <vt:lpstr>IBM Plex Sans ExtLt</vt:lpstr>
      <vt:lpstr>IBM Plex Sans ExtraLight</vt:lpstr>
      <vt:lpstr>IBM Plex Sans Light</vt:lpstr>
      <vt:lpstr>IBM Plex Sans Medium</vt:lpstr>
      <vt:lpstr>IBM Plex Sans SemiBold</vt:lpstr>
      <vt:lpstr>Symbol</vt:lpstr>
      <vt:lpstr>System Font Regular</vt:lpstr>
      <vt:lpstr>Times New Roman</vt:lpstr>
      <vt:lpstr>Office Theme</vt:lpstr>
      <vt:lpstr>1_IBM presentation template</vt:lpstr>
      <vt:lpstr>IBM presentation template</vt:lpstr>
      <vt:lpstr>High-Level Personal Data Protection (PDP) Assessment  Helping Organizations Understand Their Current Readiness   September 2025</vt:lpstr>
      <vt:lpstr>Our Approach: High-Level Free Assessment</vt:lpstr>
      <vt:lpstr>IBM High-Level Privacy  Assessment Report for Company A     August 2025</vt:lpstr>
      <vt:lpstr>Content</vt:lpstr>
      <vt:lpstr>PowerPoint Presentation</vt:lpstr>
      <vt:lpstr>General Background</vt:lpstr>
      <vt:lpstr>User Feedback</vt:lpstr>
      <vt:lpstr>Privacy Practices1</vt:lpstr>
      <vt:lpstr>PowerPoint Presentation</vt:lpstr>
      <vt:lpstr>Privacy Practices4</vt:lpstr>
      <vt:lpstr>Privacy Practices5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PDP Law compliance mapping to Company A Technology</vt:lpstr>
      <vt:lpstr>Key Findings</vt:lpstr>
      <vt:lpstr>Top recommended actions</vt:lpstr>
      <vt:lpstr>Closing the technology gap</vt:lpstr>
      <vt:lpstr>Next Steps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Latitia Pramudito</dc:creator>
  <cp:lastModifiedBy>Latitia Pramudito</cp:lastModifiedBy>
  <cp:revision>1</cp:revision>
  <dcterms:created xsi:type="dcterms:W3CDTF">2025-09-22T09:28:49Z</dcterms:created>
  <dcterms:modified xsi:type="dcterms:W3CDTF">2025-09-22T10:13:51Z</dcterms:modified>
</cp:coreProperties>
</file>