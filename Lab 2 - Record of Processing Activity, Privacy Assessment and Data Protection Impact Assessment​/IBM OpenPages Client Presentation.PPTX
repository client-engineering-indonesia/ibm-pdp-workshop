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Lst>
  <p:notesMasterIdLst>
    <p:notesMasterId r:id="rId16"/>
  </p:notesMasterIdLst>
  <p:handoutMasterIdLst>
    <p:handoutMasterId r:id="rId17"/>
  </p:handoutMasterIdLst>
  <p:sldIdLst>
    <p:sldId id="2147474154" r:id="rId2"/>
    <p:sldId id="2147474195" r:id="rId3"/>
    <p:sldId id="550" r:id="rId4"/>
    <p:sldId id="499" r:id="rId5"/>
    <p:sldId id="2147482403" r:id="rId6"/>
    <p:sldId id="2147474196" r:id="rId7"/>
    <p:sldId id="2147474197" r:id="rId8"/>
    <p:sldId id="2147474200" r:id="rId9"/>
    <p:sldId id="2147474193" r:id="rId10"/>
    <p:sldId id="2147474201" r:id="rId11"/>
    <p:sldId id="2147474203" r:id="rId12"/>
    <p:sldId id="2147481197" r:id="rId13"/>
    <p:sldId id="2147474205" r:id="rId14"/>
    <p:sldId id="2147474172" r:id="rId15"/>
  </p:sldIdLst>
  <p:sldSz cx="24387175" cy="13716000"/>
  <p:notesSz cx="6858000" cy="9144000"/>
  <p:embeddedFontLst>
    <p:embeddedFont>
      <p:font typeface="IBM Plex Sans" panose="020B0503050203000203" pitchFamily="34" charset="0"/>
      <p:regular r:id="rId18"/>
      <p:bold r:id="rId19"/>
      <p:italic r:id="rId20"/>
      <p:boldItalic r:id="rId21"/>
    </p:embeddedFont>
    <p:embeddedFont>
      <p:font typeface="IBM Plex Sans Light" panose="020F0302020204030204" pitchFamily="34" charset="0"/>
      <p:regular r:id="rId22"/>
      <p:italic r:id="rId23"/>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04"/>
    <p:restoredTop sz="77406"/>
  </p:normalViewPr>
  <p:slideViewPr>
    <p:cSldViewPr snapToGrid="0" snapToObjects="1">
      <p:cViewPr>
        <p:scale>
          <a:sx n="63" d="100"/>
          <a:sy n="63" d="100"/>
        </p:scale>
        <p:origin x="1312" y="144"/>
      </p:cViewPr>
      <p:guideLst/>
    </p:cSldViewPr>
  </p:slideViewPr>
  <p:outlineViewPr>
    <p:cViewPr>
      <p:scale>
        <a:sx n="33" d="100"/>
        <a:sy n="33" d="100"/>
      </p:scale>
      <p:origin x="0" y="0"/>
    </p:cViewPr>
  </p:outlineViewPr>
  <p:notesTextViewPr>
    <p:cViewPr>
      <p:scale>
        <a:sx n="80" d="100"/>
        <a:sy n="80" d="100"/>
      </p:scale>
      <p:origin x="0" y="0"/>
    </p:cViewPr>
  </p:notesTextViewPr>
  <p:sorterViewPr>
    <p:cViewPr>
      <p:scale>
        <a:sx n="66" d="100"/>
        <a:sy n="66" d="100"/>
      </p:scale>
      <p:origin x="0" y="0"/>
    </p:cViewPr>
  </p:sorterViewPr>
  <p:notesViewPr>
    <p:cSldViewPr snapToGrid="0" snapToObjects="1">
      <p:cViewPr>
        <p:scale>
          <a:sx n="125" d="100"/>
          <a:sy n="125" d="100"/>
        </p:scale>
        <p:origin x="3704" y="1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2023 / © 2023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ftr="0" dt="0"/>
  <p:notesStyle>
    <a:lvl1pPr marL="0" algn="l" defTabSz="2438522" rtl="0" eaLnBrk="1" latinLnBrk="0" hangingPunct="1">
      <a:lnSpc>
        <a:spcPct val="110000"/>
      </a:lnSpc>
      <a:spcBef>
        <a:spcPts val="0"/>
      </a:spcBef>
      <a:defRPr sz="1000" b="0" i="0" kern="1200">
        <a:solidFill>
          <a:schemeClr val="bg1"/>
        </a:solidFill>
        <a:latin typeface="IBM Plex Sans Light" panose="020B0403050203000203" pitchFamily="34" charset="0"/>
        <a:ea typeface="+mn-ea"/>
        <a:cs typeface="+mn-cs"/>
      </a:defRPr>
    </a:lvl1pPr>
    <a:lvl2pPr marL="465690" indent="-452991" algn="l" defTabSz="2438522" rtl="0" eaLnBrk="1" latinLnBrk="0" hangingPunct="1">
      <a:lnSpc>
        <a:spcPct val="110000"/>
      </a:lnSpc>
      <a:spcBef>
        <a:spcPts val="0"/>
      </a:spcBef>
      <a:buClr>
        <a:schemeClr val="bg1"/>
      </a:buClr>
      <a:buFont typeface="Arial" panose="020B0604020202020204" pitchFamily="34" charset="0"/>
      <a:buChar char="•"/>
      <a:tabLst/>
      <a:defRPr sz="1000" b="0" i="0" kern="1200">
        <a:solidFill>
          <a:schemeClr val="bg1"/>
        </a:solidFill>
        <a:latin typeface="IBM Plex Sans Light" panose="020B0403050203000203" pitchFamily="34" charset="0"/>
        <a:ea typeface="+mn-ea"/>
        <a:cs typeface="+mn-cs"/>
      </a:defRPr>
    </a:lvl2pPr>
    <a:lvl3pPr marL="926638" indent="-463319" algn="l" defTabSz="2438522" rtl="0" eaLnBrk="1" latinLnBrk="0" hangingPunct="1">
      <a:lnSpc>
        <a:spcPct val="110000"/>
      </a:lnSpc>
      <a:spcBef>
        <a:spcPts val="0"/>
      </a:spcBef>
      <a:buClr>
        <a:schemeClr val="bg1"/>
      </a:buClr>
      <a:buFont typeface="Arial" panose="020B0604020202020204" pitchFamily="34" charset="0"/>
      <a:buChar char="•"/>
      <a:tabLst/>
      <a:defRPr sz="1000" b="0" i="0" kern="1200">
        <a:solidFill>
          <a:schemeClr val="bg1"/>
        </a:solidFill>
        <a:latin typeface="IBM Plex Sans Light" panose="020B0403050203000203" pitchFamily="34" charset="0"/>
        <a:ea typeface="+mn-ea"/>
        <a:cs typeface="+mn-cs"/>
      </a:defRPr>
    </a:lvl3pPr>
    <a:lvl4pPr marL="1682580" indent="-463319" algn="l" defTabSz="2438522" rtl="0" eaLnBrk="1" latinLnBrk="0" hangingPunct="1">
      <a:lnSpc>
        <a:spcPct val="110000"/>
      </a:lnSpc>
      <a:spcBef>
        <a:spcPts val="0"/>
      </a:spcBef>
      <a:buClr>
        <a:schemeClr val="bg1"/>
      </a:buClr>
      <a:buFont typeface="Arial" panose="020B0604020202020204" pitchFamily="34" charset="0"/>
      <a:buChar char="•"/>
      <a:tabLst/>
      <a:defRPr sz="1000" b="0" i="0" kern="1200">
        <a:solidFill>
          <a:schemeClr val="bg1"/>
        </a:solidFill>
        <a:latin typeface="IBM Plex Sans Light" panose="020B04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www.idc.com/getdoc.jsp?containerId=US49617722" TargetMode="External"/><Relationship Id="rId13" Type="http://schemas.openxmlformats.org/officeDocument/2006/relationships/hyperlink" Target="https://english.rekenkamer.nl/publications/reports/2022/05/18/an-audit-of-9-algorithms-used-by-the-dutch-government" TargetMode="External"/><Relationship Id="rId3" Type="http://schemas.openxmlformats.org/officeDocument/2006/relationships/hyperlink" Target="https://static.fortra.com/globalscape/pdfs/guides/gs-true-cost-of-compliance-data-protection-regulations-gd.pdf#page=12" TargetMode="External"/><Relationship Id="rId7" Type="http://schemas.openxmlformats.org/officeDocument/2006/relationships/hyperlink" Target="https://www.spglobal.com/marketintelligence/en/news-insights/latest-news-headlines/banks-face-mounting-risk-of-fines-regulatory-probes-over-sustainability-claims-74385257" TargetMode="External"/><Relationship Id="rId12" Type="http://schemas.openxmlformats.org/officeDocument/2006/relationships/hyperlink" Target="https://www.forbes.com/sites/jonathankeane/2021/01/05/italian-court-finds-deliveroo-rating-algorithm-was-unfair-to-riders" TargetMode="External"/><Relationship Id="rId2" Type="http://schemas.openxmlformats.org/officeDocument/2006/relationships/slide" Target="../slides/slide2.xml"/><Relationship Id="rId16" Type="http://schemas.openxmlformats.org/officeDocument/2006/relationships/hyperlink" Target="https://www.theverge.com/tldr/2020/11/3/21547392/ai-camera-operator-football-bald-head-soccer-mistakes" TargetMode="External"/><Relationship Id="rId1" Type="http://schemas.openxmlformats.org/officeDocument/2006/relationships/notesMaster" Target="../notesMasters/notesMaster1.xml"/><Relationship Id="rId6" Type="http://schemas.openxmlformats.org/officeDocument/2006/relationships/hyperlink" Target="https://www.businessnewsaustralia.com/articles/commsec-and-ausiex-hit-with-largest-ever-penalty-for-market-integrity-compliance-failures.html" TargetMode="External"/><Relationship Id="rId11" Type="http://schemas.openxmlformats.org/officeDocument/2006/relationships/hyperlink" Target="https://www.fintechfutures.com/2023/01/coinbase-hit-with-50m-fine-for-significant-compliance-failures/" TargetMode="External"/><Relationship Id="rId5" Type="http://schemas.openxmlformats.org/officeDocument/2006/relationships/hyperlink" Target="https://www.wsj.com/articles/it-leaders-reassess-vendor-risks-after-silicon-valley-bank-collapse-3acbab51" TargetMode="External"/><Relationship Id="rId15" Type="http://schemas.openxmlformats.org/officeDocument/2006/relationships/hyperlink" Target="https://www.foxglove.org.uk/2020/08/17/we-put-a-stop-to-the-a-level-grading-algorithm/" TargetMode="External"/><Relationship Id="rId10" Type="http://schemas.openxmlformats.org/officeDocument/2006/relationships/hyperlink" Target="https://www.ft.com/content/7a4821e6-96f1-475c-ae55-6401e402061f" TargetMode="External"/><Relationship Id="rId4" Type="http://schemas.openxmlformats.org/officeDocument/2006/relationships/hyperlink" Target="https://www.npr.org/2022/12/02/1140260100/ftx-collapse-offers-lessons-about-the-cyber-risks-of-cryptocurrency-investing" TargetMode="External"/><Relationship Id="rId9" Type="http://schemas.openxmlformats.org/officeDocument/2006/relationships/hyperlink" Target="https://medium.com/analysts-corner/data-quality-governance-and-compliance-cad6d8b132dd" TargetMode="External"/><Relationship Id="rId14" Type="http://schemas.openxmlformats.org/officeDocument/2006/relationships/hyperlink" Target="https://www-engadget-com.cdn.ampproject.org/c/s/www.engadget.com/amp/uk-police-fail-to-use-facial-recognition-ethically-and-legally-researchers-say-082039619.html"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mckinsey.com/capabilities/quantumblack/our-insights/the-state-of-ai-in-2022-and-a-half-decade-in-review"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ibm.co/ai-value-pandemic"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ibm.com/account/reg/us-en/signup?formid=urx-51236"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chartis-research.com/grc-and-operational-risk/governance-risk-management-and-compliance-grc/7946813/enterprise-grc-and-internal-audit-solutions-2023-market-update-and-vendor-landscape" TargetMode="External"/><Relationship Id="rId5" Type="http://schemas.openxmlformats.org/officeDocument/2006/relationships/hyperlink" Target="https://www.chartis-research.com/grc-and-operational-risk/operational-risk/7946723/operational-risk-and-conduct-risk-and-control-solutions-2022-market-and-vendor-landscape" TargetMode="External"/><Relationship Id="rId4" Type="http://schemas.openxmlformats.org/officeDocument/2006/relationships/hyperlink" Target="https://www.chartis-research.com/grc-and-operational-risk/governance-risk-management-and-compliance-grc/7835781/grc-solutions-2021-market-update-and-vendor-landscape"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bm.com/blog/citi-transforms-critical-internal-audit-with-machine-learning-nlp-and-ai/" TargetMode="External"/><Relationship Id="rId7" Type="http://schemas.openxmlformats.org/officeDocument/2006/relationships/hyperlink" Target="https://mediacenter.ibm.com/media/Aviva+%2B+IBMA+Rethinking+the+user+experience+of+IBM+OpenPages+with+Watson/1_wwxuvmt3"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ibm.com/blogs/journey-to-ai/2021/07/citi-transforms-critical-internal-audit-with-machine-learning-nlp-and-ai/" TargetMode="External"/><Relationship Id="rId5" Type="http://schemas.openxmlformats.org/officeDocument/2006/relationships/hyperlink" Target="https://www.ibm.com/downloads/cas/LV7Z3BE8" TargetMode="External"/><Relationship Id="rId4" Type="http://schemas.openxmlformats.org/officeDocument/2006/relationships/hyperlink" Target="https://www.ibm.com/cloud/blog/how-aviva-modernizes-operational-risk-management-for-a-more-engaging-user-experience"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This presentation describes the organizational need for </a:t>
            </a:r>
            <a:r>
              <a:rPr lang="en-US" dirty="0">
                <a:effectLst/>
              </a:rPr>
              <a:t>a fully integrated governance, risk, and compliance (GRC) platform. It </a:t>
            </a:r>
            <a:r>
              <a:rPr lang="en-US" dirty="0"/>
              <a:t>presents an overview of IBM OpenPages and how this solution meets the demands of constantly evolving regulations. </a:t>
            </a:r>
          </a:p>
          <a:p>
            <a:pPr marR="0" lvl="0" indent="0" fontAlgn="auto">
              <a:spcAft>
                <a:spcPts val="0"/>
              </a:spcAft>
              <a:buClrTx/>
              <a:buSzTx/>
              <a:buFontTx/>
              <a:buNone/>
              <a:tabLst/>
              <a:defRPr/>
            </a:pPr>
            <a:endParaRPr lang="en-US" dirty="0"/>
          </a:p>
          <a:p>
            <a:pPr fontAlgn="base">
              <a:defRPr/>
            </a:pPr>
            <a:r>
              <a:rPr lang="en-CA" dirty="0"/>
              <a:t>OpenPages is an artificial intelligence (AI)-driven, highly scalable GRC solution that runs on-premises, on any cloud, and can run alongside IBM Cloud Pak for Data. OpenPages helps centralize siloed risk management functions within a single environment to help clients identify, manage, monitor and report on risk and regulatory compliance… especially in today’s changing business landscape.</a:t>
            </a:r>
          </a:p>
          <a:p>
            <a:pPr algn="l" fontAlgn="base"/>
            <a:endParaRPr lang="en-CA" b="0" i="0" dirty="0">
              <a:solidFill>
                <a:srgbClr val="161616"/>
              </a:solidFill>
              <a:effectLst/>
              <a:latin typeface="IBM Plex Sans" panose="020B0503050203000203" pitchFamily="34" charset="0"/>
            </a:endParaRPr>
          </a:p>
          <a:p>
            <a:pPr>
              <a:defRPr/>
            </a:pPr>
            <a:r>
              <a:rPr lang="en-CA" dirty="0"/>
              <a:t>Clients can use OpenPages to prepare for the future with an extensible, fully configurable, integrated enterprise risk management solution that scales to tens of thousands of users.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Tree>
    <p:extLst>
      <p:ext uri="{BB962C8B-B14F-4D97-AF65-F5344CB8AC3E}">
        <p14:creationId xmlns:p14="http://schemas.microsoft.com/office/powerpoint/2010/main" val="2576851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defRPr/>
            </a:pPr>
            <a:r>
              <a:rPr lang="en-US" dirty="0"/>
              <a:t>Governance, risk and compliance (GRC) functions, and failures in those functions, have rocketed to the top of company’s and organization’s agendas.</a:t>
            </a:r>
          </a:p>
          <a:p>
            <a:pPr>
              <a:defRPr/>
            </a:pPr>
            <a:endParaRPr lang="en-US" dirty="0"/>
          </a:p>
          <a:p>
            <a:pPr>
              <a:defRPr/>
            </a:pPr>
            <a:r>
              <a:rPr lang="en-US" dirty="0"/>
              <a:t>This can be seen in examples on this slide that include the following:</a:t>
            </a:r>
          </a:p>
          <a:p>
            <a:pPr>
              <a:defRPr/>
            </a:pPr>
            <a:endParaRPr lang="en-US" dirty="0"/>
          </a:p>
          <a:p>
            <a:pPr marL="171450" indent="-171450">
              <a:buFont typeface="Arial" panose="020B0604020202020204" pitchFamily="34" charset="0"/>
              <a:buChar char="•"/>
              <a:defRPr/>
            </a:pPr>
            <a:r>
              <a:rPr lang="en-US" dirty="0"/>
              <a:t>The recent massive control failures at companies like FTX globally.</a:t>
            </a:r>
          </a:p>
          <a:p>
            <a:pPr marL="171450" indent="-171450">
              <a:buFont typeface="Arial" panose="020B0604020202020204" pitchFamily="34" charset="0"/>
              <a:buChar char="•"/>
              <a:defRPr/>
            </a:pPr>
            <a:endParaRPr lang="en-US" dirty="0"/>
          </a:p>
          <a:p>
            <a:pPr marL="171450" indent="-171450">
              <a:buFont typeface="Arial" panose="020B0604020202020204" pitchFamily="34" charset="0"/>
              <a:buChar char="•"/>
              <a:defRPr/>
            </a:pPr>
            <a:r>
              <a:rPr lang="en-US" dirty="0"/>
              <a:t>The woeful risk and vendor risk management missteps at banks like Silicon Valley Bank (SVB) and Signature Bank in the United States, and more.</a:t>
            </a:r>
          </a:p>
          <a:p>
            <a:pPr marL="171450" indent="-171450">
              <a:buFont typeface="Arial" panose="020B0604020202020204" pitchFamily="34" charset="0"/>
              <a:buChar char="•"/>
              <a:defRPr/>
            </a:pPr>
            <a:endParaRPr lang="en-US" dirty="0"/>
          </a:p>
          <a:p>
            <a:pPr marL="171450" indent="-171450">
              <a:buFont typeface="Arial" panose="020B0604020202020204" pitchFamily="34" charset="0"/>
              <a:buChar char="•"/>
              <a:defRPr/>
            </a:pPr>
            <a:r>
              <a:rPr lang="en-US" dirty="0"/>
              <a:t>The systemic misconduct by brokers at a division of Comm Bank and mistreatment of the bank’s customers in Australia.</a:t>
            </a:r>
          </a:p>
          <a:p>
            <a:pPr>
              <a:defRPr/>
            </a:pPr>
            <a:endParaRPr lang="en-US" kern="0" dirty="0"/>
          </a:p>
          <a:p>
            <a:pPr>
              <a:defRPr/>
            </a:pPr>
            <a:r>
              <a:rPr kumimoji="0" lang="en-US" u="none" strike="noStrike" kern="0" cap="none" spc="0" normalizeH="0" baseline="0" noProof="0" dirty="0">
                <a:ln>
                  <a:noFill/>
                </a:ln>
                <a:effectLst/>
                <a:uLnTx/>
                <a:uFillTx/>
              </a:rPr>
              <a:t>The potential costs of non-compliance are staggering and extend far beyond simple fines. Organizations lose an average of $5.87 million in revenue due to a single non-compliance event. </a:t>
            </a:r>
          </a:p>
          <a:p>
            <a:pPr>
              <a:defRPr/>
            </a:pPr>
            <a:endParaRPr lang="en-US" kern="0" dirty="0"/>
          </a:p>
          <a:p>
            <a:pPr marL="0" marR="0" lvl="0" indent="0" defTabSz="914400" eaLnBrk="1" fontAlgn="auto" latinLnBrk="0" hangingPunct="1">
              <a:spcBef>
                <a:spcPts val="1100"/>
              </a:spcBef>
              <a:spcAft>
                <a:spcPts val="0"/>
              </a:spcAft>
              <a:buClrTx/>
              <a:buSzTx/>
              <a:buFontTx/>
              <a:buNone/>
              <a:tabLst/>
              <a:defRPr/>
            </a:pPr>
            <a:r>
              <a:rPr kumimoji="0" lang="en-US" u="none" strike="noStrike" kern="0" cap="none" spc="0" normalizeH="0" baseline="0" noProof="0" dirty="0">
                <a:ln>
                  <a:noFill/>
                </a:ln>
                <a:effectLst/>
                <a:uLnTx/>
                <a:uFillTx/>
              </a:rPr>
              <a:t>The total cost of non-compliance exceeds $14 Million and is a result of the following causes: </a:t>
            </a:r>
          </a:p>
          <a:p>
            <a:pPr marL="48751" indent="-171450" defTabSz="914400">
              <a:spcBef>
                <a:spcPts val="600"/>
              </a:spcBef>
              <a:buFont typeface="Arial" panose="020B0604020202020204" pitchFamily="34" charset="0"/>
              <a:buChar char="•"/>
              <a:defRPr/>
            </a:pPr>
            <a:r>
              <a:rPr kumimoji="0" lang="en-US" u="none" strike="noStrike" kern="0" cap="none" spc="0" normalizeH="0" baseline="0" noProof="0" dirty="0">
                <a:ln>
                  <a:noFill/>
                </a:ln>
                <a:effectLst/>
                <a:uLnTx/>
                <a:uFillTx/>
              </a:rPr>
              <a:t>Fines, penalties, and other fees</a:t>
            </a:r>
          </a:p>
          <a:p>
            <a:pPr marL="48751" indent="-171450" defTabSz="914400">
              <a:spcBef>
                <a:spcPts val="600"/>
              </a:spcBef>
              <a:buFont typeface="Arial" panose="020B0604020202020204" pitchFamily="34" charset="0"/>
              <a:buChar char="•"/>
              <a:defRPr/>
            </a:pPr>
            <a:r>
              <a:rPr kumimoji="0" lang="en-US" u="none" strike="noStrike" kern="0" cap="none" spc="0" normalizeH="0" baseline="0" noProof="0" dirty="0">
                <a:ln>
                  <a:noFill/>
                </a:ln>
                <a:effectLst/>
                <a:uLnTx/>
                <a:uFillTx/>
              </a:rPr>
              <a:t>Business disruption</a:t>
            </a:r>
          </a:p>
          <a:p>
            <a:pPr marL="48751" indent="-171450" defTabSz="914400">
              <a:spcBef>
                <a:spcPts val="600"/>
              </a:spcBef>
              <a:buFont typeface="Arial" panose="020B0604020202020204" pitchFamily="34" charset="0"/>
              <a:buChar char="•"/>
              <a:defRPr/>
            </a:pPr>
            <a:r>
              <a:rPr kumimoji="0" lang="en-US" u="none" strike="noStrike" kern="0" cap="none" spc="0" normalizeH="0" baseline="0" noProof="0" dirty="0">
                <a:ln>
                  <a:noFill/>
                </a:ln>
                <a:effectLst/>
                <a:uLnTx/>
                <a:uFillTx/>
              </a:rPr>
              <a:t>Revenue loss</a:t>
            </a:r>
          </a:p>
          <a:p>
            <a:pPr marL="48751" indent="-171450" defTabSz="914400">
              <a:spcBef>
                <a:spcPts val="600"/>
              </a:spcBef>
              <a:buFont typeface="Arial" panose="020B0604020202020204" pitchFamily="34" charset="0"/>
              <a:buChar char="•"/>
              <a:defRPr/>
            </a:pPr>
            <a:r>
              <a:rPr kumimoji="0" lang="en-US" u="none" strike="noStrike" kern="0" cap="none" spc="0" normalizeH="0" baseline="0" noProof="0" dirty="0">
                <a:ln>
                  <a:noFill/>
                </a:ln>
                <a:effectLst/>
                <a:uLnTx/>
                <a:uFillTx/>
              </a:rPr>
              <a:t>Productivity loss</a:t>
            </a:r>
          </a:p>
          <a:p>
            <a:pPr marL="48751" indent="-171450" defTabSz="914400">
              <a:spcBef>
                <a:spcPts val="600"/>
              </a:spcBef>
              <a:buFont typeface="Arial" panose="020B0604020202020204" pitchFamily="34" charset="0"/>
              <a:buChar char="•"/>
              <a:defRPr/>
            </a:pPr>
            <a:r>
              <a:rPr kumimoji="0" lang="en-US" u="none" strike="noStrike" kern="0" cap="none" spc="0" normalizeH="0" baseline="0" noProof="0" dirty="0">
                <a:ln>
                  <a:noFill/>
                </a:ln>
                <a:effectLst/>
                <a:uLnTx/>
                <a:uFillTx/>
              </a:rPr>
              <a:t>Reputation damage</a:t>
            </a:r>
          </a:p>
          <a:p>
            <a:pPr defTabSz="914400">
              <a:spcBef>
                <a:spcPts val="600"/>
              </a:spcBef>
              <a:defRPr/>
            </a:pPr>
            <a:r>
              <a:rPr kumimoji="0" lang="en-US" u="none" strike="noStrike" kern="0" cap="none" spc="0" normalizeH="0" baseline="0" noProof="0" dirty="0">
                <a:ln>
                  <a:noFill/>
                </a:ln>
                <a:effectLst/>
                <a:uLnTx/>
                <a:uFillTx/>
              </a:rPr>
              <a:t>As a result, getting the whole organization engaged to shift culture to raise risk awareness is critical. Essentially… risk is everyone’s business. </a:t>
            </a:r>
          </a:p>
          <a:p>
            <a:pPr defTabSz="914400">
              <a:spcBef>
                <a:spcPts val="600"/>
              </a:spcBef>
              <a:defRPr/>
            </a:pPr>
            <a:endParaRPr lang="en-US" kern="0" dirty="0"/>
          </a:p>
          <a:p>
            <a:pPr marL="0" marR="0" lvl="0" indent="0" defTabSz="914400" eaLnBrk="1" fontAlgn="auto" latinLnBrk="0" hangingPunct="1">
              <a:spcBef>
                <a:spcPts val="600"/>
              </a:spcBef>
              <a:spcAft>
                <a:spcPts val="0"/>
              </a:spcAft>
              <a:buClrTx/>
              <a:buSzTx/>
              <a:buFontTx/>
              <a:buNone/>
              <a:tabLst/>
              <a:defRPr/>
            </a:pPr>
            <a:r>
              <a:rPr kumimoji="0" lang="en-US" b="1" u="none" strike="noStrike" kern="0" cap="none" spc="0" normalizeH="0" baseline="0" noProof="0" dirty="0">
                <a:ln>
                  <a:noFill/>
                </a:ln>
                <a:effectLst/>
                <a:uLnTx/>
                <a:uFillTx/>
              </a:rPr>
              <a:t>Sources: </a:t>
            </a:r>
          </a:p>
          <a:p>
            <a:pPr marL="171450" marR="0" lvl="0" indent="-171450" defTabSz="914400" eaLnBrk="1" fontAlgn="auto" latinLnBrk="0" hangingPunct="1">
              <a:spcBef>
                <a:spcPts val="600"/>
              </a:spcBef>
              <a:spcAft>
                <a:spcPts val="0"/>
              </a:spcAft>
              <a:buClrTx/>
              <a:buSzTx/>
              <a:buFont typeface="Arial" panose="020B0604020202020204" pitchFamily="34" charset="0"/>
              <a:buChar char="•"/>
              <a:tabLst/>
              <a:defRPr/>
            </a:pPr>
            <a:r>
              <a:rPr kumimoji="0" lang="en-US" b="1" u="none" strike="noStrike" kern="0" cap="none" spc="0" normalizeH="0" baseline="0" noProof="0" dirty="0" err="1">
                <a:ln>
                  <a:noFill/>
                </a:ln>
                <a:effectLst/>
                <a:uLnTx/>
                <a:uFillTx/>
              </a:rPr>
              <a:t>Globalscape</a:t>
            </a:r>
            <a:r>
              <a:rPr kumimoji="0" lang="en-US" b="1" u="none" strike="noStrike" kern="0" cap="none" spc="0" normalizeH="0" baseline="0" noProof="0" dirty="0">
                <a:ln>
                  <a:noFill/>
                </a:ln>
                <a:effectLst/>
                <a:uLnTx/>
                <a:uFillTx/>
              </a:rPr>
              <a:t> study</a:t>
            </a:r>
            <a:r>
              <a:rPr kumimoji="0" lang="en-US" u="none" strike="noStrike" kern="0" cap="none" spc="0" normalizeH="0" baseline="0" noProof="0" dirty="0">
                <a:ln>
                  <a:noFill/>
                </a:ln>
                <a:effectLst/>
                <a:uLnTx/>
                <a:uFillTx/>
              </a:rPr>
              <a:t>: </a:t>
            </a:r>
            <a:r>
              <a:rPr lang="en-US" dirty="0">
                <a:hlinkClick r:id="rId3"/>
              </a:rPr>
              <a:t>https://static.fortra.com/globalscape/pdfs/guides/gs-true-cost-of-compliance-data-protection-regulations-gd.pdf#page=12</a:t>
            </a:r>
            <a:r>
              <a:rPr lang="en-US" dirty="0"/>
              <a:t> </a:t>
            </a:r>
            <a:br>
              <a:rPr lang="en-US" dirty="0"/>
            </a:br>
            <a:endParaRPr lang="en-US" dirty="0"/>
          </a:p>
          <a:p>
            <a:pPr marL="171450" marR="0" lvl="0" indent="-171450" defTabSz="914400" eaLnBrk="1" fontAlgn="auto" latinLnBrk="0" hangingPunct="1">
              <a:spcAft>
                <a:spcPts val="0"/>
              </a:spcAft>
              <a:buClrTx/>
              <a:buSzTx/>
              <a:buFont typeface="Arial" panose="020B0604020202020204" pitchFamily="34" charset="0"/>
              <a:buChar char="•"/>
              <a:tabLst/>
              <a:defRPr/>
            </a:pPr>
            <a:r>
              <a:rPr lang="en-US" b="1" dirty="0"/>
              <a:t>FTX collapse offers lessons about the cyber risks of cryptocurrency investing</a:t>
            </a:r>
            <a:r>
              <a:rPr lang="en-US" dirty="0"/>
              <a:t>:</a:t>
            </a:r>
          </a:p>
          <a:p>
            <a:r>
              <a:rPr lang="en-US" noProof="0" dirty="0">
                <a:hlinkClick r:id="rId4"/>
              </a:rPr>
              <a:t>https://www.npr.org/2022/12/02/1140260100/ftx-collapse-offers-lessons-about-the-cyber-risks-of-cryptocurrency-investing</a:t>
            </a:r>
            <a:br>
              <a:rPr lang="en-US" noProof="0" dirty="0"/>
            </a:br>
            <a:endParaRPr lang="en-US" dirty="0"/>
          </a:p>
          <a:p>
            <a:pPr marL="171450" indent="-171450">
              <a:buFont typeface="Arial" panose="020B0604020202020204" pitchFamily="34" charset="0"/>
              <a:buChar char="•"/>
            </a:pPr>
            <a:r>
              <a:rPr lang="en-US" b="1" dirty="0"/>
              <a:t>IT Leaders Reassess Vendor Risks After Silicon Valley Bank Collapse</a:t>
            </a:r>
            <a:r>
              <a:rPr lang="en-US" dirty="0"/>
              <a:t>:</a:t>
            </a:r>
          </a:p>
          <a:p>
            <a:r>
              <a:rPr lang="en-US" noProof="0" dirty="0">
                <a:hlinkClick r:id="rId5"/>
              </a:rPr>
              <a:t>https://www.wsj.com/articles/it-leaders-reassess-vendor-risks-after-silicon-valley-bank-collapse-3acbab51</a:t>
            </a:r>
            <a:br>
              <a:rPr lang="en-US" noProof="0" dirty="0"/>
            </a:br>
            <a:endParaRPr lang="en-US" dirty="0"/>
          </a:p>
          <a:p>
            <a:pPr marL="171450" indent="-171450">
              <a:buFont typeface="Arial" panose="020B0604020202020204" pitchFamily="34" charset="0"/>
              <a:buChar char="•"/>
            </a:pPr>
            <a:r>
              <a:rPr lang="en-US" b="1" dirty="0" err="1"/>
              <a:t>CommSec</a:t>
            </a:r>
            <a:r>
              <a:rPr lang="en-US" b="1" dirty="0"/>
              <a:t> and AUSIEX hit with largest ever penalty for market integrity compliance failures</a:t>
            </a:r>
            <a:r>
              <a:rPr lang="en-US" dirty="0"/>
              <a:t>:</a:t>
            </a:r>
            <a:endParaRPr lang="en-US" noProof="0" dirty="0"/>
          </a:p>
          <a:p>
            <a:r>
              <a:rPr lang="en-US" noProof="0" dirty="0">
                <a:hlinkClick r:id="rId6"/>
              </a:rPr>
              <a:t>https://www.businessnewsaustralia.com/articles/commsec-and-ausiex-hit-with-largest-ever-penalty-for-market-integrity-compliance-failures.html</a:t>
            </a:r>
            <a:br>
              <a:rPr lang="en-US" noProof="0" dirty="0"/>
            </a:br>
            <a:endParaRPr lang="en-US" noProof="0" dirty="0"/>
          </a:p>
          <a:p>
            <a:pPr marL="171450" indent="-171450">
              <a:buFont typeface="Arial" panose="020B0604020202020204" pitchFamily="34" charset="0"/>
              <a:buChar char="•"/>
            </a:pPr>
            <a:r>
              <a:rPr lang="en-US" b="1" dirty="0"/>
              <a:t>Banks face mounting risk of fines, regulatory probes over sustainability claims</a:t>
            </a:r>
            <a:r>
              <a:rPr lang="en-US" dirty="0"/>
              <a:t>: </a:t>
            </a:r>
            <a:endParaRPr lang="en-US" noProof="0" dirty="0"/>
          </a:p>
          <a:p>
            <a:r>
              <a:rPr lang="en-US" noProof="0" dirty="0">
                <a:hlinkClick r:id="rId7"/>
              </a:rPr>
              <a:t>https://www.spglobal.com/marketintelligence/en/news-insights/latest-news-headlines/banks-face-mounting-risk-of-fines-regulatory-probes-over-sustainability-claims-74385257</a:t>
            </a:r>
            <a:r>
              <a:rPr lang="en-US" noProof="0" dirty="0"/>
              <a:t> </a:t>
            </a:r>
            <a:br>
              <a:rPr lang="en-US" noProof="0" dirty="0"/>
            </a:br>
            <a:endParaRPr lang="en-US" dirty="0"/>
          </a:p>
          <a:p>
            <a:pPr marL="171450" indent="-171450">
              <a:buFont typeface="Arial" panose="020B0604020202020204" pitchFamily="34" charset="0"/>
              <a:buChar char="•"/>
            </a:pPr>
            <a:r>
              <a:rPr lang="en-US" b="1" dirty="0"/>
              <a:t>IDC </a:t>
            </a:r>
            <a:r>
              <a:rPr lang="en-US" b="1" dirty="0" err="1"/>
              <a:t>PlanScape</a:t>
            </a:r>
            <a:r>
              <a:rPr lang="en-US" b="1" dirty="0"/>
              <a:t>: Future of Trust — Implementing Automated Compliance Management for Better Efficacy and Efficiency Sept 2022</a:t>
            </a:r>
            <a:r>
              <a:rPr lang="en-US" dirty="0"/>
              <a:t>: </a:t>
            </a:r>
            <a:r>
              <a:rPr lang="en-US" noProof="0" dirty="0">
                <a:hlinkClick r:id="rId8"/>
              </a:rPr>
              <a:t>https://www.idc.com/getdoc.jsp?containerId=US49617722</a:t>
            </a:r>
            <a:endParaRPr lang="en-US" dirty="0"/>
          </a:p>
          <a:p>
            <a:pPr marL="171450" indent="-171450">
              <a:buFont typeface="Arial" panose="020B0604020202020204" pitchFamily="34" charset="0"/>
              <a:buChar char="•"/>
            </a:pPr>
            <a:r>
              <a:rPr lang="en-US" noProof="0" dirty="0">
                <a:hlinkClick r:id="rId9"/>
              </a:rPr>
              <a:t>https://medium.com/analysts-corner/data-quality-governance-and-compliance-cad6d8b132dd</a:t>
            </a:r>
            <a:r>
              <a:rPr lang="en-US" noProof="0" dirty="0"/>
              <a:t> </a:t>
            </a:r>
            <a:br>
              <a:rPr lang="en-US" noProof="0" dirty="0"/>
            </a:br>
            <a:endParaRPr lang="en-US" dirty="0"/>
          </a:p>
          <a:p>
            <a:pPr marL="171450" indent="-171450">
              <a:buFont typeface="Arial" panose="020B0604020202020204" pitchFamily="34" charset="0"/>
              <a:buChar char="•"/>
            </a:pPr>
            <a:r>
              <a:rPr lang="en-US" b="1" dirty="0"/>
              <a:t>Global anti-money laundering fines surge 50%</a:t>
            </a:r>
            <a:r>
              <a:rPr lang="en-US" dirty="0"/>
              <a:t>:</a:t>
            </a:r>
            <a:endParaRPr lang="en-US" noProof="0" dirty="0"/>
          </a:p>
          <a:p>
            <a:r>
              <a:rPr lang="en-US" noProof="0" dirty="0">
                <a:hlinkClick r:id="rId10"/>
              </a:rPr>
              <a:t>https://www.ft.com/content/7a4821e6-96f1-475c-ae55-6401e402061f</a:t>
            </a:r>
            <a:r>
              <a:rPr lang="en-US" noProof="0" dirty="0"/>
              <a:t> </a:t>
            </a:r>
            <a:br>
              <a:rPr lang="en-US" noProof="0" dirty="0"/>
            </a:br>
            <a:endParaRPr lang="en-US" dirty="0"/>
          </a:p>
          <a:p>
            <a:pPr marL="171450" indent="-171450">
              <a:buFont typeface="Arial" panose="020B0604020202020204" pitchFamily="34" charset="0"/>
              <a:buChar char="•"/>
            </a:pPr>
            <a:r>
              <a:rPr lang="en-US" b="1" dirty="0"/>
              <a:t>Coinbase hit with $50m fine for “significant” compliance failures</a:t>
            </a:r>
            <a:r>
              <a:rPr lang="en-US" dirty="0"/>
              <a:t>:</a:t>
            </a:r>
            <a:endParaRPr lang="en-US" noProof="0" dirty="0"/>
          </a:p>
          <a:p>
            <a:r>
              <a:rPr lang="en-US" noProof="0" dirty="0">
                <a:hlinkClick r:id="rId11"/>
              </a:rPr>
              <a:t>https://www.fintechfutures.com/2023/01/coinbase-hit-with-50m-fine-for-significant-compliance-failures/</a:t>
            </a:r>
            <a:r>
              <a:rPr lang="en-US" noProof="0" dirty="0"/>
              <a:t> </a:t>
            </a:r>
          </a:p>
          <a:p>
            <a:pPr marL="171673" indent="-171673">
              <a:buFont typeface="Arial" panose="020B0604020202020204" pitchFamily="34" charset="0"/>
              <a:buChar char="•"/>
            </a:pPr>
            <a:r>
              <a:rPr lang="en-US" noProof="0" dirty="0">
                <a:hlinkClick r:id="rId12"/>
              </a:rPr>
              <a:t>https://www.forbes.com/sites/jonathankeane/2021/01/05/italian-court-finds-deliveroo-rating-algorithm-was-unfair-to-riders</a:t>
            </a:r>
            <a:r>
              <a:rPr lang="en-US" noProof="0" dirty="0"/>
              <a:t> </a:t>
            </a:r>
          </a:p>
          <a:p>
            <a:pPr marL="171673" indent="-171673">
              <a:buFont typeface="Arial" panose="020B0604020202020204" pitchFamily="34" charset="0"/>
              <a:buChar char="•"/>
            </a:pPr>
            <a:r>
              <a:rPr lang="en-US" noProof="0" dirty="0">
                <a:hlinkClick r:id="rId13"/>
              </a:rPr>
              <a:t>https://english.rekenkamer.nl/publications/reports/2022/05/18/an-audit-of-9-algorithms-used-by-the-dutch-government</a:t>
            </a:r>
            <a:r>
              <a:rPr lang="en-US" noProof="0" dirty="0"/>
              <a:t> </a:t>
            </a:r>
          </a:p>
          <a:p>
            <a:pPr marL="171673" indent="-171673">
              <a:buFont typeface="Arial" panose="020B0604020202020204" pitchFamily="34" charset="0"/>
              <a:buChar char="•"/>
            </a:pPr>
            <a:r>
              <a:rPr lang="en-US" noProof="0" dirty="0">
                <a:hlinkClick r:id="rId14"/>
              </a:rPr>
              <a:t>https://www-engadget-com.cdn.ampproject.org/c/s/www.engadget.com/amp/uk-police-fail-to-use-facial-recognition-ethically-and-legally-researchers-say-082039619.html</a:t>
            </a:r>
            <a:r>
              <a:rPr lang="en-US" noProof="0" dirty="0"/>
              <a:t> </a:t>
            </a:r>
          </a:p>
          <a:p>
            <a:pPr marL="171673" indent="-171673">
              <a:buFont typeface="Arial" panose="020B0604020202020204" pitchFamily="34" charset="0"/>
              <a:buChar char="•"/>
            </a:pPr>
            <a:r>
              <a:rPr lang="en-US" noProof="0" dirty="0"/>
              <a:t>https://</a:t>
            </a:r>
            <a:r>
              <a:rPr lang="en-US" noProof="0" dirty="0" err="1"/>
              <a:t>algorithmwatch.org</a:t>
            </a:r>
            <a:r>
              <a:rPr lang="en-US" noProof="0" dirty="0"/>
              <a:t>/</a:t>
            </a:r>
            <a:r>
              <a:rPr lang="en-US" noProof="0" dirty="0" err="1"/>
              <a:t>en</a:t>
            </a:r>
            <a:r>
              <a:rPr lang="en-US" noProof="0" dirty="0"/>
              <a:t>/austrias-employment-agency-ams-rolls-out-discriminatory-algorithm/</a:t>
            </a:r>
          </a:p>
          <a:p>
            <a:pPr marL="171673" indent="-171673">
              <a:buFont typeface="Arial" panose="020B0604020202020204" pitchFamily="34" charset="0"/>
              <a:buChar char="•"/>
            </a:pPr>
            <a:r>
              <a:rPr lang="en-US" noProof="0" dirty="0">
                <a:hlinkClick r:id="rId15"/>
              </a:rPr>
              <a:t>https://www.foxglove.org.uk/2020/08/17/we-put-a-stop-to-the-a-level-grading-algorithm/</a:t>
            </a:r>
            <a:r>
              <a:rPr lang="en-US" noProof="0" dirty="0"/>
              <a:t> </a:t>
            </a:r>
          </a:p>
          <a:p>
            <a:pPr marL="171673" indent="-171673">
              <a:buFont typeface="Arial" panose="020B0604020202020204" pitchFamily="34" charset="0"/>
              <a:buChar char="•"/>
            </a:pPr>
            <a:r>
              <a:rPr lang="en-US" noProof="0" dirty="0">
                <a:hlinkClick r:id="rId16"/>
              </a:rPr>
              <a:t>https://www.theverge.com/tldr/2020/11/3/21547392/ai-camera-operator-football-bald-head-soccer-mistakes</a:t>
            </a:r>
            <a:r>
              <a:rPr lang="en-US" noProof="0" dirty="0"/>
              <a:t> </a:t>
            </a:r>
            <a:endParaRPr lang="en-US" dirty="0"/>
          </a:p>
          <a:p>
            <a:pPr defTabSz="914400">
              <a:spcBef>
                <a:spcPts val="600"/>
              </a:spcBef>
              <a:defRPr/>
            </a:pPr>
            <a:endParaRPr kumimoji="0" lang="en-US" u="none" strike="noStrike" kern="0" cap="none" spc="0" normalizeH="0" baseline="0" noProof="0" dirty="0">
              <a:ln>
                <a:noFill/>
              </a:ln>
              <a:effectLst/>
              <a:uLnTx/>
              <a:uFillTx/>
            </a:endParaRPr>
          </a:p>
          <a:p>
            <a:pPr marL="48751" indent="-171450" defTabSz="914400">
              <a:spcBef>
                <a:spcPts val="600"/>
              </a:spcBef>
              <a:buFont typeface="Arial" panose="020B0604020202020204" pitchFamily="34" charset="0"/>
              <a:buChar char="•"/>
              <a:defRPr/>
            </a:pPr>
            <a:endParaRPr kumimoji="0" lang="en-US" u="none" strike="noStrike" kern="0" cap="none" spc="0" normalizeH="0" baseline="0" noProof="0" dirty="0">
              <a:ln>
                <a:noFill/>
              </a:ln>
              <a:effectLst/>
              <a:uLnTx/>
              <a:uFillTx/>
            </a:endParaRPr>
          </a:p>
          <a:p>
            <a:pPr>
              <a:defRPr/>
            </a:pPr>
            <a:endParaRPr kumimoji="0" lang="en-US" u="none" strike="noStrike" kern="0" cap="none" spc="0" normalizeH="0" baseline="0" noProof="0" dirty="0">
              <a:ln>
                <a:noFill/>
              </a:ln>
              <a:effectLst/>
              <a:uLnTx/>
              <a:uFillTx/>
            </a:endParaRPr>
          </a:p>
          <a:p>
            <a:pPr marL="171450" indent="-171450">
              <a:buFont typeface="Arial" panose="020B0604020202020204" pitchFamily="34" charset="0"/>
              <a:buChar char="•"/>
              <a:defRPr/>
            </a:pPr>
            <a:endParaRPr lang="en-US" dirty="0"/>
          </a:p>
          <a:p>
            <a:pPr marL="171450" indent="-171450">
              <a:buFont typeface="Arial" panose="020B0604020202020204" pitchFamily="34" charset="0"/>
              <a:buChar cha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sz="1000" kern="1200" dirty="0">
              <a:solidFill>
                <a:schemeClr val="bg1"/>
              </a:solidFill>
              <a:effectLst/>
            </a:endParaRPr>
          </a:p>
          <a:p>
            <a:pPr>
              <a:defRPr/>
            </a:pPr>
            <a:endParaRPr lang="en-US" sz="1000" kern="1200" dirty="0">
              <a:solidFill>
                <a:schemeClr val="bg1"/>
              </a:solidFill>
              <a:effectLst/>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Tree>
    <p:extLst>
      <p:ext uri="{BB962C8B-B14F-4D97-AF65-F5344CB8AC3E}">
        <p14:creationId xmlns:p14="http://schemas.microsoft.com/office/powerpoint/2010/main" val="2931937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R="0" lvl="0" algn="l" defTabSz="914400" rtl="0" eaLnBrk="1" fontAlgn="auto" latinLnBrk="0" hangingPunct="1">
              <a:spcAft>
                <a:spcPts val="0"/>
              </a:spcAft>
              <a:buClrTx/>
              <a:buSzTx/>
              <a:tabLst/>
              <a:defRPr/>
            </a:pPr>
            <a:r>
              <a:rPr lang="en-IN" dirty="0"/>
              <a:t>Artificial intelligence (AI) has become an essential tool in today's business world and its revolutionizing risk and compliance functions. AI-powered risk and compliance solutions can help businesses automate routine tasks, reduce response times, and improve regulator interaction.</a:t>
            </a:r>
          </a:p>
          <a:p>
            <a:pPr marR="0" lvl="0" algn="l" defTabSz="914400" rtl="0" eaLnBrk="1" fontAlgn="auto" latinLnBrk="0" hangingPunct="1">
              <a:spcAft>
                <a:spcPts val="0"/>
              </a:spcAft>
              <a:buClrTx/>
              <a:buSzTx/>
              <a:tabLst/>
              <a:defRPr/>
            </a:pPr>
            <a:endParaRPr lang="en-IN" dirty="0"/>
          </a:p>
          <a:p>
            <a:pPr marR="0" lvl="0" algn="l" defTabSz="914400" rtl="0" eaLnBrk="1" fontAlgn="auto" latinLnBrk="0" hangingPunct="1">
              <a:spcAft>
                <a:spcPts val="0"/>
              </a:spcAft>
              <a:buClrTx/>
              <a:buSzTx/>
              <a:tabLst/>
              <a:defRPr/>
            </a:pPr>
            <a:r>
              <a:rPr lang="en-IN" dirty="0"/>
              <a:t>Businesses large and small are embracing an AI-first approach (AI+) that encompasses prediction, automation, and machine learning. Both AI adoption and AI capabilities in organizations have more than doubled since 2017. And budget allocations for AI as part of a digital transformation strategy have grown from 5% in 2018 to 52% in 2022.</a:t>
            </a:r>
          </a:p>
          <a:p>
            <a:pPr marR="0" lvl="0" algn="l" defTabSz="914400" rtl="0" eaLnBrk="1" fontAlgn="auto" latinLnBrk="0" hangingPunct="1">
              <a:spcAft>
                <a:spcPts val="0"/>
              </a:spcAft>
              <a:buClrTx/>
              <a:buSzTx/>
              <a:tabLst/>
              <a:defRPr/>
            </a:pPr>
            <a:endParaRPr lang="en-IN" dirty="0"/>
          </a:p>
          <a:p>
            <a:pPr marR="0" lvl="0" algn="l" defTabSz="914400" rtl="0" eaLnBrk="1" fontAlgn="auto" latinLnBrk="0" hangingPunct="1">
              <a:spcAft>
                <a:spcPts val="0"/>
              </a:spcAft>
              <a:buClrTx/>
              <a:buSzTx/>
              <a:tabLst/>
              <a:defRPr/>
            </a:pPr>
            <a:r>
              <a:rPr lang="en-IN" dirty="0"/>
              <a:t>AI technologies like large language models (LLMs) and generative AI (used by tools like </a:t>
            </a:r>
            <a:r>
              <a:rPr lang="en-IN" dirty="0" err="1"/>
              <a:t>ChatGPT</a:t>
            </a:r>
            <a:r>
              <a:rPr lang="en-IN" dirty="0"/>
              <a:t>, Bard, </a:t>
            </a:r>
            <a:r>
              <a:rPr lang="en-IN" dirty="0" err="1"/>
              <a:t>watsonx</a:t>
            </a:r>
            <a:r>
              <a:rPr lang="en-IN" dirty="0"/>
              <a:t> Assistant, and more) are evidence of the rising awareness of the power, value, and usefulness of AI. Also, AI is now applied to key risk and compliance functions and processes.</a:t>
            </a:r>
            <a:endParaRPr lang="en-US" dirty="0">
              <a:effectLst/>
            </a:endParaRPr>
          </a:p>
          <a:p>
            <a:pPr marL="171450" indent="-171450">
              <a:buFont typeface="Arial" panose="020B0604020202020204" pitchFamily="34" charset="0"/>
              <a:buChar char="•"/>
            </a:pPr>
            <a:endParaRPr lang="en-US" dirty="0">
              <a:effectLst/>
            </a:endParaRPr>
          </a:p>
          <a:p>
            <a:r>
              <a:rPr lang="en-US" b="1" dirty="0">
                <a:effectLst/>
              </a:rPr>
              <a:t>Sources:</a:t>
            </a:r>
          </a:p>
          <a:p>
            <a:pPr marL="171450" indent="-171450">
              <a:buFont typeface="Arial" panose="020B0604020202020204" pitchFamily="34" charset="0"/>
              <a:buChar char="•"/>
            </a:pPr>
            <a:r>
              <a:rPr lang="en-US" b="1" dirty="0" err="1">
                <a:effectLst/>
              </a:rPr>
              <a:t>Mckinsey</a:t>
            </a:r>
            <a:r>
              <a:rPr lang="en-US" b="1" dirty="0">
                <a:effectLst/>
              </a:rPr>
              <a:t> study: “</a:t>
            </a:r>
            <a:r>
              <a:rPr lang="en-US" b="1" dirty="0"/>
              <a:t>T</a:t>
            </a:r>
            <a:r>
              <a:rPr lang="en-US" b="1" dirty="0">
                <a:effectLst/>
              </a:rPr>
              <a:t>he state of AI in 2022 — and a half decade in review” December 6, 2022 | Survey</a:t>
            </a:r>
            <a:r>
              <a:rPr lang="en-US" dirty="0">
                <a:effectLst/>
              </a:rPr>
              <a:t> </a:t>
            </a:r>
            <a:r>
              <a:rPr lang="en-US" dirty="0">
                <a:effectLst/>
                <a:hlinkClick r:id="rId3"/>
              </a:rPr>
              <a:t>https://www.mckinsey.com/capabilities/quantumblack/our-insights/the-state-of-ai-in-2022-and-a-half-decade-in-review#</a:t>
            </a:r>
            <a:endParaRPr lang="en-US" dirty="0">
              <a:effectLst/>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b="1" dirty="0">
                <a:effectLst/>
              </a:rPr>
              <a:t>IBM IBV study: </a:t>
            </a:r>
            <a:r>
              <a:rPr lang="en-US" b="1" dirty="0"/>
              <a:t>Goehring, Brian and Anthony Marshall. “The business value of AI.” IBM Institute for Busines</a:t>
            </a:r>
            <a:r>
              <a:rPr lang="en-US" dirty="0"/>
              <a:t>s </a:t>
            </a:r>
            <a:r>
              <a:rPr lang="en-US" b="1" dirty="0"/>
              <a:t>Value. November 2020.</a:t>
            </a:r>
            <a:r>
              <a:rPr lang="en-US" dirty="0"/>
              <a:t> </a:t>
            </a:r>
            <a:r>
              <a:rPr lang="en-US" dirty="0">
                <a:hlinkClick r:id="rId4"/>
              </a:rPr>
              <a:t>https://ibm.co/ai-value-pandemic</a:t>
            </a:r>
            <a:endParaRPr lang="en-US" dirty="0"/>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dirty="0"/>
          </a:p>
          <a:p>
            <a:pPr marR="0" lvl="0" algn="l" defTabSz="914400" rtl="0" eaLnBrk="1" fontAlgn="auto" latinLnBrk="0" hangingPunct="1">
              <a:lnSpc>
                <a:spcPct val="100000"/>
              </a:lnSpc>
              <a:spcBef>
                <a:spcPts val="600"/>
              </a:spcBef>
              <a:spcAft>
                <a:spcPts val="0"/>
              </a:spcAft>
              <a:buClrTx/>
              <a:buSzTx/>
              <a:tabLst/>
              <a:defRPr/>
            </a:pPr>
            <a:endParaRPr lang="en-IN" dirty="0"/>
          </a:p>
          <a:p>
            <a:pPr marR="0" lvl="0" algn="l" defTabSz="914400" rtl="0" eaLnBrk="1" fontAlgn="auto" latinLnBrk="0" hangingPunct="1">
              <a:lnSpc>
                <a:spcPct val="100000"/>
              </a:lnSpc>
              <a:spcBef>
                <a:spcPts val="600"/>
              </a:spcBef>
              <a:spcAft>
                <a:spcPts val="0"/>
              </a:spcAft>
              <a:buClrTx/>
              <a:buSzTx/>
              <a:tabLst/>
              <a:defRPr/>
            </a:pPr>
            <a:endParaRPr lang="en-IN" dirty="0"/>
          </a:p>
          <a:p>
            <a:pPr marL="171450" indent="-171450">
              <a:buFont typeface="Arial" panose="020B0604020202020204" pitchFamily="34" charset="0"/>
              <a:buChar char="•"/>
            </a:pPr>
            <a:endParaRPr lang="en-US" dirty="0">
              <a:effectLst/>
            </a:endParaRP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Tree>
    <p:extLst>
      <p:ext uri="{BB962C8B-B14F-4D97-AF65-F5344CB8AC3E}">
        <p14:creationId xmlns:p14="http://schemas.microsoft.com/office/powerpoint/2010/main" val="2381011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Artificial intelligence (AI) for risk and compliance is here – and clients can use it today in the following ways:</a:t>
            </a:r>
          </a:p>
          <a:p>
            <a:endParaRPr lang="en-US" dirty="0"/>
          </a:p>
          <a:p>
            <a:pPr marL="228600" indent="-228600">
              <a:buFont typeface="+mj-lt"/>
              <a:buAutoNum type="arabicPeriod"/>
            </a:pPr>
            <a:r>
              <a:rPr lang="en-US" dirty="0"/>
              <a:t>Embedding AI in governance, risk, and compliance (GRC) programs increases employee engagement and drives inclusion of employees, regardless of their expertise level or native language. All these benefits help clients build on, and promote, a heathy and inclusive risk-aware culture.</a:t>
            </a:r>
          </a:p>
          <a:p>
            <a:pPr marL="228600" indent="-228600">
              <a:buFont typeface="+mj-lt"/>
              <a:buAutoNum type="arabicPeriod"/>
            </a:pPr>
            <a:endParaRPr lang="en-US" dirty="0"/>
          </a:p>
          <a:p>
            <a:pPr marL="228600" indent="-228600">
              <a:buFont typeface="+mj-lt"/>
              <a:buAutoNum type="arabicPeriod"/>
            </a:pPr>
            <a:r>
              <a:rPr lang="en-US" dirty="0"/>
              <a:t>AI improves risk and compliance data quality and consistency. And, as a result, increases client’s confidence in their risk and compliance conclusions, decisions, and interactions with regulators and other constituencies. </a:t>
            </a:r>
          </a:p>
          <a:p>
            <a:pPr marL="228600" indent="-228600">
              <a:buFont typeface="+mj-lt"/>
              <a:buAutoNum type="arabicPeriod"/>
            </a:pPr>
            <a:endParaRPr lang="en-US" dirty="0"/>
          </a:p>
          <a:p>
            <a:pPr marL="228600" indent="-228600">
              <a:buFont typeface="+mj-lt"/>
              <a:buAutoNum type="arabicPeriod"/>
            </a:pPr>
            <a:r>
              <a:rPr lang="en-US" dirty="0"/>
              <a:t>AI improves user and employee experience with GRC technology. AI powered chat enriches, guides, and provides context to employees, 24 hours a day.</a:t>
            </a:r>
          </a:p>
          <a:p>
            <a:pPr marL="228600" indent="-228600">
              <a:buFont typeface="+mj-lt"/>
              <a:buAutoNum type="arabicPeriod"/>
            </a:pPr>
            <a:endParaRPr lang="en-US" dirty="0"/>
          </a:p>
          <a:p>
            <a:pPr marL="228600" indent="-228600">
              <a:buFont typeface="+mj-lt"/>
              <a:buAutoNum type="arabicPeriod"/>
            </a:pPr>
            <a:r>
              <a:rPr lang="en-US" dirty="0"/>
              <a:t>And finally, AI automates processes, especially repetitive data sensitive tasks – and this in turn drives employee engagement, productivity, and the overall accuracy of GRC programs. </a:t>
            </a:r>
          </a:p>
          <a:p>
            <a:endParaRPr lang="en-US" dirty="0"/>
          </a:p>
          <a:p>
            <a:endParaRPr lang="en-US" b="1" dirty="0">
              <a:solidFill>
                <a:srgbClr val="FF0000"/>
              </a:solidFill>
            </a:endParaRPr>
          </a:p>
          <a:p>
            <a:endParaRPr lang="en-US" b="1" dirty="0">
              <a:solidFill>
                <a:srgbClr val="FF0000"/>
              </a:solidFill>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Tree>
    <p:extLst>
      <p:ext uri="{BB962C8B-B14F-4D97-AF65-F5344CB8AC3E}">
        <p14:creationId xmlns:p14="http://schemas.microsoft.com/office/powerpoint/2010/main" val="215203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685800" rtl="0" eaLnBrk="1" fontAlgn="auto" latinLnBrk="0" hangingPunct="1">
              <a:spcBef>
                <a:spcPts val="0"/>
              </a:spcBef>
              <a:spcAft>
                <a:spcPts val="0"/>
              </a:spcAft>
              <a:buClrTx/>
              <a:buSzTx/>
              <a:buFontTx/>
              <a:buNone/>
              <a:tabLst/>
              <a:defRPr/>
            </a:pPr>
            <a:r>
              <a:rPr lang="en-US" dirty="0">
                <a:effectLst/>
              </a:rPr>
              <a:t>IBM artificial intelligence (AI) capabilities have been brought to bear – specifically, capabilities that are radically helping improve decision making and accelerating clients time to value.</a:t>
            </a:r>
          </a:p>
          <a:p>
            <a:pPr marL="0" marR="0" lvl="0" indent="0" algn="l" defTabSz="685800" rtl="0" eaLnBrk="1" fontAlgn="auto" latinLnBrk="0" hangingPunct="1">
              <a:spcBef>
                <a:spcPts val="0"/>
              </a:spcBef>
              <a:spcAft>
                <a:spcPts val="0"/>
              </a:spcAft>
              <a:buClrTx/>
              <a:buSzTx/>
              <a:buFontTx/>
              <a:buNone/>
              <a:tabLst/>
              <a:defRPr/>
            </a:pPr>
            <a:endParaRPr lang="en-US" dirty="0">
              <a:effectLst/>
            </a:endParaRPr>
          </a:p>
          <a:p>
            <a:pPr marL="0" marR="0" lvl="0" indent="0" algn="l" defTabSz="685800" rtl="0" eaLnBrk="1" fontAlgn="auto" latinLnBrk="0" hangingPunct="1">
              <a:spcBef>
                <a:spcPts val="0"/>
              </a:spcBef>
              <a:spcAft>
                <a:spcPts val="0"/>
              </a:spcAft>
              <a:buClrTx/>
              <a:buSzTx/>
              <a:buFontTx/>
              <a:buNone/>
              <a:tabLst/>
              <a:defRPr/>
            </a:pPr>
            <a:r>
              <a:rPr lang="en-US" dirty="0">
                <a:effectLst/>
              </a:rPr>
              <a:t>As part of IBM’s Data and AI portfolio, IBM OpenPages integrates AI technologies in support of governance, risk, and compliance (GRC) use cases including classification, translation, and detection of drift and bias in AI models.</a:t>
            </a:r>
          </a:p>
          <a:p>
            <a:pPr marL="0" marR="0" lvl="0" indent="0" algn="l" defTabSz="685800" rtl="0" eaLnBrk="1" fontAlgn="auto" latinLnBrk="0" hangingPunct="1">
              <a:spcBef>
                <a:spcPts val="0"/>
              </a:spcBef>
              <a:spcAft>
                <a:spcPts val="0"/>
              </a:spcAft>
              <a:buClrTx/>
              <a:buSzTx/>
              <a:buFontTx/>
              <a:buNone/>
              <a:tabLst/>
              <a:defRPr/>
            </a:pPr>
            <a:endParaRPr lang="en-US" dirty="0"/>
          </a:p>
          <a:p>
            <a:pPr marL="0" marR="0" lvl="0" indent="0" algn="l" defTabSz="685800" rtl="0" eaLnBrk="1" fontAlgn="auto" latinLnBrk="0" hangingPunct="1">
              <a:spcBef>
                <a:spcPts val="0"/>
              </a:spcBef>
              <a:spcAft>
                <a:spcPts val="0"/>
              </a:spcAft>
              <a:buClrTx/>
              <a:buSzTx/>
              <a:buFontTx/>
              <a:buNone/>
              <a:tabLst/>
              <a:defRPr/>
            </a:pPr>
            <a:r>
              <a:rPr lang="en-US" dirty="0">
                <a:effectLst/>
              </a:rPr>
              <a:t>After interruptions in day-to-day operations </a:t>
            </a:r>
            <a:r>
              <a:rPr lang="en-US" dirty="0"/>
              <a:t>due to </a:t>
            </a:r>
            <a:r>
              <a:rPr lang="en-US" dirty="0">
                <a:effectLst/>
              </a:rPr>
              <a:t>COVID-19 (for example, supply chain issues, or increased cyberattacks), </a:t>
            </a:r>
            <a:r>
              <a:rPr lang="en-US" dirty="0"/>
              <a:t>IBM</a:t>
            </a:r>
            <a:r>
              <a:rPr lang="en-US" dirty="0">
                <a:effectLst/>
              </a:rPr>
              <a:t> recognizes that clients are striving to become more predictive in anticipating and mitigating risk. IBM also uses AI to automatically identify and tag related information across the OpenPages data model to provide deeper insights to underlying risks. </a:t>
            </a:r>
            <a:r>
              <a:rPr lang="en-US" dirty="0"/>
              <a:t>This</a:t>
            </a:r>
            <a:r>
              <a:rPr lang="en-US" dirty="0">
                <a:effectLst/>
              </a:rPr>
              <a:t> focus also includes opportunities to improve control effectiveness through on-going monitoring and automated evidence so that risks can be identified in real-time as opposed to after an issue or a loss event. </a:t>
            </a:r>
          </a:p>
          <a:p>
            <a:pPr marL="0" marR="0" lvl="0" indent="0" algn="l" defTabSz="685800" rtl="0" eaLnBrk="1" fontAlgn="auto" latinLnBrk="0" hangingPunct="1">
              <a:spcBef>
                <a:spcPts val="0"/>
              </a:spcBef>
              <a:spcAft>
                <a:spcPts val="0"/>
              </a:spcAft>
              <a:buClrTx/>
              <a:buSzTx/>
              <a:buFontTx/>
              <a:buNone/>
              <a:tabLst/>
              <a:defRPr/>
            </a:pPr>
            <a:endParaRPr lang="en-US" dirty="0"/>
          </a:p>
          <a:p>
            <a:pPr marL="0" marR="0" lvl="0" indent="0" algn="l" defTabSz="685800" rtl="0" eaLnBrk="1" fontAlgn="auto" latinLnBrk="0" hangingPunct="1">
              <a:spcBef>
                <a:spcPts val="0"/>
              </a:spcBef>
              <a:spcAft>
                <a:spcPts val="0"/>
              </a:spcAft>
              <a:buClrTx/>
              <a:buSzTx/>
              <a:buFontTx/>
              <a:buNone/>
              <a:tabLst/>
              <a:defRPr/>
            </a:pPr>
            <a:r>
              <a:rPr lang="en-US" dirty="0">
                <a:effectLst/>
              </a:rPr>
              <a:t>As several regulatory agencies have now proposed model governance legislation, OpenPages is focused on helping organizations facilitate AI adoption through process governance that helps to ensure trustworthy AI. OpenPages model risk governance is an ongoing area of investment that helps clients ensure trust, transparency, and compliance in support of effective adoption of AI models.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Tree>
    <p:extLst>
      <p:ext uri="{BB962C8B-B14F-4D97-AF65-F5344CB8AC3E}">
        <p14:creationId xmlns:p14="http://schemas.microsoft.com/office/powerpoint/2010/main" val="344015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4788" y="230188"/>
            <a:ext cx="6418262" cy="3611562"/>
          </a:xfrm>
        </p:spPr>
      </p:sp>
      <p:sp>
        <p:nvSpPr>
          <p:cNvPr id="3" name="Notes Placeholder 2"/>
          <p:cNvSpPr>
            <a:spLocks noGrp="1"/>
          </p:cNvSpPr>
          <p:nvPr>
            <p:ph type="body" idx="1"/>
          </p:nvPr>
        </p:nvSpPr>
        <p:spPr>
          <a:xfrm>
            <a:off x="206710" y="4086000"/>
            <a:ext cx="6419088" cy="6158469"/>
          </a:xfrm>
        </p:spPr>
        <p:txBody>
          <a:bodyPr/>
          <a:lstStyle/>
          <a:p>
            <a:r>
              <a:rPr lang="en-US" dirty="0"/>
              <a:t>Operationalizing artificial intelligence (AI) can be a challenge for organizations. Specifically, organizations struggle with the issues shown on this self-explanatory slide.</a:t>
            </a:r>
          </a:p>
          <a:p>
            <a:endParaRPr lang="en-US" dirty="0"/>
          </a:p>
          <a:p>
            <a:r>
              <a:rPr lang="en-US" dirty="0"/>
              <a:t>For example, IBM has a client who struggled with data quality when collecting and analyzing loss events, so much so that their regulator threated serious action. This regional bank used IBM’s risk and compliance AI to provide suggestions (with an accuracy confidence rating) to classify these events, assisting those end users who were not experts – giving transparency and confidence to the whole process.</a:t>
            </a:r>
          </a:p>
          <a:p>
            <a:endParaRPr lang="en-US" dirty="0"/>
          </a:p>
          <a:p>
            <a:r>
              <a:rPr lang="en-US" dirty="0"/>
              <a:t>Looking at another example, IBM has a client with over 2500 auditors located around the world. This client deployed IBM’s platform with its AI-enabled chatbot to provide reliable and repeatable 24-hour guidance to these auditors, enabling them to scale with confidence.</a:t>
            </a:r>
          </a:p>
          <a:p>
            <a:endParaRPr lang="en-US" dirty="0"/>
          </a:p>
          <a:p>
            <a:r>
              <a:rPr lang="en-US" dirty="0"/>
              <a:t>IBM has seen the power of AI to make client’s risk and compliance functions more reliable, efficient, and repeatable. However, there is a trust component that is also critical. </a:t>
            </a:r>
          </a:p>
          <a:p>
            <a:r>
              <a:rPr lang="en-US" dirty="0"/>
              <a:t> </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9</a:t>
            </a:fld>
            <a:endParaRPr kumimoji="0" lang="en-US"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110802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IBM OpenPages enables organizations to centralize disparate risk management functions to identify, manage, monitor, and report on risk and regulatory compliance. </a:t>
            </a:r>
          </a:p>
          <a:p>
            <a:endParaRPr lang="en-US" dirty="0"/>
          </a:p>
          <a:p>
            <a:r>
              <a:rPr lang="en-US" dirty="0"/>
              <a:t>This platform increases efficiency with its low total cost of ownership (TCO) configuration approach. OpenPages easily adapts to a client’s existing taxonomies and methodologies, and has an integration-first approach to automate data flows. </a:t>
            </a:r>
            <a:br>
              <a:rPr lang="en-US" dirty="0"/>
            </a:br>
            <a:br>
              <a:rPr lang="en-US" dirty="0"/>
            </a:br>
            <a:r>
              <a:rPr lang="en-US" dirty="0"/>
              <a:t>The platform reduces risk exposure in the following ways: </a:t>
            </a:r>
            <a:br>
              <a:rPr lang="en-US" dirty="0"/>
            </a:br>
            <a:endParaRPr lang="en-US" dirty="0"/>
          </a:p>
          <a:p>
            <a:pPr marL="171450" indent="-171450">
              <a:buFont typeface="Arial" panose="020B0604020202020204" pitchFamily="34" charset="0"/>
              <a:buChar char="•"/>
            </a:pPr>
            <a:r>
              <a:rPr lang="en-US" dirty="0"/>
              <a:t>Increases risk-awareness across an enterprise.</a:t>
            </a:r>
          </a:p>
          <a:p>
            <a:pPr marL="171450" indent="-171450">
              <a:buFont typeface="Arial" panose="020B0604020202020204" pitchFamily="34" charset="0"/>
              <a:buChar char="•"/>
            </a:pPr>
            <a:r>
              <a:rPr lang="en-US" dirty="0"/>
              <a:t>Meets employees where they are (whether in multiple languages or risk and compliance knowledge).</a:t>
            </a:r>
          </a:p>
          <a:p>
            <a:pPr marL="171450" indent="-171450">
              <a:buFont typeface="Arial" panose="020B0604020202020204" pitchFamily="34" charset="0"/>
              <a:buChar char="•"/>
            </a:pPr>
            <a:r>
              <a:rPr lang="en-US" dirty="0"/>
              <a:t>With auditable, documented process automation.</a:t>
            </a:r>
          </a:p>
          <a:p>
            <a:endParaRPr lang="en-US" dirty="0"/>
          </a:p>
          <a:p>
            <a:r>
              <a:rPr lang="en-US" dirty="0"/>
              <a:t>Clients can use IBM’s </a:t>
            </a:r>
            <a:r>
              <a:rPr lang="en-US" dirty="0">
                <a:effectLst/>
              </a:rPr>
              <a:t>governance, risk, and compliance (GRC) expertise,</a:t>
            </a:r>
            <a:r>
              <a:rPr lang="en-US" dirty="0"/>
              <a:t> and</a:t>
            </a:r>
            <a:r>
              <a:rPr lang="en-US" dirty="0">
                <a:effectLst/>
              </a:rPr>
              <a:t> </a:t>
            </a:r>
            <a:r>
              <a:rPr lang="en-US" dirty="0"/>
              <a:t>join a long list of companies and organizations around the world in every industry. The OpenPages platform and IBM’s world class implementation services teams have serviced the needs of clients for 20 years.</a:t>
            </a:r>
          </a:p>
          <a:p>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Tree>
    <p:extLst>
      <p:ext uri="{BB962C8B-B14F-4D97-AF65-F5344CB8AC3E}">
        <p14:creationId xmlns:p14="http://schemas.microsoft.com/office/powerpoint/2010/main" val="519007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685800" rtl="0" eaLnBrk="1" fontAlgn="auto" latinLnBrk="0" hangingPunct="1">
              <a:spcBef>
                <a:spcPts val="0"/>
              </a:spcBef>
              <a:spcAft>
                <a:spcPts val="0"/>
              </a:spcAft>
              <a:buClrTx/>
              <a:buSzTx/>
              <a:buFont typeface="Arial" panose="020B0604020202020204" pitchFamily="34" charset="0"/>
              <a:buNone/>
              <a:tabLst/>
              <a:defRPr/>
            </a:pPr>
            <a:r>
              <a:rPr lang="en-US" dirty="0"/>
              <a:t>This self-explanatory slides shows how IBM OpenPages is a market leader in the governance, risk, and compliance (GRC) space:</a:t>
            </a:r>
          </a:p>
          <a:p>
            <a:endParaRPr lang="en-US" dirty="0"/>
          </a:p>
          <a:p>
            <a:r>
              <a:rPr lang="en-US" dirty="0"/>
              <a:t>Specifically, OpenPages has earned </a:t>
            </a:r>
            <a:r>
              <a:rPr lang="en-US" i="1" dirty="0"/>
              <a:t>Category Leader Status</a:t>
            </a:r>
            <a:r>
              <a:rPr lang="en-US" dirty="0"/>
              <a:t> in all segments including the following:</a:t>
            </a:r>
          </a:p>
          <a:p>
            <a:endParaRPr lang="en-US" dirty="0"/>
          </a:p>
          <a:p>
            <a:pPr marL="171450" indent="-171450">
              <a:buFont typeface="Arial" panose="020B0604020202020204" pitchFamily="34" charset="0"/>
              <a:buChar char="•"/>
            </a:pPr>
            <a:r>
              <a:rPr lang="en-US" dirty="0"/>
              <a:t>Enterprise Governance, Risk Management, and Compliance (EGRC)</a:t>
            </a:r>
          </a:p>
          <a:p>
            <a:pPr marL="171450" indent="-171450">
              <a:buFont typeface="Arial" panose="020B0604020202020204" pitchFamily="34" charset="0"/>
              <a:buChar char="•"/>
            </a:pPr>
            <a:r>
              <a:rPr lang="en-US" dirty="0"/>
              <a:t>Operational risk</a:t>
            </a:r>
          </a:p>
          <a:p>
            <a:pPr marL="171450" indent="-171450">
              <a:buFont typeface="Arial" panose="020B0604020202020204" pitchFamily="34" charset="0"/>
              <a:buChar char="•"/>
            </a:pPr>
            <a:r>
              <a:rPr lang="en-US" dirty="0"/>
              <a:t>Conduct risk and controls</a:t>
            </a:r>
          </a:p>
          <a:p>
            <a:pPr marL="171450" indent="-171450">
              <a:buFont typeface="Arial" panose="020B0604020202020204" pitchFamily="34" charset="0"/>
              <a:buChar char="•"/>
            </a:pPr>
            <a:r>
              <a:rPr lang="en-US" dirty="0"/>
              <a:t>Internal audit management</a:t>
            </a:r>
          </a:p>
          <a:p>
            <a:pPr marL="171450" indent="-171450">
              <a:buFont typeface="Arial" panose="020B0604020202020204" pitchFamily="34" charset="0"/>
              <a:buChar char="•"/>
            </a:pPr>
            <a:r>
              <a:rPr lang="en-US" dirty="0"/>
              <a:t>Third-party risk management (3PRM)</a:t>
            </a:r>
          </a:p>
          <a:p>
            <a:pPr marL="171450" indent="-171450">
              <a:buFont typeface="Arial" panose="020B0604020202020204" pitchFamily="34" charset="0"/>
              <a:buChar char="•"/>
            </a:pPr>
            <a:r>
              <a:rPr lang="en-US" dirty="0"/>
              <a:t>Model risk management (MRM)</a:t>
            </a:r>
          </a:p>
          <a:p>
            <a:pPr marL="171450" indent="-171450">
              <a:buFont typeface="Arial" panose="020B0604020202020204" pitchFamily="34" charset="0"/>
              <a:buChar char="•"/>
            </a:pPr>
            <a:r>
              <a:rPr lang="en-US" dirty="0"/>
              <a:t>IT risk management (ITRM)</a:t>
            </a:r>
          </a:p>
          <a:p>
            <a:pPr marL="171450" indent="-171450">
              <a:buFont typeface="Arial" panose="020B0604020202020204" pitchFamily="34" charset="0"/>
              <a:buChar char="•"/>
            </a:pPr>
            <a:endParaRPr lang="en-US" dirty="0"/>
          </a:p>
          <a:p>
            <a:pPr marR="0" lvl="0" algn="l" defTabSz="685800" rtl="0" eaLnBrk="1" fontAlgn="auto" latinLnBrk="0" hangingPunct="1">
              <a:lnSpc>
                <a:spcPct val="100000"/>
              </a:lnSpc>
              <a:spcBef>
                <a:spcPts val="0"/>
              </a:spcBef>
              <a:spcAft>
                <a:spcPts val="0"/>
              </a:spcAft>
              <a:buClrTx/>
              <a:buSzTx/>
              <a:tabLst/>
              <a:defRPr/>
            </a:pPr>
            <a:r>
              <a:rPr kumimoji="0" lang="en-US" b="1" u="none" strike="noStrike" kern="1200" cap="none" spc="0" normalizeH="0" baseline="0" noProof="0" dirty="0">
                <a:ln>
                  <a:noFill/>
                </a:ln>
                <a:effectLst/>
                <a:uLnTx/>
                <a:uFillTx/>
              </a:rPr>
              <a:t>Sources: </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u="none" strike="noStrike" kern="1200" cap="none" spc="0" normalizeH="0" baseline="0" noProof="0" dirty="0">
                <a:ln>
                  <a:noFill/>
                </a:ln>
                <a:effectLst/>
                <a:uLnTx/>
                <a:uFillTx/>
              </a:rPr>
              <a:t>Gartner 2021</a:t>
            </a:r>
            <a:r>
              <a:rPr kumimoji="0" lang="en-US" u="none" strike="noStrike" kern="1200" cap="none" spc="0" normalizeH="0" baseline="0" noProof="0" dirty="0">
                <a:ln>
                  <a:noFill/>
                </a:ln>
                <a:effectLst/>
                <a:uLnTx/>
                <a:uFillTx/>
              </a:rPr>
              <a:t>: </a:t>
            </a:r>
            <a:r>
              <a:rPr kumimoji="0" lang="en-US" u="none" strike="noStrike" kern="1200" cap="none" spc="0" normalizeH="0" baseline="0" noProof="0" dirty="0">
                <a:ln>
                  <a:noFill/>
                </a:ln>
                <a:effectLst/>
                <a:uLnTx/>
                <a:uFillTx/>
                <a:hlinkClick r:id="rId3"/>
              </a:rPr>
              <a:t>https://www.ibm.com/account/reg/us-en/signup?formid=urx-51236</a:t>
            </a:r>
            <a:endParaRPr kumimoji="0" lang="en-US" u="none" strike="noStrike" kern="1200" cap="none" spc="0" normalizeH="0" baseline="0" noProof="0" dirty="0">
              <a:ln>
                <a:noFill/>
              </a:ln>
              <a:effectLst/>
              <a:uLnTx/>
              <a:uFillTx/>
              <a:cs typeface="Arial" panose="020B0604020202020204" pitchFamily="34" charset="0"/>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u="none" strike="noStrike" kern="1200" cap="none" spc="0" normalizeH="0" baseline="0" noProof="0" dirty="0" err="1">
                <a:ln>
                  <a:noFill/>
                </a:ln>
                <a:effectLst/>
                <a:uLnTx/>
                <a:uFillTx/>
                <a:cs typeface="Arial" panose="020B0604020202020204" pitchFamily="34" charset="0"/>
              </a:rPr>
              <a:t>Chartis</a:t>
            </a:r>
            <a:r>
              <a:rPr kumimoji="0" lang="en-US" b="1" u="none" strike="noStrike" kern="1200" cap="none" spc="0" normalizeH="0" baseline="0" noProof="0" dirty="0">
                <a:ln>
                  <a:noFill/>
                </a:ln>
                <a:effectLst/>
                <a:uLnTx/>
                <a:uFillTx/>
                <a:cs typeface="Arial" panose="020B0604020202020204" pitchFamily="34" charset="0"/>
              </a:rPr>
              <a:t> 2021</a:t>
            </a:r>
            <a:r>
              <a:rPr kumimoji="0" lang="en-US" u="none" strike="noStrike" kern="1200" cap="none" spc="0" normalizeH="0" baseline="0" noProof="0" dirty="0">
                <a:ln>
                  <a:noFill/>
                </a:ln>
                <a:effectLst/>
                <a:uLnTx/>
                <a:uFillTx/>
                <a:cs typeface="Arial" panose="020B0604020202020204" pitchFamily="34" charset="0"/>
              </a:rPr>
              <a:t>: </a:t>
            </a:r>
            <a:r>
              <a:rPr kumimoji="0" lang="en-US" u="none" strike="noStrike" kern="1200" cap="none" spc="0" normalizeH="0" baseline="0" noProof="0" dirty="0">
                <a:ln>
                  <a:noFill/>
                </a:ln>
                <a:effectLst/>
                <a:uLnTx/>
                <a:uFillTx/>
                <a:cs typeface="Arial" panose="020B0604020202020204" pitchFamily="34" charset="0"/>
                <a:hlinkClick r:id="rId4"/>
              </a:rPr>
              <a:t>https://www.chartis-research.com/grc-and-operational-risk/governance-risk-management-and-compliance-grc/7835781/grc-solutions-2021-market-update-and-vendor-landscape</a:t>
            </a:r>
            <a:endParaRPr lang="en-US" dirty="0">
              <a:cs typeface="Arial" panose="020B0604020202020204" pitchFamily="34" charset="0"/>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u="none" strike="noStrike" kern="1200" cap="none" spc="0" normalizeH="0" baseline="0" noProof="0" dirty="0">
                <a:ln>
                  <a:noFill/>
                </a:ln>
                <a:effectLst/>
                <a:uLnTx/>
                <a:uFillTx/>
                <a:cs typeface="Arial" panose="020B0604020202020204" pitchFamily="34" charset="0"/>
              </a:rPr>
              <a:t>Chart</a:t>
            </a:r>
            <a:r>
              <a:rPr lang="en-US" b="1" dirty="0">
                <a:cs typeface="Arial" panose="020B0604020202020204" pitchFamily="34" charset="0"/>
              </a:rPr>
              <a:t>is 2022</a:t>
            </a:r>
            <a:r>
              <a:rPr lang="en-US" dirty="0">
                <a:cs typeface="Arial" panose="020B0604020202020204" pitchFamily="34" charset="0"/>
              </a:rPr>
              <a:t>: </a:t>
            </a:r>
            <a:r>
              <a:rPr lang="en-US" dirty="0">
                <a:cs typeface="Arial" panose="020B0604020202020204" pitchFamily="34" charset="0"/>
                <a:hlinkClick r:id="rId5"/>
              </a:rPr>
              <a:t>https://www.chartis-research.com/grc-and-operational-risk/operational-risk/7946723/operational-risk-and-conduct-risk-and-control-solutions-2022-market-and-vendor-landscape</a:t>
            </a:r>
            <a:endParaRPr lang="en-US" dirty="0">
              <a:cs typeface="Arial" panose="020B0604020202020204" pitchFamily="34" charset="0"/>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u="none" strike="noStrike" kern="1200" cap="none" spc="0" normalizeH="0" baseline="0" noProof="0" dirty="0" err="1">
                <a:ln>
                  <a:noFill/>
                </a:ln>
                <a:effectLst/>
                <a:uLnTx/>
                <a:uFillTx/>
                <a:cs typeface="Arial" panose="020B0604020202020204" pitchFamily="34" charset="0"/>
              </a:rPr>
              <a:t>Chartis</a:t>
            </a:r>
            <a:r>
              <a:rPr kumimoji="0" lang="en-US" b="1" u="none" strike="noStrike" kern="1200" cap="none" spc="0" normalizeH="0" baseline="0" noProof="0" dirty="0">
                <a:ln>
                  <a:noFill/>
                </a:ln>
                <a:effectLst/>
                <a:uLnTx/>
                <a:uFillTx/>
                <a:cs typeface="Arial" panose="020B0604020202020204" pitchFamily="34" charset="0"/>
              </a:rPr>
              <a:t> 2023</a:t>
            </a:r>
            <a:r>
              <a:rPr kumimoji="0" lang="en-US" u="none" strike="noStrike" kern="1200" cap="none" spc="0" normalizeH="0" baseline="0" noProof="0" dirty="0">
                <a:ln>
                  <a:noFill/>
                </a:ln>
                <a:effectLst/>
                <a:uLnTx/>
                <a:uFillTx/>
                <a:cs typeface="Arial" panose="020B0604020202020204" pitchFamily="34" charset="0"/>
              </a:rPr>
              <a:t>: </a:t>
            </a:r>
            <a:r>
              <a:rPr kumimoji="0" lang="en-US" u="none" strike="noStrike" kern="1200" cap="none" spc="0" normalizeH="0" baseline="0" noProof="0" dirty="0">
                <a:ln>
                  <a:noFill/>
                </a:ln>
                <a:effectLst/>
                <a:uLnTx/>
                <a:uFillTx/>
                <a:cs typeface="Arial" panose="020B0604020202020204" pitchFamily="34" charset="0"/>
                <a:hlinkClick r:id="rId6"/>
              </a:rPr>
              <a:t>https://www.chartis-research.com/grc-and-operational-risk/governance-risk-management-and-compliance-grc/7946813/enterprise-grc-and-internal-audit-solutions-2023-market-update-and-vendor-landscape</a:t>
            </a:r>
            <a:endParaRPr kumimoji="0" lang="en-US" u="none" strike="noStrike" kern="1200" cap="none" spc="0" normalizeH="0" baseline="0" noProof="0" dirty="0">
              <a:ln>
                <a:noFill/>
              </a:ln>
              <a:effectLst/>
              <a:uLnTx/>
              <a:uFillTx/>
              <a:cs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TextBox 4">
            <a:extLst>
              <a:ext uri="{FF2B5EF4-FFF2-40B4-BE49-F238E27FC236}">
                <a16:creationId xmlns:a16="http://schemas.microsoft.com/office/drawing/2014/main" id="{C76F7570-99C4-B618-B912-C11705381B3D}"/>
              </a:ext>
            </a:extLst>
          </p:cNvPr>
          <p:cNvSpPr txBox="1"/>
          <p:nvPr/>
        </p:nvSpPr>
        <p:spPr>
          <a:xfrm>
            <a:off x="-51955" y="4166755"/>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793760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4788" y="209550"/>
            <a:ext cx="6418262" cy="3611563"/>
          </a:xfrm>
        </p:spPr>
      </p:sp>
      <p:sp>
        <p:nvSpPr>
          <p:cNvPr id="3" name="Notes Placeholder 2"/>
          <p:cNvSpPr>
            <a:spLocks noGrp="1"/>
          </p:cNvSpPr>
          <p:nvPr>
            <p:ph type="body" idx="1"/>
          </p:nvPr>
        </p:nvSpPr>
        <p:spPr>
          <a:xfrm>
            <a:off x="206710" y="4086000"/>
            <a:ext cx="6419088" cy="6158469"/>
          </a:xfrm>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IBM commissioned Forrester Consulting to conduct the Total Economic Impact (TEI) study that evaluated the financial impact of IBM OpenPages on organizations. </a:t>
            </a:r>
          </a:p>
          <a:p>
            <a:endParaRPr lang="en-US" dirty="0">
              <a:latin typeface="+mn-lt"/>
            </a:endParaRPr>
          </a:p>
          <a:p>
            <a:r>
              <a:rPr lang="en-US" dirty="0">
                <a:latin typeface="+mn-lt"/>
              </a:rPr>
              <a:t>IBM OpenPages delivers 249% ROI to clients. IBM recently commissioned Forrester Consulting to conduct the Total Economic Impact (TEI) study that evaluated the financial impact of IBM OpenPages on organizations. Learn how IBM OpenPages, an AI-driven integrated governance, risk and compliance (GRC) platform can cut license and implementation costs and drive savings due to regulatory fine and penalty avoidance, reduced risk management effort, and legacy system costs.</a:t>
            </a:r>
            <a:br>
              <a:rPr lang="en-US" dirty="0">
                <a:latin typeface="+mn-lt"/>
              </a:rPr>
            </a:br>
            <a:endParaRPr lang="en-US" dirty="0">
              <a:latin typeface="+mn-lt"/>
            </a:endParaRPr>
          </a:p>
          <a:p>
            <a:r>
              <a:rPr lang="en-US" dirty="0">
                <a:latin typeface="+mn-lt"/>
              </a:rPr>
              <a:t>The cost savings and business benefits enabled by IBM OpenPages, over three years, include the following:</a:t>
            </a:r>
          </a:p>
          <a:p>
            <a:pPr marL="171450" indent="-171450">
              <a:buFont typeface="Arial" panose="020B0604020202020204" pitchFamily="34" charset="0"/>
              <a:buChar char="•"/>
            </a:pPr>
            <a:r>
              <a:rPr lang="en-US" dirty="0">
                <a:latin typeface="+mn-lt"/>
              </a:rPr>
              <a:t>249% in return on investment (ROI)</a:t>
            </a:r>
          </a:p>
          <a:p>
            <a:pPr marL="171450" indent="-171450">
              <a:buFont typeface="Arial" panose="020B0604020202020204" pitchFamily="34" charset="0"/>
              <a:buChar char="•"/>
            </a:pPr>
            <a:r>
              <a:rPr lang="en-US" dirty="0">
                <a:latin typeface="+mn-lt"/>
              </a:rPr>
              <a:t>$3 million in benefits</a:t>
            </a:r>
          </a:p>
          <a:p>
            <a:pPr marL="171450" indent="-171450">
              <a:buFont typeface="Arial" panose="020B0604020202020204" pitchFamily="34" charset="0"/>
              <a:buChar char="•"/>
            </a:pPr>
            <a:r>
              <a:rPr lang="en-US" dirty="0">
                <a:latin typeface="+mn-lt"/>
              </a:rPr>
              <a:t>$2 million in reduction in risk management effort</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latin typeface="+mn-lt"/>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latin typeface="+mn-lt"/>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mn-lt"/>
              </a:rPr>
              <a:t>Blog</a:t>
            </a:r>
            <a:r>
              <a:rPr lang="en-US" dirty="0">
                <a:latin typeface="+mn-lt"/>
              </a:rPr>
              <a:t>: https://</a:t>
            </a:r>
            <a:r>
              <a:rPr lang="en-US" dirty="0" err="1">
                <a:latin typeface="+mn-lt"/>
              </a:rPr>
              <a:t>www.ibm.com</a:t>
            </a:r>
            <a:r>
              <a:rPr lang="en-US" dirty="0">
                <a:latin typeface="+mn-lt"/>
              </a:rPr>
              <a:t>/blogs/</a:t>
            </a:r>
            <a:r>
              <a:rPr lang="en-US" dirty="0" err="1">
                <a:latin typeface="+mn-lt"/>
              </a:rPr>
              <a:t>watson</a:t>
            </a:r>
            <a:r>
              <a:rPr lang="en-US" dirty="0">
                <a:latin typeface="+mn-lt"/>
              </a:rPr>
              <a:t>/2020/12/ibm-openpages-with-watson-can-deliver-a-218-return-on-investment-finds-forrester-study/</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mn-lt"/>
              </a:rPr>
              <a:t>Full study</a:t>
            </a:r>
            <a:r>
              <a:rPr lang="en-US" dirty="0">
                <a:latin typeface="+mn-lt"/>
              </a:rPr>
              <a:t>: https://</a:t>
            </a:r>
            <a:r>
              <a:rPr lang="en-US" dirty="0" err="1">
                <a:latin typeface="+mn-lt"/>
              </a:rPr>
              <a:t>www.ibm.com</a:t>
            </a:r>
            <a:r>
              <a:rPr lang="en-US" dirty="0">
                <a:latin typeface="+mn-lt"/>
              </a:rPr>
              <a:t>/account/reg/us-</a:t>
            </a:r>
            <a:r>
              <a:rPr lang="en-US" dirty="0" err="1">
                <a:latin typeface="+mn-lt"/>
              </a:rPr>
              <a:t>en</a:t>
            </a:r>
            <a:r>
              <a:rPr lang="en-US" dirty="0">
                <a:latin typeface="+mn-lt"/>
              </a:rPr>
              <a:t>/</a:t>
            </a:r>
            <a:r>
              <a:rPr lang="en-US" dirty="0" err="1">
                <a:latin typeface="+mn-lt"/>
              </a:rPr>
              <a:t>signup?formid</a:t>
            </a:r>
            <a:r>
              <a:rPr lang="en-US" dirty="0">
                <a:latin typeface="+mn-lt"/>
              </a:rPr>
              <a:t>=urx-48215 </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latin typeface="+mn-lt"/>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latin typeface="+mn-lt"/>
            </a:endParaRP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u="none" strike="noStrike" kern="1200" cap="none" spc="0" normalizeH="0" baseline="0" noProof="0" smtClean="0">
                <a:ln>
                  <a:noFill/>
                </a:ln>
                <a:solidFill>
                  <a:srgbClr val="000000"/>
                </a:solidFill>
                <a:effectLst/>
                <a:uLnTx/>
                <a:uFillTx/>
                <a:latin typeface="IBM Plex Sans Light" panose="020B0503050203000203" pitchFamily="34" charset="0"/>
                <a:cs typeface="Arial" panose="020B0604020202020204"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12</a:t>
            </a:fld>
            <a:endParaRPr kumimoji="0" lang="en-US" u="none" strike="noStrike" kern="1200" cap="none" spc="0" normalizeH="0" baseline="0" noProof="0" dirty="0">
              <a:ln>
                <a:noFill/>
              </a:ln>
              <a:solidFill>
                <a:srgbClr val="000000"/>
              </a:solidFill>
              <a:effectLst/>
              <a:uLnTx/>
              <a:uFillTx/>
              <a:latin typeface="IBM Plex Sans Light" panose="020B0503050203000203" pitchFamily="34" charset="0"/>
              <a:cs typeface="Arial" panose="020B0604020202020204" pitchFamily="34" charset="0"/>
            </a:endParaRPr>
          </a:p>
        </p:txBody>
      </p:sp>
    </p:spTree>
    <p:extLst>
      <p:ext uri="{BB962C8B-B14F-4D97-AF65-F5344CB8AC3E}">
        <p14:creationId xmlns:p14="http://schemas.microsoft.com/office/powerpoint/2010/main" val="1724604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This slide details some IBM OpenPages clients and their use cases.</a:t>
            </a:r>
          </a:p>
          <a:p>
            <a:endParaRPr lang="en-US" dirty="0"/>
          </a:p>
          <a:p>
            <a:r>
              <a:rPr lang="en-US" b="1" dirty="0"/>
              <a:t>Citi</a:t>
            </a:r>
          </a:p>
          <a:p>
            <a:r>
              <a:rPr lang="en-US" dirty="0"/>
              <a:t>With one of the largest corporate audit departments in the world, Citi has 2500 auditors going through documentation reviews and risk assessments. Citi needed to plan and scope audits more effectively so they started building a practice called “audit of the future”, where cutting edge machine learning (ML), natural language processing (NLP), and advanced analytics solutions (available through IBM Watson Discovery, IBM Cloud Pak for Data, and IBM OpenPages) will forever transform the daily work of the bank’s 2500 auditors.</a:t>
            </a:r>
          </a:p>
          <a:p>
            <a:endParaRPr lang="en-US" dirty="0"/>
          </a:p>
          <a:p>
            <a:r>
              <a:rPr lang="en-US" dirty="0"/>
              <a:t>Citi’s project focusses on how to bring ML and artificial intelligence (AI) into the full audit lifecycle, to help find anomalies within business monitoring, then plan and scope audits more effectively using all the new insights. </a:t>
            </a:r>
          </a:p>
          <a:p>
            <a:endParaRPr lang="en-US" dirty="0"/>
          </a:p>
          <a:p>
            <a:r>
              <a:rPr lang="en-US" dirty="0"/>
              <a:t>Citi geared up to give auditors “superpowers” with greater detection capabilities and “beefed-up” data-driven insights — all within a unified platform that could enhance stakeholder engagement and collaboration.</a:t>
            </a:r>
          </a:p>
          <a:p>
            <a:endParaRPr lang="en-US" dirty="0"/>
          </a:p>
          <a:p>
            <a:r>
              <a:rPr lang="en-US" dirty="0"/>
              <a:t>IBM helped Citi save hundreds of thousands of billable hours each month, reducing the processing time for the thousands of transcripts between their agents and customers.</a:t>
            </a:r>
          </a:p>
          <a:p>
            <a:endParaRPr lang="en-US" dirty="0"/>
          </a:p>
          <a:p>
            <a:r>
              <a:rPr lang="en-US" dirty="0"/>
              <a:t>Key use cases for Citi include the following:</a:t>
            </a:r>
          </a:p>
          <a:p>
            <a:pPr marL="171450" indent="-171450">
              <a:buFont typeface="Arial" panose="020B0604020202020204" pitchFamily="34" charset="0"/>
              <a:buChar char="•"/>
            </a:pPr>
            <a:endParaRPr lang="en-US" dirty="0"/>
          </a:p>
          <a:p>
            <a:pPr marL="228600" indent="-228600">
              <a:buFont typeface="+mj-lt"/>
              <a:buAutoNum type="arabicPeriod"/>
            </a:pPr>
            <a:r>
              <a:rPr lang="en-US" dirty="0"/>
              <a:t>The first use case gave auditors access to tooling that analyzes their control definitions and scored them based upon the 5 “W”s (who, what, when, how, and why). </a:t>
            </a:r>
          </a:p>
          <a:p>
            <a:pPr marL="228600" indent="-228600">
              <a:buFont typeface="+mj-lt"/>
              <a:buAutoNum type="arabicPeriod"/>
            </a:pPr>
            <a:endParaRPr lang="en-US" dirty="0"/>
          </a:p>
          <a:p>
            <a:pPr marL="228600" indent="-228600">
              <a:buFont typeface="+mj-lt"/>
              <a:buAutoNum type="arabicPeriod"/>
            </a:pPr>
            <a:r>
              <a:rPr lang="en-US" dirty="0"/>
              <a:t>A second use case was designed to help auditors tap into IBM Watson Discovery to save time processing thousands of transcripts between agents and customers monthly. </a:t>
            </a:r>
          </a:p>
          <a:p>
            <a:pPr marL="228600" indent="-228600">
              <a:buFont typeface="+mj-lt"/>
              <a:buAutoNum type="arabicPeriod"/>
            </a:pPr>
            <a:endParaRPr lang="en-US" dirty="0"/>
          </a:p>
          <a:p>
            <a:pPr marL="228600" indent="-228600">
              <a:buFont typeface="+mj-lt"/>
              <a:buAutoNum type="arabicPeriod"/>
            </a:pPr>
            <a:r>
              <a:rPr lang="en-US" dirty="0"/>
              <a:t>A third use case brings IBM </a:t>
            </a:r>
            <a:r>
              <a:rPr lang="en-US" dirty="0" err="1"/>
              <a:t>watsonx</a:t>
            </a:r>
            <a:r>
              <a:rPr lang="en-US" dirty="0"/>
              <a:t> Assistant to the task of assisting auditors with identifying relevant content from within hundreds of pages of audit manuals.</a:t>
            </a:r>
          </a:p>
          <a:p>
            <a:br>
              <a:rPr lang="en-US" dirty="0"/>
            </a:br>
            <a:r>
              <a:rPr lang="en-US" dirty="0"/>
              <a:t>For more details, see the following blog post: </a:t>
            </a:r>
            <a:r>
              <a:rPr lang="en-US" dirty="0">
                <a:hlinkClick r:id="rId3"/>
              </a:rPr>
              <a:t>https://www.ibm.com/blog/citi-transforms-critical-internal-audit-with-machine-learning-nlp-and-ai/</a:t>
            </a:r>
            <a:r>
              <a:rPr lang="en-US" dirty="0"/>
              <a:t>.</a:t>
            </a:r>
          </a:p>
          <a:p>
            <a:endParaRPr lang="en-US" b="1" dirty="0"/>
          </a:p>
          <a:p>
            <a:r>
              <a:rPr lang="en-US" b="1" dirty="0"/>
              <a:t>Aviva</a:t>
            </a:r>
            <a:r>
              <a:rPr lang="en-US" dirty="0"/>
              <a:t> </a:t>
            </a:r>
          </a:p>
          <a:p>
            <a:r>
              <a:rPr lang="en-US" dirty="0"/>
              <a:t>For more than 325 years, Aviva plc has helped its customers enjoy peace of mind. Today, as one of the largest savings, retirement, and insurance businesses in the United Kingdom, Aviva helps more than 34 million customers manage the risks of everyday life. Essential to their company strategy is enhancing the user experience for their internal customers who must adhere to Aviva's governance, risk, and compliance (GRC) company mandates. </a:t>
            </a:r>
          </a:p>
          <a:p>
            <a:endParaRPr lang="en-US" dirty="0"/>
          </a:p>
          <a:p>
            <a:r>
              <a:rPr lang="en-US" dirty="0"/>
              <a:t>For more details, see the following blog post: </a:t>
            </a:r>
            <a:r>
              <a:rPr lang="en-US" dirty="0">
                <a:hlinkClick r:id="rId4"/>
              </a:rPr>
              <a:t>https://www.ibm.com/cloud/blog/how-aviva-modernizes-operational-risk-management-for-a-more-engaging-user-experience</a:t>
            </a:r>
            <a:endParaRPr lang="en-US" dirty="0"/>
          </a:p>
          <a:p>
            <a:endParaRPr lang="en-US" dirty="0"/>
          </a:p>
          <a:p>
            <a:r>
              <a:rPr lang="en-US" b="1" dirty="0"/>
              <a:t>General Motors (GM) </a:t>
            </a:r>
            <a:br>
              <a:rPr lang="en-US" dirty="0"/>
            </a:br>
            <a:r>
              <a:rPr lang="en-US" dirty="0"/>
              <a:t>GM relied on four separate systems to support its Audit, Risk, and Control activities… which made it difficult to gain a real-time view of and understand relationships between risks, controls and issues across the company.</a:t>
            </a:r>
          </a:p>
          <a:p>
            <a:br>
              <a:rPr lang="en-CA" dirty="0">
                <a:effectLst/>
                <a:latin typeface="+mn-lt"/>
              </a:rPr>
            </a:br>
            <a:r>
              <a:rPr lang="en-CA" dirty="0">
                <a:effectLst/>
                <a:latin typeface="+mn-lt"/>
              </a:rPr>
              <a:t>GM is unifying </a:t>
            </a:r>
            <a:r>
              <a:rPr lang="en-CA" dirty="0">
                <a:latin typeface="+mn-lt"/>
              </a:rPr>
              <a:t>these </a:t>
            </a:r>
            <a:r>
              <a:rPr lang="en-CA" dirty="0">
                <a:effectLst/>
                <a:latin typeface="+mn-lt"/>
              </a:rPr>
              <a:t>activities with IBM OpenPages and experiencing the following results:</a:t>
            </a:r>
            <a:br>
              <a:rPr lang="en-CA" dirty="0">
                <a:effectLst/>
                <a:latin typeface="+mn-lt"/>
              </a:rPr>
            </a:br>
            <a:endParaRPr lang="en-CA" dirty="0">
              <a:latin typeface="+mn-lt"/>
            </a:endParaRPr>
          </a:p>
          <a:p>
            <a:pPr marL="171450" indent="-171450">
              <a:buFont typeface="Arial" panose="020B0604020202020204" pitchFamily="34" charset="0"/>
              <a:buChar char="•"/>
            </a:pPr>
            <a:r>
              <a:rPr lang="en-CA" dirty="0">
                <a:effectLst/>
                <a:latin typeface="+mn-lt"/>
              </a:rPr>
              <a:t>Enabled rapid analytics with a single source of truth for Audit, Risk, and Control data </a:t>
            </a:r>
            <a:endParaRPr lang="en-CA" dirty="0">
              <a:latin typeface="+mn-lt"/>
            </a:endParaRPr>
          </a:p>
          <a:p>
            <a:pPr marL="171450" indent="-171450">
              <a:buFont typeface="Arial" panose="020B0604020202020204" pitchFamily="34" charset="0"/>
              <a:buChar char="•"/>
            </a:pPr>
            <a:r>
              <a:rPr lang="en-CA" dirty="0">
                <a:effectLst/>
                <a:latin typeface="+mn-lt"/>
              </a:rPr>
              <a:t>Increased consistency by standardizing structures and hierarchies for process, risk, controls, and issues</a:t>
            </a:r>
          </a:p>
          <a:p>
            <a:pPr marL="171450" indent="-171450">
              <a:buFont typeface="Arial" panose="020B0604020202020204" pitchFamily="34" charset="0"/>
              <a:buChar char="•"/>
            </a:pPr>
            <a:r>
              <a:rPr lang="en-CA" dirty="0">
                <a:effectLst/>
                <a:latin typeface="+mn-lt"/>
              </a:rPr>
              <a:t>Decreased costs for licensing and maintenance by consolidating four systems to one </a:t>
            </a:r>
            <a:endParaRPr lang="en-CA" dirty="0">
              <a:latin typeface="+mn-lt"/>
            </a:endParaRPr>
          </a:p>
          <a:p>
            <a:endParaRPr lang="en-US" dirty="0"/>
          </a:p>
          <a:p>
            <a:r>
              <a:rPr lang="en-US" dirty="0"/>
              <a:t>For more details, see: </a:t>
            </a:r>
            <a:r>
              <a:rPr lang="en-US" dirty="0">
                <a:hlinkClick r:id="rId5"/>
              </a:rPr>
              <a:t>https://www.ibm.com/downloads/cas/LV7Z3BE8</a:t>
            </a:r>
            <a:r>
              <a:rPr lang="en-US" dirty="0"/>
              <a:t>.</a:t>
            </a:r>
            <a:br>
              <a:rPr lang="en-US" dirty="0"/>
            </a:br>
            <a:endParaRPr lang="en-US" dirty="0"/>
          </a:p>
          <a:p>
            <a:r>
              <a:rPr lang="en-US" b="1" dirty="0"/>
              <a:t>Sources:</a:t>
            </a:r>
          </a:p>
          <a:p>
            <a:pPr marL="171450" indent="-171450">
              <a:buFont typeface="Arial" panose="020B0604020202020204" pitchFamily="34" charset="0"/>
              <a:buChar char="•"/>
            </a:pPr>
            <a:r>
              <a:rPr lang="en-US" dirty="0">
                <a:hlinkClick r:id="rId6"/>
              </a:rPr>
              <a:t>https://www.ibm.com/blogs/journey-to-ai/2021/07/citi-transforms-critical-internal-audit-with-machine-learning-nlp-and-ai/</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hlinkClick r:id="rId4"/>
              </a:rPr>
              <a:t>https://www.ibm.com/cloud/blog/how-aviva-modernizes-operational-risk-management-for-a-more-engaging-user-experience</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hlinkClick r:id="rId7"/>
              </a:rPr>
              <a:t>https://mediacenter.ibm.com/media/Aviva+%2B+IBMA+Rethinking+the+user+experience+of+IBM+OpenPages+with+Watson/1_wwxuvmt3</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sz="1000" dirty="0">
                <a:hlinkClick r:id="rId5"/>
              </a:rPr>
              <a:t>https://www.ibm.com/downloads/cas/LV7Z3BE8</a:t>
            </a:r>
            <a:endParaRPr lang="en-US" sz="1000" dirty="0"/>
          </a:p>
          <a:p>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13</a:t>
            </a:fld>
            <a:endParaRPr lang="en-US" dirty="0"/>
          </a:p>
        </p:txBody>
      </p:sp>
    </p:spTree>
    <p:extLst>
      <p:ext uri="{BB962C8B-B14F-4D97-AF65-F5344CB8AC3E}">
        <p14:creationId xmlns:p14="http://schemas.microsoft.com/office/powerpoint/2010/main" val="3392632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This slide is self-explanatory and requires </a:t>
            </a:r>
            <a:r>
              <a:rPr lang="en-US"/>
              <a:t>no speaker </a:t>
            </a:r>
            <a:r>
              <a:rPr lang="en-US" dirty="0"/>
              <a:t>notes.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14</a:t>
            </a:fld>
            <a:endParaRPr lang="en-US" dirty="0"/>
          </a:p>
        </p:txBody>
      </p:sp>
      <p:sp>
        <p:nvSpPr>
          <p:cNvPr id="5" name="TextBox 4">
            <a:extLst>
              <a:ext uri="{FF2B5EF4-FFF2-40B4-BE49-F238E27FC236}">
                <a16:creationId xmlns:a16="http://schemas.microsoft.com/office/drawing/2014/main" id="{B89C6FAA-4C5C-CDEF-C96E-7206F21D5DB2}"/>
              </a:ext>
            </a:extLst>
          </p:cNvPr>
          <p:cNvSpPr txBox="1"/>
          <p:nvPr/>
        </p:nvSpPr>
        <p:spPr>
          <a:xfrm>
            <a:off x="-155864" y="16002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30386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3" name="Text Placeholder 6">
            <a:extLst>
              <a:ext uri="{FF2B5EF4-FFF2-40B4-BE49-F238E27FC236}">
                <a16:creationId xmlns:a16="http://schemas.microsoft.com/office/drawing/2014/main" id="{2EC0ABF4-1C51-BF7D-70CF-DD2C38C9DB69}"/>
              </a:ext>
            </a:extLst>
          </p:cNvPr>
          <p:cNvSpPr>
            <a:spLocks noGrp="1"/>
          </p:cNvSpPr>
          <p:nvPr>
            <p:ph type="body" sz="quarter" idx="10"/>
          </p:nvPr>
        </p:nvSpPr>
        <p:spPr>
          <a:xfrm>
            <a:off x="560959" y="12096093"/>
            <a:ext cx="4953000" cy="1143000"/>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6">
            <a:extLst>
              <a:ext uri="{FF2B5EF4-FFF2-40B4-BE49-F238E27FC236}">
                <a16:creationId xmlns:a16="http://schemas.microsoft.com/office/drawing/2014/main" id="{6069D4BA-0EE4-89E6-7C3A-71F71400A311}"/>
              </a:ext>
            </a:extLst>
          </p:cNvPr>
          <p:cNvSpPr>
            <a:spLocks noGrp="1"/>
          </p:cNvSpPr>
          <p:nvPr>
            <p:ph type="body" sz="quarter" idx="14"/>
          </p:nvPr>
        </p:nvSpPr>
        <p:spPr>
          <a:xfrm>
            <a:off x="6656388" y="12001501"/>
            <a:ext cx="4953000" cy="1237592"/>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9679518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IBM Plex Sans Light" panose="020B0403050203000203" pitchFamily="34" charset="0"/>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6">
            <a:extLst>
              <a:ext uri="{FF2B5EF4-FFF2-40B4-BE49-F238E27FC236}">
                <a16:creationId xmlns:a16="http://schemas.microsoft.com/office/drawing/2014/main" id="{5314509F-3705-A705-C5B3-FA435C246A22}"/>
              </a:ext>
            </a:extLst>
          </p:cNvPr>
          <p:cNvSpPr>
            <a:spLocks noGrp="1"/>
          </p:cNvSpPr>
          <p:nvPr>
            <p:ph type="body" sz="quarter" idx="10"/>
          </p:nvPr>
        </p:nvSpPr>
        <p:spPr>
          <a:xfrm>
            <a:off x="560959" y="12096093"/>
            <a:ext cx="4953000" cy="1143000"/>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3F264794-39E6-B78D-2E92-D8D02F9188BC}"/>
              </a:ext>
            </a:extLst>
          </p:cNvPr>
          <p:cNvSpPr>
            <a:spLocks noGrp="1"/>
          </p:cNvSpPr>
          <p:nvPr>
            <p:ph type="body" sz="quarter" idx="14"/>
          </p:nvPr>
        </p:nvSpPr>
        <p:spPr>
          <a:xfrm>
            <a:off x="6656388" y="12001501"/>
            <a:ext cx="4953000" cy="1237592"/>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b="0" i="0">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a:prstGeom prst="rect">
            <a:avLst/>
          </a:prstGeom>
        </p:spPr>
        <p:txBody>
          <a:bodyPr anchor="b"/>
          <a:lstStyle>
            <a:lvl1pPr>
              <a:lnSpc>
                <a:spcPct val="100000"/>
              </a:lnSpc>
              <a:spcBef>
                <a:spcPts val="0"/>
              </a:spcBef>
              <a:defRPr sz="3600" b="0" i="0">
                <a:solidFill>
                  <a:schemeClr val="tx1"/>
                </a:solidFill>
                <a:latin typeface="IBM Plex Sans Light" panose="020B0403050203000203" pitchFamily="34" charset="0"/>
              </a:defRPr>
            </a:lvl1pPr>
          </a:lstStyle>
          <a:p>
            <a:pPr lvl="0"/>
            <a:r>
              <a:rPr lang="en-US" dirty="0"/>
              <a:t>Click to edit Master text styles</a:t>
            </a:r>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385200"/>
            <a:ext cx="10099675" cy="571500"/>
          </a:xfrm>
          <a:prstGeom prst="rect">
            <a:avLst/>
          </a:prstGeom>
        </p:spPr>
        <p:txBody>
          <a:bodyPr/>
          <a:lstStyle>
            <a:lvl1pPr>
              <a:lnSpc>
                <a:spcPct val="100000"/>
              </a:lnSpc>
              <a:spcBef>
                <a:spcPts val="0"/>
              </a:spcBef>
              <a:defRPr sz="3600" b="0" i="0">
                <a:solidFill>
                  <a:schemeClr val="tx2"/>
                </a:solidFill>
                <a:latin typeface="IBM Plex Sans Light" panose="020B0403050203000203" pitchFamily="34" charset="0"/>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a:prstGeom prst="rect">
            <a:avLst/>
          </a:prstGeom>
        </p:spPr>
        <p:txBody>
          <a:bodyPr/>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1022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3" name="Text Placeholder 6">
            <a:extLst>
              <a:ext uri="{FF2B5EF4-FFF2-40B4-BE49-F238E27FC236}">
                <a16:creationId xmlns:a16="http://schemas.microsoft.com/office/drawing/2014/main" id="{3815CA4A-82C6-E038-8C80-CF4A54B1E6C0}"/>
              </a:ext>
            </a:extLst>
          </p:cNvPr>
          <p:cNvSpPr>
            <a:spLocks noGrp="1"/>
          </p:cNvSpPr>
          <p:nvPr>
            <p:ph type="body" sz="quarter" idx="19"/>
          </p:nvPr>
        </p:nvSpPr>
        <p:spPr>
          <a:xfrm>
            <a:off x="18834040" y="569912"/>
            <a:ext cx="4953000" cy="11431587"/>
          </a:xfrm>
          <a:prstGeom prst="rect">
            <a:avLst/>
          </a:prstGeom>
        </p:spPr>
        <p:txBody>
          <a:bodyPr/>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1022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385200"/>
            <a:ext cx="17141825" cy="8191500"/>
          </a:xfrm>
        </p:spPr>
        <p:txBody>
          <a:bodyPr/>
          <a:lstStyle>
            <a:lvl1pPr>
              <a:lnSpc>
                <a:spcPct val="100000"/>
              </a:lnSpc>
              <a:defRPr sz="172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8" name="Text Placeholder 6">
            <a:extLst>
              <a:ext uri="{FF2B5EF4-FFF2-40B4-BE49-F238E27FC236}">
                <a16:creationId xmlns:a16="http://schemas.microsoft.com/office/drawing/2014/main" id="{B9D4AF5E-3E60-06F1-E3E3-F00E3ADA90B1}"/>
              </a:ext>
            </a:extLst>
          </p:cNvPr>
          <p:cNvSpPr>
            <a:spLocks noGrp="1"/>
          </p:cNvSpPr>
          <p:nvPr>
            <p:ph type="body" sz="quarter" idx="10"/>
          </p:nvPr>
        </p:nvSpPr>
        <p:spPr>
          <a:xfrm>
            <a:off x="12735719" y="384049"/>
            <a:ext cx="11075384" cy="8574086"/>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5200"/>
            <a:ext cx="14662150" cy="9717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296400"/>
            <a:ext cx="11050588" cy="3543300"/>
          </a:xfrm>
          <a:prstGeom prst="rect">
            <a:avLst/>
          </a:prstGeom>
        </p:spPr>
        <p:txBody>
          <a:bodyPr anchor="b"/>
          <a:lstStyle>
            <a:lvl1pPr>
              <a:lnSpc>
                <a:spcPct val="100000"/>
              </a:lnSpc>
              <a:spcBef>
                <a:spcPts val="0"/>
              </a:spcBef>
              <a:defRPr sz="25800" b="0" i="0">
                <a:solidFill>
                  <a:schemeClr val="accent1"/>
                </a:solidFill>
                <a:latin typeface="IBM Plex Sans Light" panose="020B04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0587" y="9296400"/>
            <a:ext cx="11049000" cy="3543300"/>
          </a:xfrm>
          <a:prstGeom prst="rect">
            <a:avLst/>
          </a:prstGeom>
        </p:spPr>
        <p:txBody>
          <a:bodyPr anchor="b"/>
          <a:lstStyle>
            <a:lvl1pPr>
              <a:lnSpc>
                <a:spcPct val="100000"/>
              </a:lnSpc>
              <a:spcBef>
                <a:spcPts val="0"/>
              </a:spcBef>
              <a:defRPr sz="25800" b="0" i="0">
                <a:solidFill>
                  <a:schemeClr val="accent1"/>
                </a:solidFill>
                <a:latin typeface="IBM Plex Sans Light" panose="020B0403050203000203" pitchFamily="34" charset="0"/>
              </a:defRPr>
            </a:lvl1pPr>
          </a:lstStyle>
          <a:p>
            <a:r>
              <a:rPr lang="en-US" dirty="0"/>
              <a:t>+00%</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2" name="Text Placeholder 6">
            <a:extLst>
              <a:ext uri="{FF2B5EF4-FFF2-40B4-BE49-F238E27FC236}">
                <a16:creationId xmlns:a16="http://schemas.microsoft.com/office/drawing/2014/main" id="{001B1D3B-7FD1-5342-AD21-86B27FCC1276}"/>
              </a:ext>
            </a:extLst>
          </p:cNvPr>
          <p:cNvSpPr>
            <a:spLocks noGrp="1"/>
          </p:cNvSpPr>
          <p:nvPr>
            <p:ph type="body" sz="quarter" idx="10"/>
          </p:nvPr>
        </p:nvSpPr>
        <p:spPr>
          <a:xfrm>
            <a:off x="574675" y="385200"/>
            <a:ext cx="7632176" cy="6288087"/>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6">
            <a:extLst>
              <a:ext uri="{FF2B5EF4-FFF2-40B4-BE49-F238E27FC236}">
                <a16:creationId xmlns:a16="http://schemas.microsoft.com/office/drawing/2014/main" id="{EE2A6217-C3F0-04CD-0266-C53A5C85FDE3}"/>
              </a:ext>
            </a:extLst>
          </p:cNvPr>
          <p:cNvSpPr>
            <a:spLocks noGrp="1"/>
          </p:cNvSpPr>
          <p:nvPr>
            <p:ph type="body" sz="quarter" idx="19"/>
          </p:nvPr>
        </p:nvSpPr>
        <p:spPr>
          <a:xfrm>
            <a:off x="12760587" y="385199"/>
            <a:ext cx="7632176" cy="6288087"/>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385200"/>
            <a:ext cx="4949825" cy="1906588"/>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385200"/>
            <a:ext cx="4949825" cy="28590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a:prstGeom prst="rect">
            <a:avLst/>
          </a:prstGeom>
        </p:spPr>
        <p:txBody>
          <a:bodyPr anchor="b"/>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00000"/>
              </a:lnSpc>
              <a:spcBef>
                <a:spcPts val="0"/>
              </a:spcBef>
              <a:defRPr sz="1600" b="0" i="0">
                <a:solidFill>
                  <a:schemeClr val="tx1"/>
                </a:solidFill>
                <a:latin typeface="IBM Plex Sans Light" panose="020B0403050203000203" pitchFamily="34" charset="0"/>
              </a:defRPr>
            </a:lvl2pPr>
            <a:lvl3pPr marL="292608" indent="-146304">
              <a:lnSpc>
                <a:spcPct val="100000"/>
              </a:lnSpc>
              <a:spcBef>
                <a:spcPts val="0"/>
              </a:spcBef>
              <a:defRPr sz="1600" b="0" i="0">
                <a:solidFill>
                  <a:schemeClr val="tx1"/>
                </a:solidFill>
                <a:latin typeface="IBM Plex Sans Light" panose="020B0403050203000203" pitchFamily="34" charset="0"/>
              </a:defRPr>
            </a:lvl3pPr>
            <a:lvl4pPr marL="438912" indent="-146304">
              <a:lnSpc>
                <a:spcPct val="100000"/>
              </a:lnSpc>
              <a:spcBef>
                <a:spcPts val="0"/>
              </a:spcBef>
              <a:defRPr sz="1600" b="0" i="0">
                <a:solidFill>
                  <a:schemeClr val="tx1"/>
                </a:solidFill>
                <a:latin typeface="IBM Plex Sans Light" panose="020B04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67304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3067"/>
            <a:ext cx="4953000" cy="9666845"/>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385200"/>
            <a:ext cx="4949825" cy="5335588"/>
          </a:xfrm>
        </p:spPr>
        <p:txBody>
          <a:bodyPr/>
          <a:lstStyle>
            <a:lvl1pPr>
              <a:lnSpc>
                <a:spcPct val="100000"/>
              </a:lnSpc>
              <a:defRPr sz="8600" b="0" i="0">
                <a:solidFill>
                  <a:schemeClr val="accent1"/>
                </a:solidFill>
                <a:latin typeface="IBM Plex Sans Light" panose="020B0403050203000203" pitchFamily="34" charset="0"/>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85200"/>
            <a:ext cx="11049000" cy="5335587"/>
          </a:xfrm>
          <a:prstGeom prst="rect">
            <a:avLst/>
          </a:prstGeom>
        </p:spPr>
        <p:txBody>
          <a:bodyPr/>
          <a:lstStyle>
            <a:lvl1pPr>
              <a:lnSpc>
                <a:spcPct val="100000"/>
              </a:lnSpc>
              <a:spcBef>
                <a:spcPts val="0"/>
              </a:spcBef>
              <a:defRPr sz="8600" b="0" i="0">
                <a:solidFill>
                  <a:schemeClr val="tx1"/>
                </a:solidFill>
                <a:latin typeface="IBM Plex Sans Light" panose="020B0403050203000203" pitchFamily="34" charset="0"/>
              </a:defRPr>
            </a:lvl1pPr>
            <a:lvl2pPr marL="327600" indent="-327600">
              <a:lnSpc>
                <a:spcPct val="100000"/>
              </a:lnSpc>
              <a:spcBef>
                <a:spcPts val="0"/>
              </a:spcBef>
              <a:defRPr sz="8600" b="0" i="0">
                <a:solidFill>
                  <a:schemeClr val="tx1"/>
                </a:solidFill>
                <a:latin typeface="IBM Plex Sans Light" panose="020B0403050203000203" pitchFamily="34" charset="0"/>
              </a:defRPr>
            </a:lvl2pPr>
            <a:lvl3pPr marL="658800" indent="-327600">
              <a:lnSpc>
                <a:spcPct val="100000"/>
              </a:lnSpc>
              <a:spcBef>
                <a:spcPts val="0"/>
              </a:spcBef>
              <a:defRPr sz="8600" b="0" i="0">
                <a:solidFill>
                  <a:schemeClr val="tx1"/>
                </a:solidFill>
                <a:latin typeface="IBM Plex Sans Light" panose="020B0403050203000203" pitchFamily="34" charset="0"/>
              </a:defRPr>
            </a:lvl3pPr>
            <a:lvl4pPr marL="986400" indent="-327600">
              <a:lnSpc>
                <a:spcPct val="100000"/>
              </a:lnSpc>
              <a:spcBef>
                <a:spcPts val="0"/>
              </a:spcBef>
              <a:defRPr sz="8600" b="0" i="0">
                <a:solidFill>
                  <a:schemeClr val="tx1"/>
                </a:solidFill>
                <a:latin typeface="IBM Plex Sans Light" panose="020B0403050203000203" pitchFamily="34" charset="0"/>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a:prstGeom prst="rect">
            <a:avLst/>
          </a:prstGeom>
        </p:spPr>
        <p:txBody>
          <a:bodyPr/>
          <a:lstStyle>
            <a:lvl1pPr>
              <a:lnSpc>
                <a:spcPct val="100000"/>
              </a:lnSpc>
              <a:defRPr sz="8600" b="0" i="0">
                <a:solidFill>
                  <a:schemeClr val="accent1"/>
                </a:solidFill>
                <a:latin typeface="IBM Plex Sans Light" panose="020B0403050203000203" pitchFamily="34" charset="0"/>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a:prstGeom prst="rect">
            <a:avLst/>
          </a:prstGeom>
        </p:spPr>
        <p:txBody>
          <a:bodyPr/>
          <a:lstStyle>
            <a:lvl1pPr>
              <a:lnSpc>
                <a:spcPct val="100000"/>
              </a:lnSpc>
              <a:spcBef>
                <a:spcPts val="0"/>
              </a:spcBef>
              <a:defRPr sz="8600" b="0" i="0">
                <a:solidFill>
                  <a:schemeClr val="tx1"/>
                </a:solidFill>
                <a:latin typeface="IBM Plex Sans Light" panose="020B0403050203000203" pitchFamily="34" charset="0"/>
              </a:defRPr>
            </a:lvl1pPr>
            <a:lvl2pPr marL="327600" indent="-327600">
              <a:lnSpc>
                <a:spcPct val="100000"/>
              </a:lnSpc>
              <a:spcBef>
                <a:spcPts val="0"/>
              </a:spcBef>
              <a:defRPr sz="8600" b="0" i="0">
                <a:solidFill>
                  <a:schemeClr val="tx1"/>
                </a:solidFill>
                <a:latin typeface="IBM Plex Sans Light" panose="020B0403050203000203" pitchFamily="34" charset="0"/>
              </a:defRPr>
            </a:lvl2pPr>
            <a:lvl3pPr marL="658800" indent="-327600">
              <a:lnSpc>
                <a:spcPct val="100000"/>
              </a:lnSpc>
              <a:spcBef>
                <a:spcPts val="0"/>
              </a:spcBef>
              <a:defRPr sz="8600" b="0" i="0">
                <a:solidFill>
                  <a:schemeClr val="tx1"/>
                </a:solidFill>
                <a:latin typeface="IBM Plex Sans Light" panose="020B0403050203000203" pitchFamily="34" charset="0"/>
              </a:defRPr>
            </a:lvl3pPr>
            <a:lvl4pPr marL="986400" indent="-327600">
              <a:lnSpc>
                <a:spcPct val="100000"/>
              </a:lnSpc>
              <a:spcBef>
                <a:spcPts val="0"/>
              </a:spcBef>
              <a:defRPr sz="8600" b="0" i="0">
                <a:solidFill>
                  <a:schemeClr val="tx1"/>
                </a:solidFill>
                <a:latin typeface="IBM Plex Sans Light" panose="020B0403050203000203" pitchFamily="34" charset="0"/>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2859087"/>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385200"/>
            <a:ext cx="4949825" cy="28590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a:prstGeom prst="rect">
            <a:avLst/>
          </a:prstGeom>
        </p:spPr>
        <p:txBody>
          <a:bodyPr anchor="b"/>
          <a:lstStyle>
            <a:lvl1pPr>
              <a:lnSpc>
                <a:spcPct val="100000"/>
              </a:lnSpc>
              <a:spcBef>
                <a:spcPts val="0"/>
              </a:spcBef>
              <a:defRPr sz="1600" b="0" i="0">
                <a:solidFill>
                  <a:schemeClr val="tx1"/>
                </a:solidFill>
                <a:latin typeface="IBM Plex Sans Light" panose="020B0403050203000203" pitchFamily="34" charset="0"/>
              </a:defRPr>
            </a:lvl1pPr>
            <a:lvl2pPr>
              <a:lnSpc>
                <a:spcPct val="100000"/>
              </a:lnSpc>
              <a:spcBef>
                <a:spcPts val="0"/>
              </a:spcBef>
              <a:defRPr sz="1600" b="0" i="0">
                <a:solidFill>
                  <a:schemeClr val="tx1"/>
                </a:solidFill>
                <a:latin typeface="IBM Plex Sans Light" panose="020B0403050203000203" pitchFamily="34" charset="0"/>
              </a:defRPr>
            </a:lvl2pPr>
            <a:lvl3pPr>
              <a:lnSpc>
                <a:spcPct val="100000"/>
              </a:lnSpc>
              <a:spcBef>
                <a:spcPts val="0"/>
              </a:spcBef>
              <a:defRPr sz="1600" b="0" i="0">
                <a:solidFill>
                  <a:schemeClr val="tx1"/>
                </a:solidFill>
                <a:latin typeface="IBM Plex Sans Light" panose="020B0403050203000203" pitchFamily="34" charset="0"/>
              </a:defRPr>
            </a:lvl3pPr>
            <a:lvl4pPr>
              <a:lnSpc>
                <a:spcPct val="100000"/>
              </a:lnSpc>
              <a:spcBef>
                <a:spcPts val="0"/>
              </a:spcBef>
              <a:defRPr sz="1600" b="0" i="0">
                <a:solidFill>
                  <a:schemeClr val="tx1"/>
                </a:solidFill>
                <a:latin typeface="IBM Plex Sans Light" panose="020B04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385200"/>
            <a:ext cx="7620000" cy="2859087"/>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187952"/>
            <a:ext cx="7620000" cy="285750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403336"/>
            <a:ext cx="7620000" cy="285750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4" name="Text Placeholder 6">
            <a:extLst>
              <a:ext uri="{FF2B5EF4-FFF2-40B4-BE49-F238E27FC236}">
                <a16:creationId xmlns:a16="http://schemas.microsoft.com/office/drawing/2014/main" id="{B303799C-055C-81A5-3E36-D78912AA66DA}"/>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297B3A71-6FB0-4C14-4695-68801FBBBEA7}"/>
              </a:ext>
            </a:extLst>
          </p:cNvPr>
          <p:cNvSpPr>
            <a:spLocks noGrp="1"/>
          </p:cNvSpPr>
          <p:nvPr>
            <p:ph type="body" sz="quarter" idx="19"/>
          </p:nvPr>
        </p:nvSpPr>
        <p:spPr>
          <a:xfrm>
            <a:off x="720724"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C1273EB-3A3E-B282-A619-1D6FB102B117}"/>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20367260-BF8E-C847-2296-4EAD779F010E}"/>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385200"/>
            <a:ext cx="4956175" cy="1525587"/>
          </a:xfrm>
          <a:prstGeom prst="rect">
            <a:avLst/>
          </a:prstGeom>
        </p:spPr>
        <p:txBody>
          <a:bodyPr/>
          <a:lstStyle>
            <a:lvl1pPr>
              <a:lnSpc>
                <a:spcPct val="100000"/>
              </a:lnSpc>
              <a:spcBef>
                <a:spcPts val="0"/>
              </a:spcBef>
              <a:defRPr sz="2000" b="0" i="0">
                <a:solidFill>
                  <a:schemeClr val="tx1"/>
                </a:solidFill>
                <a:latin typeface="IBM Plex Sans Light" panose="020B0403050203000203" pitchFamily="34" charset="0"/>
              </a:defRPr>
            </a:lvl1pPr>
            <a:lvl2pPr marL="182880" indent="-182880">
              <a:lnSpc>
                <a:spcPct val="100000"/>
              </a:lnSpc>
              <a:spcBef>
                <a:spcPts val="0"/>
              </a:spcBef>
              <a:defRPr sz="2000" b="0" i="0">
                <a:solidFill>
                  <a:schemeClr val="tx1"/>
                </a:solidFill>
                <a:latin typeface="IBM Plex Sans Light" panose="020B0403050203000203" pitchFamily="34" charset="0"/>
              </a:defRPr>
            </a:lvl2pPr>
            <a:lvl3pPr marL="365760" indent="-182880">
              <a:lnSpc>
                <a:spcPct val="100000"/>
              </a:lnSpc>
              <a:spcBef>
                <a:spcPts val="0"/>
              </a:spcBef>
              <a:defRPr sz="2000" b="0" i="0">
                <a:solidFill>
                  <a:schemeClr val="tx1"/>
                </a:solidFill>
                <a:latin typeface="IBM Plex Sans Light" panose="020B0403050203000203" pitchFamily="34" charset="0"/>
              </a:defRPr>
            </a:lvl3pPr>
            <a:lvl4pPr marL="548640" indent="-182880">
              <a:lnSpc>
                <a:spcPct val="100000"/>
              </a:lnSpc>
              <a:spcBef>
                <a:spcPts val="0"/>
              </a:spcBef>
              <a:defRPr sz="2000" b="0" i="0">
                <a:solidFill>
                  <a:schemeClr val="tx1"/>
                </a:solidFill>
                <a:latin typeface="IBM Plex Sans Light" panose="020B04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13" name="Text Placeholder 6">
            <a:extLst>
              <a:ext uri="{FF2B5EF4-FFF2-40B4-BE49-F238E27FC236}">
                <a16:creationId xmlns:a16="http://schemas.microsoft.com/office/drawing/2014/main" id="{4E03333F-C9F4-9C57-BAAE-A49EA523AFB5}"/>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CF3321C6-7CF8-EF30-4736-48A201B09471}"/>
              </a:ext>
            </a:extLst>
          </p:cNvPr>
          <p:cNvSpPr>
            <a:spLocks noGrp="1"/>
          </p:cNvSpPr>
          <p:nvPr>
            <p:ph type="body" sz="quarter" idx="19"/>
          </p:nvPr>
        </p:nvSpPr>
        <p:spPr>
          <a:xfrm>
            <a:off x="720724"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AC67FA0E-EA85-0950-FCC7-3F6BF1A74144}"/>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0EE67605-D889-6D38-2F1B-DF58E809AC59}"/>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endParaRPr lang="en-US" dirty="0"/>
          </a:p>
        </p:txBody>
      </p:sp>
      <p:sp>
        <p:nvSpPr>
          <p:cNvPr id="16" name="Text Placeholder 6">
            <a:extLst>
              <a:ext uri="{FF2B5EF4-FFF2-40B4-BE49-F238E27FC236}">
                <a16:creationId xmlns:a16="http://schemas.microsoft.com/office/drawing/2014/main" id="{F4F49B39-EB32-770F-5644-D3D938710775}"/>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5D25B5E4-5513-DB6F-04BF-4A2A85E85763}"/>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EC86775E-92B8-3897-2210-2993F34BA628}"/>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385200"/>
            <a:ext cx="4949825" cy="2097087"/>
          </a:xfrm>
        </p:spPr>
        <p:txBody>
          <a:bodyPr/>
          <a:lstStyle>
            <a:lvl1pPr>
              <a:lnSpc>
                <a:spcPct val="100000"/>
              </a:lnSpc>
              <a:defRPr sz="28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a:prstGeom prst="rect">
            <a:avLst/>
          </a:prstGeom>
        </p:spPr>
        <p:txBody>
          <a:bodyPr/>
          <a:lstStyle>
            <a:lvl1pPr>
              <a:lnSpc>
                <a:spcPct val="100000"/>
              </a:lnSpc>
              <a:spcBef>
                <a:spcPts val="0"/>
              </a:spcBef>
              <a:defRPr sz="6400" b="0" i="0">
                <a:solidFill>
                  <a:schemeClr val="tx1"/>
                </a:solidFill>
                <a:latin typeface="IBM Plex Sans Light" panose="020B0403050203000203" pitchFamily="34" charset="0"/>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3" name="Text Placeholder 6">
            <a:extLst>
              <a:ext uri="{FF2B5EF4-FFF2-40B4-BE49-F238E27FC236}">
                <a16:creationId xmlns:a16="http://schemas.microsoft.com/office/drawing/2014/main" id="{DCEA9C7F-1CB2-B0B0-AE4C-171B0AFC6E26}"/>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2F4D72D8-0638-1E42-6480-21D9CF7A440E}"/>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D6DDCC2C-4DA8-F28F-9BBF-ACD120C05B48}"/>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dirty="0"/>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2" name="Text Placeholder 6">
            <a:extLst>
              <a:ext uri="{FF2B5EF4-FFF2-40B4-BE49-F238E27FC236}">
                <a16:creationId xmlns:a16="http://schemas.microsoft.com/office/drawing/2014/main" id="{AD98038E-FA9A-2E7F-DE4F-45D37F116DFD}"/>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Text Placeholder 6">
            <a:extLst>
              <a:ext uri="{FF2B5EF4-FFF2-40B4-BE49-F238E27FC236}">
                <a16:creationId xmlns:a16="http://schemas.microsoft.com/office/drawing/2014/main" id="{2B3FDBEC-0A0D-82A4-F347-00CE8AD711B9}"/>
              </a:ext>
            </a:extLst>
          </p:cNvPr>
          <p:cNvSpPr>
            <a:spLocks noGrp="1"/>
          </p:cNvSpPr>
          <p:nvPr>
            <p:ph type="body" sz="quarter" idx="21"/>
          </p:nvPr>
        </p:nvSpPr>
        <p:spPr>
          <a:xfrm>
            <a:off x="12739220" y="3429000"/>
            <a:ext cx="10183842"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385200"/>
            <a:ext cx="7424927" cy="1906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5377FA90-E771-AC82-090E-6FBBAE2633AB}"/>
              </a:ext>
            </a:extLst>
          </p:cNvPr>
          <p:cNvSpPr>
            <a:spLocks noGrp="1"/>
          </p:cNvSpPr>
          <p:nvPr>
            <p:ph type="body" sz="quarter" idx="20"/>
          </p:nvPr>
        </p:nvSpPr>
        <p:spPr>
          <a:xfrm>
            <a:off x="12739220"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3C39AE1-8603-84DA-CC2F-0C36A1C9D153}"/>
              </a:ext>
            </a:extLst>
          </p:cNvPr>
          <p:cNvSpPr>
            <a:spLocks noGrp="1"/>
          </p:cNvSpPr>
          <p:nvPr>
            <p:ph type="body" sz="quarter" idx="21"/>
          </p:nvPr>
        </p:nvSpPr>
        <p:spPr>
          <a:xfrm>
            <a:off x="576072"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A3A4153E-E96A-682A-6ADB-86D8329C1B21}"/>
              </a:ext>
            </a:extLst>
          </p:cNvPr>
          <p:cNvSpPr>
            <a:spLocks noGrp="1"/>
          </p:cNvSpPr>
          <p:nvPr>
            <p:ph type="body" sz="quarter" idx="10"/>
          </p:nvPr>
        </p:nvSpPr>
        <p:spPr>
          <a:xfrm>
            <a:off x="12775460" y="384044"/>
            <a:ext cx="4963923" cy="11431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AA778F7-DDE5-2F6E-F5FA-F5B0F120E06A}"/>
              </a:ext>
            </a:extLst>
          </p:cNvPr>
          <p:cNvSpPr>
            <a:spLocks noGrp="1"/>
          </p:cNvSpPr>
          <p:nvPr>
            <p:ph type="body" sz="quarter" idx="20"/>
          </p:nvPr>
        </p:nvSpPr>
        <p:spPr>
          <a:xfrm>
            <a:off x="18847180" y="384045"/>
            <a:ext cx="4963923" cy="114315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5200"/>
            <a:ext cx="4953000" cy="4573587"/>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6">
            <a:extLst>
              <a:ext uri="{FF2B5EF4-FFF2-40B4-BE49-F238E27FC236}">
                <a16:creationId xmlns:a16="http://schemas.microsoft.com/office/drawing/2014/main" id="{138C4317-85BF-2C36-29AD-9974CF6DE93C}"/>
              </a:ext>
            </a:extLst>
          </p:cNvPr>
          <p:cNvSpPr>
            <a:spLocks noGrp="1"/>
          </p:cNvSpPr>
          <p:nvPr>
            <p:ph type="body" sz="quarter" idx="10"/>
          </p:nvPr>
        </p:nvSpPr>
        <p:spPr>
          <a:xfrm>
            <a:off x="12775460" y="384044"/>
            <a:ext cx="4963923" cy="11431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11D0A98E-CDEF-685C-25C7-E4EA3AFDCDFD}"/>
              </a:ext>
            </a:extLst>
          </p:cNvPr>
          <p:cNvSpPr>
            <a:spLocks noGrp="1"/>
          </p:cNvSpPr>
          <p:nvPr>
            <p:ph type="body" sz="quarter" idx="20"/>
          </p:nvPr>
        </p:nvSpPr>
        <p:spPr>
          <a:xfrm>
            <a:off x="18847180" y="384045"/>
            <a:ext cx="4963923" cy="114315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1" name="Text Placeholder 6">
            <a:extLst>
              <a:ext uri="{FF2B5EF4-FFF2-40B4-BE49-F238E27FC236}">
                <a16:creationId xmlns:a16="http://schemas.microsoft.com/office/drawing/2014/main" id="{4401EF50-EF95-0C87-38FD-2E0B9FD3E33F}"/>
              </a:ext>
            </a:extLst>
          </p:cNvPr>
          <p:cNvSpPr>
            <a:spLocks noGrp="1"/>
          </p:cNvSpPr>
          <p:nvPr>
            <p:ph type="body" sz="quarter" idx="10"/>
          </p:nvPr>
        </p:nvSpPr>
        <p:spPr>
          <a:xfrm>
            <a:off x="12787780" y="3429000"/>
            <a:ext cx="4963923"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A7715D83-2EB0-631E-31DF-DAE49EE10509}"/>
              </a:ext>
            </a:extLst>
          </p:cNvPr>
          <p:cNvSpPr>
            <a:spLocks noGrp="1"/>
          </p:cNvSpPr>
          <p:nvPr>
            <p:ph type="body" sz="quarter" idx="21"/>
          </p:nvPr>
        </p:nvSpPr>
        <p:spPr>
          <a:xfrm>
            <a:off x="18859500" y="3429002"/>
            <a:ext cx="4963923" cy="85724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72EE4CB5-8991-123D-EBF8-1ED34CC50FE6}"/>
              </a:ext>
            </a:extLst>
          </p:cNvPr>
          <p:cNvSpPr>
            <a:spLocks noGrp="1"/>
          </p:cNvSpPr>
          <p:nvPr>
            <p:ph type="body" sz="quarter" idx="22"/>
          </p:nvPr>
        </p:nvSpPr>
        <p:spPr>
          <a:xfrm>
            <a:off x="12787780" y="384048"/>
            <a:ext cx="4963923" cy="152558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14ACB30C-F320-75FA-F4BC-8A4103FF2F36}"/>
              </a:ext>
            </a:extLst>
          </p:cNvPr>
          <p:cNvSpPr>
            <a:spLocks noGrp="1"/>
          </p:cNvSpPr>
          <p:nvPr>
            <p:ph type="body" sz="quarter" idx="23"/>
          </p:nvPr>
        </p:nvSpPr>
        <p:spPr>
          <a:xfrm>
            <a:off x="18847180" y="384048"/>
            <a:ext cx="4963923" cy="152558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5200"/>
            <a:ext cx="4949826" cy="4573587"/>
          </a:xfrm>
        </p:spPr>
        <p:txBody>
          <a:bodyPr rIns="0"/>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C320D13A-B2E3-8109-F9A4-70AB45A14B5D}"/>
              </a:ext>
            </a:extLst>
          </p:cNvPr>
          <p:cNvSpPr>
            <a:spLocks noGrp="1"/>
          </p:cNvSpPr>
          <p:nvPr>
            <p:ph type="body" sz="quarter" idx="10"/>
          </p:nvPr>
        </p:nvSpPr>
        <p:spPr>
          <a:xfrm>
            <a:off x="12787780" y="3429000"/>
            <a:ext cx="4963923" cy="8572499"/>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974BDB94-1ECF-14DA-1C2A-F289E665E08B}"/>
              </a:ext>
            </a:extLst>
          </p:cNvPr>
          <p:cNvSpPr>
            <a:spLocks noGrp="1"/>
          </p:cNvSpPr>
          <p:nvPr>
            <p:ph type="body" sz="quarter" idx="21"/>
          </p:nvPr>
        </p:nvSpPr>
        <p:spPr>
          <a:xfrm>
            <a:off x="18859500" y="3429002"/>
            <a:ext cx="4963923" cy="8572498"/>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Text Placeholder 6">
            <a:extLst>
              <a:ext uri="{FF2B5EF4-FFF2-40B4-BE49-F238E27FC236}">
                <a16:creationId xmlns:a16="http://schemas.microsoft.com/office/drawing/2014/main" id="{D6E55AA2-DCD0-9227-A831-24FD27E4CB54}"/>
              </a:ext>
            </a:extLst>
          </p:cNvPr>
          <p:cNvSpPr>
            <a:spLocks noGrp="1"/>
          </p:cNvSpPr>
          <p:nvPr>
            <p:ph type="body" sz="quarter" idx="22"/>
          </p:nvPr>
        </p:nvSpPr>
        <p:spPr>
          <a:xfrm>
            <a:off x="12787780" y="384048"/>
            <a:ext cx="4963923" cy="1525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08FF2718-83A0-A416-2862-0D7439636230}"/>
              </a:ext>
            </a:extLst>
          </p:cNvPr>
          <p:cNvSpPr>
            <a:spLocks noGrp="1"/>
          </p:cNvSpPr>
          <p:nvPr>
            <p:ph type="body" sz="quarter" idx="23"/>
          </p:nvPr>
        </p:nvSpPr>
        <p:spPr>
          <a:xfrm>
            <a:off x="18847180" y="384048"/>
            <a:ext cx="4963923" cy="1525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dirty="0"/>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6" name="Text Placeholder 6">
            <a:extLst>
              <a:ext uri="{FF2B5EF4-FFF2-40B4-BE49-F238E27FC236}">
                <a16:creationId xmlns:a16="http://schemas.microsoft.com/office/drawing/2014/main" id="{C6703E2E-EBF0-C866-7278-E844AFCB3A5F}"/>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BD2030D9-4E2C-5A41-AC60-E9DAA791E354}"/>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2473B493-1BC7-D878-AEAA-C60A2D67B762}"/>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6">
            <a:extLst>
              <a:ext uri="{FF2B5EF4-FFF2-40B4-BE49-F238E27FC236}">
                <a16:creationId xmlns:a16="http://schemas.microsoft.com/office/drawing/2014/main" id="{FE4E8AF0-4192-FB86-9702-8592B301CAB8}"/>
              </a:ext>
            </a:extLst>
          </p:cNvPr>
          <p:cNvSpPr>
            <a:spLocks noGrp="1"/>
          </p:cNvSpPr>
          <p:nvPr>
            <p:ph type="body" sz="quarter" idx="22"/>
          </p:nvPr>
        </p:nvSpPr>
        <p:spPr>
          <a:xfrm>
            <a:off x="560577" y="2456592"/>
            <a:ext cx="6670675" cy="3067904"/>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B5744FFC-849B-8FBD-FF73-B21942BA087F}"/>
              </a:ext>
            </a:extLst>
          </p:cNvPr>
          <p:cNvSpPr>
            <a:spLocks noGrp="1"/>
          </p:cNvSpPr>
          <p:nvPr>
            <p:ph type="body" sz="quarter" idx="23"/>
          </p:nvPr>
        </p:nvSpPr>
        <p:spPr>
          <a:xfrm>
            <a:off x="12763500" y="2456592"/>
            <a:ext cx="6670675" cy="3067901"/>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70A13E8E-060C-6E01-AB11-41A2190116B1}"/>
              </a:ext>
            </a:extLst>
          </p:cNvPr>
          <p:cNvSpPr>
            <a:spLocks noGrp="1"/>
          </p:cNvSpPr>
          <p:nvPr>
            <p:ph type="body" sz="quarter" idx="24"/>
          </p:nvPr>
        </p:nvSpPr>
        <p:spPr>
          <a:xfrm>
            <a:off x="576073" y="8362096"/>
            <a:ext cx="6670675" cy="306789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3277838E-5792-202A-65F5-342AF0992EF8}"/>
              </a:ext>
            </a:extLst>
          </p:cNvPr>
          <p:cNvSpPr>
            <a:spLocks noGrp="1"/>
          </p:cNvSpPr>
          <p:nvPr>
            <p:ph type="body" sz="quarter" idx="25"/>
          </p:nvPr>
        </p:nvSpPr>
        <p:spPr>
          <a:xfrm>
            <a:off x="12778996" y="8362096"/>
            <a:ext cx="6670675" cy="3067892"/>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385200"/>
            <a:ext cx="4956175" cy="1141412"/>
          </a:xfrm>
          <a:prstGeom prst="rect">
            <a:avLst/>
          </a:prstGeom>
        </p:spPr>
        <p:txBody>
          <a:bodyPr/>
          <a:lstStyle>
            <a:lvl1pPr>
              <a:defRPr sz="28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4FBB383F-F59D-AEC8-4D6C-AC28926B09FF}"/>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6053B001-EDB1-FA28-FFB0-F41FF2D33138}"/>
              </a:ext>
            </a:extLst>
          </p:cNvPr>
          <p:cNvSpPr>
            <a:spLocks noGrp="1"/>
          </p:cNvSpPr>
          <p:nvPr>
            <p:ph type="body" sz="quarter" idx="22"/>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CD8F0E9F-03CA-D8CD-75A1-CB650A81E996}"/>
              </a:ext>
            </a:extLst>
          </p:cNvPr>
          <p:cNvSpPr>
            <a:spLocks noGrp="1"/>
          </p:cNvSpPr>
          <p:nvPr>
            <p:ph type="body" sz="quarter" idx="23"/>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6">
            <a:extLst>
              <a:ext uri="{FF2B5EF4-FFF2-40B4-BE49-F238E27FC236}">
                <a16:creationId xmlns:a16="http://schemas.microsoft.com/office/drawing/2014/main" id="{F16D24DB-6F94-3A9D-70FD-B96C2E9E8DB4}"/>
              </a:ext>
            </a:extLst>
          </p:cNvPr>
          <p:cNvSpPr>
            <a:spLocks noGrp="1"/>
          </p:cNvSpPr>
          <p:nvPr>
            <p:ph type="body" sz="quarter" idx="24"/>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385200"/>
            <a:ext cx="4956175" cy="448056"/>
          </a:xfrm>
          <a:prstGeom prst="rect">
            <a:avLst/>
          </a:prstGeom>
        </p:spPr>
        <p:txBody>
          <a:bodyPr/>
          <a:lstStyle>
            <a:lvl1pPr>
              <a:lnSpc>
                <a:spcPct val="100000"/>
              </a:lnSpc>
              <a:defRPr sz="28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4" name="Text Placeholder 6">
            <a:extLst>
              <a:ext uri="{FF2B5EF4-FFF2-40B4-BE49-F238E27FC236}">
                <a16:creationId xmlns:a16="http://schemas.microsoft.com/office/drawing/2014/main" id="{BEE7923F-2C08-E17F-72B0-F41C361C5372}"/>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4F52302E-5C35-DCB5-2D11-CC0BE75371AE}"/>
              </a:ext>
            </a:extLst>
          </p:cNvPr>
          <p:cNvSpPr>
            <a:spLocks noGrp="1"/>
          </p:cNvSpPr>
          <p:nvPr>
            <p:ph type="body" sz="quarter" idx="22"/>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644BCD2A-7E42-10EE-E251-907F955BFCEB}"/>
              </a:ext>
            </a:extLst>
          </p:cNvPr>
          <p:cNvSpPr>
            <a:spLocks noGrp="1"/>
          </p:cNvSpPr>
          <p:nvPr>
            <p:ph type="body" sz="quarter" idx="23"/>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FEF5B836-0687-FE12-9EE1-7B2CB1124537}"/>
              </a:ext>
            </a:extLst>
          </p:cNvPr>
          <p:cNvSpPr>
            <a:spLocks noGrp="1"/>
          </p:cNvSpPr>
          <p:nvPr>
            <p:ph type="body" sz="quarter" idx="24"/>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181061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5200"/>
            <a:ext cx="4956175" cy="4573587"/>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7" name="Text Placeholder 6">
            <a:extLst>
              <a:ext uri="{FF2B5EF4-FFF2-40B4-BE49-F238E27FC236}">
                <a16:creationId xmlns:a16="http://schemas.microsoft.com/office/drawing/2014/main" id="{3E32141B-6D8C-ADDD-8D24-D2B360381383}"/>
              </a:ext>
            </a:extLst>
          </p:cNvPr>
          <p:cNvSpPr>
            <a:spLocks noGrp="1"/>
          </p:cNvSpPr>
          <p:nvPr>
            <p:ph type="body" sz="quarter" idx="23"/>
          </p:nvPr>
        </p:nvSpPr>
        <p:spPr>
          <a:xfrm>
            <a:off x="1272802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7DBD6A3D-FB96-6A97-1F58-F61F03D37691}"/>
              </a:ext>
            </a:extLst>
          </p:cNvPr>
          <p:cNvSpPr>
            <a:spLocks noGrp="1"/>
          </p:cNvSpPr>
          <p:nvPr>
            <p:ph type="body" sz="quarter" idx="24"/>
          </p:nvPr>
        </p:nvSpPr>
        <p:spPr>
          <a:xfrm>
            <a:off x="1879974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B54BA88F-5BD8-839D-33E8-DAC02350ACA1}"/>
              </a:ext>
            </a:extLst>
          </p:cNvPr>
          <p:cNvSpPr>
            <a:spLocks noGrp="1"/>
          </p:cNvSpPr>
          <p:nvPr>
            <p:ph type="body" sz="quarter" idx="25"/>
          </p:nvPr>
        </p:nvSpPr>
        <p:spPr>
          <a:xfrm>
            <a:off x="560577" y="6656832"/>
            <a:ext cx="4963923" cy="533425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BCA7C7E-4E8C-6B73-007A-21635527B083}"/>
              </a:ext>
            </a:extLst>
          </p:cNvPr>
          <p:cNvSpPr>
            <a:spLocks noGrp="1"/>
          </p:cNvSpPr>
          <p:nvPr>
            <p:ph type="body" sz="quarter" idx="26"/>
          </p:nvPr>
        </p:nvSpPr>
        <p:spPr>
          <a:xfrm>
            <a:off x="6632297"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34340CDF-396E-8FEA-9F33-A868AEB7DE6A}"/>
              </a:ext>
            </a:extLst>
          </p:cNvPr>
          <p:cNvSpPr>
            <a:spLocks noGrp="1"/>
          </p:cNvSpPr>
          <p:nvPr>
            <p:ph type="body" sz="quarter" idx="23"/>
          </p:nvPr>
        </p:nvSpPr>
        <p:spPr>
          <a:xfrm>
            <a:off x="1272802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F04B77E5-DBD6-E6DD-D620-C878361A7BB4}"/>
              </a:ext>
            </a:extLst>
          </p:cNvPr>
          <p:cNvSpPr>
            <a:spLocks noGrp="1"/>
          </p:cNvSpPr>
          <p:nvPr>
            <p:ph type="body" sz="quarter" idx="24"/>
          </p:nvPr>
        </p:nvSpPr>
        <p:spPr>
          <a:xfrm>
            <a:off x="1879974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AC83D79D-159D-684B-A0A2-E6DD61C3A503}"/>
              </a:ext>
            </a:extLst>
          </p:cNvPr>
          <p:cNvSpPr>
            <a:spLocks noGrp="1"/>
          </p:cNvSpPr>
          <p:nvPr>
            <p:ph type="body" sz="quarter" idx="25"/>
          </p:nvPr>
        </p:nvSpPr>
        <p:spPr>
          <a:xfrm>
            <a:off x="560577" y="6656832"/>
            <a:ext cx="4963923" cy="533425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550B9EEB-A8EA-2744-D650-EC7233DAFF4D}"/>
              </a:ext>
            </a:extLst>
          </p:cNvPr>
          <p:cNvSpPr>
            <a:spLocks noGrp="1"/>
          </p:cNvSpPr>
          <p:nvPr>
            <p:ph type="body" sz="quarter" idx="26"/>
          </p:nvPr>
        </p:nvSpPr>
        <p:spPr>
          <a:xfrm>
            <a:off x="6632297"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4573588"/>
          </a:xfrm>
        </p:spPr>
        <p:txBody>
          <a:bodyPr/>
          <a:lstStyle>
            <a:lvl1pPr>
              <a:lnSpc>
                <a:spcPct val="100000"/>
              </a:lnSpc>
              <a:defRPr sz="6400" b="0" i="0">
                <a:solidFill>
                  <a:schemeClr val="tx2"/>
                </a:solidFill>
                <a:latin typeface="IBM Plex Sans Light" panose="020B0403050203000203" pitchFamily="34" charset="0"/>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9" name="Text Placeholder 6">
            <a:extLst>
              <a:ext uri="{FF2B5EF4-FFF2-40B4-BE49-F238E27FC236}">
                <a16:creationId xmlns:a16="http://schemas.microsoft.com/office/drawing/2014/main" id="{B74FE312-96C3-0801-8AFE-48C53A3855EF}"/>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BFE072FD-410A-B1CF-4BD5-EFE459133BB6}"/>
              </a:ext>
            </a:extLst>
          </p:cNvPr>
          <p:cNvSpPr>
            <a:spLocks noGrp="1"/>
          </p:cNvSpPr>
          <p:nvPr>
            <p:ph type="body" sz="quarter" idx="23"/>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1C0822F6-B969-1E92-CC74-0CBB1126A9C8}"/>
              </a:ext>
            </a:extLst>
          </p:cNvPr>
          <p:cNvSpPr>
            <a:spLocks noGrp="1"/>
          </p:cNvSpPr>
          <p:nvPr>
            <p:ph type="body" sz="quarter" idx="24"/>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F9AB4B51-7CBC-4B83-F837-82517C33FEBA}"/>
              </a:ext>
            </a:extLst>
          </p:cNvPr>
          <p:cNvSpPr>
            <a:spLocks noGrp="1"/>
          </p:cNvSpPr>
          <p:nvPr>
            <p:ph type="body" sz="quarter" idx="25"/>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3" name="Text Placeholder 6">
            <a:extLst>
              <a:ext uri="{FF2B5EF4-FFF2-40B4-BE49-F238E27FC236}">
                <a16:creationId xmlns:a16="http://schemas.microsoft.com/office/drawing/2014/main" id="{4AB00072-45AF-510F-C146-BAC3B20406FD}"/>
              </a:ext>
            </a:extLst>
          </p:cNvPr>
          <p:cNvSpPr>
            <a:spLocks noGrp="1"/>
          </p:cNvSpPr>
          <p:nvPr>
            <p:ph type="body" sz="quarter" idx="26"/>
          </p:nvPr>
        </p:nvSpPr>
        <p:spPr>
          <a:xfrm>
            <a:off x="6665976" y="576072"/>
            <a:ext cx="4963923" cy="5145084"/>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C4503F3E-D426-7E9E-BDBD-CDA2B731934A}"/>
              </a:ext>
            </a:extLst>
          </p:cNvPr>
          <p:cNvSpPr>
            <a:spLocks noGrp="1"/>
          </p:cNvSpPr>
          <p:nvPr>
            <p:ph type="body" sz="quarter" idx="27"/>
          </p:nvPr>
        </p:nvSpPr>
        <p:spPr>
          <a:xfrm>
            <a:off x="6665976" y="6667498"/>
            <a:ext cx="4963923" cy="49529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385200"/>
            <a:ext cx="4949825" cy="28590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lvl1pPr>
              <a:defRPr b="0" i="0">
                <a:latin typeface="IBM Plex Sans Light" panose="020B0403050203000203" pitchFamily="34" charset="0"/>
              </a:defRPr>
            </a:lvl1pPr>
          </a:lstStyle>
          <a:p>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0784E564-F094-C65E-4C30-6AD26FD6AE47}"/>
              </a:ext>
            </a:extLst>
          </p:cNvPr>
          <p:cNvSpPr>
            <a:spLocks noGrp="1"/>
          </p:cNvSpPr>
          <p:nvPr>
            <p:ph type="body" sz="quarter" idx="10"/>
          </p:nvPr>
        </p:nvSpPr>
        <p:spPr>
          <a:xfrm>
            <a:off x="12728028" y="1427410"/>
            <a:ext cx="4963923" cy="3716082"/>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5B384162-F420-216E-B250-BA49ED23AA36}"/>
              </a:ext>
            </a:extLst>
          </p:cNvPr>
          <p:cNvSpPr>
            <a:spLocks noGrp="1"/>
          </p:cNvSpPr>
          <p:nvPr>
            <p:ph type="body" sz="quarter" idx="24"/>
          </p:nvPr>
        </p:nvSpPr>
        <p:spPr>
          <a:xfrm>
            <a:off x="18799748" y="1427410"/>
            <a:ext cx="4963923" cy="371607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2D5D50EC-56AE-CB68-AF0D-967D997C2277}"/>
              </a:ext>
            </a:extLst>
          </p:cNvPr>
          <p:cNvSpPr>
            <a:spLocks noGrp="1"/>
          </p:cNvSpPr>
          <p:nvPr>
            <p:ph type="body" sz="quarter" idx="25"/>
          </p:nvPr>
        </p:nvSpPr>
        <p:spPr>
          <a:xfrm>
            <a:off x="12728028" y="7518835"/>
            <a:ext cx="4963923" cy="372065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95DF0382-EAC2-42E6-8F3C-D78D99701167}"/>
              </a:ext>
            </a:extLst>
          </p:cNvPr>
          <p:cNvSpPr>
            <a:spLocks noGrp="1"/>
          </p:cNvSpPr>
          <p:nvPr>
            <p:ph type="body" sz="quarter" idx="26"/>
          </p:nvPr>
        </p:nvSpPr>
        <p:spPr>
          <a:xfrm>
            <a:off x="18799748" y="7518835"/>
            <a:ext cx="4963923" cy="3720651"/>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DD63E7DA-FA91-79CE-F137-C4CFF4237814}"/>
              </a:ext>
            </a:extLst>
          </p:cNvPr>
          <p:cNvSpPr>
            <a:spLocks noGrp="1"/>
          </p:cNvSpPr>
          <p:nvPr>
            <p:ph type="body" sz="quarter" idx="27"/>
          </p:nvPr>
        </p:nvSpPr>
        <p:spPr>
          <a:xfrm>
            <a:off x="6665976" y="1427408"/>
            <a:ext cx="4963923" cy="3716081"/>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03E415E0-33AF-4F69-4718-A13AF38331B2}"/>
              </a:ext>
            </a:extLst>
          </p:cNvPr>
          <p:cNvSpPr>
            <a:spLocks noGrp="1"/>
          </p:cNvSpPr>
          <p:nvPr>
            <p:ph type="body" sz="quarter" idx="28"/>
          </p:nvPr>
        </p:nvSpPr>
        <p:spPr>
          <a:xfrm>
            <a:off x="6665976" y="7518834"/>
            <a:ext cx="4963923" cy="3720653"/>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5" name="Text Placeholder 6">
            <a:extLst>
              <a:ext uri="{FF2B5EF4-FFF2-40B4-BE49-F238E27FC236}">
                <a16:creationId xmlns:a16="http://schemas.microsoft.com/office/drawing/2014/main" id="{22EB5F78-B3F7-EBA1-BE53-B96CA397D9E3}"/>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6" name="Text Placeholder 6">
            <a:extLst>
              <a:ext uri="{FF2B5EF4-FFF2-40B4-BE49-F238E27FC236}">
                <a16:creationId xmlns:a16="http://schemas.microsoft.com/office/drawing/2014/main" id="{BFFEAD4C-1129-22EA-9ED5-9BE409A0C748}"/>
              </a:ext>
            </a:extLst>
          </p:cNvPr>
          <p:cNvSpPr>
            <a:spLocks noGrp="1"/>
          </p:cNvSpPr>
          <p:nvPr>
            <p:ph type="body" sz="quarter" idx="23"/>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7" name="Text Placeholder 6">
            <a:extLst>
              <a:ext uri="{FF2B5EF4-FFF2-40B4-BE49-F238E27FC236}">
                <a16:creationId xmlns:a16="http://schemas.microsoft.com/office/drawing/2014/main" id="{91719EAC-72ED-B4B5-CA48-EB23C5EB8B0A}"/>
              </a:ext>
            </a:extLst>
          </p:cNvPr>
          <p:cNvSpPr>
            <a:spLocks noGrp="1"/>
          </p:cNvSpPr>
          <p:nvPr>
            <p:ph type="body" sz="quarter" idx="24"/>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8" name="Text Placeholder 6">
            <a:extLst>
              <a:ext uri="{FF2B5EF4-FFF2-40B4-BE49-F238E27FC236}">
                <a16:creationId xmlns:a16="http://schemas.microsoft.com/office/drawing/2014/main" id="{28C9C88E-05A2-25E3-4571-C794E968D7FC}"/>
              </a:ext>
            </a:extLst>
          </p:cNvPr>
          <p:cNvSpPr>
            <a:spLocks noGrp="1"/>
          </p:cNvSpPr>
          <p:nvPr>
            <p:ph type="body" sz="quarter" idx="25"/>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9" name="Text Placeholder 6">
            <a:extLst>
              <a:ext uri="{FF2B5EF4-FFF2-40B4-BE49-F238E27FC236}">
                <a16:creationId xmlns:a16="http://schemas.microsoft.com/office/drawing/2014/main" id="{D76302BE-E896-F153-8F88-B63A433B5C29}"/>
              </a:ext>
            </a:extLst>
          </p:cNvPr>
          <p:cNvSpPr>
            <a:spLocks noGrp="1"/>
          </p:cNvSpPr>
          <p:nvPr>
            <p:ph type="body" sz="quarter" idx="26"/>
          </p:nvPr>
        </p:nvSpPr>
        <p:spPr>
          <a:xfrm>
            <a:off x="574675" y="6665976"/>
            <a:ext cx="4963923" cy="4954514"/>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0" name="Text Placeholder 6">
            <a:extLst>
              <a:ext uri="{FF2B5EF4-FFF2-40B4-BE49-F238E27FC236}">
                <a16:creationId xmlns:a16="http://schemas.microsoft.com/office/drawing/2014/main" id="{FF14BC99-A0C2-45B6-C1F6-84D3EACEDF48}"/>
              </a:ext>
            </a:extLst>
          </p:cNvPr>
          <p:cNvSpPr>
            <a:spLocks noGrp="1"/>
          </p:cNvSpPr>
          <p:nvPr>
            <p:ph type="body" sz="quarter" idx="27"/>
          </p:nvPr>
        </p:nvSpPr>
        <p:spPr>
          <a:xfrm>
            <a:off x="6665976" y="6667498"/>
            <a:ext cx="4963923" cy="49529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5200"/>
            <a:ext cx="4949825" cy="3413126"/>
          </a:xfrm>
        </p:spPr>
        <p:txBody>
          <a:bodyPr rIns="0"/>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FBA90B24-A7AA-EE26-4DF0-B0850F874CC1}"/>
              </a:ext>
            </a:extLst>
          </p:cNvPr>
          <p:cNvSpPr>
            <a:spLocks noGrp="1"/>
          </p:cNvSpPr>
          <p:nvPr>
            <p:ph type="body" sz="quarter" idx="20"/>
          </p:nvPr>
        </p:nvSpPr>
        <p:spPr>
          <a:xfrm>
            <a:off x="552009" y="6665975"/>
            <a:ext cx="5026139" cy="495451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B293E5F0-8E0D-8611-485C-03E54EE01CAD}"/>
              </a:ext>
            </a:extLst>
          </p:cNvPr>
          <p:cNvSpPr>
            <a:spLocks noGrp="1"/>
          </p:cNvSpPr>
          <p:nvPr>
            <p:ph type="body" sz="quarter" idx="28"/>
          </p:nvPr>
        </p:nvSpPr>
        <p:spPr>
          <a:xfrm>
            <a:off x="6659393" y="6665975"/>
            <a:ext cx="5026139" cy="495450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7E5B5649-C746-EAC6-E506-88A5EE6297F2}"/>
              </a:ext>
            </a:extLst>
          </p:cNvPr>
          <p:cNvSpPr>
            <a:spLocks noGrp="1"/>
          </p:cNvSpPr>
          <p:nvPr>
            <p:ph type="body" sz="quarter" idx="29"/>
          </p:nvPr>
        </p:nvSpPr>
        <p:spPr>
          <a:xfrm>
            <a:off x="12725407" y="6701421"/>
            <a:ext cx="5026139" cy="491905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D1C336AE-32DC-6A3D-A0A5-FD3BEEE59FD9}"/>
              </a:ext>
            </a:extLst>
          </p:cNvPr>
          <p:cNvSpPr>
            <a:spLocks noGrp="1"/>
          </p:cNvSpPr>
          <p:nvPr>
            <p:ph type="body" sz="quarter" idx="30"/>
          </p:nvPr>
        </p:nvSpPr>
        <p:spPr>
          <a:xfrm>
            <a:off x="18791798" y="6665975"/>
            <a:ext cx="4978776" cy="495449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58F4A404-A74C-F889-564A-6677AB4E33D2}"/>
              </a:ext>
            </a:extLst>
          </p:cNvPr>
          <p:cNvSpPr>
            <a:spLocks noGrp="1"/>
          </p:cNvSpPr>
          <p:nvPr>
            <p:ph type="body" sz="quarter" idx="31"/>
          </p:nvPr>
        </p:nvSpPr>
        <p:spPr>
          <a:xfrm>
            <a:off x="18812222" y="576073"/>
            <a:ext cx="4978776"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4D20BC60-A254-2972-5466-846B4E395A1C}"/>
              </a:ext>
            </a:extLst>
          </p:cNvPr>
          <p:cNvSpPr>
            <a:spLocks noGrp="1"/>
          </p:cNvSpPr>
          <p:nvPr>
            <p:ph type="body" sz="quarter" idx="32"/>
          </p:nvPr>
        </p:nvSpPr>
        <p:spPr>
          <a:xfrm>
            <a:off x="12692373" y="576073"/>
            <a:ext cx="4978776" cy="514507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lvl1pPr>
              <a:defRPr b="0" i="0">
                <a:latin typeface="IBM Plex Sans Light" panose="020B0403050203000203" pitchFamily="34" charset="0"/>
              </a:defRPr>
            </a:lvl1pPr>
          </a:lstStyle>
          <a:p>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6" name="Text Placeholder 6">
            <a:extLst>
              <a:ext uri="{FF2B5EF4-FFF2-40B4-BE49-F238E27FC236}">
                <a16:creationId xmlns:a16="http://schemas.microsoft.com/office/drawing/2014/main" id="{F97050FE-79BA-7876-7C87-1EBC54ABDE3B}"/>
              </a:ext>
            </a:extLst>
          </p:cNvPr>
          <p:cNvSpPr>
            <a:spLocks noGrp="1"/>
          </p:cNvSpPr>
          <p:nvPr>
            <p:ph type="body" sz="quarter" idx="21"/>
          </p:nvPr>
        </p:nvSpPr>
        <p:spPr>
          <a:xfrm>
            <a:off x="552010"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0F1D7D74-3344-9F6B-7157-4A7E1AB48342}"/>
              </a:ext>
            </a:extLst>
          </p:cNvPr>
          <p:cNvSpPr>
            <a:spLocks noGrp="1"/>
          </p:cNvSpPr>
          <p:nvPr>
            <p:ph type="body" sz="quarter" idx="22"/>
          </p:nvPr>
        </p:nvSpPr>
        <p:spPr>
          <a:xfrm>
            <a:off x="6669087"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4798" y="12904628"/>
            <a:ext cx="267702" cy="24622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7" name="Text Placeholder 6">
            <a:extLst>
              <a:ext uri="{FF2B5EF4-FFF2-40B4-BE49-F238E27FC236}">
                <a16:creationId xmlns:a16="http://schemas.microsoft.com/office/drawing/2014/main" id="{C7581521-9341-A586-10B8-D3CD3EBBADFC}"/>
              </a:ext>
            </a:extLst>
          </p:cNvPr>
          <p:cNvSpPr>
            <a:spLocks noGrp="1"/>
          </p:cNvSpPr>
          <p:nvPr>
            <p:ph type="body" sz="quarter" idx="20"/>
          </p:nvPr>
        </p:nvSpPr>
        <p:spPr>
          <a:xfrm>
            <a:off x="552010"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4798" y="12904628"/>
            <a:ext cx="267702" cy="24622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lvl1pPr>
              <a:defRPr b="0" i="0">
                <a:latin typeface="IBM Plex Sans Light" panose="020B0403050203000203" pitchFamily="34" charset="0"/>
              </a:defRPr>
            </a:lvl1p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5" name="Text Placeholder 6">
            <a:extLst>
              <a:ext uri="{FF2B5EF4-FFF2-40B4-BE49-F238E27FC236}">
                <a16:creationId xmlns:a16="http://schemas.microsoft.com/office/drawing/2014/main" id="{4D171C2C-D5EE-B66A-FC5F-45245937D132}"/>
              </a:ext>
            </a:extLst>
          </p:cNvPr>
          <p:cNvSpPr>
            <a:spLocks noGrp="1"/>
          </p:cNvSpPr>
          <p:nvPr>
            <p:ph type="body" sz="quarter" idx="19"/>
          </p:nvPr>
        </p:nvSpPr>
        <p:spPr>
          <a:xfrm>
            <a:off x="563069"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17123"/>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lvl1pPr>
              <a:defRPr b="0" i="0">
                <a:latin typeface="IBM Plex Sans Light" panose="020B0403050203000203" pitchFamily="34" charset="0"/>
              </a:defRPr>
            </a:lvl1pPr>
          </a:lstStyle>
          <a:p>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18874"/>
            <a:ext cx="247332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Picture Placeholder 7">
            <a:extLst>
              <a:ext uri="{FF2B5EF4-FFF2-40B4-BE49-F238E27FC236}">
                <a16:creationId xmlns:a16="http://schemas.microsoft.com/office/drawing/2014/main" id="{2BD9F85F-FC85-6E91-ADD3-38F0F5BEE2E9}"/>
              </a:ext>
            </a:extLst>
          </p:cNvPr>
          <p:cNvSpPr>
            <a:spLocks noGrp="1"/>
          </p:cNvSpPr>
          <p:nvPr>
            <p:ph type="pic" sz="quarter" idx="31" hasCustomPrompt="1"/>
          </p:nvPr>
        </p:nvSpPr>
        <p:spPr>
          <a:xfrm>
            <a:off x="12764898" y="6117123"/>
            <a:ext cx="2328218"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3" name="Picture Placeholder 7">
            <a:extLst>
              <a:ext uri="{FF2B5EF4-FFF2-40B4-BE49-F238E27FC236}">
                <a16:creationId xmlns:a16="http://schemas.microsoft.com/office/drawing/2014/main" id="{8FF7CC5C-A250-D817-B1E6-EBD584F08B1B}"/>
              </a:ext>
            </a:extLst>
          </p:cNvPr>
          <p:cNvSpPr>
            <a:spLocks noGrp="1"/>
          </p:cNvSpPr>
          <p:nvPr>
            <p:ph type="pic" sz="quarter" idx="32" hasCustomPrompt="1"/>
          </p:nvPr>
        </p:nvSpPr>
        <p:spPr>
          <a:xfrm>
            <a:off x="12764898" y="9525000"/>
            <a:ext cx="2328218"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4" name="Picture Placeholder 7">
            <a:extLst>
              <a:ext uri="{FF2B5EF4-FFF2-40B4-BE49-F238E27FC236}">
                <a16:creationId xmlns:a16="http://schemas.microsoft.com/office/drawing/2014/main" id="{9416EBE0-0E9C-366F-583C-0BE751DA2B30}"/>
              </a:ext>
            </a:extLst>
          </p:cNvPr>
          <p:cNvSpPr>
            <a:spLocks noGrp="1"/>
          </p:cNvSpPr>
          <p:nvPr>
            <p:ph type="pic" sz="quarter" idx="33" hasCustomPrompt="1"/>
          </p:nvPr>
        </p:nvSpPr>
        <p:spPr>
          <a:xfrm>
            <a:off x="12764898" y="2646074"/>
            <a:ext cx="2328218"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18" name="Text Placeholder 6">
            <a:extLst>
              <a:ext uri="{FF2B5EF4-FFF2-40B4-BE49-F238E27FC236}">
                <a16:creationId xmlns:a16="http://schemas.microsoft.com/office/drawing/2014/main" id="{64C60C05-9B2E-E5AA-E325-3B56BC1B4589}"/>
              </a:ext>
            </a:extLst>
          </p:cNvPr>
          <p:cNvSpPr>
            <a:spLocks noGrp="1"/>
          </p:cNvSpPr>
          <p:nvPr>
            <p:ph type="body" sz="quarter" idx="37"/>
          </p:nvPr>
        </p:nvSpPr>
        <p:spPr>
          <a:xfrm>
            <a:off x="3349623" y="2618874"/>
            <a:ext cx="5756496" cy="252462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E5379598-B132-493E-3A4A-13641BF453F4}"/>
              </a:ext>
            </a:extLst>
          </p:cNvPr>
          <p:cNvSpPr>
            <a:spLocks noGrp="1"/>
          </p:cNvSpPr>
          <p:nvPr>
            <p:ph type="body" sz="quarter" idx="38"/>
          </p:nvPr>
        </p:nvSpPr>
        <p:spPr>
          <a:xfrm>
            <a:off x="3349623" y="6117123"/>
            <a:ext cx="5756496"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D387A7EC-6D77-1F31-248D-AF22142944DA}"/>
              </a:ext>
            </a:extLst>
          </p:cNvPr>
          <p:cNvSpPr>
            <a:spLocks noGrp="1"/>
          </p:cNvSpPr>
          <p:nvPr>
            <p:ph type="body" sz="quarter" idx="39"/>
          </p:nvPr>
        </p:nvSpPr>
        <p:spPr>
          <a:xfrm>
            <a:off x="3349623" y="9525000"/>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2" name="Picture Placeholder 7">
            <a:extLst>
              <a:ext uri="{FF2B5EF4-FFF2-40B4-BE49-F238E27FC236}">
                <a16:creationId xmlns:a16="http://schemas.microsoft.com/office/drawing/2014/main" id="{79C6738A-ED82-E7BB-C9BF-8057E77ED4B9}"/>
              </a:ext>
            </a:extLst>
          </p:cNvPr>
          <p:cNvSpPr>
            <a:spLocks noGrp="1"/>
          </p:cNvSpPr>
          <p:nvPr>
            <p:ph type="pic" sz="quarter" idx="40" hasCustomPrompt="1"/>
          </p:nvPr>
        </p:nvSpPr>
        <p:spPr>
          <a:xfrm>
            <a:off x="12756886" y="6144323"/>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3" name="Picture Placeholder 7">
            <a:extLst>
              <a:ext uri="{FF2B5EF4-FFF2-40B4-BE49-F238E27FC236}">
                <a16:creationId xmlns:a16="http://schemas.microsoft.com/office/drawing/2014/main" id="{24967257-4251-A48B-9DE6-F07EC4EC0362}"/>
              </a:ext>
            </a:extLst>
          </p:cNvPr>
          <p:cNvSpPr>
            <a:spLocks noGrp="1"/>
          </p:cNvSpPr>
          <p:nvPr>
            <p:ph type="pic" sz="quarter" idx="41" hasCustomPrompt="1"/>
          </p:nvPr>
        </p:nvSpPr>
        <p:spPr>
          <a:xfrm>
            <a:off x="12756886" y="95522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4" name="Picture Placeholder 7">
            <a:extLst>
              <a:ext uri="{FF2B5EF4-FFF2-40B4-BE49-F238E27FC236}">
                <a16:creationId xmlns:a16="http://schemas.microsoft.com/office/drawing/2014/main" id="{4A6B1635-0D2E-93F5-D353-C9B1B58E7780}"/>
              </a:ext>
            </a:extLst>
          </p:cNvPr>
          <p:cNvSpPr>
            <a:spLocks noGrp="1"/>
          </p:cNvSpPr>
          <p:nvPr>
            <p:ph type="pic" sz="quarter" idx="42" hasCustomPrompt="1"/>
          </p:nvPr>
        </p:nvSpPr>
        <p:spPr>
          <a:xfrm>
            <a:off x="12756886" y="2646074"/>
            <a:ext cx="247332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4" name="Picture Placeholder 7">
            <a:extLst>
              <a:ext uri="{FF2B5EF4-FFF2-40B4-BE49-F238E27FC236}">
                <a16:creationId xmlns:a16="http://schemas.microsoft.com/office/drawing/2014/main" id="{0541A3D3-1296-6D28-80F6-210E0C86167C}"/>
              </a:ext>
            </a:extLst>
          </p:cNvPr>
          <p:cNvSpPr>
            <a:spLocks noGrp="1"/>
          </p:cNvSpPr>
          <p:nvPr>
            <p:ph type="pic" sz="quarter" idx="46" hasCustomPrompt="1"/>
          </p:nvPr>
        </p:nvSpPr>
        <p:spPr>
          <a:xfrm>
            <a:off x="12756886" y="6165249"/>
            <a:ext cx="229107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5" name="Picture Placeholder 7">
            <a:extLst>
              <a:ext uri="{FF2B5EF4-FFF2-40B4-BE49-F238E27FC236}">
                <a16:creationId xmlns:a16="http://schemas.microsoft.com/office/drawing/2014/main" id="{EE31C9DF-6A33-F9E3-7394-0B59091621E3}"/>
              </a:ext>
            </a:extLst>
          </p:cNvPr>
          <p:cNvSpPr>
            <a:spLocks noGrp="1"/>
          </p:cNvSpPr>
          <p:nvPr>
            <p:ph type="pic" sz="quarter" idx="47" hasCustomPrompt="1"/>
          </p:nvPr>
        </p:nvSpPr>
        <p:spPr>
          <a:xfrm>
            <a:off x="12756886" y="9573126"/>
            <a:ext cx="229107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6" name="Picture Placeholder 7">
            <a:extLst>
              <a:ext uri="{FF2B5EF4-FFF2-40B4-BE49-F238E27FC236}">
                <a16:creationId xmlns:a16="http://schemas.microsoft.com/office/drawing/2014/main" id="{2CAAA857-D33B-2769-F70D-96215C29A417}"/>
              </a:ext>
            </a:extLst>
          </p:cNvPr>
          <p:cNvSpPr>
            <a:spLocks noGrp="1"/>
          </p:cNvSpPr>
          <p:nvPr>
            <p:ph type="pic" sz="quarter" idx="48" hasCustomPrompt="1"/>
          </p:nvPr>
        </p:nvSpPr>
        <p:spPr>
          <a:xfrm>
            <a:off x="12756886" y="2667000"/>
            <a:ext cx="229107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7" name="Text Placeholder 6">
            <a:extLst>
              <a:ext uri="{FF2B5EF4-FFF2-40B4-BE49-F238E27FC236}">
                <a16:creationId xmlns:a16="http://schemas.microsoft.com/office/drawing/2014/main" id="{3412D36A-B5BE-A294-20DF-30B55A06C5A9}"/>
              </a:ext>
            </a:extLst>
          </p:cNvPr>
          <p:cNvSpPr>
            <a:spLocks noGrp="1"/>
          </p:cNvSpPr>
          <p:nvPr>
            <p:ph type="body" sz="quarter" idx="49"/>
          </p:nvPr>
        </p:nvSpPr>
        <p:spPr>
          <a:xfrm>
            <a:off x="15530437" y="2667000"/>
            <a:ext cx="5843620" cy="252462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8" name="Text Placeholder 6">
            <a:extLst>
              <a:ext uri="{FF2B5EF4-FFF2-40B4-BE49-F238E27FC236}">
                <a16:creationId xmlns:a16="http://schemas.microsoft.com/office/drawing/2014/main" id="{ED900610-36FC-D7DA-7651-CC7E3D3200DB}"/>
              </a:ext>
            </a:extLst>
          </p:cNvPr>
          <p:cNvSpPr>
            <a:spLocks noGrp="1"/>
          </p:cNvSpPr>
          <p:nvPr>
            <p:ph type="body" sz="quarter" idx="50"/>
          </p:nvPr>
        </p:nvSpPr>
        <p:spPr>
          <a:xfrm>
            <a:off x="15530437" y="6165249"/>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9" name="Text Placeholder 6">
            <a:extLst>
              <a:ext uri="{FF2B5EF4-FFF2-40B4-BE49-F238E27FC236}">
                <a16:creationId xmlns:a16="http://schemas.microsoft.com/office/drawing/2014/main" id="{BFEAE0F0-F94C-F405-C850-B3545368F695}"/>
              </a:ext>
            </a:extLst>
          </p:cNvPr>
          <p:cNvSpPr>
            <a:spLocks noGrp="1"/>
          </p:cNvSpPr>
          <p:nvPr>
            <p:ph type="body" sz="quarter" idx="51"/>
          </p:nvPr>
        </p:nvSpPr>
        <p:spPr>
          <a:xfrm>
            <a:off x="15530437" y="9573126"/>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45735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a:prstGeom prst="rect">
            <a:avLst/>
          </a:prstGeom>
        </p:spPr>
        <p:txBody>
          <a:bodyPr anchor="ctr"/>
          <a:lstStyle>
            <a:lvl1pPr algn="ctr">
              <a:defRPr b="0" i="0">
                <a:solidFill>
                  <a:schemeClr val="tx1"/>
                </a:solidFill>
                <a:latin typeface="IBM Plex Sans Light" panose="020B0403050203000203" pitchFamily="34" charset="0"/>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5200"/>
            <a:ext cx="4956175" cy="2859087"/>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lvl1pPr>
              <a:defRPr b="0" i="0">
                <a:latin typeface="IBM Plex Sans Light" panose="020B0403050203000203" pitchFamily="34" charset="0"/>
              </a:defRPr>
            </a:lvl1pPr>
          </a:lstStyle>
          <a:p>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704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5200"/>
            <a:ext cx="4956175" cy="2859087"/>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lvl1pPr>
              <a:defRPr b="0" i="0">
                <a:latin typeface="IBM Plex Sans Light" panose="020B0403050203000203" pitchFamily="34" charset="0"/>
              </a:defRPr>
            </a:lvl1pPr>
          </a:lstStyle>
          <a:p>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74946774"/>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09999613"/>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endParaRPr lang="en-CA" dirty="0"/>
          </a:p>
          <a:p>
            <a:pPr lvl="2"/>
            <a:r>
              <a:rPr lang="en-CA" dirty="0"/>
              <a:t>Body Level Three</a:t>
            </a:r>
          </a:p>
          <a:p>
            <a:pPr lvl="3"/>
            <a:r>
              <a:rPr lang="en-CA"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53"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40" r:id="rId43"/>
    <p:sldLayoutId id="2147483943" r:id="rId44"/>
    <p:sldLayoutId id="2147483960" r:id="rId45"/>
    <p:sldLayoutId id="2147483941" r:id="rId46"/>
    <p:sldLayoutId id="2147484023" r:id="rId47"/>
    <p:sldLayoutId id="2147484025" r:id="rId48"/>
  </p:sldLayoutIdLst>
  <p:transition spd="med"/>
  <p:hf sldNum="0" hdr="0" ftr="0" dt="0"/>
  <p:txStyles>
    <p:title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IBM Plex Sans Light" panose="020B0403050203000203" pitchFamily="34" charset="0"/>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userDrawn="1">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44.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8" Type="http://schemas.openxmlformats.org/officeDocument/2006/relationships/hyperlink" Target="https://www.ibm.com/downloads/cas/LV7Z3BE8" TargetMode="External"/><Relationship Id="rId3" Type="http://schemas.openxmlformats.org/officeDocument/2006/relationships/image" Target="../media/image32.png"/><Relationship Id="rId7" Type="http://schemas.openxmlformats.org/officeDocument/2006/relationships/hyperlink" Target="https://www.ibm.com/blogs/journey-to-ai/2021/07/citi-transforms-critical-internal-audit-with-machine-learning-nlp-and-ai/" TargetMode="External"/><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hyperlink" Target="https://www.ibm.com/cloud/blog/how-aviva-modernizes-operational-risk-management-for-a-more-engaging-user-experience" TargetMode="External"/><Relationship Id="rId5" Type="http://schemas.openxmlformats.org/officeDocument/2006/relationships/image" Target="../media/image34.png"/><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4232-951E-A8DA-04BC-A22475AF3ECC}"/>
              </a:ext>
            </a:extLst>
          </p:cNvPr>
          <p:cNvSpPr>
            <a:spLocks noGrp="1"/>
          </p:cNvSpPr>
          <p:nvPr>
            <p:ph type="title"/>
          </p:nvPr>
        </p:nvSpPr>
        <p:spPr>
          <a:xfrm>
            <a:off x="576072" y="384048"/>
            <a:ext cx="7872983" cy="5273802"/>
          </a:xfrm>
        </p:spPr>
        <p:txBody>
          <a:bodyPr/>
          <a:lstStyle/>
          <a:p>
            <a:pPr algn="l"/>
            <a:r>
              <a:rPr lang="en-US" dirty="0"/>
              <a:t>IBM OpenPages </a:t>
            </a:r>
            <a:br>
              <a:rPr lang="en-US" dirty="0"/>
            </a:br>
            <a:br>
              <a:rPr lang="en-US" dirty="0"/>
            </a:br>
            <a:r>
              <a:rPr lang="en-US" sz="4400" kern="0" dirty="0">
                <a:solidFill>
                  <a:srgbClr val="161616"/>
                </a:solidFill>
                <a:cs typeface="Arial"/>
              </a:rPr>
              <a:t>Achieve business objectives </a:t>
            </a:r>
            <a:br>
              <a:rPr lang="en-US" sz="4400" kern="0" dirty="0">
                <a:solidFill>
                  <a:srgbClr val="161616"/>
                </a:solidFill>
                <a:cs typeface="Arial"/>
              </a:rPr>
            </a:br>
            <a:r>
              <a:rPr lang="en-US" sz="4400" kern="0" dirty="0">
                <a:solidFill>
                  <a:srgbClr val="161616"/>
                </a:solidFill>
                <a:cs typeface="Arial"/>
              </a:rPr>
              <a:t>in a world of dynamic risk</a:t>
            </a:r>
            <a:br>
              <a:rPr lang="en-US" sz="4400" kern="0" dirty="0">
                <a:solidFill>
                  <a:srgbClr val="161616"/>
                </a:solidFill>
                <a:cs typeface="Arial"/>
              </a:rPr>
            </a:br>
            <a:br>
              <a:rPr lang="en-US" sz="4400" kern="0" dirty="0">
                <a:solidFill>
                  <a:srgbClr val="161616"/>
                </a:solidFill>
              </a:rPr>
            </a:br>
            <a:br>
              <a:rPr lang="en-US" sz="3600" dirty="0">
                <a:solidFill>
                  <a:schemeClr val="tx1"/>
                </a:solidFill>
              </a:rPr>
            </a:br>
            <a:br>
              <a:rPr lang="en-US" sz="3600" dirty="0">
                <a:solidFill>
                  <a:schemeClr val="tx1"/>
                </a:solidFill>
              </a:rPr>
            </a:br>
            <a:br>
              <a:rPr lang="en-US" sz="3600" dirty="0">
                <a:solidFill>
                  <a:schemeClr val="tx1"/>
                </a:solidFill>
              </a:rPr>
            </a:br>
            <a:br>
              <a:rPr lang="en-US" sz="3600" dirty="0">
                <a:solidFill>
                  <a:schemeClr val="tx1"/>
                </a:solidFill>
              </a:rPr>
            </a:br>
            <a:br>
              <a:rPr lang="en-US" sz="3600" dirty="0">
                <a:solidFill>
                  <a:schemeClr val="tx1"/>
                </a:solidFill>
              </a:rPr>
            </a:br>
            <a:br>
              <a:rPr lang="en-US" sz="2800" dirty="0"/>
            </a:br>
            <a:br>
              <a:rPr lang="en-US" sz="3600" dirty="0">
                <a:solidFill>
                  <a:schemeClr val="tx1"/>
                </a:solidFill>
              </a:rPr>
            </a:br>
            <a:endParaRPr lang="en-US" sz="3600" dirty="0">
              <a:solidFill>
                <a:schemeClr val="tx1"/>
              </a:solidFill>
            </a:endParaRPr>
          </a:p>
        </p:txBody>
      </p:sp>
      <p:sp>
        <p:nvSpPr>
          <p:cNvPr id="7" name="TextBox 6">
            <a:extLst>
              <a:ext uri="{FF2B5EF4-FFF2-40B4-BE49-F238E27FC236}">
                <a16:creationId xmlns:a16="http://schemas.microsoft.com/office/drawing/2014/main" id="{EEC89BA7-8ED5-5450-F9B4-82B0F1D0347E}"/>
              </a:ext>
            </a:extLst>
          </p:cNvPr>
          <p:cNvSpPr txBox="1"/>
          <p:nvPr/>
        </p:nvSpPr>
        <p:spPr>
          <a:xfrm>
            <a:off x="27717750" y="711517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buSzPct val="100000"/>
            </a:pPr>
            <a:endParaRPr lang="en-US" sz="2400" dirty="0">
              <a:cs typeface="Arial" panose="020B0604020202020204" pitchFamily="34" charset="0"/>
            </a:endParaRPr>
          </a:p>
        </p:txBody>
      </p:sp>
      <p:sp>
        <p:nvSpPr>
          <p:cNvPr id="14" name="Rectangle 13">
            <a:extLst>
              <a:ext uri="{FF2B5EF4-FFF2-40B4-BE49-F238E27FC236}">
                <a16:creationId xmlns:a16="http://schemas.microsoft.com/office/drawing/2014/main" id="{1C832153-E821-8213-851E-80E4278D3695}"/>
              </a:ext>
            </a:extLst>
          </p:cNvPr>
          <p:cNvSpPr/>
          <p:nvPr/>
        </p:nvSpPr>
        <p:spPr bwMode="auto">
          <a:xfrm>
            <a:off x="12193587" y="1787"/>
            <a:ext cx="12193588" cy="13714213"/>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defTabSz="914411" fontAlgn="base">
              <a:spcBef>
                <a:spcPct val="0"/>
              </a:spcBef>
              <a:spcAft>
                <a:spcPct val="0"/>
              </a:spcAft>
            </a:pPr>
            <a:endParaRPr lang="en-US" sz="1400" dirty="0">
              <a:solidFill>
                <a:srgbClr val="FFFFFF"/>
              </a:solidFill>
              <a:latin typeface="IBM Plex Sans Light" panose="020B0403050203000203" pitchFamily="34" charset="0"/>
            </a:endParaRPr>
          </a:p>
        </p:txBody>
      </p:sp>
    </p:spTree>
    <p:extLst>
      <p:ext uri="{BB962C8B-B14F-4D97-AF65-F5344CB8AC3E}">
        <p14:creationId xmlns:p14="http://schemas.microsoft.com/office/powerpoint/2010/main" val="25170200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1782AD1-4217-9704-71D3-23A8D84DC8E0}"/>
              </a:ext>
            </a:extLst>
          </p:cNvPr>
          <p:cNvSpPr/>
          <p:nvPr/>
        </p:nvSpPr>
        <p:spPr bwMode="auto">
          <a:xfrm>
            <a:off x="17170" y="1787"/>
            <a:ext cx="6271141" cy="13714213"/>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defTabSz="914411" fontAlgn="base">
              <a:spcBef>
                <a:spcPct val="0"/>
              </a:spcBef>
              <a:spcAft>
                <a:spcPct val="0"/>
              </a:spcAft>
            </a:pPr>
            <a:endParaRPr lang="en-US" sz="1400" dirty="0">
              <a:solidFill>
                <a:srgbClr val="FFFFFF"/>
              </a:solidFill>
              <a:latin typeface="IBM Plex Sans Light" panose="020B0403050203000203" pitchFamily="34" charset="0"/>
            </a:endParaRPr>
          </a:p>
        </p:txBody>
      </p:sp>
      <p:sp>
        <p:nvSpPr>
          <p:cNvPr id="27" name="Title 4">
            <a:extLst>
              <a:ext uri="{FF2B5EF4-FFF2-40B4-BE49-F238E27FC236}">
                <a16:creationId xmlns:a16="http://schemas.microsoft.com/office/drawing/2014/main" id="{EC841C12-183C-2FE0-7090-54E90B6B5157}"/>
              </a:ext>
            </a:extLst>
          </p:cNvPr>
          <p:cNvSpPr>
            <a:spLocks noGrp="1"/>
          </p:cNvSpPr>
          <p:nvPr>
            <p:ph type="title"/>
          </p:nvPr>
        </p:nvSpPr>
        <p:spPr>
          <a:xfrm>
            <a:off x="576072" y="385200"/>
            <a:ext cx="5520719" cy="2859088"/>
          </a:xfrm>
        </p:spPr>
        <p:txBody>
          <a:bodyPr/>
          <a:lstStyle/>
          <a:p>
            <a:r>
              <a:rPr lang="en-US" dirty="0">
                <a:ea typeface="Arial" charset="0"/>
                <a:cs typeface="Arial" charset="0"/>
              </a:rPr>
              <a:t>Lack of GRC processes </a:t>
            </a:r>
            <a:br>
              <a:rPr lang="en-US" dirty="0">
                <a:ea typeface="Arial" charset="0"/>
                <a:cs typeface="Arial" charset="0"/>
              </a:rPr>
            </a:br>
            <a:r>
              <a:rPr lang="en-US" dirty="0">
                <a:ea typeface="Arial" charset="0"/>
                <a:cs typeface="Arial" charset="0"/>
              </a:rPr>
              <a:t>lead to </a:t>
            </a:r>
            <a:r>
              <a:rPr lang="en-US" dirty="0">
                <a:solidFill>
                  <a:schemeClr val="accent1"/>
                </a:solidFill>
                <a:ea typeface="Arial" charset="0"/>
                <a:cs typeface="Arial" charset="0"/>
              </a:rPr>
              <a:t>legal, financial, &amp; reputational </a:t>
            </a:r>
            <a:r>
              <a:rPr lang="en-US" dirty="0">
                <a:ea typeface="Arial" charset="0"/>
                <a:cs typeface="Arial" charset="0"/>
              </a:rPr>
              <a:t>damage</a:t>
            </a:r>
            <a:endParaRPr lang="en-US" dirty="0"/>
          </a:p>
        </p:txBody>
      </p:sp>
      <p:sp>
        <p:nvSpPr>
          <p:cNvPr id="28" name="TextBox 27">
            <a:extLst>
              <a:ext uri="{FF2B5EF4-FFF2-40B4-BE49-F238E27FC236}">
                <a16:creationId xmlns:a16="http://schemas.microsoft.com/office/drawing/2014/main" id="{06984EDC-E1BB-4126-5C97-7FED4E304BFE}"/>
              </a:ext>
            </a:extLst>
          </p:cNvPr>
          <p:cNvSpPr txBox="1"/>
          <p:nvPr/>
        </p:nvSpPr>
        <p:spPr>
          <a:xfrm>
            <a:off x="611364" y="7561661"/>
            <a:ext cx="5016995" cy="489621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2438430">
              <a:spcBef>
                <a:spcPts val="2933"/>
              </a:spcBef>
              <a:defRPr/>
            </a:pPr>
            <a:r>
              <a:rPr lang="en-US" sz="3200" i="1" kern="0" dirty="0">
                <a:latin typeface="IBM Plex Sans Light" panose="020B0403050203000203" pitchFamily="34" charset="0"/>
              </a:rPr>
              <a:t>“The potential costs </a:t>
            </a:r>
            <a:br>
              <a:rPr lang="en-US" sz="3200" i="1" kern="0" dirty="0">
                <a:latin typeface="IBM Plex Sans Light" panose="020B0403050203000203" pitchFamily="34" charset="0"/>
              </a:rPr>
            </a:br>
            <a:r>
              <a:rPr lang="en-US" sz="3200" i="1" kern="0" dirty="0">
                <a:latin typeface="IBM Plex Sans Light" panose="020B0403050203000203" pitchFamily="34" charset="0"/>
              </a:rPr>
              <a:t>of non-compliance </a:t>
            </a:r>
            <a:br>
              <a:rPr lang="en-US" sz="3200" i="1" kern="0" dirty="0">
                <a:latin typeface="IBM Plex Sans Light" panose="020B0403050203000203" pitchFamily="34" charset="0"/>
              </a:rPr>
            </a:br>
            <a:r>
              <a:rPr lang="en-US" sz="3200" i="1" kern="0" dirty="0">
                <a:latin typeface="IBM Plex Sans Light" panose="020B0403050203000203" pitchFamily="34" charset="0"/>
              </a:rPr>
              <a:t>are staggering. </a:t>
            </a:r>
            <a:r>
              <a:rPr lang="en-US" sz="3200" i="1" kern="0" dirty="0">
                <a:solidFill>
                  <a:srgbClr val="000000"/>
                </a:solidFill>
                <a:latin typeface="IBM Plex Sans Light" panose="020B0403050203000203" pitchFamily="34" charset="0"/>
              </a:rPr>
              <a:t>Organizations lose </a:t>
            </a:r>
            <a:br>
              <a:rPr lang="en-US" sz="3200" i="1" kern="0" dirty="0">
                <a:solidFill>
                  <a:srgbClr val="000000"/>
                </a:solidFill>
                <a:latin typeface="IBM Plex Sans Light" panose="020B0403050203000203" pitchFamily="34" charset="0"/>
              </a:rPr>
            </a:br>
            <a:r>
              <a:rPr lang="en-US" sz="3200" i="1" kern="0" dirty="0">
                <a:solidFill>
                  <a:srgbClr val="000000"/>
                </a:solidFill>
                <a:latin typeface="IBM Plex Sans Light" panose="020B0403050203000203" pitchFamily="34" charset="0"/>
              </a:rPr>
              <a:t>an average of </a:t>
            </a:r>
            <a:r>
              <a:rPr lang="en-US" sz="3200" i="1" kern="0" dirty="0">
                <a:solidFill>
                  <a:srgbClr val="0F62FE"/>
                </a:solidFill>
                <a:latin typeface="IBM Plex Sans Light" panose="020B0403050203000203" pitchFamily="34" charset="0"/>
              </a:rPr>
              <a:t>$5.87 Million</a:t>
            </a:r>
            <a:r>
              <a:rPr lang="en-US" sz="3200" i="1" kern="0" dirty="0">
                <a:solidFill>
                  <a:srgbClr val="000000"/>
                </a:solidFill>
                <a:latin typeface="IBM Plex Sans Light" panose="020B0403050203000203" pitchFamily="34" charset="0"/>
              </a:rPr>
              <a:t> </a:t>
            </a:r>
            <a:r>
              <a:rPr lang="en-US" sz="3200" i="1" kern="0" dirty="0">
                <a:solidFill>
                  <a:schemeClr val="accent1"/>
                </a:solidFill>
                <a:latin typeface="IBM Plex Sans Light" panose="020B0403050203000203" pitchFamily="34" charset="0"/>
              </a:rPr>
              <a:t>in revenue </a:t>
            </a:r>
            <a:br>
              <a:rPr lang="en-US" sz="3200" i="1" kern="0" dirty="0">
                <a:solidFill>
                  <a:schemeClr val="accent1"/>
                </a:solidFill>
                <a:latin typeface="IBM Plex Sans Light" panose="020B0403050203000203" pitchFamily="34" charset="0"/>
              </a:rPr>
            </a:br>
            <a:r>
              <a:rPr lang="en-US" sz="3200" i="1" kern="0" dirty="0">
                <a:solidFill>
                  <a:schemeClr val="accent1"/>
                </a:solidFill>
                <a:latin typeface="IBM Plex Sans Light" panose="020B0403050203000203" pitchFamily="34" charset="0"/>
              </a:rPr>
              <a:t>due to a single non-compliance event</a:t>
            </a:r>
            <a:r>
              <a:rPr lang="en-US" sz="3200" i="1" kern="0" dirty="0">
                <a:solidFill>
                  <a:srgbClr val="000000"/>
                </a:solidFill>
                <a:latin typeface="IBM Plex Sans Light" panose="020B0403050203000203" pitchFamily="34" charset="0"/>
              </a:rPr>
              <a:t>.”</a:t>
            </a:r>
          </a:p>
          <a:p>
            <a:pPr defTabSz="2438430">
              <a:spcBef>
                <a:spcPts val="2933"/>
              </a:spcBef>
              <a:defRPr/>
            </a:pPr>
            <a:r>
              <a:rPr lang="en-US" sz="3200" kern="0" dirty="0">
                <a:solidFill>
                  <a:srgbClr val="000000"/>
                </a:solidFill>
                <a:latin typeface="IBM Plex Sans Light" panose="020B0403050203000203" pitchFamily="34" charset="0"/>
              </a:rPr>
              <a:t>- </a:t>
            </a:r>
            <a:r>
              <a:rPr lang="en-US" sz="2667" kern="0" dirty="0" err="1">
                <a:solidFill>
                  <a:srgbClr val="000000"/>
                </a:solidFill>
                <a:latin typeface="IBM Plex Sans Light" panose="020B0403050203000203" pitchFamily="34" charset="0"/>
              </a:rPr>
              <a:t>Globalscape</a:t>
            </a:r>
            <a:r>
              <a:rPr lang="en-US" sz="2667" kern="0" dirty="0">
                <a:solidFill>
                  <a:srgbClr val="000000"/>
                </a:solidFill>
                <a:latin typeface="IBM Plex Sans Light" panose="020B0403050203000203" pitchFamily="34" charset="0"/>
              </a:rPr>
              <a:t> study</a:t>
            </a:r>
            <a:endParaRPr lang="en-US" sz="3200" kern="0" dirty="0">
              <a:solidFill>
                <a:srgbClr val="000000"/>
              </a:solidFill>
              <a:latin typeface="IBM Plex Sans Light" panose="020B0403050203000203" pitchFamily="34" charset="0"/>
            </a:endParaRPr>
          </a:p>
        </p:txBody>
      </p:sp>
      <p:pic>
        <p:nvPicPr>
          <p:cNvPr id="29" name="Picture 28">
            <a:extLst>
              <a:ext uri="{FF2B5EF4-FFF2-40B4-BE49-F238E27FC236}">
                <a16:creationId xmlns:a16="http://schemas.microsoft.com/office/drawing/2014/main" id="{37C9CE5A-1EF5-91FE-2E58-69B4C54A4DC5}"/>
              </a:ext>
            </a:extLst>
          </p:cNvPr>
          <p:cNvPicPr>
            <a:picLocks noChangeAspect="1"/>
          </p:cNvPicPr>
          <p:nvPr/>
        </p:nvPicPr>
        <p:blipFill rotWithShape="1">
          <a:blip r:embed="rId3">
            <a:alphaModFix amt="58000"/>
            <a:extLst>
              <a:ext uri="{BEBA8EAE-BF5A-486C-A8C5-ECC9F3942E4B}">
                <a14:imgProps xmlns:a14="http://schemas.microsoft.com/office/drawing/2010/main">
                  <a14:imgLayer r:embed="rId4">
                    <a14:imgEffect>
                      <a14:sharpenSoften amount="-54000"/>
                    </a14:imgEffect>
                  </a14:imgLayer>
                </a14:imgProps>
              </a:ext>
              <a:ext uri="{28A0092B-C50C-407E-A947-70E740481C1C}">
                <a14:useLocalDpi xmlns:a14="http://schemas.microsoft.com/office/drawing/2010/main"/>
              </a:ext>
            </a:extLst>
          </a:blip>
          <a:srcRect b="15330"/>
          <a:stretch/>
        </p:blipFill>
        <p:spPr>
          <a:xfrm>
            <a:off x="6490146" y="208030"/>
            <a:ext cx="17320957" cy="11508813"/>
          </a:xfrm>
          <a:prstGeom prst="rect">
            <a:avLst/>
          </a:prstGeom>
        </p:spPr>
      </p:pic>
      <p:pic>
        <p:nvPicPr>
          <p:cNvPr id="30" name="Picture 29">
            <a:extLst>
              <a:ext uri="{FF2B5EF4-FFF2-40B4-BE49-F238E27FC236}">
                <a16:creationId xmlns:a16="http://schemas.microsoft.com/office/drawing/2014/main" id="{25FBF0E6-A935-3FAA-353C-5A7E2903EB77}"/>
              </a:ext>
            </a:extLst>
          </p:cNvPr>
          <p:cNvPicPr>
            <a:picLocks noChangeAspect="1"/>
          </p:cNvPicPr>
          <p:nvPr/>
        </p:nvPicPr>
        <p:blipFill>
          <a:blip r:embed="rId5"/>
          <a:srcRect/>
          <a:stretch/>
        </p:blipFill>
        <p:spPr>
          <a:xfrm>
            <a:off x="6450722" y="770564"/>
            <a:ext cx="15201683" cy="2660296"/>
          </a:xfrm>
          <a:prstGeom prst="rect">
            <a:avLst/>
          </a:prstGeom>
          <a:ln>
            <a:solidFill>
              <a:schemeClr val="bg1">
                <a:lumMod val="65000"/>
              </a:schemeClr>
            </a:solidFill>
          </a:ln>
          <a:effectLst>
            <a:outerShdw blurRad="50800" dist="38100" dir="2700000" algn="tl" rotWithShape="0">
              <a:prstClr val="black">
                <a:alpha val="40000"/>
              </a:prstClr>
            </a:outerShdw>
          </a:effectLst>
        </p:spPr>
      </p:pic>
      <p:grpSp>
        <p:nvGrpSpPr>
          <p:cNvPr id="31" name="Group 30">
            <a:extLst>
              <a:ext uri="{FF2B5EF4-FFF2-40B4-BE49-F238E27FC236}">
                <a16:creationId xmlns:a16="http://schemas.microsoft.com/office/drawing/2014/main" id="{C7BBD9E6-5F06-7FC0-8B5A-8480BEEA5B02}"/>
              </a:ext>
            </a:extLst>
          </p:cNvPr>
          <p:cNvGrpSpPr/>
          <p:nvPr/>
        </p:nvGrpSpPr>
        <p:grpSpPr>
          <a:xfrm>
            <a:off x="9917891" y="3326280"/>
            <a:ext cx="13604816" cy="5218176"/>
            <a:chOff x="5353405" y="1601982"/>
            <a:chExt cx="3466391" cy="896858"/>
          </a:xfrm>
        </p:grpSpPr>
        <p:pic>
          <p:nvPicPr>
            <p:cNvPr id="32" name="Picture 31">
              <a:extLst>
                <a:ext uri="{FF2B5EF4-FFF2-40B4-BE49-F238E27FC236}">
                  <a16:creationId xmlns:a16="http://schemas.microsoft.com/office/drawing/2014/main" id="{3D177E9C-B00D-F16B-73D0-D421EA118CE0}"/>
                </a:ext>
              </a:extLst>
            </p:cNvPr>
            <p:cNvPicPr>
              <a:picLocks noChangeAspect="1"/>
            </p:cNvPicPr>
            <p:nvPr/>
          </p:nvPicPr>
          <p:blipFill rotWithShape="1">
            <a:blip r:embed="rId6"/>
            <a:srcRect t="2117" b="-1635"/>
            <a:stretch/>
          </p:blipFill>
          <p:spPr>
            <a:xfrm>
              <a:off x="5353405" y="1601982"/>
              <a:ext cx="3466391" cy="896858"/>
            </a:xfrm>
            <a:prstGeom prst="rect">
              <a:avLst/>
            </a:prstGeom>
            <a:ln>
              <a:solidFill>
                <a:schemeClr val="bg1">
                  <a:lumMod val="65000"/>
                </a:schemeClr>
              </a:solidFill>
            </a:ln>
            <a:effectLst>
              <a:outerShdw blurRad="50800" dist="50800" dir="5820000" algn="ctr" rotWithShape="0">
                <a:schemeClr val="tx1">
                  <a:alpha val="33870"/>
                </a:schemeClr>
              </a:outerShdw>
            </a:effectLst>
          </p:spPr>
        </p:pic>
        <p:sp>
          <p:nvSpPr>
            <p:cNvPr id="33" name="Rectangle 32">
              <a:extLst>
                <a:ext uri="{FF2B5EF4-FFF2-40B4-BE49-F238E27FC236}">
                  <a16:creationId xmlns:a16="http://schemas.microsoft.com/office/drawing/2014/main" id="{121F4CDE-F11A-35D2-3423-B5409B445533}"/>
                </a:ext>
              </a:extLst>
            </p:cNvPr>
            <p:cNvSpPr/>
            <p:nvPr/>
          </p:nvSpPr>
          <p:spPr bwMode="auto">
            <a:xfrm>
              <a:off x="8307294" y="1619910"/>
              <a:ext cx="466165" cy="136334"/>
            </a:xfrm>
            <a:prstGeom prst="rect">
              <a:avLst/>
            </a:prstGeom>
            <a:solidFill>
              <a:schemeClr val="bg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t" anchorCtr="0" compatLnSpc="1">
              <a:prstTxWarp prst="textNoShape">
                <a:avLst/>
              </a:prstTxWarp>
            </a:bodyPr>
            <a:lstStyle/>
            <a:p>
              <a:pPr defTabSz="2438430" fontAlgn="base">
                <a:spcBef>
                  <a:spcPct val="0"/>
                </a:spcBef>
                <a:spcAft>
                  <a:spcPct val="0"/>
                </a:spcAft>
              </a:pPr>
              <a:endParaRPr lang="en-US" sz="3733" dirty="0">
                <a:solidFill>
                  <a:schemeClr val="bg1"/>
                </a:solidFill>
                <a:latin typeface="IBM Plex Sans Light" panose="020B0403050203000203" pitchFamily="34" charset="0"/>
              </a:endParaRPr>
            </a:p>
          </p:txBody>
        </p:sp>
      </p:grpSp>
      <p:pic>
        <p:nvPicPr>
          <p:cNvPr id="35" name="Picture 34">
            <a:extLst>
              <a:ext uri="{FF2B5EF4-FFF2-40B4-BE49-F238E27FC236}">
                <a16:creationId xmlns:a16="http://schemas.microsoft.com/office/drawing/2014/main" id="{C8AEA889-528A-D093-26D5-D0915D39927C}"/>
              </a:ext>
            </a:extLst>
          </p:cNvPr>
          <p:cNvPicPr>
            <a:picLocks noChangeAspect="1"/>
          </p:cNvPicPr>
          <p:nvPr/>
        </p:nvPicPr>
        <p:blipFill>
          <a:blip r:embed="rId7"/>
          <a:srcRect/>
          <a:stretch/>
        </p:blipFill>
        <p:spPr>
          <a:xfrm>
            <a:off x="14962975" y="9518384"/>
            <a:ext cx="8332157" cy="2198459"/>
          </a:xfrm>
          <a:prstGeom prst="rect">
            <a:avLst/>
          </a:prstGeom>
          <a:ln>
            <a:solidFill>
              <a:schemeClr val="bg1">
                <a:lumMod val="65000"/>
              </a:schemeClr>
            </a:solidFill>
          </a:ln>
          <a:effectLst>
            <a:outerShdw blurRad="50800" dist="38100" dir="8100000" algn="tr" rotWithShape="0">
              <a:prstClr val="black">
                <a:alpha val="19892"/>
              </a:prstClr>
            </a:outerShdw>
          </a:effectLst>
        </p:spPr>
      </p:pic>
      <p:pic>
        <p:nvPicPr>
          <p:cNvPr id="36" name="Picture 35">
            <a:extLst>
              <a:ext uri="{FF2B5EF4-FFF2-40B4-BE49-F238E27FC236}">
                <a16:creationId xmlns:a16="http://schemas.microsoft.com/office/drawing/2014/main" id="{A8D59432-A8ED-6B45-615C-5710CEAEB84B}"/>
              </a:ext>
            </a:extLst>
          </p:cNvPr>
          <p:cNvPicPr>
            <a:picLocks noChangeAspect="1"/>
          </p:cNvPicPr>
          <p:nvPr/>
        </p:nvPicPr>
        <p:blipFill rotWithShape="1">
          <a:blip r:embed="rId8"/>
          <a:srcRect l="1727" r="1611"/>
          <a:stretch/>
        </p:blipFill>
        <p:spPr>
          <a:xfrm>
            <a:off x="6258722" y="8375649"/>
            <a:ext cx="9363101" cy="1228371"/>
          </a:xfrm>
          <a:prstGeom prst="rect">
            <a:avLst/>
          </a:prstGeom>
          <a:ln>
            <a:solidFill>
              <a:schemeClr val="bg1">
                <a:lumMod val="65000"/>
              </a:schemeClr>
            </a:solidFill>
          </a:ln>
          <a:effectLst>
            <a:outerShdw blurRad="161747" dist="50800" dir="5820000" algn="ctr" rotWithShape="0">
              <a:schemeClr val="tx1">
                <a:alpha val="19000"/>
              </a:schemeClr>
            </a:outerShdw>
          </a:effectLst>
        </p:spPr>
      </p:pic>
    </p:spTree>
    <p:extLst>
      <p:ext uri="{BB962C8B-B14F-4D97-AF65-F5344CB8AC3E}">
        <p14:creationId xmlns:p14="http://schemas.microsoft.com/office/powerpoint/2010/main" val="14947399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6D0C5-C466-7651-C803-A1C22A7FB195}"/>
              </a:ext>
            </a:extLst>
          </p:cNvPr>
          <p:cNvSpPr>
            <a:spLocks noGrp="1"/>
          </p:cNvSpPr>
          <p:nvPr>
            <p:ph type="title"/>
          </p:nvPr>
        </p:nvSpPr>
        <p:spPr/>
        <p:txBody>
          <a:bodyPr/>
          <a:lstStyle/>
          <a:p>
            <a:r>
              <a:rPr lang="en-ID" dirty="0">
                <a:solidFill>
                  <a:srgbClr val="0F62FE"/>
                </a:solidFill>
              </a:rPr>
              <a:t>Sanctions </a:t>
            </a:r>
            <a:r>
              <a:rPr lang="en-ID" dirty="0"/>
              <a:t>Under Indonesia’s Personal Data Protection (</a:t>
            </a:r>
            <a:r>
              <a:rPr lang="en-ID" dirty="0">
                <a:solidFill>
                  <a:srgbClr val="0F62FE"/>
                </a:solidFill>
              </a:rPr>
              <a:t>PDP</a:t>
            </a:r>
            <a:r>
              <a:rPr lang="en-ID" dirty="0"/>
              <a:t>) Law </a:t>
            </a:r>
            <a:endParaRPr lang="en-US" dirty="0"/>
          </a:p>
        </p:txBody>
      </p:sp>
      <p:cxnSp>
        <p:nvCxnSpPr>
          <p:cNvPr id="12" name="Straight Connector 11" descr="Horizontal row divider line">
            <a:extLst>
              <a:ext uri="{FF2B5EF4-FFF2-40B4-BE49-F238E27FC236}">
                <a16:creationId xmlns:a16="http://schemas.microsoft.com/office/drawing/2014/main" id="{2E3B6D9A-EB38-1BC7-138D-4F64A7CF8FE8}"/>
              </a:ext>
            </a:extLst>
          </p:cNvPr>
          <p:cNvCxnSpPr/>
          <p:nvPr/>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3">
            <a:extLst>
              <a:ext uri="{FF2B5EF4-FFF2-40B4-BE49-F238E27FC236}">
                <a16:creationId xmlns:a16="http://schemas.microsoft.com/office/drawing/2014/main" id="{75815F56-7056-E343-B273-FB00ED61C53F}"/>
              </a:ext>
            </a:extLst>
          </p:cNvPr>
          <p:cNvSpPr txBox="1">
            <a:spLocks/>
          </p:cNvSpPr>
          <p:nvPr/>
        </p:nvSpPr>
        <p:spPr>
          <a:xfrm>
            <a:off x="731365" y="6667501"/>
            <a:ext cx="4949825" cy="5344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r>
              <a:rPr lang="en-US" sz="2400" kern="0" dirty="0"/>
              <a:t>→</a:t>
            </a:r>
          </a:p>
        </p:txBody>
      </p:sp>
      <p:sp>
        <p:nvSpPr>
          <p:cNvPr id="5" name="Text Placeholder 4">
            <a:extLst>
              <a:ext uri="{FF2B5EF4-FFF2-40B4-BE49-F238E27FC236}">
                <a16:creationId xmlns:a16="http://schemas.microsoft.com/office/drawing/2014/main" id="{AF4D4D58-58A1-58F0-31E7-3F69652A10D4}"/>
              </a:ext>
            </a:extLst>
          </p:cNvPr>
          <p:cNvSpPr>
            <a:spLocks noGrp="1"/>
          </p:cNvSpPr>
          <p:nvPr>
            <p:ph type="body" sz="quarter" idx="12"/>
          </p:nvPr>
        </p:nvSpPr>
        <p:spPr/>
        <p:txBody>
          <a:bodyPr/>
          <a:lstStyle/>
          <a:p>
            <a:r>
              <a:rPr lang="en-US" sz="3200" dirty="0"/>
              <a:t>Administrative Sanctions</a:t>
            </a:r>
          </a:p>
          <a:p>
            <a:endParaRPr lang="en-US" sz="3200" dirty="0"/>
          </a:p>
          <a:p>
            <a:pPr lvl="1"/>
            <a:r>
              <a:rPr lang="en-ID" sz="3200" dirty="0"/>
              <a:t>up to </a:t>
            </a:r>
            <a:r>
              <a:rPr lang="en-ID" sz="3200" dirty="0">
                <a:solidFill>
                  <a:srgbClr val="0F62FE"/>
                </a:solidFill>
              </a:rPr>
              <a:t>2% of annual revenue</a:t>
            </a:r>
          </a:p>
          <a:p>
            <a:pPr marL="0" lvl="1" indent="0">
              <a:buNone/>
            </a:pPr>
            <a:endParaRPr lang="en-ID" sz="3200" dirty="0"/>
          </a:p>
          <a:p>
            <a:pPr lvl="1"/>
            <a:r>
              <a:rPr lang="en-ID" sz="3200" dirty="0"/>
              <a:t>Orders to delete personal data.</a:t>
            </a:r>
            <a:endParaRPr lang="en-US" sz="3200" dirty="0"/>
          </a:p>
          <a:p>
            <a:endParaRPr lang="en-US" sz="3200" dirty="0"/>
          </a:p>
        </p:txBody>
      </p:sp>
      <p:sp>
        <p:nvSpPr>
          <p:cNvPr id="6" name="Text Placeholder 5">
            <a:extLst>
              <a:ext uri="{FF2B5EF4-FFF2-40B4-BE49-F238E27FC236}">
                <a16:creationId xmlns:a16="http://schemas.microsoft.com/office/drawing/2014/main" id="{B463072F-EEBD-D8A9-3F15-23041C657C87}"/>
              </a:ext>
            </a:extLst>
          </p:cNvPr>
          <p:cNvSpPr>
            <a:spLocks noGrp="1"/>
          </p:cNvSpPr>
          <p:nvPr>
            <p:ph type="body" sz="quarter" idx="13"/>
          </p:nvPr>
        </p:nvSpPr>
        <p:spPr/>
        <p:txBody>
          <a:bodyPr/>
          <a:lstStyle/>
          <a:p>
            <a:r>
              <a:rPr lang="en-US" sz="3200" dirty="0"/>
              <a:t>Criminal Sanctions (Individual)</a:t>
            </a:r>
          </a:p>
          <a:p>
            <a:endParaRPr lang="en-US" sz="3200" dirty="0"/>
          </a:p>
          <a:p>
            <a:pPr lvl="1"/>
            <a:r>
              <a:rPr lang="en-ID" sz="3200" dirty="0"/>
              <a:t>Imprisonment — up to 6 years</a:t>
            </a:r>
          </a:p>
          <a:p>
            <a:pPr marL="0" lvl="1" indent="0">
              <a:buNone/>
            </a:pPr>
            <a:endParaRPr lang="en-ID" sz="3200" dirty="0"/>
          </a:p>
          <a:p>
            <a:pPr lvl="1"/>
            <a:r>
              <a:rPr lang="en-ID" sz="3200" dirty="0"/>
              <a:t>Fines — up to </a:t>
            </a:r>
            <a:r>
              <a:rPr lang="en-ID" sz="3200" dirty="0">
                <a:solidFill>
                  <a:srgbClr val="0F62FE"/>
                </a:solidFill>
              </a:rPr>
              <a:t>IDR 6 billion</a:t>
            </a:r>
            <a:endParaRPr lang="en-US" sz="3200" dirty="0">
              <a:solidFill>
                <a:srgbClr val="0F62FE"/>
              </a:solidFill>
            </a:endParaRPr>
          </a:p>
        </p:txBody>
      </p:sp>
      <p:sp>
        <p:nvSpPr>
          <p:cNvPr id="11" name="Text Placeholder 10">
            <a:extLst>
              <a:ext uri="{FF2B5EF4-FFF2-40B4-BE49-F238E27FC236}">
                <a16:creationId xmlns:a16="http://schemas.microsoft.com/office/drawing/2014/main" id="{DA287A25-9941-86CA-3271-4ECD9E774E57}"/>
              </a:ext>
            </a:extLst>
          </p:cNvPr>
          <p:cNvSpPr>
            <a:spLocks noGrp="1"/>
          </p:cNvSpPr>
          <p:nvPr>
            <p:ph type="body" sz="quarter" idx="14"/>
          </p:nvPr>
        </p:nvSpPr>
        <p:spPr>
          <a:xfrm>
            <a:off x="18859500" y="6673851"/>
            <a:ext cx="5250528" cy="5521324"/>
          </a:xfrm>
        </p:spPr>
        <p:txBody>
          <a:bodyPr/>
          <a:lstStyle/>
          <a:p>
            <a:r>
              <a:rPr lang="en-US" sz="3200" dirty="0"/>
              <a:t>Criminal Sanctions (Corporate)</a:t>
            </a:r>
          </a:p>
          <a:p>
            <a:endParaRPr lang="en-US" sz="3200" dirty="0"/>
          </a:p>
          <a:p>
            <a:pPr lvl="1"/>
            <a:r>
              <a:rPr lang="en-ID" sz="3200" dirty="0"/>
              <a:t>Corporate fines (in addition to individual liability)</a:t>
            </a:r>
          </a:p>
          <a:p>
            <a:pPr marL="0" lvl="1" indent="0">
              <a:buNone/>
            </a:pPr>
            <a:endParaRPr lang="en-ID" sz="3200" dirty="0"/>
          </a:p>
          <a:p>
            <a:pPr lvl="1"/>
            <a:r>
              <a:rPr lang="en-ID" sz="3200" dirty="0">
                <a:solidFill>
                  <a:srgbClr val="0F62FE"/>
                </a:solidFill>
              </a:rPr>
              <a:t>Asset freezes</a:t>
            </a:r>
          </a:p>
          <a:p>
            <a:pPr marL="0" lvl="1" indent="0">
              <a:buNone/>
            </a:pPr>
            <a:endParaRPr lang="en-ID" sz="3200" dirty="0"/>
          </a:p>
          <a:p>
            <a:pPr lvl="1"/>
            <a:r>
              <a:rPr lang="en-ID" sz="3200" dirty="0"/>
              <a:t>Revocation of business licenses</a:t>
            </a:r>
            <a:endParaRPr lang="en-US" sz="3200" dirty="0"/>
          </a:p>
        </p:txBody>
      </p:sp>
      <p:sp>
        <p:nvSpPr>
          <p:cNvPr id="9" name="Footer Placeholder 8">
            <a:extLst>
              <a:ext uri="{FF2B5EF4-FFF2-40B4-BE49-F238E27FC236}">
                <a16:creationId xmlns:a16="http://schemas.microsoft.com/office/drawing/2014/main" id="{3344CCF4-12E1-5A57-3C8E-91B323C17BC9}"/>
              </a:ext>
            </a:extLst>
          </p:cNvPr>
          <p:cNvSpPr>
            <a:spLocks noGrp="1"/>
          </p:cNvSpPr>
          <p:nvPr>
            <p:ph type="ftr" sz="quarter" idx="15"/>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endParaRPr lang="en-US" dirty="0"/>
          </a:p>
        </p:txBody>
      </p:sp>
      <p:grpSp>
        <p:nvGrpSpPr>
          <p:cNvPr id="10" name="Group 9">
            <a:extLst>
              <a:ext uri="{FF2B5EF4-FFF2-40B4-BE49-F238E27FC236}">
                <a16:creationId xmlns:a16="http://schemas.microsoft.com/office/drawing/2014/main" id="{AE592E98-3780-DBCF-C1CD-9EAC1ED732D7}"/>
              </a:ext>
            </a:extLst>
          </p:cNvPr>
          <p:cNvGrpSpPr/>
          <p:nvPr/>
        </p:nvGrpSpPr>
        <p:grpSpPr>
          <a:xfrm>
            <a:off x="6096000" y="6095999"/>
            <a:ext cx="12192000" cy="6099175"/>
            <a:chOff x="6096000" y="6096000"/>
            <a:chExt cx="12192000" cy="5893680"/>
          </a:xfrm>
        </p:grpSpPr>
        <p:cxnSp>
          <p:nvCxnSpPr>
            <p:cNvPr id="16" name="Straight Connector 15" descr="Vertical column divider line">
              <a:extLst>
                <a:ext uri="{FF2B5EF4-FFF2-40B4-BE49-F238E27FC236}">
                  <a16:creationId xmlns:a16="http://schemas.microsoft.com/office/drawing/2014/main" id="{40A3B998-D0BD-F084-CD3E-07108BFE77B9}"/>
                </a:ext>
              </a:extLst>
            </p:cNvPr>
            <p:cNvCxnSpPr>
              <a:cxnSpLocks/>
            </p:cNvCxnSpPr>
            <p:nvPr/>
          </p:nvCxnSpPr>
          <p:spPr bwMode="auto">
            <a:xfrm>
              <a:off x="6096000" y="6096000"/>
              <a:ext cx="0" cy="587044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descr="Vertical column divider line">
              <a:extLst>
                <a:ext uri="{FF2B5EF4-FFF2-40B4-BE49-F238E27FC236}">
                  <a16:creationId xmlns:a16="http://schemas.microsoft.com/office/drawing/2014/main" id="{43B2BC1E-6EAF-87D9-46A9-5B2214242820}"/>
                </a:ext>
              </a:extLst>
            </p:cNvPr>
            <p:cNvCxnSpPr>
              <a:cxnSpLocks/>
            </p:cNvCxnSpPr>
            <p:nvPr/>
          </p:nvCxnSpPr>
          <p:spPr bwMode="auto">
            <a:xfrm>
              <a:off x="12188952" y="6099048"/>
              <a:ext cx="0" cy="589063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line">
              <a:extLst>
                <a:ext uri="{FF2B5EF4-FFF2-40B4-BE49-F238E27FC236}">
                  <a16:creationId xmlns:a16="http://schemas.microsoft.com/office/drawing/2014/main" id="{F8535B9F-AF5A-93C7-9EF8-A63D6BEB25FB}"/>
                </a:ext>
              </a:extLst>
            </p:cNvPr>
            <p:cNvCxnSpPr>
              <a:cxnSpLocks/>
            </p:cNvCxnSpPr>
            <p:nvPr/>
          </p:nvCxnSpPr>
          <p:spPr bwMode="auto">
            <a:xfrm>
              <a:off x="18288000" y="6096000"/>
              <a:ext cx="0" cy="586832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20" name="Slide Number Placeholder 19">
            <a:extLst>
              <a:ext uri="{FF2B5EF4-FFF2-40B4-BE49-F238E27FC236}">
                <a16:creationId xmlns:a16="http://schemas.microsoft.com/office/drawing/2014/main" id="{5453C80D-9DE9-EABA-21B9-C91C29898BE8}"/>
              </a:ext>
            </a:extLst>
          </p:cNvPr>
          <p:cNvSpPr>
            <a:spLocks noGrp="1"/>
          </p:cNvSpPr>
          <p:nvPr>
            <p:ph type="sldNum" sz="quarter" idx="4"/>
          </p:nvPr>
        </p:nvSpPr>
        <p:spPr/>
        <p:txBody>
          <a:bodyPr/>
          <a:lstStyle/>
          <a:p>
            <a:fld id="{86CB4B4D-7CA3-9044-876B-883B54F8677D}" type="slidenum">
              <a:rPr lang="en-US" smtClean="0"/>
              <a:pPr/>
              <a:t>3</a:t>
            </a:fld>
            <a:endParaRPr lang="en-US" dirty="0"/>
          </a:p>
        </p:txBody>
      </p:sp>
    </p:spTree>
    <p:extLst>
      <p:ext uri="{BB962C8B-B14F-4D97-AF65-F5344CB8AC3E}">
        <p14:creationId xmlns:p14="http://schemas.microsoft.com/office/powerpoint/2010/main" val="63208387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Photo showing multistory building with balconies ">
            <a:extLst>
              <a:ext uri="{FF2B5EF4-FFF2-40B4-BE49-F238E27FC236}">
                <a16:creationId xmlns:a16="http://schemas.microsoft.com/office/drawing/2014/main" id="{6E209B61-489E-CE07-955D-D5DDCC99B6BB}"/>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t="4" b="4"/>
          <a:stretch/>
        </p:blipFill>
        <p:spPr>
          <a:xfrm>
            <a:off x="12763499" y="571499"/>
            <a:ext cx="11043132" cy="12578663"/>
          </a:xfrm>
        </p:spPr>
      </p:pic>
      <p:sp>
        <p:nvSpPr>
          <p:cNvPr id="11" name="Title 10">
            <a:extLst>
              <a:ext uri="{FF2B5EF4-FFF2-40B4-BE49-F238E27FC236}">
                <a16:creationId xmlns:a16="http://schemas.microsoft.com/office/drawing/2014/main" id="{EA14EC32-5EBA-F8A7-F54A-AF972463EC12}"/>
              </a:ext>
            </a:extLst>
          </p:cNvPr>
          <p:cNvSpPr>
            <a:spLocks noGrp="1"/>
          </p:cNvSpPr>
          <p:nvPr>
            <p:ph type="title"/>
          </p:nvPr>
        </p:nvSpPr>
        <p:spPr>
          <a:xfrm>
            <a:off x="580544" y="311150"/>
            <a:ext cx="10101072" cy="12839012"/>
          </a:xfrm>
        </p:spPr>
        <p:txBody>
          <a:bodyPr/>
          <a:lstStyle/>
          <a:p>
            <a:br>
              <a:rPr lang="en-ID" sz="8000" dirty="0"/>
            </a:br>
            <a:br>
              <a:rPr lang="en-ID" sz="8000" dirty="0"/>
            </a:br>
            <a:r>
              <a:rPr lang="en-ID" sz="8000" dirty="0"/>
              <a:t>More than following rules</a:t>
            </a:r>
            <a:br>
              <a:rPr lang="en-ID" sz="8000" dirty="0"/>
            </a:br>
            <a:br>
              <a:rPr lang="en-ID" sz="8000" dirty="0"/>
            </a:br>
            <a:br>
              <a:rPr lang="en-ID" sz="8000" dirty="0">
                <a:solidFill>
                  <a:srgbClr val="0F62FE"/>
                </a:solidFill>
              </a:rPr>
            </a:br>
            <a:r>
              <a:rPr lang="en-ID" sz="8000" dirty="0">
                <a:solidFill>
                  <a:srgbClr val="0F62FE"/>
                </a:solidFill>
              </a:rPr>
              <a:t>Safeguarding your identity, your data, your tomorrow</a:t>
            </a:r>
            <a:br>
              <a:rPr lang="en-US" sz="8800" dirty="0">
                <a:solidFill>
                  <a:srgbClr val="0F62FE"/>
                </a:solidFill>
              </a:rPr>
            </a:br>
            <a:endParaRPr lang="en-US" dirty="0">
              <a:solidFill>
                <a:srgbClr val="0F62FE"/>
              </a:solidFill>
            </a:endParaRPr>
          </a:p>
        </p:txBody>
      </p:sp>
    </p:spTree>
    <p:extLst>
      <p:ext uri="{BB962C8B-B14F-4D97-AF65-F5344CB8AC3E}">
        <p14:creationId xmlns:p14="http://schemas.microsoft.com/office/powerpoint/2010/main" val="21673708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A69B-1AF3-3C37-4B91-5AB25CB5F5C3}"/>
            </a:ext>
          </a:extLst>
        </p:cNvPr>
        <p:cNvGrpSpPr/>
        <p:nvPr/>
      </p:nvGrpSpPr>
      <p:grpSpPr>
        <a:xfrm>
          <a:off x="0" y="0"/>
          <a:ext cx="0" cy="0"/>
          <a:chOff x="0" y="0"/>
          <a:chExt cx="0" cy="0"/>
        </a:xfrm>
      </p:grpSpPr>
      <p:sp>
        <p:nvSpPr>
          <p:cNvPr id="9" name="Title 10">
            <a:extLst>
              <a:ext uri="{FF2B5EF4-FFF2-40B4-BE49-F238E27FC236}">
                <a16:creationId xmlns:a16="http://schemas.microsoft.com/office/drawing/2014/main" id="{E7F1ED8E-F98F-CA1F-EBCB-1CE5B15B1F61}"/>
              </a:ext>
            </a:extLst>
          </p:cNvPr>
          <p:cNvSpPr txBox="1">
            <a:spLocks/>
          </p:cNvSpPr>
          <p:nvPr/>
        </p:nvSpPr>
        <p:spPr>
          <a:xfrm>
            <a:off x="568227" y="2224799"/>
            <a:ext cx="10093325" cy="8741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altLang="zh-CN" sz="4400" dirty="0">
                <a:solidFill>
                  <a:schemeClr val="accent1"/>
                </a:solidFill>
              </a:rPr>
              <a:t>↓</a:t>
            </a:r>
            <a:endParaRPr lang="en-RO" sz="4400" kern="0">
              <a:solidFill>
                <a:schemeClr val="accent1"/>
              </a:solidFill>
            </a:endParaRPr>
          </a:p>
        </p:txBody>
      </p:sp>
      <p:cxnSp>
        <p:nvCxnSpPr>
          <p:cNvPr id="27" name="Straight Connector 26" descr="Horizontal row divider line">
            <a:extLst>
              <a:ext uri="{FF2B5EF4-FFF2-40B4-BE49-F238E27FC236}">
                <a16:creationId xmlns:a16="http://schemas.microsoft.com/office/drawing/2014/main" id="{9C45A5E1-3E66-6A03-7274-F834DACB23CA}"/>
              </a:ext>
            </a:extLst>
          </p:cNvPr>
          <p:cNvCxnSpPr>
            <a:cxnSpLocks/>
          </p:cNvCxnSpPr>
          <p:nvPr/>
        </p:nvCxnSpPr>
        <p:spPr bwMode="auto">
          <a:xfrm flipH="1">
            <a:off x="568325" y="3048000"/>
            <a:ext cx="1105058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31500B4-F48A-54B6-616E-CF5B391FC75E}"/>
              </a:ext>
            </a:extLst>
          </p:cNvPr>
          <p:cNvSpPr>
            <a:spLocks noGrp="1"/>
          </p:cNvSpPr>
          <p:nvPr>
            <p:ph type="body" sz="quarter" idx="11"/>
          </p:nvPr>
        </p:nvSpPr>
        <p:spPr>
          <a:xfrm>
            <a:off x="576072" y="3596407"/>
            <a:ext cx="5507227" cy="3822702"/>
          </a:xfrm>
        </p:spPr>
        <p:txBody>
          <a:bodyPr/>
          <a:lstStyle/>
          <a:p>
            <a:pPr>
              <a:lnSpc>
                <a:spcPct val="100000"/>
              </a:lnSpc>
            </a:pPr>
            <a:r>
              <a:rPr lang="en-GB" sz="4400" dirty="0">
                <a:solidFill>
                  <a:schemeClr val="accent1"/>
                </a:solidFill>
              </a:rPr>
              <a:t>01</a:t>
            </a:r>
          </a:p>
          <a:p>
            <a:pPr>
              <a:lnSpc>
                <a:spcPct val="100000"/>
              </a:lnSpc>
            </a:pPr>
            <a:endParaRPr lang="en-GB" sz="4400" dirty="0">
              <a:solidFill>
                <a:schemeClr val="accent1"/>
              </a:solidFill>
            </a:endParaRPr>
          </a:p>
          <a:p>
            <a:r>
              <a:rPr lang="en-ID" sz="3200" dirty="0"/>
              <a:t>Breach Notification &amp; Incident Response</a:t>
            </a:r>
            <a:endParaRPr lang="en-RO" sz="3200"/>
          </a:p>
        </p:txBody>
      </p:sp>
      <p:sp>
        <p:nvSpPr>
          <p:cNvPr id="31" name="Text Placeholder 18">
            <a:extLst>
              <a:ext uri="{FF2B5EF4-FFF2-40B4-BE49-F238E27FC236}">
                <a16:creationId xmlns:a16="http://schemas.microsoft.com/office/drawing/2014/main" id="{91C1FE8C-970E-30B3-F76E-8045240200FD}"/>
              </a:ext>
            </a:extLst>
          </p:cNvPr>
          <p:cNvSpPr txBox="1">
            <a:spLocks/>
          </p:cNvSpPr>
          <p:nvPr/>
        </p:nvSpPr>
        <p:spPr>
          <a:xfrm>
            <a:off x="6661150" y="3596407"/>
            <a:ext cx="4952999" cy="38017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56032" lvl="1" indent="-256032"/>
            <a:endParaRPr lang="en-ID" sz="3200" dirty="0">
              <a:latin typeface="+mn-lt"/>
            </a:endParaRPr>
          </a:p>
          <a:p>
            <a:pPr marL="0" lvl="1" indent="0">
              <a:buNone/>
            </a:pPr>
            <a:r>
              <a:rPr lang="en-ID" sz="3200" dirty="0"/>
              <a:t>Data breaches must be documented, registered and reported within 72 hours.</a:t>
            </a:r>
            <a:endParaRPr lang="en-GB" sz="3200" kern="0" dirty="0">
              <a:latin typeface="IBM Plex Sans" panose="020B0503050203000203" pitchFamily="34" charset="0"/>
            </a:endParaRPr>
          </a:p>
        </p:txBody>
      </p:sp>
      <p:cxnSp>
        <p:nvCxnSpPr>
          <p:cNvPr id="12" name="Straight Connector 11" descr="Horizontal row divider line">
            <a:extLst>
              <a:ext uri="{FF2B5EF4-FFF2-40B4-BE49-F238E27FC236}">
                <a16:creationId xmlns:a16="http://schemas.microsoft.com/office/drawing/2014/main" id="{55A1DBBE-69D7-F32C-4BB2-695FDBB44DDB}"/>
              </a:ext>
            </a:extLst>
          </p:cNvPr>
          <p:cNvCxnSpPr>
            <a:cxnSpLocks/>
          </p:cNvCxnSpPr>
          <p:nvPr/>
        </p:nvCxnSpPr>
        <p:spPr bwMode="auto">
          <a:xfrm flipH="1">
            <a:off x="568325" y="7622239"/>
            <a:ext cx="1105058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2" name="Text Placeholder 12">
            <a:extLst>
              <a:ext uri="{FF2B5EF4-FFF2-40B4-BE49-F238E27FC236}">
                <a16:creationId xmlns:a16="http://schemas.microsoft.com/office/drawing/2014/main" id="{0A3AB4F9-48FA-3509-61CD-BC749D1D23FE}"/>
              </a:ext>
            </a:extLst>
          </p:cNvPr>
          <p:cNvSpPr txBox="1">
            <a:spLocks/>
          </p:cNvSpPr>
          <p:nvPr/>
        </p:nvSpPr>
        <p:spPr>
          <a:xfrm>
            <a:off x="568325" y="7970068"/>
            <a:ext cx="4956175" cy="42250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nSpc>
                <a:spcPct val="100000"/>
              </a:lnSpc>
            </a:pPr>
            <a:r>
              <a:rPr lang="en-GB" sz="4400" kern="0" dirty="0">
                <a:solidFill>
                  <a:schemeClr val="accent1"/>
                </a:solidFill>
              </a:rPr>
              <a:t>02</a:t>
            </a:r>
          </a:p>
          <a:p>
            <a:pPr>
              <a:lnSpc>
                <a:spcPct val="100000"/>
              </a:lnSpc>
            </a:pPr>
            <a:endParaRPr lang="en-GB" sz="4400" kern="0" dirty="0">
              <a:solidFill>
                <a:schemeClr val="accent1"/>
              </a:solidFill>
            </a:endParaRPr>
          </a:p>
          <a:p>
            <a:r>
              <a:rPr lang="en-GB" sz="3200" kern="0" dirty="0"/>
              <a:t>R</a:t>
            </a:r>
            <a:r>
              <a:rPr lang="en-ID" sz="3200" dirty="0" err="1"/>
              <a:t>isks</a:t>
            </a:r>
            <a:r>
              <a:rPr lang="en-ID" sz="3200" dirty="0"/>
              <a:t> Management &amp; Privacy Impact Assessments (DPIA/PIA)</a:t>
            </a:r>
            <a:endParaRPr lang="en-GB" sz="3200" kern="0" dirty="0"/>
          </a:p>
        </p:txBody>
      </p:sp>
      <p:sp>
        <p:nvSpPr>
          <p:cNvPr id="32" name="Text Placeholder 18">
            <a:extLst>
              <a:ext uri="{FF2B5EF4-FFF2-40B4-BE49-F238E27FC236}">
                <a16:creationId xmlns:a16="http://schemas.microsoft.com/office/drawing/2014/main" id="{1306A86B-BB41-21B8-47C7-F9D8A72EB388}"/>
              </a:ext>
            </a:extLst>
          </p:cNvPr>
          <p:cNvSpPr txBox="1">
            <a:spLocks/>
          </p:cNvSpPr>
          <p:nvPr/>
        </p:nvSpPr>
        <p:spPr>
          <a:xfrm>
            <a:off x="6661150" y="7970068"/>
            <a:ext cx="4952999" cy="4225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lvl="1" indent="0">
              <a:buNone/>
            </a:pPr>
            <a:endParaRPr lang="en-ID" sz="3200" dirty="0"/>
          </a:p>
          <a:p>
            <a:pPr marL="0" lvl="1" indent="0">
              <a:buNone/>
            </a:pPr>
            <a:endParaRPr lang="en-ID" sz="3200" dirty="0"/>
          </a:p>
          <a:p>
            <a:pPr marL="0" lvl="1" indent="0">
              <a:buNone/>
            </a:pPr>
            <a:r>
              <a:rPr lang="en-ID" sz="3200" dirty="0"/>
              <a:t>Requires proactive risk assessment for high-risk processing.</a:t>
            </a:r>
            <a:endParaRPr lang="en-GB" sz="3200" kern="0" dirty="0">
              <a:latin typeface="IBM Plex Sans" panose="020B0503050203000203" pitchFamily="34" charset="0"/>
            </a:endParaRPr>
          </a:p>
        </p:txBody>
      </p:sp>
      <p:sp>
        <p:nvSpPr>
          <p:cNvPr id="2" name="Rectangle 1" descr="Vertical half slide background in blue 10">
            <a:extLst>
              <a:ext uri="{FF2B5EF4-FFF2-40B4-BE49-F238E27FC236}">
                <a16:creationId xmlns:a16="http://schemas.microsoft.com/office/drawing/2014/main" id="{93C97516-198F-0D04-3C9C-9070CBA25376}"/>
              </a:ext>
            </a:extLst>
          </p:cNvPr>
          <p:cNvSpPr/>
          <p:nvPr/>
        </p:nvSpPr>
        <p:spPr bwMode="auto">
          <a:xfrm>
            <a:off x="12192000" y="0"/>
            <a:ext cx="12195175"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a:ln>
                <a:noFill/>
              </a:ln>
              <a:solidFill>
                <a:schemeClr val="bg1"/>
              </a:solidFill>
              <a:effectLst/>
              <a:latin typeface="+mn-lt"/>
            </a:endParaRPr>
          </a:p>
        </p:txBody>
      </p:sp>
      <p:cxnSp>
        <p:nvCxnSpPr>
          <p:cNvPr id="8" name="Straight Connector 7" descr="Horizontal row divider line">
            <a:extLst>
              <a:ext uri="{FF2B5EF4-FFF2-40B4-BE49-F238E27FC236}">
                <a16:creationId xmlns:a16="http://schemas.microsoft.com/office/drawing/2014/main" id="{C4D545E7-DE4A-CB8C-AEEC-67318DFF94AD}"/>
              </a:ext>
            </a:extLst>
          </p:cNvPr>
          <p:cNvCxnSpPr>
            <a:cxnSpLocks/>
          </p:cNvCxnSpPr>
          <p:nvPr/>
        </p:nvCxnSpPr>
        <p:spPr bwMode="auto">
          <a:xfrm flipH="1">
            <a:off x="12763500" y="3048000"/>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Text Placeholder 18">
            <a:extLst>
              <a:ext uri="{FF2B5EF4-FFF2-40B4-BE49-F238E27FC236}">
                <a16:creationId xmlns:a16="http://schemas.microsoft.com/office/drawing/2014/main" id="{D3006169-D11D-89A8-3228-5E6C4EAECD23}"/>
              </a:ext>
            </a:extLst>
          </p:cNvPr>
          <p:cNvSpPr>
            <a:spLocks noGrp="1"/>
          </p:cNvSpPr>
          <p:nvPr>
            <p:ph type="body" sz="quarter" idx="12"/>
          </p:nvPr>
        </p:nvSpPr>
        <p:spPr>
          <a:xfrm>
            <a:off x="12763500" y="3596407"/>
            <a:ext cx="10096500" cy="3822702"/>
          </a:xfrm>
        </p:spPr>
        <p:txBody>
          <a:bodyPr/>
          <a:lstStyle/>
          <a:p>
            <a:pPr marL="0" lvl="1" indent="0">
              <a:buNone/>
            </a:pPr>
            <a:endParaRPr lang="en-ID" sz="3200" dirty="0"/>
          </a:p>
          <a:p>
            <a:pPr marL="0" lvl="1" indent="0">
              <a:buNone/>
            </a:pPr>
            <a:r>
              <a:rPr lang="en-ID" sz="3200" dirty="0"/>
              <a:t>Provides incident and issue management modules—you can </a:t>
            </a:r>
            <a:r>
              <a:rPr lang="en-ID" sz="3200" dirty="0">
                <a:solidFill>
                  <a:srgbClr val="0F62FE"/>
                </a:solidFill>
              </a:rPr>
              <a:t>register data breaches</a:t>
            </a:r>
            <a:r>
              <a:rPr lang="en-ID" sz="3200" dirty="0"/>
              <a:t>, track mitigation steps, </a:t>
            </a:r>
            <a:r>
              <a:rPr lang="en-ID" sz="3200" dirty="0">
                <a:solidFill>
                  <a:srgbClr val="0F62FE"/>
                </a:solidFill>
              </a:rPr>
              <a:t>escalate automatically</a:t>
            </a:r>
            <a:r>
              <a:rPr lang="en-ID" sz="3200" dirty="0"/>
              <a:t>, and generate compliance-ready </a:t>
            </a:r>
            <a:r>
              <a:rPr lang="en-ID" sz="3200" dirty="0">
                <a:solidFill>
                  <a:srgbClr val="0F62FE"/>
                </a:solidFill>
              </a:rPr>
              <a:t>breach reports to regulators</a:t>
            </a:r>
            <a:r>
              <a:rPr lang="en-ID" sz="3200" dirty="0"/>
              <a:t> and affected individuals.</a:t>
            </a:r>
            <a:endParaRPr lang="en-RO" sz="3200">
              <a:latin typeface="IBM Plex Sans" panose="020B0503050203000203" pitchFamily="34" charset="0"/>
            </a:endParaRPr>
          </a:p>
        </p:txBody>
      </p:sp>
      <p:cxnSp>
        <p:nvCxnSpPr>
          <p:cNvPr id="5" name="Straight Connector 4" descr="Horizontal row divider line">
            <a:extLst>
              <a:ext uri="{FF2B5EF4-FFF2-40B4-BE49-F238E27FC236}">
                <a16:creationId xmlns:a16="http://schemas.microsoft.com/office/drawing/2014/main" id="{F0FAE7AA-A6CC-127E-1605-CE06DC6E7374}"/>
              </a:ext>
            </a:extLst>
          </p:cNvPr>
          <p:cNvCxnSpPr>
            <a:cxnSpLocks/>
          </p:cNvCxnSpPr>
          <p:nvPr/>
        </p:nvCxnSpPr>
        <p:spPr bwMode="auto">
          <a:xfrm flipH="1">
            <a:off x="12763500" y="7622239"/>
            <a:ext cx="11049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0" name="Text Placeholder 18">
            <a:extLst>
              <a:ext uri="{FF2B5EF4-FFF2-40B4-BE49-F238E27FC236}">
                <a16:creationId xmlns:a16="http://schemas.microsoft.com/office/drawing/2014/main" id="{C2C0CB21-4894-907C-0857-B49C75B3B1FE}"/>
              </a:ext>
            </a:extLst>
          </p:cNvPr>
          <p:cNvSpPr txBox="1">
            <a:spLocks/>
          </p:cNvSpPr>
          <p:nvPr/>
        </p:nvSpPr>
        <p:spPr>
          <a:xfrm>
            <a:off x="12763500" y="7970068"/>
            <a:ext cx="10096500" cy="4225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lvl="1" indent="0">
              <a:buNone/>
            </a:pPr>
            <a:endParaRPr lang="en-ID" sz="3200" dirty="0"/>
          </a:p>
          <a:p>
            <a:pPr marL="0" lvl="1" indent="0">
              <a:buNone/>
            </a:pPr>
            <a:endParaRPr lang="en-ID" sz="3200" dirty="0"/>
          </a:p>
          <a:p>
            <a:pPr marL="0" lvl="1" indent="0">
              <a:buNone/>
            </a:pPr>
            <a:r>
              <a:rPr lang="en-ID" sz="3200" dirty="0"/>
              <a:t>Includes </a:t>
            </a:r>
            <a:r>
              <a:rPr lang="en-ID" sz="3200" b="1" dirty="0">
                <a:solidFill>
                  <a:srgbClr val="0F62FE"/>
                </a:solidFill>
              </a:rPr>
              <a:t>automated risk assessment workflows</a:t>
            </a:r>
            <a:r>
              <a:rPr lang="en-ID" sz="3200" dirty="0">
                <a:solidFill>
                  <a:srgbClr val="0F62FE"/>
                </a:solidFill>
              </a:rPr>
              <a:t>,</a:t>
            </a:r>
            <a:r>
              <a:rPr lang="en-ID" sz="3200" dirty="0">
                <a:solidFill>
                  <a:srgbClr val="0043CE"/>
                </a:solidFill>
              </a:rPr>
              <a:t> </a:t>
            </a:r>
            <a:r>
              <a:rPr lang="en-ID" sz="3200" dirty="0"/>
              <a:t>configurable </a:t>
            </a:r>
            <a:r>
              <a:rPr lang="en-ID" sz="3200" b="1" dirty="0">
                <a:solidFill>
                  <a:srgbClr val="0F62FE"/>
                </a:solidFill>
              </a:rPr>
              <a:t>privacy impact assessment</a:t>
            </a:r>
            <a:r>
              <a:rPr lang="en-ID" sz="3200" dirty="0">
                <a:solidFill>
                  <a:srgbClr val="0F62FE"/>
                </a:solidFill>
              </a:rPr>
              <a:t>, and </a:t>
            </a:r>
            <a:r>
              <a:rPr lang="en-ID" sz="3200" b="1" dirty="0">
                <a:solidFill>
                  <a:srgbClr val="0F62FE"/>
                </a:solidFill>
              </a:rPr>
              <a:t>AI-driven risk scoring</a:t>
            </a:r>
            <a:r>
              <a:rPr lang="en-ID" sz="3200" dirty="0">
                <a:solidFill>
                  <a:srgbClr val="0F62FE"/>
                </a:solidFill>
              </a:rPr>
              <a:t>. </a:t>
            </a:r>
            <a:r>
              <a:rPr lang="en-ID" sz="3200" dirty="0"/>
              <a:t>This supports early identification and mitigation of risks in personal-data processing.</a:t>
            </a:r>
            <a:endParaRPr lang="en-GB" sz="3200" kern="0" dirty="0">
              <a:latin typeface="IBM Plex Sans" panose="020B0503050203000203" pitchFamily="34" charset="0"/>
            </a:endParaRPr>
          </a:p>
        </p:txBody>
      </p:sp>
      <p:sp>
        <p:nvSpPr>
          <p:cNvPr id="10" name="Slide Number Placeholder 9">
            <a:extLst>
              <a:ext uri="{FF2B5EF4-FFF2-40B4-BE49-F238E27FC236}">
                <a16:creationId xmlns:a16="http://schemas.microsoft.com/office/drawing/2014/main" id="{CB537DAD-6560-D8AF-9642-A910958FE89F}"/>
              </a:ext>
            </a:extLst>
          </p:cNvPr>
          <p:cNvSpPr>
            <a:spLocks noGrp="1"/>
          </p:cNvSpPr>
          <p:nvPr>
            <p:ph type="sldNum" sz="quarter" idx="4"/>
          </p:nvPr>
        </p:nvSpPr>
        <p:spPr/>
        <p:txBody>
          <a:bodyPr/>
          <a:lstStyle/>
          <a:p>
            <a:fld id="{86CB4B4D-7CA3-9044-876B-883B54F8677D}" type="slidenum">
              <a:rPr lang="en-US" smtClean="0"/>
              <a:pPr/>
              <a:t>5</a:t>
            </a:fld>
            <a:endParaRPr lang="en-US" dirty="0"/>
          </a:p>
        </p:txBody>
      </p:sp>
      <p:sp>
        <p:nvSpPr>
          <p:cNvPr id="3" name="Title 10">
            <a:extLst>
              <a:ext uri="{FF2B5EF4-FFF2-40B4-BE49-F238E27FC236}">
                <a16:creationId xmlns:a16="http://schemas.microsoft.com/office/drawing/2014/main" id="{2FD67B2E-AD60-24A6-75FB-348F8C334741}"/>
              </a:ext>
            </a:extLst>
          </p:cNvPr>
          <p:cNvSpPr txBox="1">
            <a:spLocks/>
          </p:cNvSpPr>
          <p:nvPr/>
        </p:nvSpPr>
        <p:spPr>
          <a:xfrm>
            <a:off x="6672579" y="2224799"/>
            <a:ext cx="10093325" cy="8741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4400" kern="0" dirty="0">
                <a:solidFill>
                  <a:schemeClr val="accent1"/>
                </a:solidFill>
              </a:rPr>
              <a:t>Challenge by PDP</a:t>
            </a:r>
            <a:endParaRPr lang="en-RO" sz="4400" kern="0">
              <a:solidFill>
                <a:schemeClr val="accent1"/>
              </a:solidFill>
            </a:endParaRPr>
          </a:p>
        </p:txBody>
      </p:sp>
      <p:sp>
        <p:nvSpPr>
          <p:cNvPr id="14" name="Title 10">
            <a:extLst>
              <a:ext uri="{FF2B5EF4-FFF2-40B4-BE49-F238E27FC236}">
                <a16:creationId xmlns:a16="http://schemas.microsoft.com/office/drawing/2014/main" id="{C34B9026-C0C0-0C43-60AC-AC6C0EA1E208}"/>
              </a:ext>
            </a:extLst>
          </p:cNvPr>
          <p:cNvSpPr>
            <a:spLocks noGrp="1"/>
          </p:cNvSpPr>
          <p:nvPr>
            <p:ph type="title"/>
          </p:nvPr>
        </p:nvSpPr>
        <p:spPr>
          <a:xfrm>
            <a:off x="576072" y="576072"/>
            <a:ext cx="11038077" cy="1100326"/>
          </a:xfrm>
        </p:spPr>
        <p:txBody>
          <a:bodyPr/>
          <a:lstStyle/>
          <a:p>
            <a:r>
              <a:rPr lang="en-ID" sz="4400" dirty="0"/>
              <a:t>Challenges test us. </a:t>
            </a:r>
            <a:br>
              <a:rPr lang="en-ID" sz="4400" dirty="0"/>
            </a:br>
            <a:r>
              <a:rPr lang="en-ID" sz="4400" dirty="0">
                <a:solidFill>
                  <a:srgbClr val="0F62FE"/>
                </a:solidFill>
              </a:rPr>
              <a:t>Actions define us.</a:t>
            </a:r>
            <a:endParaRPr lang="en-US" sz="4400" dirty="0">
              <a:solidFill>
                <a:srgbClr val="0F62FE"/>
              </a:solidFill>
            </a:endParaRPr>
          </a:p>
        </p:txBody>
      </p:sp>
      <p:sp>
        <p:nvSpPr>
          <p:cNvPr id="15" name="Title 10">
            <a:extLst>
              <a:ext uri="{FF2B5EF4-FFF2-40B4-BE49-F238E27FC236}">
                <a16:creationId xmlns:a16="http://schemas.microsoft.com/office/drawing/2014/main" id="{9EC1D159-D05C-E35A-6F19-3F19A4FFAA1E}"/>
              </a:ext>
            </a:extLst>
          </p:cNvPr>
          <p:cNvSpPr txBox="1">
            <a:spLocks/>
          </p:cNvSpPr>
          <p:nvPr/>
        </p:nvSpPr>
        <p:spPr>
          <a:xfrm>
            <a:off x="12766675" y="2224799"/>
            <a:ext cx="10093325" cy="767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altLang="zh-CN" sz="4400" dirty="0">
                <a:solidFill>
                  <a:schemeClr val="accent1"/>
                </a:solidFill>
              </a:rPr>
              <a:t>IBM </a:t>
            </a:r>
            <a:r>
              <a:rPr lang="en-US" altLang="zh-CN" sz="4400" kern="1200" dirty="0">
                <a:solidFill>
                  <a:schemeClr val="accent1"/>
                </a:solidFill>
              </a:rPr>
              <a:t>actions</a:t>
            </a:r>
            <a:endParaRPr lang="en-RO" sz="4400" kern="0">
              <a:solidFill>
                <a:schemeClr val="accent1"/>
              </a:solidFill>
            </a:endParaRPr>
          </a:p>
        </p:txBody>
      </p:sp>
    </p:spTree>
    <p:extLst>
      <p:ext uri="{BB962C8B-B14F-4D97-AF65-F5344CB8AC3E}">
        <p14:creationId xmlns:p14="http://schemas.microsoft.com/office/powerpoint/2010/main" val="205620987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854A-43F1-0DF4-D58A-88DC690EEE14}"/>
              </a:ext>
            </a:extLst>
          </p:cNvPr>
          <p:cNvSpPr>
            <a:spLocks noGrp="1"/>
          </p:cNvSpPr>
          <p:nvPr>
            <p:ph type="title"/>
          </p:nvPr>
        </p:nvSpPr>
        <p:spPr>
          <a:xfrm>
            <a:off x="576072" y="385200"/>
            <a:ext cx="10030968" cy="1527048"/>
          </a:xfrm>
        </p:spPr>
        <p:txBody>
          <a:bodyPr/>
          <a:lstStyle/>
          <a:p>
            <a:r>
              <a:rPr lang="en-US" dirty="0">
                <a:solidFill>
                  <a:srgbClr val="0F62FE"/>
                </a:solidFill>
              </a:rPr>
              <a:t>AI </a:t>
            </a:r>
            <a:r>
              <a:rPr lang="en-US" dirty="0">
                <a:solidFill>
                  <a:schemeClr val="tx1"/>
                </a:solidFill>
              </a:rPr>
              <a:t>for risk </a:t>
            </a:r>
            <a:br>
              <a:rPr lang="en-US" dirty="0">
                <a:solidFill>
                  <a:schemeClr val="tx1"/>
                </a:solidFill>
              </a:rPr>
            </a:br>
            <a:r>
              <a:rPr lang="en-US" dirty="0">
                <a:solidFill>
                  <a:schemeClr val="tx1"/>
                </a:solidFill>
              </a:rPr>
              <a:t>and compliance </a:t>
            </a:r>
            <a:br>
              <a:rPr lang="en-US" dirty="0">
                <a:solidFill>
                  <a:schemeClr val="tx1"/>
                </a:solidFill>
              </a:rPr>
            </a:br>
            <a:r>
              <a:rPr lang="en-US" dirty="0">
                <a:solidFill>
                  <a:srgbClr val="000000"/>
                </a:solidFill>
              </a:rPr>
              <a:t>has arrived!</a:t>
            </a:r>
            <a:endParaRPr lang="en-US" dirty="0"/>
          </a:p>
        </p:txBody>
      </p:sp>
      <p:sp>
        <p:nvSpPr>
          <p:cNvPr id="8" name="Rectangle 7">
            <a:extLst>
              <a:ext uri="{FF2B5EF4-FFF2-40B4-BE49-F238E27FC236}">
                <a16:creationId xmlns:a16="http://schemas.microsoft.com/office/drawing/2014/main" id="{B05F79DA-ACB9-736D-839C-487F12C1A181}"/>
              </a:ext>
            </a:extLst>
          </p:cNvPr>
          <p:cNvSpPr/>
          <p:nvPr/>
        </p:nvSpPr>
        <p:spPr bwMode="auto">
          <a:xfrm>
            <a:off x="12193587" y="896"/>
            <a:ext cx="12192000" cy="13714213"/>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1" tIns="457141" rIns="457141" bIns="457141" numCol="1" rtlCol="0" anchor="t" anchorCtr="0" compatLnSpc="1">
            <a:prstTxWarp prst="textNoShape">
              <a:avLst/>
            </a:prstTxWarp>
          </a:bodyPr>
          <a:lstStyle/>
          <a:p>
            <a:pPr algn="r" defTabSz="914425" fontAlgn="base">
              <a:spcBef>
                <a:spcPct val="0"/>
              </a:spcBef>
              <a:spcAft>
                <a:spcPts val="2400"/>
              </a:spcAft>
              <a:defRPr/>
            </a:pPr>
            <a:endParaRPr lang="en-US" sz="4000" i="1" dirty="0">
              <a:solidFill>
                <a:srgbClr val="000000"/>
              </a:solidFill>
              <a:latin typeface="IBM Plex Sans Light"/>
            </a:endParaRPr>
          </a:p>
        </p:txBody>
      </p:sp>
      <p:sp>
        <p:nvSpPr>
          <p:cNvPr id="9" name="Text Placeholder 1">
            <a:extLst>
              <a:ext uri="{FF2B5EF4-FFF2-40B4-BE49-F238E27FC236}">
                <a16:creationId xmlns:a16="http://schemas.microsoft.com/office/drawing/2014/main" id="{026D2DA8-C1E5-F8BF-F7A8-A34C47C998E8}"/>
              </a:ext>
            </a:extLst>
          </p:cNvPr>
          <p:cNvSpPr txBox="1">
            <a:spLocks/>
          </p:cNvSpPr>
          <p:nvPr/>
        </p:nvSpPr>
        <p:spPr>
          <a:xfrm>
            <a:off x="19324778" y="1412203"/>
            <a:ext cx="4902200" cy="11452352"/>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a:lstStyle>
          <a:p>
            <a:pPr defTabSz="2438460">
              <a:spcBef>
                <a:spcPts val="2133"/>
              </a:spcBef>
            </a:pPr>
            <a:r>
              <a:rPr lang="en-US" sz="17600" kern="0" baseline="30000" dirty="0">
                <a:solidFill>
                  <a:srgbClr val="0F62FE"/>
                </a:solidFill>
                <a:latin typeface="IBM Plex Sans Light" panose="020B0403050203000203" pitchFamily="34" charset="0"/>
                <a:ea typeface="+mn-ea"/>
                <a:cs typeface="+mn-cs"/>
              </a:rPr>
              <a:t>85%</a:t>
            </a:r>
            <a:br>
              <a:rPr lang="en-US" sz="25600" b="1" kern="0" dirty="0">
                <a:solidFill>
                  <a:srgbClr val="00BAB6"/>
                </a:solidFill>
              </a:rPr>
            </a:br>
            <a:r>
              <a:rPr lang="en-US" sz="4800" kern="0" dirty="0">
                <a:solidFill>
                  <a:srgbClr val="000000"/>
                </a:solidFill>
                <a:latin typeface="IBM Plex Sans Light" panose="020B0403050203000203" pitchFamily="34" charset="0"/>
              </a:rPr>
              <a:t>of advanced adopters </a:t>
            </a:r>
            <a:br>
              <a:rPr lang="en-US" sz="4800" kern="0" dirty="0">
                <a:solidFill>
                  <a:srgbClr val="000000"/>
                </a:solidFill>
                <a:latin typeface="IBM Plex Sans Light" panose="020B0403050203000203" pitchFamily="34" charset="0"/>
              </a:rPr>
            </a:br>
            <a:r>
              <a:rPr lang="en-US" sz="4800" kern="0" dirty="0">
                <a:solidFill>
                  <a:srgbClr val="000000"/>
                </a:solidFill>
                <a:latin typeface="IBM Plex Sans Light" panose="020B0403050203000203" pitchFamily="34" charset="0"/>
              </a:rPr>
              <a:t>are reducing operating </a:t>
            </a:r>
            <a:br>
              <a:rPr lang="en-US" sz="4800" kern="0" dirty="0">
                <a:solidFill>
                  <a:srgbClr val="000000"/>
                </a:solidFill>
                <a:latin typeface="IBM Plex Sans Light" panose="020B0403050203000203" pitchFamily="34" charset="0"/>
              </a:rPr>
            </a:br>
            <a:r>
              <a:rPr lang="en-US" sz="4800" kern="0" dirty="0">
                <a:solidFill>
                  <a:srgbClr val="000000"/>
                </a:solidFill>
                <a:latin typeface="IBM Plex Sans Light" panose="020B0403050203000203" pitchFamily="34" charset="0"/>
              </a:rPr>
              <a:t>costs with AI. </a:t>
            </a:r>
          </a:p>
        </p:txBody>
      </p:sp>
      <p:cxnSp>
        <p:nvCxnSpPr>
          <p:cNvPr id="10" name="Straight Connector 9">
            <a:extLst>
              <a:ext uri="{FF2B5EF4-FFF2-40B4-BE49-F238E27FC236}">
                <a16:creationId xmlns:a16="http://schemas.microsoft.com/office/drawing/2014/main" id="{9D20B1D3-26F5-DA6D-D5B2-EDB9819BF7AA}"/>
              </a:ext>
            </a:extLst>
          </p:cNvPr>
          <p:cNvCxnSpPr>
            <a:cxnSpLocks/>
          </p:cNvCxnSpPr>
          <p:nvPr/>
        </p:nvCxnSpPr>
        <p:spPr bwMode="auto">
          <a:xfrm>
            <a:off x="18318616" y="841829"/>
            <a:ext cx="0" cy="11146971"/>
          </a:xfrm>
          <a:prstGeom prst="line">
            <a:avLst/>
          </a:prstGeom>
          <a:noFill/>
          <a:ln w="3175" cap="flat" cmpd="sng" algn="ctr">
            <a:solidFill>
              <a:srgbClr val="161616"/>
            </a:solidFill>
            <a:prstDash val="solid"/>
            <a:headEnd type="none" w="med" len="med"/>
            <a:tailEnd type="none" w="med" len="med"/>
          </a:ln>
          <a:effectLst/>
        </p:spPr>
      </p:cxnSp>
      <p:sp>
        <p:nvSpPr>
          <p:cNvPr id="13" name="Text Placeholder 2">
            <a:extLst>
              <a:ext uri="{FF2B5EF4-FFF2-40B4-BE49-F238E27FC236}">
                <a16:creationId xmlns:a16="http://schemas.microsoft.com/office/drawing/2014/main" id="{AB9C4D46-F6DB-E572-6045-B47D6FDFB1B7}"/>
              </a:ext>
            </a:extLst>
          </p:cNvPr>
          <p:cNvSpPr txBox="1">
            <a:spLocks/>
          </p:cNvSpPr>
          <p:nvPr/>
        </p:nvSpPr>
        <p:spPr>
          <a:xfrm>
            <a:off x="13338459" y="1428706"/>
            <a:ext cx="4296032" cy="10195053"/>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a:lstStyle>
          <a:p>
            <a:pPr defTabSz="2438460">
              <a:defRPr/>
            </a:pPr>
            <a:r>
              <a:rPr lang="en-US" sz="17600" kern="0" baseline="30000" dirty="0">
                <a:solidFill>
                  <a:srgbClr val="0F62FE"/>
                </a:solidFill>
                <a:latin typeface="IBM Plex Sans Light" panose="020B0403050203000203" pitchFamily="34" charset="0"/>
                <a:ea typeface="+mn-ea"/>
                <a:cs typeface="+mn-cs"/>
              </a:rPr>
              <a:t>2.5x</a:t>
            </a:r>
            <a:endParaRPr lang="en-US" sz="8533" kern="0" dirty="0">
              <a:solidFill>
                <a:srgbClr val="000000"/>
              </a:solidFill>
              <a:latin typeface="IBM Plex Sans Light" panose="020B0403050203000203" pitchFamily="34" charset="0"/>
            </a:endParaRPr>
          </a:p>
          <a:p>
            <a:pPr defTabSz="2438460">
              <a:defRPr/>
            </a:pPr>
            <a:r>
              <a:rPr lang="en-US" sz="4800" kern="0" dirty="0">
                <a:solidFill>
                  <a:srgbClr val="000000"/>
                </a:solidFill>
                <a:latin typeface="IBM Plex Sans Light" panose="020B0403050203000203" pitchFamily="34" charset="0"/>
              </a:rPr>
              <a:t>Both AI adoption and AI capabilities in organizations have more </a:t>
            </a:r>
            <a:br>
              <a:rPr lang="en-US" sz="4800" kern="0" dirty="0">
                <a:solidFill>
                  <a:srgbClr val="000000"/>
                </a:solidFill>
                <a:latin typeface="IBM Plex Sans Light" panose="020B0403050203000203" pitchFamily="34" charset="0"/>
              </a:rPr>
            </a:br>
            <a:r>
              <a:rPr lang="en-US" sz="4800" kern="0" dirty="0">
                <a:solidFill>
                  <a:srgbClr val="000000"/>
                </a:solidFill>
                <a:latin typeface="IBM Plex Sans Light" panose="020B0403050203000203" pitchFamily="34" charset="0"/>
              </a:rPr>
              <a:t>than </a:t>
            </a:r>
            <a:r>
              <a:rPr lang="en-US" sz="4800" kern="0" dirty="0">
                <a:solidFill>
                  <a:schemeClr val="accent1"/>
                </a:solidFill>
                <a:latin typeface="IBM Plex Sans Light" panose="020B0403050203000203" pitchFamily="34" charset="0"/>
              </a:rPr>
              <a:t>doubled</a:t>
            </a:r>
            <a:r>
              <a:rPr lang="en-US" sz="4800" kern="0" dirty="0">
                <a:solidFill>
                  <a:srgbClr val="000000"/>
                </a:solidFill>
                <a:latin typeface="IBM Plex Sans Light" panose="020B0403050203000203" pitchFamily="34" charset="0"/>
              </a:rPr>
              <a:t> since 2017.</a:t>
            </a:r>
          </a:p>
          <a:p>
            <a:pPr defTabSz="2438460">
              <a:defRPr/>
            </a:pPr>
            <a:endParaRPr lang="en-US" sz="4800" kern="0" dirty="0">
              <a:solidFill>
                <a:srgbClr val="000000"/>
              </a:solidFill>
              <a:latin typeface="IBM Plex Sans Light" panose="020B0403050203000203" pitchFamily="34" charset="0"/>
            </a:endParaRPr>
          </a:p>
          <a:p>
            <a:pPr defTabSz="2438460">
              <a:defRPr/>
            </a:pPr>
            <a:r>
              <a:rPr lang="en-US" sz="11733" b="1" kern="0" baseline="30000" dirty="0">
                <a:solidFill>
                  <a:srgbClr val="0F62FE"/>
                </a:solidFill>
                <a:latin typeface="IBM Plex Sans Light" panose="020B0403050203000203" pitchFamily="34" charset="0"/>
              </a:rPr>
              <a:t> </a:t>
            </a:r>
          </a:p>
        </p:txBody>
      </p:sp>
    </p:spTree>
    <p:extLst>
      <p:ext uri="{BB962C8B-B14F-4D97-AF65-F5344CB8AC3E}">
        <p14:creationId xmlns:p14="http://schemas.microsoft.com/office/powerpoint/2010/main" val="302143191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B6E6FE-69DF-C69F-3BF0-1EE9895B324E}"/>
              </a:ext>
            </a:extLst>
          </p:cNvPr>
          <p:cNvSpPr/>
          <p:nvPr/>
        </p:nvSpPr>
        <p:spPr bwMode="auto">
          <a:xfrm>
            <a:off x="0" y="629920"/>
            <a:ext cx="24384000" cy="607082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defTabSz="914411" fontAlgn="base">
              <a:spcBef>
                <a:spcPct val="0"/>
              </a:spcBef>
              <a:spcAft>
                <a:spcPct val="0"/>
              </a:spcAft>
              <a:defRPr/>
            </a:pPr>
            <a:endParaRPr lang="en-US" sz="1400" dirty="0">
              <a:solidFill>
                <a:srgbClr val="FFFFFF"/>
              </a:solidFill>
              <a:latin typeface="IBM Plex Sans Light" panose="020B0403050203000203" pitchFamily="34" charset="0"/>
            </a:endParaRPr>
          </a:p>
        </p:txBody>
      </p:sp>
      <p:sp>
        <p:nvSpPr>
          <p:cNvPr id="2" name="Title 1">
            <a:extLst>
              <a:ext uri="{FF2B5EF4-FFF2-40B4-BE49-F238E27FC236}">
                <a16:creationId xmlns:a16="http://schemas.microsoft.com/office/drawing/2014/main" id="{E08EC66A-8225-94FB-8BF2-CDB54963F7AC}"/>
              </a:ext>
            </a:extLst>
          </p:cNvPr>
          <p:cNvSpPr>
            <a:spLocks noGrp="1"/>
          </p:cNvSpPr>
          <p:nvPr>
            <p:ph type="title"/>
          </p:nvPr>
        </p:nvSpPr>
        <p:spPr>
          <a:xfrm>
            <a:off x="576071" y="384048"/>
            <a:ext cx="15432827" cy="4573587"/>
          </a:xfrm>
        </p:spPr>
        <p:txBody>
          <a:bodyPr/>
          <a:lstStyle/>
          <a:p>
            <a:r>
              <a:rPr lang="en-US" dirty="0"/>
              <a:t>The AI for risk and compliance </a:t>
            </a:r>
            <a:r>
              <a:rPr lang="en-US" dirty="0">
                <a:solidFill>
                  <a:schemeClr val="accent1"/>
                </a:solidFill>
              </a:rPr>
              <a:t>advantage </a:t>
            </a:r>
            <a:endParaRPr lang="en-US" dirty="0"/>
          </a:p>
        </p:txBody>
      </p:sp>
      <p:sp>
        <p:nvSpPr>
          <p:cNvPr id="3" name="Text Placeholder 2">
            <a:extLst>
              <a:ext uri="{FF2B5EF4-FFF2-40B4-BE49-F238E27FC236}">
                <a16:creationId xmlns:a16="http://schemas.microsoft.com/office/drawing/2014/main" id="{849B6D02-7794-16CD-ED4D-35E3CB2DBF97}"/>
              </a:ext>
            </a:extLst>
          </p:cNvPr>
          <p:cNvSpPr>
            <a:spLocks noGrp="1"/>
          </p:cNvSpPr>
          <p:nvPr>
            <p:ph type="body" sz="quarter" idx="23"/>
          </p:nvPr>
        </p:nvSpPr>
        <p:spPr>
          <a:xfrm>
            <a:off x="12728028" y="5089291"/>
            <a:ext cx="4963923" cy="3864696"/>
          </a:xfrm>
        </p:spPr>
        <p:txBody>
          <a:bodyPr/>
          <a:lstStyle/>
          <a:p>
            <a:endParaRPr lang="en-US" sz="7200" dirty="0">
              <a:solidFill>
                <a:schemeClr val="accent1"/>
              </a:solidFill>
            </a:endParaRPr>
          </a:p>
          <a:p>
            <a:br>
              <a:rPr lang="en-US" dirty="0"/>
            </a:br>
            <a:r>
              <a:rPr lang="en-US" kern="0" dirty="0">
                <a:ea typeface="+mn-ea"/>
                <a:cs typeface="Calibri"/>
                <a:sym typeface="Helvetica Neue"/>
              </a:rPr>
              <a:t>Enrich, guide, </a:t>
            </a:r>
            <a:r>
              <a:rPr lang="en-US" dirty="0">
                <a:ea typeface="+mn-ea"/>
                <a:cs typeface="Calibri"/>
                <a:sym typeface="Helvetica Neue"/>
              </a:rPr>
              <a:t>and </a:t>
            </a:r>
            <a:br>
              <a:rPr lang="en-US" dirty="0">
                <a:ea typeface="+mn-ea"/>
                <a:cs typeface="Calibri"/>
                <a:sym typeface="Helvetica Neue"/>
              </a:rPr>
            </a:br>
            <a:r>
              <a:rPr lang="en-US" kern="0" dirty="0">
                <a:ea typeface="+mn-ea"/>
                <a:cs typeface="Calibri"/>
                <a:sym typeface="Helvetica Neue"/>
              </a:rPr>
              <a:t>help the user to provide </a:t>
            </a:r>
            <a:br>
              <a:rPr lang="en-US" kern="0" dirty="0">
                <a:ea typeface="+mn-ea"/>
                <a:cs typeface="Calibri"/>
                <a:sym typeface="Helvetica Neue"/>
              </a:rPr>
            </a:br>
            <a:r>
              <a:rPr lang="en-US" kern="0" dirty="0">
                <a:ea typeface="+mn-ea"/>
                <a:cs typeface="Calibri"/>
                <a:sym typeface="Helvetica Neue"/>
              </a:rPr>
              <a:t>the right information</a:t>
            </a:r>
            <a:endParaRPr lang="en-US" dirty="0">
              <a:ea typeface="+mn-ea"/>
            </a:endParaRPr>
          </a:p>
          <a:p>
            <a:endParaRPr lang="en-US" dirty="0"/>
          </a:p>
        </p:txBody>
      </p:sp>
      <p:sp>
        <p:nvSpPr>
          <p:cNvPr id="4" name="Text Placeholder 3">
            <a:extLst>
              <a:ext uri="{FF2B5EF4-FFF2-40B4-BE49-F238E27FC236}">
                <a16:creationId xmlns:a16="http://schemas.microsoft.com/office/drawing/2014/main" id="{E7324798-B403-5AC4-4245-1436BA57E78F}"/>
              </a:ext>
            </a:extLst>
          </p:cNvPr>
          <p:cNvSpPr>
            <a:spLocks noGrp="1"/>
          </p:cNvSpPr>
          <p:nvPr>
            <p:ph type="body" sz="quarter" idx="24"/>
          </p:nvPr>
        </p:nvSpPr>
        <p:spPr>
          <a:xfrm>
            <a:off x="18799748" y="5089291"/>
            <a:ext cx="4963923" cy="3864696"/>
          </a:xfrm>
        </p:spPr>
        <p:txBody>
          <a:bodyPr/>
          <a:lstStyle/>
          <a:p>
            <a:endParaRPr lang="en-US" sz="7200" dirty="0">
              <a:solidFill>
                <a:schemeClr val="accent1"/>
              </a:solidFill>
            </a:endParaRPr>
          </a:p>
          <a:p>
            <a:br>
              <a:rPr lang="en-US" dirty="0"/>
            </a:br>
            <a:r>
              <a:rPr lang="en-GB" dirty="0">
                <a:cs typeface="Arial"/>
              </a:rPr>
              <a:t>Automate processes </a:t>
            </a:r>
            <a:br>
              <a:rPr lang="en-GB" dirty="0">
                <a:cs typeface="Arial"/>
              </a:rPr>
            </a:br>
            <a:r>
              <a:rPr lang="en-GB" dirty="0">
                <a:cs typeface="Arial"/>
              </a:rPr>
              <a:t>and optimize employee productivity and accuracy</a:t>
            </a:r>
            <a:endParaRPr lang="en-GB" dirty="0">
              <a:ea typeface="+mn-lt"/>
              <a:cs typeface="+mn-lt"/>
            </a:endParaRPr>
          </a:p>
          <a:p>
            <a:endParaRPr lang="en-US" dirty="0"/>
          </a:p>
        </p:txBody>
      </p:sp>
      <p:sp>
        <p:nvSpPr>
          <p:cNvPr id="5" name="Text Placeholder 4">
            <a:extLst>
              <a:ext uri="{FF2B5EF4-FFF2-40B4-BE49-F238E27FC236}">
                <a16:creationId xmlns:a16="http://schemas.microsoft.com/office/drawing/2014/main" id="{BE66CEE5-2D32-EBF1-46F5-E87D28C72764}"/>
              </a:ext>
            </a:extLst>
          </p:cNvPr>
          <p:cNvSpPr>
            <a:spLocks noGrp="1"/>
          </p:cNvSpPr>
          <p:nvPr>
            <p:ph type="body" sz="quarter" idx="25"/>
          </p:nvPr>
        </p:nvSpPr>
        <p:spPr>
          <a:xfrm>
            <a:off x="985877" y="5089290"/>
            <a:ext cx="4963923" cy="3864696"/>
          </a:xfrm>
        </p:spPr>
        <p:txBody>
          <a:bodyPr/>
          <a:lstStyle/>
          <a:p>
            <a:endParaRPr lang="en-US" sz="7200" dirty="0">
              <a:solidFill>
                <a:schemeClr val="accent1"/>
              </a:solidFill>
            </a:endParaRPr>
          </a:p>
          <a:p>
            <a:br>
              <a:rPr lang="en-US" dirty="0"/>
            </a:br>
            <a:r>
              <a:rPr lang="en-GB" dirty="0">
                <a:ea typeface="+mn-lt"/>
                <a:cs typeface="+mn-lt"/>
              </a:rPr>
              <a:t>Promote a culture </a:t>
            </a:r>
            <a:br>
              <a:rPr lang="en-GB" dirty="0">
                <a:ea typeface="+mn-lt"/>
                <a:cs typeface="+mn-lt"/>
              </a:rPr>
            </a:br>
            <a:r>
              <a:rPr lang="en-GB" dirty="0">
                <a:ea typeface="+mn-lt"/>
                <a:cs typeface="+mn-lt"/>
              </a:rPr>
              <a:t>of risk recognition and compliance awareness </a:t>
            </a:r>
          </a:p>
          <a:p>
            <a:endParaRPr lang="en-US" dirty="0"/>
          </a:p>
        </p:txBody>
      </p:sp>
      <p:sp>
        <p:nvSpPr>
          <p:cNvPr id="6" name="Text Placeholder 5">
            <a:extLst>
              <a:ext uri="{FF2B5EF4-FFF2-40B4-BE49-F238E27FC236}">
                <a16:creationId xmlns:a16="http://schemas.microsoft.com/office/drawing/2014/main" id="{2F015290-3B99-997A-6B80-2CB94F93148E}"/>
              </a:ext>
            </a:extLst>
          </p:cNvPr>
          <p:cNvSpPr>
            <a:spLocks noGrp="1"/>
          </p:cNvSpPr>
          <p:nvPr>
            <p:ph type="body" sz="quarter" idx="26"/>
          </p:nvPr>
        </p:nvSpPr>
        <p:spPr>
          <a:xfrm>
            <a:off x="6632297" y="5089291"/>
            <a:ext cx="5473815" cy="3864696"/>
          </a:xfrm>
        </p:spPr>
        <p:txBody>
          <a:bodyPr/>
          <a:lstStyle/>
          <a:p>
            <a:endParaRPr lang="en-US" sz="7200" dirty="0">
              <a:solidFill>
                <a:schemeClr val="accent1"/>
              </a:solidFill>
            </a:endParaRPr>
          </a:p>
          <a:p>
            <a:br>
              <a:rPr lang="en-US" dirty="0"/>
            </a:br>
            <a:r>
              <a:rPr lang="en-GB" dirty="0">
                <a:ea typeface="+mn-lt"/>
                <a:cs typeface="+mn-lt"/>
              </a:rPr>
              <a:t>Increase data quality </a:t>
            </a:r>
            <a:br>
              <a:rPr lang="en-GB" dirty="0">
                <a:ea typeface="+mn-lt"/>
                <a:cs typeface="+mn-lt"/>
              </a:rPr>
            </a:br>
            <a:r>
              <a:rPr lang="en-GB" dirty="0">
                <a:ea typeface="+mn-lt"/>
                <a:cs typeface="+mn-lt"/>
              </a:rPr>
              <a:t>and consistency</a:t>
            </a:r>
          </a:p>
          <a:p>
            <a:endParaRPr lang="en-US" dirty="0"/>
          </a:p>
        </p:txBody>
      </p:sp>
      <p:cxnSp>
        <p:nvCxnSpPr>
          <p:cNvPr id="8" name="Straight Connector 7">
            <a:extLst>
              <a:ext uri="{FF2B5EF4-FFF2-40B4-BE49-F238E27FC236}">
                <a16:creationId xmlns:a16="http://schemas.microsoft.com/office/drawing/2014/main" id="{83FF8C92-AC8D-34EB-A28D-470E4CE01F12}"/>
              </a:ext>
            </a:extLst>
          </p:cNvPr>
          <p:cNvCxnSpPr>
            <a:cxnSpLocks/>
          </p:cNvCxnSpPr>
          <p:nvPr/>
        </p:nvCxnSpPr>
        <p:spPr bwMode="auto">
          <a:xfrm>
            <a:off x="6096795" y="6497831"/>
            <a:ext cx="0" cy="546953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BA44DDB-B34C-9F78-D251-7CBD06A289E8}"/>
              </a:ext>
            </a:extLst>
          </p:cNvPr>
          <p:cNvCxnSpPr>
            <a:cxnSpLocks/>
          </p:cNvCxnSpPr>
          <p:nvPr/>
        </p:nvCxnSpPr>
        <p:spPr bwMode="auto">
          <a:xfrm>
            <a:off x="12188952" y="6500671"/>
            <a:ext cx="0" cy="548834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BD7AA81-A799-5BBA-958D-0AFC0BF073F1}"/>
              </a:ext>
            </a:extLst>
          </p:cNvPr>
          <p:cNvCxnSpPr>
            <a:cxnSpLocks/>
          </p:cNvCxnSpPr>
          <p:nvPr/>
        </p:nvCxnSpPr>
        <p:spPr bwMode="auto">
          <a:xfrm>
            <a:off x="18287206" y="6497829"/>
            <a:ext cx="0" cy="546756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6CA16CBA-ED81-C0E4-4FDF-0B1726183874}"/>
              </a:ext>
            </a:extLst>
          </p:cNvPr>
          <p:cNvPicPr>
            <a:picLocks noChangeAspect="1"/>
          </p:cNvPicPr>
          <p:nvPr/>
        </p:nvPicPr>
        <p:blipFill>
          <a:blip r:embed="rId3"/>
          <a:srcRect/>
          <a:stretch/>
        </p:blipFill>
        <p:spPr>
          <a:xfrm>
            <a:off x="2144999" y="10067178"/>
            <a:ext cx="1475808" cy="1475808"/>
          </a:xfrm>
          <a:prstGeom prst="rect">
            <a:avLst/>
          </a:prstGeom>
        </p:spPr>
      </p:pic>
      <p:pic>
        <p:nvPicPr>
          <p:cNvPr id="12" name="Picture 11">
            <a:extLst>
              <a:ext uri="{FF2B5EF4-FFF2-40B4-BE49-F238E27FC236}">
                <a16:creationId xmlns:a16="http://schemas.microsoft.com/office/drawing/2014/main" id="{E57E94A2-D4A6-B8B3-D52D-9100441B6D47}"/>
              </a:ext>
            </a:extLst>
          </p:cNvPr>
          <p:cNvPicPr>
            <a:picLocks noChangeAspect="1"/>
          </p:cNvPicPr>
          <p:nvPr/>
        </p:nvPicPr>
        <p:blipFill>
          <a:blip r:embed="rId4"/>
          <a:srcRect/>
          <a:stretch/>
        </p:blipFill>
        <p:spPr>
          <a:xfrm>
            <a:off x="20498049" y="10067178"/>
            <a:ext cx="1475808" cy="1475808"/>
          </a:xfrm>
          <a:prstGeom prst="rect">
            <a:avLst/>
          </a:prstGeom>
        </p:spPr>
      </p:pic>
      <p:pic>
        <p:nvPicPr>
          <p:cNvPr id="13" name="Picture 12">
            <a:extLst>
              <a:ext uri="{FF2B5EF4-FFF2-40B4-BE49-F238E27FC236}">
                <a16:creationId xmlns:a16="http://schemas.microsoft.com/office/drawing/2014/main" id="{6E2DE6EC-54BC-9569-A706-E0979C94EB9C}"/>
              </a:ext>
            </a:extLst>
          </p:cNvPr>
          <p:cNvPicPr>
            <a:picLocks noChangeAspect="1"/>
          </p:cNvPicPr>
          <p:nvPr/>
        </p:nvPicPr>
        <p:blipFill>
          <a:blip r:embed="rId5"/>
          <a:srcRect/>
          <a:stretch/>
        </p:blipFill>
        <p:spPr>
          <a:xfrm>
            <a:off x="14435120" y="10067178"/>
            <a:ext cx="1475808" cy="1475808"/>
          </a:xfrm>
          <a:prstGeom prst="rect">
            <a:avLst/>
          </a:prstGeom>
        </p:spPr>
      </p:pic>
      <p:pic>
        <p:nvPicPr>
          <p:cNvPr id="14" name="Picture 13">
            <a:extLst>
              <a:ext uri="{FF2B5EF4-FFF2-40B4-BE49-F238E27FC236}">
                <a16:creationId xmlns:a16="http://schemas.microsoft.com/office/drawing/2014/main" id="{1735438A-4C7D-CA9B-CB89-723C76E61C3B}"/>
              </a:ext>
            </a:extLst>
          </p:cNvPr>
          <p:cNvPicPr>
            <a:picLocks noChangeAspect="1"/>
          </p:cNvPicPr>
          <p:nvPr/>
        </p:nvPicPr>
        <p:blipFill>
          <a:blip r:embed="rId6"/>
          <a:srcRect/>
          <a:stretch/>
        </p:blipFill>
        <p:spPr>
          <a:xfrm>
            <a:off x="8413678" y="10067178"/>
            <a:ext cx="1475808" cy="1475808"/>
          </a:xfrm>
          <a:prstGeom prst="rect">
            <a:avLst/>
          </a:prstGeom>
        </p:spPr>
      </p:pic>
    </p:spTree>
    <p:extLst>
      <p:ext uri="{BB962C8B-B14F-4D97-AF65-F5344CB8AC3E}">
        <p14:creationId xmlns:p14="http://schemas.microsoft.com/office/powerpoint/2010/main" val="199006039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48D9A-29D9-574D-84DC-B8108D7876EB}"/>
              </a:ext>
            </a:extLst>
          </p:cNvPr>
          <p:cNvSpPr>
            <a:spLocks noGrp="1"/>
          </p:cNvSpPr>
          <p:nvPr>
            <p:ph type="title"/>
          </p:nvPr>
        </p:nvSpPr>
        <p:spPr>
          <a:xfrm>
            <a:off x="576072" y="385200"/>
            <a:ext cx="5520717" cy="1527048"/>
          </a:xfrm>
        </p:spPr>
        <p:txBody>
          <a:bodyPr/>
          <a:lstStyle/>
          <a:p>
            <a:r>
              <a:rPr lang="en-US" dirty="0">
                <a:solidFill>
                  <a:schemeClr val="accent1"/>
                </a:solidFill>
              </a:rPr>
              <a:t>AI integrations </a:t>
            </a:r>
            <a:r>
              <a:rPr lang="en-US" sz="4400" dirty="0">
                <a:solidFill>
                  <a:schemeClr val="tx1"/>
                </a:solidFill>
              </a:rPr>
              <a:t>help to radically improve user </a:t>
            </a:r>
            <a:br>
              <a:rPr lang="en-US" sz="4400" dirty="0">
                <a:solidFill>
                  <a:schemeClr val="tx1"/>
                </a:solidFill>
              </a:rPr>
            </a:br>
            <a:r>
              <a:rPr lang="en-US" sz="4400" dirty="0">
                <a:solidFill>
                  <a:schemeClr val="tx1"/>
                </a:solidFill>
              </a:rPr>
              <a:t>decision making </a:t>
            </a:r>
            <a:br>
              <a:rPr lang="en-US" sz="4400" dirty="0">
                <a:solidFill>
                  <a:schemeClr val="tx1"/>
                </a:solidFill>
              </a:rPr>
            </a:br>
            <a:r>
              <a:rPr lang="en-US" sz="4400" dirty="0">
                <a:solidFill>
                  <a:schemeClr val="tx1"/>
                </a:solidFill>
              </a:rPr>
              <a:t>and accelerate customer time </a:t>
            </a:r>
            <a:br>
              <a:rPr lang="en-US" sz="4400" dirty="0">
                <a:solidFill>
                  <a:schemeClr val="tx1"/>
                </a:solidFill>
              </a:rPr>
            </a:br>
            <a:r>
              <a:rPr lang="en-US" sz="4400" dirty="0">
                <a:solidFill>
                  <a:schemeClr val="tx1"/>
                </a:solidFill>
              </a:rPr>
              <a:t>to value</a:t>
            </a:r>
            <a:br>
              <a:rPr lang="en-US" sz="4400" dirty="0">
                <a:solidFill>
                  <a:schemeClr val="tx1"/>
                </a:solidFill>
              </a:rPr>
            </a:br>
            <a:endParaRPr lang="en-US" sz="4400" dirty="0"/>
          </a:p>
        </p:txBody>
      </p:sp>
      <p:cxnSp>
        <p:nvCxnSpPr>
          <p:cNvPr id="3" name="Straight Connector 2">
            <a:extLst>
              <a:ext uri="{FF2B5EF4-FFF2-40B4-BE49-F238E27FC236}">
                <a16:creationId xmlns:a16="http://schemas.microsoft.com/office/drawing/2014/main" id="{4806D657-B46A-9323-9D59-C15AC03383BC}"/>
              </a:ext>
            </a:extLst>
          </p:cNvPr>
          <p:cNvCxnSpPr/>
          <p:nvPr/>
        </p:nvCxnSpPr>
        <p:spPr bwMode="auto">
          <a:xfrm>
            <a:off x="6169947" y="570735"/>
            <a:ext cx="0" cy="1143009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5" name="Graphic 4">
            <a:extLst>
              <a:ext uri="{FF2B5EF4-FFF2-40B4-BE49-F238E27FC236}">
                <a16:creationId xmlns:a16="http://schemas.microsoft.com/office/drawing/2014/main" id="{8F113A61-49E0-B19C-C967-04BCFBF954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11270" y="4083267"/>
            <a:ext cx="4876165" cy="4876165"/>
          </a:xfrm>
          <a:prstGeom prst="rect">
            <a:avLst/>
          </a:prstGeom>
        </p:spPr>
      </p:pic>
      <p:sp>
        <p:nvSpPr>
          <p:cNvPr id="6" name="Freeform: Shape 13">
            <a:extLst>
              <a:ext uri="{FF2B5EF4-FFF2-40B4-BE49-F238E27FC236}">
                <a16:creationId xmlns:a16="http://schemas.microsoft.com/office/drawing/2014/main" id="{C5815134-5195-D430-E52A-59B480EB67D4}"/>
              </a:ext>
            </a:extLst>
          </p:cNvPr>
          <p:cNvSpPr/>
          <p:nvPr/>
        </p:nvSpPr>
        <p:spPr>
          <a:xfrm>
            <a:off x="6581862" y="4592904"/>
            <a:ext cx="4794827" cy="4794395"/>
          </a:xfrm>
          <a:custGeom>
            <a:avLst/>
            <a:gdLst>
              <a:gd name="connsiteX0" fmla="*/ 0 w 2397725"/>
              <a:gd name="connsiteY0" fmla="*/ 1198755 h 2397510"/>
              <a:gd name="connsiteX1" fmla="*/ 1198863 w 2397725"/>
              <a:gd name="connsiteY1" fmla="*/ 0 h 2397510"/>
              <a:gd name="connsiteX2" fmla="*/ 2397726 w 2397725"/>
              <a:gd name="connsiteY2" fmla="*/ 1198755 h 2397510"/>
              <a:gd name="connsiteX3" fmla="*/ 1198863 w 2397725"/>
              <a:gd name="connsiteY3" fmla="*/ 2397510 h 2397510"/>
              <a:gd name="connsiteX4" fmla="*/ 0 w 2397725"/>
              <a:gd name="connsiteY4" fmla="*/ 1198755 h 2397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725" h="2397510">
                <a:moveTo>
                  <a:pt x="0" y="1198755"/>
                </a:moveTo>
                <a:cubicBezTo>
                  <a:pt x="0" y="536701"/>
                  <a:pt x="536749" y="0"/>
                  <a:pt x="1198863" y="0"/>
                </a:cubicBezTo>
                <a:cubicBezTo>
                  <a:pt x="1860977" y="0"/>
                  <a:pt x="2397726" y="536701"/>
                  <a:pt x="2397726" y="1198755"/>
                </a:cubicBezTo>
                <a:cubicBezTo>
                  <a:pt x="2397726" y="1860809"/>
                  <a:pt x="1860977" y="2397510"/>
                  <a:pt x="1198863" y="2397510"/>
                </a:cubicBezTo>
                <a:cubicBezTo>
                  <a:pt x="536749" y="2397510"/>
                  <a:pt x="0" y="1860809"/>
                  <a:pt x="0" y="1198755"/>
                </a:cubicBezTo>
                <a:close/>
              </a:path>
            </a:pathLst>
          </a:custGeom>
          <a:solidFill>
            <a:schemeClr val="bg1"/>
          </a:solidFill>
          <a:ln>
            <a:solidFill>
              <a:srgbClr val="0F62FE"/>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93613" tIns="793552" rIns="793613" bIns="793552" numCol="1" spcCol="1270" anchor="ctr" anchorCtr="0">
            <a:noAutofit/>
          </a:bodyPr>
          <a:lstStyle/>
          <a:p>
            <a:pPr algn="ctr" defTabSz="3200440">
              <a:lnSpc>
                <a:spcPct val="90000"/>
              </a:lnSpc>
              <a:spcBef>
                <a:spcPct val="0"/>
              </a:spcBef>
              <a:spcAft>
                <a:spcPct val="35000"/>
              </a:spcAft>
              <a:defRPr/>
            </a:pPr>
            <a:r>
              <a:rPr lang="en-GB" sz="7200" dirty="0">
                <a:solidFill>
                  <a:srgbClr val="0F62FE"/>
                </a:solidFill>
                <a:latin typeface="IBM Plex Sans Light" panose="020B0403050203000203" pitchFamily="34" charset="0"/>
              </a:rPr>
              <a:t>Infused AI</a:t>
            </a:r>
          </a:p>
        </p:txBody>
      </p:sp>
      <p:sp>
        <p:nvSpPr>
          <p:cNvPr id="7" name="Freeform: Shape 16">
            <a:extLst>
              <a:ext uri="{FF2B5EF4-FFF2-40B4-BE49-F238E27FC236}">
                <a16:creationId xmlns:a16="http://schemas.microsoft.com/office/drawing/2014/main" id="{F920B243-B2EA-55BD-662A-65267E11A65B}"/>
              </a:ext>
            </a:extLst>
          </p:cNvPr>
          <p:cNvSpPr/>
          <p:nvPr/>
        </p:nvSpPr>
        <p:spPr>
          <a:xfrm>
            <a:off x="15875730" y="2234440"/>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Assistant</a:t>
            </a:r>
          </a:p>
        </p:txBody>
      </p:sp>
      <p:sp>
        <p:nvSpPr>
          <p:cNvPr id="8" name="Freeform: Shape 18">
            <a:extLst>
              <a:ext uri="{FF2B5EF4-FFF2-40B4-BE49-F238E27FC236}">
                <a16:creationId xmlns:a16="http://schemas.microsoft.com/office/drawing/2014/main" id="{F24F3E2D-15FB-1D8A-B29D-ED24A0971932}"/>
              </a:ext>
            </a:extLst>
          </p:cNvPr>
          <p:cNvSpPr/>
          <p:nvPr/>
        </p:nvSpPr>
        <p:spPr>
          <a:xfrm>
            <a:off x="15320647" y="9894102"/>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Translation</a:t>
            </a:r>
          </a:p>
        </p:txBody>
      </p:sp>
      <p:sp>
        <p:nvSpPr>
          <p:cNvPr id="9" name="Freeform: Shape 20">
            <a:extLst>
              <a:ext uri="{FF2B5EF4-FFF2-40B4-BE49-F238E27FC236}">
                <a16:creationId xmlns:a16="http://schemas.microsoft.com/office/drawing/2014/main" id="{0D5DA616-51A1-5539-5799-2A4CCBB156BA}"/>
              </a:ext>
            </a:extLst>
          </p:cNvPr>
          <p:cNvSpPr/>
          <p:nvPr/>
        </p:nvSpPr>
        <p:spPr>
          <a:xfrm>
            <a:off x="17001087" y="4180712"/>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Classification</a:t>
            </a:r>
          </a:p>
        </p:txBody>
      </p:sp>
      <p:sp>
        <p:nvSpPr>
          <p:cNvPr id="10" name="Freeform: Shape 22">
            <a:extLst>
              <a:ext uri="{FF2B5EF4-FFF2-40B4-BE49-F238E27FC236}">
                <a16:creationId xmlns:a16="http://schemas.microsoft.com/office/drawing/2014/main" id="{1DADE462-0BCE-39E6-CA55-6FF1BEE0AD88}"/>
              </a:ext>
            </a:extLst>
          </p:cNvPr>
          <p:cNvSpPr/>
          <p:nvPr/>
        </p:nvSpPr>
        <p:spPr>
          <a:xfrm>
            <a:off x="18681527" y="5990336"/>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Association</a:t>
            </a:r>
          </a:p>
        </p:txBody>
      </p:sp>
      <p:pic>
        <p:nvPicPr>
          <p:cNvPr id="11" name="Graphic 10">
            <a:extLst>
              <a:ext uri="{FF2B5EF4-FFF2-40B4-BE49-F238E27FC236}">
                <a16:creationId xmlns:a16="http://schemas.microsoft.com/office/drawing/2014/main" id="{D2A6E7B0-B5E0-5051-B6D6-9FFB70D4280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44552" y="2296861"/>
            <a:ext cx="1731264" cy="1731264"/>
          </a:xfrm>
          <a:prstGeom prst="rect">
            <a:avLst/>
          </a:prstGeom>
        </p:spPr>
      </p:pic>
      <p:pic>
        <p:nvPicPr>
          <p:cNvPr id="12" name="Graphic 11">
            <a:extLst>
              <a:ext uri="{FF2B5EF4-FFF2-40B4-BE49-F238E27FC236}">
                <a16:creationId xmlns:a16="http://schemas.microsoft.com/office/drawing/2014/main" id="{188F88B0-2513-CF5D-26B6-3542B2D733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159960" y="10227301"/>
            <a:ext cx="1731264" cy="1731264"/>
          </a:xfrm>
          <a:prstGeom prst="rect">
            <a:avLst/>
          </a:prstGeom>
        </p:spPr>
      </p:pic>
      <p:pic>
        <p:nvPicPr>
          <p:cNvPr id="13" name="Graphic 12">
            <a:extLst>
              <a:ext uri="{FF2B5EF4-FFF2-40B4-BE49-F238E27FC236}">
                <a16:creationId xmlns:a16="http://schemas.microsoft.com/office/drawing/2014/main" id="{B144E469-8DAD-7FAE-BF3E-58214A9DB9E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0478955" y="4272317"/>
            <a:ext cx="1731264" cy="1731264"/>
          </a:xfrm>
          <a:prstGeom prst="rect">
            <a:avLst/>
          </a:prstGeom>
        </p:spPr>
      </p:pic>
      <p:pic>
        <p:nvPicPr>
          <p:cNvPr id="14" name="Graphic 13">
            <a:extLst>
              <a:ext uri="{FF2B5EF4-FFF2-40B4-BE49-F238E27FC236}">
                <a16:creationId xmlns:a16="http://schemas.microsoft.com/office/drawing/2014/main" id="{9A42116C-E5DC-B806-8048-B7844E6877B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1422251" y="6196240"/>
            <a:ext cx="1731264" cy="1731264"/>
          </a:xfrm>
          <a:prstGeom prst="rect">
            <a:avLst/>
          </a:prstGeom>
        </p:spPr>
      </p:pic>
      <p:pic>
        <p:nvPicPr>
          <p:cNvPr id="15" name="Graphic 42">
            <a:extLst>
              <a:ext uri="{FF2B5EF4-FFF2-40B4-BE49-F238E27FC236}">
                <a16:creationId xmlns:a16="http://schemas.microsoft.com/office/drawing/2014/main" id="{EAF466B5-F2E2-FA48-69FB-D513FFFC5C8A}"/>
              </a:ext>
            </a:extLst>
          </p:cNvPr>
          <p:cNvPicPr>
            <a:picLocks noChangeAspect="1"/>
          </p:cNvPicPr>
          <p:nvPr/>
        </p:nvPicPr>
        <p:blipFill>
          <a:blip r:embed="rId13"/>
          <a:srcRect/>
          <a:stretch/>
        </p:blipFill>
        <p:spPr>
          <a:xfrm>
            <a:off x="15598711" y="12000833"/>
            <a:ext cx="1441512" cy="1441512"/>
          </a:xfrm>
          <a:prstGeom prst="rect">
            <a:avLst/>
          </a:prstGeom>
        </p:spPr>
      </p:pic>
      <p:sp>
        <p:nvSpPr>
          <p:cNvPr id="16" name="Freeform: Shape 15">
            <a:extLst>
              <a:ext uri="{FF2B5EF4-FFF2-40B4-BE49-F238E27FC236}">
                <a16:creationId xmlns:a16="http://schemas.microsoft.com/office/drawing/2014/main" id="{93A14941-7672-C99F-13B8-6412B0BBA175}"/>
              </a:ext>
            </a:extLst>
          </p:cNvPr>
          <p:cNvSpPr/>
          <p:nvPr/>
        </p:nvSpPr>
        <p:spPr>
          <a:xfrm>
            <a:off x="13267180" y="11462590"/>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Tagging</a:t>
            </a:r>
          </a:p>
        </p:txBody>
      </p:sp>
      <p:sp>
        <p:nvSpPr>
          <p:cNvPr id="17" name="Freeform: Shape 20">
            <a:extLst>
              <a:ext uri="{FF2B5EF4-FFF2-40B4-BE49-F238E27FC236}">
                <a16:creationId xmlns:a16="http://schemas.microsoft.com/office/drawing/2014/main" id="{90EE032D-83A8-5A7A-0B56-4C0F02F202AB}"/>
              </a:ext>
            </a:extLst>
          </p:cNvPr>
          <p:cNvSpPr/>
          <p:nvPr/>
        </p:nvSpPr>
        <p:spPr>
          <a:xfrm>
            <a:off x="17001087" y="8079374"/>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Summarization</a:t>
            </a:r>
          </a:p>
        </p:txBody>
      </p:sp>
      <p:pic>
        <p:nvPicPr>
          <p:cNvPr id="18" name="Graphic 17">
            <a:extLst>
              <a:ext uri="{FF2B5EF4-FFF2-40B4-BE49-F238E27FC236}">
                <a16:creationId xmlns:a16="http://schemas.microsoft.com/office/drawing/2014/main" id="{7AB91E8C-F69F-2D34-08E4-80DC22F986F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0478956" y="8484599"/>
            <a:ext cx="1719576" cy="1719576"/>
          </a:xfrm>
          <a:prstGeom prst="rect">
            <a:avLst/>
          </a:prstGeom>
        </p:spPr>
      </p:pic>
      <p:pic>
        <p:nvPicPr>
          <p:cNvPr id="19" name="Graphic 18">
            <a:extLst>
              <a:ext uri="{FF2B5EF4-FFF2-40B4-BE49-F238E27FC236}">
                <a16:creationId xmlns:a16="http://schemas.microsoft.com/office/drawing/2014/main" id="{E5007090-B370-5559-19BE-7E08E810D18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352918" y="639824"/>
            <a:ext cx="1731264" cy="1731264"/>
          </a:xfrm>
          <a:prstGeom prst="rect">
            <a:avLst/>
          </a:prstGeom>
        </p:spPr>
      </p:pic>
      <p:sp>
        <p:nvSpPr>
          <p:cNvPr id="20" name="Freeform: Shape 15">
            <a:extLst>
              <a:ext uri="{FF2B5EF4-FFF2-40B4-BE49-F238E27FC236}">
                <a16:creationId xmlns:a16="http://schemas.microsoft.com/office/drawing/2014/main" id="{68E7EB56-F010-B606-1A03-BBE66B98420B}"/>
              </a:ext>
            </a:extLst>
          </p:cNvPr>
          <p:cNvSpPr/>
          <p:nvPr/>
        </p:nvSpPr>
        <p:spPr>
          <a:xfrm>
            <a:off x="13674740" y="365576"/>
            <a:ext cx="3439155" cy="2486469"/>
          </a:xfrm>
          <a:custGeom>
            <a:avLst/>
            <a:gdLst>
              <a:gd name="connsiteX0" fmla="*/ 0 w 1719801"/>
              <a:gd name="connsiteY0" fmla="*/ 0 h 1243397"/>
              <a:gd name="connsiteX1" fmla="*/ 1719801 w 1719801"/>
              <a:gd name="connsiteY1" fmla="*/ 0 h 1243397"/>
              <a:gd name="connsiteX2" fmla="*/ 1719801 w 1719801"/>
              <a:gd name="connsiteY2" fmla="*/ 1243397 h 1243397"/>
              <a:gd name="connsiteX3" fmla="*/ 0 w 1719801"/>
              <a:gd name="connsiteY3" fmla="*/ 1243397 h 1243397"/>
              <a:gd name="connsiteX4" fmla="*/ 0 w 1719801"/>
              <a:gd name="connsiteY4" fmla="*/ 0 h 124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801" h="1243397">
                <a:moveTo>
                  <a:pt x="0" y="0"/>
                </a:moveTo>
                <a:lnTo>
                  <a:pt x="1719801" y="0"/>
                </a:lnTo>
                <a:lnTo>
                  <a:pt x="1719801" y="1243397"/>
                </a:lnTo>
                <a:lnTo>
                  <a:pt x="0" y="12433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5872" tIns="55872" rIns="55872" bIns="55872" numCol="1" spcCol="1270" anchor="ctr" anchorCtr="0">
            <a:noAutofit/>
          </a:bodyPr>
          <a:lstStyle/>
          <a:p>
            <a:pPr defTabSz="1955824">
              <a:lnSpc>
                <a:spcPct val="90000"/>
              </a:lnSpc>
              <a:spcBef>
                <a:spcPct val="0"/>
              </a:spcBef>
              <a:spcAft>
                <a:spcPct val="10000"/>
              </a:spcAft>
              <a:defRPr/>
            </a:pPr>
            <a:r>
              <a:rPr lang="en-GB" dirty="0">
                <a:solidFill>
                  <a:srgbClr val="000000">
                    <a:hueOff val="0"/>
                    <a:satOff val="0"/>
                    <a:lumOff val="0"/>
                    <a:alphaOff val="0"/>
                  </a:srgbClr>
                </a:solidFill>
                <a:latin typeface="IBM Plex Sans Light" panose="020B0403050203000203" pitchFamily="34" charset="0"/>
              </a:rPr>
              <a:t>BYO Model</a:t>
            </a:r>
          </a:p>
        </p:txBody>
      </p:sp>
      <p:sp>
        <p:nvSpPr>
          <p:cNvPr id="21" name="Block Arc 20">
            <a:extLst>
              <a:ext uri="{FF2B5EF4-FFF2-40B4-BE49-F238E27FC236}">
                <a16:creationId xmlns:a16="http://schemas.microsoft.com/office/drawing/2014/main" id="{56697A80-89DF-C91F-BE71-02846F7D69C0}"/>
              </a:ext>
            </a:extLst>
          </p:cNvPr>
          <p:cNvSpPr/>
          <p:nvPr/>
        </p:nvSpPr>
        <p:spPr>
          <a:xfrm>
            <a:off x="4109838" y="1926793"/>
            <a:ext cx="9664261" cy="10074040"/>
          </a:xfrm>
          <a:prstGeom prst="blockArc">
            <a:avLst>
              <a:gd name="adj1" fmla="val 16509444"/>
              <a:gd name="adj2" fmla="val 5088054"/>
              <a:gd name="adj3" fmla="val 5240"/>
            </a:avLst>
          </a:prstGeom>
          <a:solidFill>
            <a:srgbClr val="0F62FE"/>
          </a:solidFill>
          <a:ln>
            <a:solidFill>
              <a:srgbClr val="0F62FE"/>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defTabSz="2744792">
              <a:defRPr/>
            </a:pPr>
            <a:endParaRPr lang="en-GB" sz="5403">
              <a:solidFill>
                <a:srgbClr val="000000"/>
              </a:solidFill>
              <a:latin typeface="IBM Plex Sans Light" panose="020B0403050203000203" pitchFamily="34" charset="0"/>
            </a:endParaRPr>
          </a:p>
        </p:txBody>
      </p:sp>
    </p:spTree>
    <p:extLst>
      <p:ext uri="{BB962C8B-B14F-4D97-AF65-F5344CB8AC3E}">
        <p14:creationId xmlns:p14="http://schemas.microsoft.com/office/powerpoint/2010/main" val="423193082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52B0BF-0025-6C15-7489-D18FA4386614}"/>
              </a:ext>
            </a:extLst>
          </p:cNvPr>
          <p:cNvSpPr>
            <a:spLocks noGrp="1"/>
          </p:cNvSpPr>
          <p:nvPr>
            <p:ph type="title"/>
          </p:nvPr>
        </p:nvSpPr>
        <p:spPr>
          <a:xfrm>
            <a:off x="576072" y="385200"/>
            <a:ext cx="8156448" cy="1527048"/>
          </a:xfrm>
        </p:spPr>
        <p:txBody>
          <a:bodyPr/>
          <a:lstStyle/>
          <a:p>
            <a:r>
              <a:rPr lang="en-US" dirty="0">
                <a:solidFill>
                  <a:schemeClr val="accent1"/>
                </a:solidFill>
              </a:rPr>
              <a:t>Operationalizing AI </a:t>
            </a:r>
            <a:r>
              <a:rPr lang="en-US" dirty="0"/>
              <a:t>with confidence</a:t>
            </a:r>
            <a:endParaRPr lang="en-US" dirty="0">
              <a:solidFill>
                <a:schemeClr val="tx1"/>
              </a:solidFill>
              <a:highlight>
                <a:srgbClr val="FFFF00"/>
              </a:highlight>
            </a:endParaRPr>
          </a:p>
        </p:txBody>
      </p:sp>
      <p:sp>
        <p:nvSpPr>
          <p:cNvPr id="3" name="Tijdelijke aanduiding voor dianummer 2">
            <a:extLst>
              <a:ext uri="{FF2B5EF4-FFF2-40B4-BE49-F238E27FC236}">
                <a16:creationId xmlns:a16="http://schemas.microsoft.com/office/drawing/2014/main" id="{3EBC1F10-5A7B-CB31-C8C6-CFF97152E89A}"/>
              </a:ext>
            </a:extLst>
          </p:cNvPr>
          <p:cNvSpPr txBox="1">
            <a:spLocks/>
          </p:cNvSpPr>
          <p:nvPr/>
        </p:nvSpPr>
        <p:spPr>
          <a:xfrm>
            <a:off x="18899190" y="12801601"/>
            <a:ext cx="4876619" cy="444499"/>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algn="r"/>
            <a:fld id="{D0BE6F14-FF48-0F4F-A8AA-2E3F25371E4A}" type="slidenum">
              <a:rPr lang="en-US" sz="1600">
                <a:solidFill>
                  <a:srgbClr val="000000"/>
                </a:solidFill>
                <a:latin typeface="IBM Plex Sans" panose="020B0503050203000203" pitchFamily="34" charset="0"/>
              </a:rPr>
              <a:pPr algn="r"/>
              <a:t>9</a:t>
            </a:fld>
            <a:endParaRPr lang="en-US" sz="1600" dirty="0">
              <a:solidFill>
                <a:srgbClr val="000000"/>
              </a:solidFill>
              <a:latin typeface="IBM Plex Sans" panose="020B0503050203000203" pitchFamily="34" charset="0"/>
            </a:endParaRPr>
          </a:p>
        </p:txBody>
      </p:sp>
      <p:sp>
        <p:nvSpPr>
          <p:cNvPr id="26" name="Rectangle 25">
            <a:extLst>
              <a:ext uri="{FF2B5EF4-FFF2-40B4-BE49-F238E27FC236}">
                <a16:creationId xmlns:a16="http://schemas.microsoft.com/office/drawing/2014/main" id="{C33DDC03-6C73-CE96-D9A7-0F17BCA2E06F}"/>
              </a:ext>
            </a:extLst>
          </p:cNvPr>
          <p:cNvSpPr/>
          <p:nvPr/>
        </p:nvSpPr>
        <p:spPr bwMode="auto">
          <a:xfrm>
            <a:off x="12193587" y="896"/>
            <a:ext cx="12192000" cy="13714213"/>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1" tIns="457141" rIns="457141" bIns="457141" numCol="1" rtlCol="0" anchor="t" anchorCtr="0" compatLnSpc="1">
            <a:prstTxWarp prst="textNoShape">
              <a:avLst/>
            </a:prstTxWarp>
          </a:bodyPr>
          <a:lstStyle/>
          <a:p>
            <a:pPr algn="r" defTabSz="914425" fontAlgn="base">
              <a:spcBef>
                <a:spcPct val="0"/>
              </a:spcBef>
              <a:spcAft>
                <a:spcPts val="2400"/>
              </a:spcAft>
            </a:pPr>
            <a:endParaRPr lang="en-US" sz="4800" i="1" dirty="0">
              <a:solidFill>
                <a:schemeClr val="accent1"/>
              </a:solidFill>
              <a:latin typeface="IBM Plex Sans Light"/>
            </a:endParaRPr>
          </a:p>
        </p:txBody>
      </p:sp>
      <p:pic>
        <p:nvPicPr>
          <p:cNvPr id="27" name="Picture 26" descr="Diagram&#10;&#10;Description automatically generated">
            <a:extLst>
              <a:ext uri="{FF2B5EF4-FFF2-40B4-BE49-F238E27FC236}">
                <a16:creationId xmlns:a16="http://schemas.microsoft.com/office/drawing/2014/main" id="{A80C8879-8263-C658-A544-812CB5B109D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0835"/>
          <a:stretch/>
        </p:blipFill>
        <p:spPr>
          <a:xfrm>
            <a:off x="12193587" y="0"/>
            <a:ext cx="12192000" cy="13716000"/>
          </a:xfrm>
          <a:prstGeom prst="rect">
            <a:avLst/>
          </a:prstGeom>
        </p:spPr>
      </p:pic>
      <p:sp>
        <p:nvSpPr>
          <p:cNvPr id="28" name="TextBox 27">
            <a:extLst>
              <a:ext uri="{FF2B5EF4-FFF2-40B4-BE49-F238E27FC236}">
                <a16:creationId xmlns:a16="http://schemas.microsoft.com/office/drawing/2014/main" id="{61E94F85-18B6-87F9-44E6-83964B980DE0}"/>
              </a:ext>
            </a:extLst>
          </p:cNvPr>
          <p:cNvSpPr txBox="1"/>
          <p:nvPr/>
        </p:nvSpPr>
        <p:spPr>
          <a:xfrm>
            <a:off x="610588" y="3755426"/>
            <a:ext cx="10972627" cy="7130173"/>
          </a:xfrm>
          <a:prstGeom prst="rect">
            <a:avLst/>
          </a:prstGeom>
          <a:noFill/>
        </p:spPr>
        <p:txBody>
          <a:bodyPr wrap="square" lIns="0" tIns="0" rIns="0" bIns="0" rtlCol="0" anchor="ctr">
            <a:noAutofit/>
          </a:bodyPr>
          <a:lstStyle/>
          <a:p>
            <a:pPr>
              <a:spcBef>
                <a:spcPts val="4533"/>
              </a:spcBef>
              <a:buClr>
                <a:schemeClr val="tx1"/>
              </a:buClr>
              <a:buSzPct val="80000"/>
            </a:pPr>
            <a:r>
              <a:rPr lang="en-US" sz="4400" dirty="0">
                <a:latin typeface="IBM Plex Sans Light" panose="020B0403050203000203" pitchFamily="34" charset="0"/>
                <a:ea typeface="Arial" charset="0"/>
                <a:cs typeface="Arial" charset="0"/>
              </a:rPr>
              <a:t>Organizations struggle with: </a:t>
            </a:r>
          </a:p>
          <a:p>
            <a:pPr marL="487691" indent="-487691">
              <a:spcBef>
                <a:spcPts val="4533"/>
              </a:spcBef>
              <a:buClr>
                <a:schemeClr val="tx1"/>
              </a:buClr>
              <a:buSzPct val="80000"/>
              <a:buFont typeface="Arial" panose="020B0604020202020204" pitchFamily="34" charset="0"/>
              <a:buChar char="•"/>
            </a:pPr>
            <a:r>
              <a:rPr lang="en-US" sz="4400" dirty="0">
                <a:latin typeface="IBM Plex Sans Light" panose="020B0403050203000203" pitchFamily="34" charset="0"/>
                <a:ea typeface="Arial" charset="0"/>
                <a:cs typeface="Arial" charset="0"/>
              </a:rPr>
              <a:t>Clarity, monitoring, &amp; cataloging</a:t>
            </a:r>
          </a:p>
          <a:p>
            <a:pPr marL="487691" indent="-487691">
              <a:spcBef>
                <a:spcPts val="4533"/>
              </a:spcBef>
              <a:buClr>
                <a:schemeClr val="tx1"/>
              </a:buClr>
              <a:buSzPct val="80000"/>
              <a:buFont typeface="Arial" panose="020B0604020202020204" pitchFamily="34" charset="0"/>
              <a:buChar char="•"/>
            </a:pPr>
            <a:r>
              <a:rPr lang="en-US" sz="4400" dirty="0">
                <a:latin typeface="IBM Plex Sans Light" panose="020B0403050203000203" pitchFamily="34" charset="0"/>
                <a:ea typeface="Arial" charset="0"/>
                <a:cs typeface="Arial" charset="0"/>
              </a:rPr>
              <a:t>Transparent &amp; explainable workflows </a:t>
            </a:r>
          </a:p>
          <a:p>
            <a:pPr marL="487691" indent="-487691">
              <a:spcBef>
                <a:spcPts val="4533"/>
              </a:spcBef>
              <a:buClr>
                <a:schemeClr val="tx1"/>
              </a:buClr>
              <a:buSzPct val="80000"/>
              <a:buFont typeface="Arial" panose="020B0604020202020204" pitchFamily="34" charset="0"/>
              <a:buChar char="•"/>
            </a:pPr>
            <a:r>
              <a:rPr lang="en-US" sz="4400" dirty="0">
                <a:latin typeface="IBM Plex Sans Light" panose="020B0403050203000203" pitchFamily="34" charset="0"/>
                <a:ea typeface="Arial" charset="0"/>
                <a:cs typeface="Arial" charset="0"/>
              </a:rPr>
              <a:t>Scale and automation</a:t>
            </a:r>
          </a:p>
        </p:txBody>
      </p:sp>
    </p:spTree>
    <p:extLst>
      <p:ext uri="{BB962C8B-B14F-4D97-AF65-F5344CB8AC3E}">
        <p14:creationId xmlns:p14="http://schemas.microsoft.com/office/powerpoint/2010/main" val="392412319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9F1BA8-1D72-425A-E970-6580FDE46E06}"/>
              </a:ext>
            </a:extLst>
          </p:cNvPr>
          <p:cNvSpPr/>
          <p:nvPr/>
        </p:nvSpPr>
        <p:spPr bwMode="auto">
          <a:xfrm>
            <a:off x="26646" y="1787"/>
            <a:ext cx="6271141" cy="13714213"/>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defTabSz="914411" fontAlgn="base">
              <a:spcBef>
                <a:spcPct val="0"/>
              </a:spcBef>
              <a:spcAft>
                <a:spcPct val="0"/>
              </a:spcAft>
            </a:pPr>
            <a:endParaRPr lang="en-US" sz="1400" dirty="0">
              <a:solidFill>
                <a:srgbClr val="FFFFFF"/>
              </a:solidFill>
              <a:latin typeface="IBM Plex Sans Light" panose="020B0403050203000203" pitchFamily="34" charset="0"/>
            </a:endParaRPr>
          </a:p>
        </p:txBody>
      </p:sp>
      <p:sp>
        <p:nvSpPr>
          <p:cNvPr id="3" name="Text Placeholder 2">
            <a:extLst>
              <a:ext uri="{FF2B5EF4-FFF2-40B4-BE49-F238E27FC236}">
                <a16:creationId xmlns:a16="http://schemas.microsoft.com/office/drawing/2014/main" id="{B64DE75C-E7A3-1AC3-354A-2F61EDC14D7E}"/>
              </a:ext>
            </a:extLst>
          </p:cNvPr>
          <p:cNvSpPr>
            <a:spLocks noGrp="1"/>
          </p:cNvSpPr>
          <p:nvPr>
            <p:ph type="body" sz="quarter" idx="11"/>
          </p:nvPr>
        </p:nvSpPr>
        <p:spPr>
          <a:xfrm>
            <a:off x="576073" y="385200"/>
            <a:ext cx="4983630" cy="7044300"/>
          </a:xfrm>
        </p:spPr>
        <p:txBody>
          <a:bodyPr/>
          <a:lstStyle/>
          <a:p>
            <a:r>
              <a:rPr lang="en-US" dirty="0"/>
              <a:t>Why IBM OpenPages?</a:t>
            </a:r>
            <a:br>
              <a:rPr lang="en-US" dirty="0"/>
            </a:br>
            <a:r>
              <a:rPr lang="en-US" sz="4400" dirty="0">
                <a:solidFill>
                  <a:schemeClr val="accent1"/>
                </a:solidFill>
              </a:rPr>
              <a:t>Efficiency, reduced risk</a:t>
            </a:r>
            <a:r>
              <a:rPr lang="en-US" sz="4400" dirty="0"/>
              <a:t>, and </a:t>
            </a:r>
            <a:r>
              <a:rPr lang="en-US" sz="4400" dirty="0">
                <a:solidFill>
                  <a:schemeClr val="accent1"/>
                </a:solidFill>
              </a:rPr>
              <a:t>best-</a:t>
            </a:r>
            <a:br>
              <a:rPr lang="en-US" sz="4400" dirty="0">
                <a:solidFill>
                  <a:schemeClr val="accent1"/>
                </a:solidFill>
              </a:rPr>
            </a:br>
            <a:r>
              <a:rPr lang="en-US" sz="4400" dirty="0">
                <a:solidFill>
                  <a:schemeClr val="accent1"/>
                </a:solidFill>
              </a:rPr>
              <a:t>in-class</a:t>
            </a:r>
            <a:endParaRPr lang="en-US" sz="4400" dirty="0"/>
          </a:p>
        </p:txBody>
      </p:sp>
      <p:sp>
        <p:nvSpPr>
          <p:cNvPr id="7" name="Text Placeholder 6">
            <a:extLst>
              <a:ext uri="{FF2B5EF4-FFF2-40B4-BE49-F238E27FC236}">
                <a16:creationId xmlns:a16="http://schemas.microsoft.com/office/drawing/2014/main" id="{B81A8D2E-B6F9-4208-D4E1-0FBE6AE9959C}"/>
              </a:ext>
            </a:extLst>
          </p:cNvPr>
          <p:cNvSpPr>
            <a:spLocks noGrp="1"/>
          </p:cNvSpPr>
          <p:nvPr>
            <p:ph type="body" sz="quarter" idx="10"/>
          </p:nvPr>
        </p:nvSpPr>
        <p:spPr/>
        <p:txBody>
          <a:bodyPr/>
          <a:lstStyle/>
          <a:p>
            <a:r>
              <a:rPr lang="en-US" dirty="0">
                <a:solidFill>
                  <a:schemeClr val="accent1"/>
                </a:solidFill>
              </a:rPr>
              <a:t>Increase efficiency</a:t>
            </a:r>
          </a:p>
          <a:p>
            <a:endParaRPr lang="en-US" dirty="0"/>
          </a:p>
          <a:p>
            <a:pPr marL="571500" indent="-571500">
              <a:buFont typeface="Arial" panose="020B0604020202020204" pitchFamily="34" charset="0"/>
              <a:buChar char="•"/>
            </a:pPr>
            <a:r>
              <a:rPr lang="en-US" dirty="0"/>
              <a:t>Focus on configuration </a:t>
            </a:r>
            <a:br>
              <a:rPr lang="en-US" dirty="0"/>
            </a:br>
            <a:r>
              <a:rPr lang="en-US" dirty="0"/>
              <a:t>vs. customization</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Adapts to existing methodologies</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Seamless integration with legacy </a:t>
            </a:r>
            <a:br>
              <a:rPr lang="en-US" dirty="0"/>
            </a:br>
            <a:r>
              <a:rPr lang="en-US" dirty="0"/>
              <a:t>and be-spoke </a:t>
            </a:r>
            <a:br>
              <a:rPr lang="en-US" dirty="0"/>
            </a:br>
            <a:r>
              <a:rPr lang="en-US" dirty="0"/>
              <a:t>GRC tools</a:t>
            </a:r>
          </a:p>
          <a:p>
            <a:endParaRPr lang="en-US" dirty="0"/>
          </a:p>
          <a:p>
            <a:endParaRPr lang="en-US" dirty="0"/>
          </a:p>
        </p:txBody>
      </p:sp>
      <p:sp>
        <p:nvSpPr>
          <p:cNvPr id="8" name="Text Placeholder 7">
            <a:extLst>
              <a:ext uri="{FF2B5EF4-FFF2-40B4-BE49-F238E27FC236}">
                <a16:creationId xmlns:a16="http://schemas.microsoft.com/office/drawing/2014/main" id="{61187A04-567C-EB4E-B1D4-8F09F7036F60}"/>
              </a:ext>
            </a:extLst>
          </p:cNvPr>
          <p:cNvSpPr>
            <a:spLocks noGrp="1"/>
          </p:cNvSpPr>
          <p:nvPr>
            <p:ph type="body" sz="quarter" idx="20"/>
          </p:nvPr>
        </p:nvSpPr>
        <p:spPr/>
        <p:txBody>
          <a:bodyPr/>
          <a:lstStyle/>
          <a:p>
            <a:r>
              <a:rPr lang="en-US" dirty="0">
                <a:solidFill>
                  <a:schemeClr val="accent1"/>
                </a:solidFill>
              </a:rPr>
              <a:t>Reduce risk exposure </a:t>
            </a:r>
            <a:endParaRPr lang="en-US" dirty="0"/>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Avoid/reduce exposure to regulatory fines</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Raise risk </a:t>
            </a:r>
            <a:br>
              <a:rPr lang="en-US" dirty="0"/>
            </a:br>
            <a:r>
              <a:rPr lang="en-US" dirty="0"/>
              <a:t>awareness across </a:t>
            </a:r>
            <a:br>
              <a:rPr lang="en-US" dirty="0"/>
            </a:br>
            <a:r>
              <a:rPr lang="en-US" dirty="0"/>
              <a:t>the organization</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r>
              <a:rPr lang="en-US" dirty="0"/>
              <a:t>Connect employees to critical policies in their native language</a:t>
            </a:r>
          </a:p>
          <a:p>
            <a:endParaRPr lang="en-US" dirty="0"/>
          </a:p>
          <a:p>
            <a:endParaRPr lang="en-US" dirty="0"/>
          </a:p>
        </p:txBody>
      </p:sp>
      <p:sp>
        <p:nvSpPr>
          <p:cNvPr id="9" name="Text Placeholder 8">
            <a:extLst>
              <a:ext uri="{FF2B5EF4-FFF2-40B4-BE49-F238E27FC236}">
                <a16:creationId xmlns:a16="http://schemas.microsoft.com/office/drawing/2014/main" id="{15100E44-113F-EE0D-8063-038022371756}"/>
              </a:ext>
            </a:extLst>
          </p:cNvPr>
          <p:cNvSpPr>
            <a:spLocks noGrp="1"/>
          </p:cNvSpPr>
          <p:nvPr>
            <p:ph type="body" sz="quarter" idx="21"/>
          </p:nvPr>
        </p:nvSpPr>
        <p:spPr/>
        <p:txBody>
          <a:bodyPr/>
          <a:lstStyle/>
          <a:p>
            <a:r>
              <a:rPr lang="en-US" dirty="0">
                <a:solidFill>
                  <a:schemeClr val="accent1"/>
                </a:solidFill>
              </a:rPr>
              <a:t>Leverage GRC expertise</a:t>
            </a:r>
          </a:p>
          <a:p>
            <a:endParaRPr lang="en-US" dirty="0"/>
          </a:p>
          <a:p>
            <a:pPr marL="918635" lvl="1" indent="-457206" defTabSz="1829311">
              <a:spcBef>
                <a:spcPts val="1600"/>
              </a:spcBef>
              <a:buSzTx/>
              <a:defRPr/>
            </a:pPr>
            <a:r>
              <a:rPr lang="en-US" kern="1200" dirty="0">
                <a:solidFill>
                  <a:srgbClr val="000000"/>
                </a:solidFill>
                <a:ea typeface="+mn-ea"/>
                <a:cs typeface="+mn-cs"/>
              </a:rPr>
              <a:t>Extensive success modernizing </a:t>
            </a:r>
            <a:br>
              <a:rPr lang="en-US" kern="1200" dirty="0">
                <a:solidFill>
                  <a:srgbClr val="000000"/>
                </a:solidFill>
                <a:ea typeface="+mn-ea"/>
                <a:cs typeface="+mn-cs"/>
              </a:rPr>
            </a:br>
            <a:r>
              <a:rPr lang="en-US" kern="1200" dirty="0">
                <a:solidFill>
                  <a:srgbClr val="000000"/>
                </a:solidFill>
                <a:ea typeface="+mn-ea"/>
                <a:cs typeface="+mn-cs"/>
              </a:rPr>
              <a:t>from legacy </a:t>
            </a:r>
            <a:br>
              <a:rPr lang="en-US" kern="1200" dirty="0">
                <a:solidFill>
                  <a:srgbClr val="000000"/>
                </a:solidFill>
                <a:ea typeface="+mn-ea"/>
                <a:cs typeface="+mn-cs"/>
              </a:rPr>
            </a:br>
            <a:r>
              <a:rPr lang="en-US" kern="1200" dirty="0">
                <a:solidFill>
                  <a:srgbClr val="000000"/>
                </a:solidFill>
                <a:ea typeface="+mn-ea"/>
                <a:cs typeface="+mn-cs"/>
              </a:rPr>
              <a:t>GRC platforms</a:t>
            </a:r>
          </a:p>
          <a:p>
            <a:pPr marL="918635" lvl="1" indent="-457206" defTabSz="1829311">
              <a:spcBef>
                <a:spcPts val="1600"/>
              </a:spcBef>
              <a:buSzTx/>
              <a:defRPr/>
            </a:pPr>
            <a:r>
              <a:rPr lang="en-US" kern="1200" dirty="0">
                <a:solidFill>
                  <a:srgbClr val="000000"/>
                </a:solidFill>
                <a:ea typeface="+mn-ea"/>
                <a:cs typeface="+mn-cs"/>
              </a:rPr>
              <a:t>GRC focused platform on the market for over </a:t>
            </a:r>
            <a:br>
              <a:rPr lang="en-US" kern="1200" dirty="0">
                <a:solidFill>
                  <a:srgbClr val="000000"/>
                </a:solidFill>
                <a:ea typeface="+mn-ea"/>
                <a:cs typeface="+mn-cs"/>
              </a:rPr>
            </a:br>
            <a:r>
              <a:rPr lang="en-US" kern="1200" dirty="0">
                <a:solidFill>
                  <a:srgbClr val="000000"/>
                </a:solidFill>
                <a:ea typeface="+mn-ea"/>
                <a:cs typeface="+mn-cs"/>
              </a:rPr>
              <a:t>20 years</a:t>
            </a:r>
          </a:p>
          <a:p>
            <a:pPr marL="918635" lvl="1" indent="-457206" defTabSz="1829311">
              <a:spcBef>
                <a:spcPts val="1600"/>
              </a:spcBef>
              <a:buSzTx/>
              <a:defRPr/>
            </a:pPr>
            <a:r>
              <a:rPr lang="en-US" kern="1200" dirty="0">
                <a:solidFill>
                  <a:srgbClr val="000000"/>
                </a:solidFill>
                <a:ea typeface="+mn-ea"/>
                <a:cs typeface="+mn-cs"/>
              </a:rPr>
              <a:t>World class guidance from </a:t>
            </a:r>
            <a:br>
              <a:rPr lang="en-US" kern="1200" dirty="0">
                <a:solidFill>
                  <a:srgbClr val="000000"/>
                </a:solidFill>
                <a:ea typeface="+mn-ea"/>
                <a:cs typeface="+mn-cs"/>
              </a:rPr>
            </a:br>
            <a:r>
              <a:rPr lang="en-US" kern="1200" dirty="0">
                <a:solidFill>
                  <a:srgbClr val="000000"/>
                </a:solidFill>
                <a:ea typeface="+mn-ea"/>
                <a:cs typeface="+mn-cs"/>
              </a:rPr>
              <a:t>GRC veterans</a:t>
            </a:r>
          </a:p>
          <a:p>
            <a:endParaRPr lang="en-US" dirty="0"/>
          </a:p>
        </p:txBody>
      </p:sp>
      <p:sp>
        <p:nvSpPr>
          <p:cNvPr id="13" name="Freeform 12">
            <a:extLst>
              <a:ext uri="{FF2B5EF4-FFF2-40B4-BE49-F238E27FC236}">
                <a16:creationId xmlns:a16="http://schemas.microsoft.com/office/drawing/2014/main" id="{2C6359DC-71BA-FB0C-E45C-CAB525D9DA66}"/>
              </a:ext>
            </a:extLst>
          </p:cNvPr>
          <p:cNvSpPr>
            <a:spLocks noChangeAspect="1"/>
          </p:cNvSpPr>
          <p:nvPr/>
        </p:nvSpPr>
        <p:spPr>
          <a:xfrm>
            <a:off x="18835371" y="606079"/>
            <a:ext cx="960096" cy="1014851"/>
          </a:xfrm>
          <a:custGeom>
            <a:avLst/>
            <a:gdLst>
              <a:gd name="connsiteX0" fmla="*/ 746608 w 943807"/>
              <a:gd name="connsiteY0" fmla="*/ 997635 h 997634"/>
              <a:gd name="connsiteX1" fmla="*/ 722948 w 943807"/>
              <a:gd name="connsiteY1" fmla="*/ 997635 h 997634"/>
              <a:gd name="connsiteX2" fmla="*/ 722948 w 943807"/>
              <a:gd name="connsiteY2" fmla="*/ 751175 h 997634"/>
              <a:gd name="connsiteX3" fmla="*/ 529986 w 943807"/>
              <a:gd name="connsiteY3" fmla="*/ 507213 h 997634"/>
              <a:gd name="connsiteX4" fmla="*/ 520949 w 943807"/>
              <a:gd name="connsiteY4" fmla="*/ 496829 h 997634"/>
              <a:gd name="connsiteX5" fmla="*/ 527916 w 943807"/>
              <a:gd name="connsiteY5" fmla="*/ 484901 h 997634"/>
              <a:gd name="connsiteX6" fmla="*/ 609938 w 943807"/>
              <a:gd name="connsiteY6" fmla="*/ 358845 h 997634"/>
              <a:gd name="connsiteX7" fmla="*/ 471920 w 943807"/>
              <a:gd name="connsiteY7" fmla="*/ 220795 h 997634"/>
              <a:gd name="connsiteX8" fmla="*/ 333870 w 943807"/>
              <a:gd name="connsiteY8" fmla="*/ 358845 h 997634"/>
              <a:gd name="connsiteX9" fmla="*/ 415892 w 943807"/>
              <a:gd name="connsiteY9" fmla="*/ 484901 h 997634"/>
              <a:gd name="connsiteX10" fmla="*/ 422859 w 943807"/>
              <a:gd name="connsiteY10" fmla="*/ 496829 h 997634"/>
              <a:gd name="connsiteX11" fmla="*/ 413822 w 943807"/>
              <a:gd name="connsiteY11" fmla="*/ 507213 h 997634"/>
              <a:gd name="connsiteX12" fmla="*/ 220860 w 943807"/>
              <a:gd name="connsiteY12" fmla="*/ 751175 h 997634"/>
              <a:gd name="connsiteX13" fmla="*/ 220860 w 943807"/>
              <a:gd name="connsiteY13" fmla="*/ 997635 h 997634"/>
              <a:gd name="connsiteX14" fmla="*/ 197168 w 943807"/>
              <a:gd name="connsiteY14" fmla="*/ 997635 h 997634"/>
              <a:gd name="connsiteX15" fmla="*/ 197168 w 943807"/>
              <a:gd name="connsiteY15" fmla="*/ 751175 h 997634"/>
              <a:gd name="connsiteX16" fmla="*/ 380698 w 943807"/>
              <a:gd name="connsiteY16" fmla="*/ 492262 h 997634"/>
              <a:gd name="connsiteX17" fmla="*/ 310177 w 943807"/>
              <a:gd name="connsiteY17" fmla="*/ 358812 h 997634"/>
              <a:gd name="connsiteX18" fmla="*/ 403043 w 943807"/>
              <a:gd name="connsiteY18" fmla="*/ 212514 h 997634"/>
              <a:gd name="connsiteX19" fmla="*/ 412737 w 943807"/>
              <a:gd name="connsiteY19" fmla="*/ 161677 h 997634"/>
              <a:gd name="connsiteX20" fmla="*/ 274720 w 943807"/>
              <a:gd name="connsiteY20" fmla="*/ 23627 h 997634"/>
              <a:gd name="connsiteX21" fmla="*/ 136670 w 943807"/>
              <a:gd name="connsiteY21" fmla="*/ 161677 h 997634"/>
              <a:gd name="connsiteX22" fmla="*/ 218692 w 943807"/>
              <a:gd name="connsiteY22" fmla="*/ 287733 h 997634"/>
              <a:gd name="connsiteX23" fmla="*/ 225658 w 943807"/>
              <a:gd name="connsiteY23" fmla="*/ 299662 h 997634"/>
              <a:gd name="connsiteX24" fmla="*/ 216621 w 943807"/>
              <a:gd name="connsiteY24" fmla="*/ 310046 h 997634"/>
              <a:gd name="connsiteX25" fmla="*/ 23660 w 943807"/>
              <a:gd name="connsiteY25" fmla="*/ 554008 h 997634"/>
              <a:gd name="connsiteX26" fmla="*/ 23660 w 943807"/>
              <a:gd name="connsiteY26" fmla="*/ 800467 h 997634"/>
              <a:gd name="connsiteX27" fmla="*/ 0 w 943807"/>
              <a:gd name="connsiteY27" fmla="*/ 800467 h 997634"/>
              <a:gd name="connsiteX28" fmla="*/ 0 w 943807"/>
              <a:gd name="connsiteY28" fmla="*/ 554008 h 997634"/>
              <a:gd name="connsiteX29" fmla="*/ 183530 w 943807"/>
              <a:gd name="connsiteY29" fmla="*/ 295094 h 997634"/>
              <a:gd name="connsiteX30" fmla="*/ 113043 w 943807"/>
              <a:gd name="connsiteY30" fmla="*/ 161677 h 997634"/>
              <a:gd name="connsiteX31" fmla="*/ 274720 w 943807"/>
              <a:gd name="connsiteY31" fmla="*/ 0 h 997634"/>
              <a:gd name="connsiteX32" fmla="*/ 436397 w 943807"/>
              <a:gd name="connsiteY32" fmla="*/ 161677 h 997634"/>
              <a:gd name="connsiteX33" fmla="*/ 431238 w 943807"/>
              <a:gd name="connsiteY33" fmla="*/ 202327 h 997634"/>
              <a:gd name="connsiteX34" fmla="*/ 512504 w 943807"/>
              <a:gd name="connsiteY34" fmla="*/ 202327 h 997634"/>
              <a:gd name="connsiteX35" fmla="*/ 507345 w 943807"/>
              <a:gd name="connsiteY35" fmla="*/ 161677 h 997634"/>
              <a:gd name="connsiteX36" fmla="*/ 669055 w 943807"/>
              <a:gd name="connsiteY36" fmla="*/ 0 h 997634"/>
              <a:gd name="connsiteX37" fmla="*/ 830765 w 943807"/>
              <a:gd name="connsiteY37" fmla="*/ 161677 h 997634"/>
              <a:gd name="connsiteX38" fmla="*/ 760245 w 943807"/>
              <a:gd name="connsiteY38" fmla="*/ 295127 h 997634"/>
              <a:gd name="connsiteX39" fmla="*/ 943808 w 943807"/>
              <a:gd name="connsiteY39" fmla="*/ 554041 h 997634"/>
              <a:gd name="connsiteX40" fmla="*/ 943808 w 943807"/>
              <a:gd name="connsiteY40" fmla="*/ 800467 h 997634"/>
              <a:gd name="connsiteX41" fmla="*/ 920115 w 943807"/>
              <a:gd name="connsiteY41" fmla="*/ 800467 h 997634"/>
              <a:gd name="connsiteX42" fmla="*/ 920115 w 943807"/>
              <a:gd name="connsiteY42" fmla="*/ 554008 h 997634"/>
              <a:gd name="connsiteX43" fmla="*/ 727154 w 943807"/>
              <a:gd name="connsiteY43" fmla="*/ 310046 h 997634"/>
              <a:gd name="connsiteX44" fmla="*/ 718117 w 943807"/>
              <a:gd name="connsiteY44" fmla="*/ 299662 h 997634"/>
              <a:gd name="connsiteX45" fmla="*/ 725084 w 943807"/>
              <a:gd name="connsiteY45" fmla="*/ 287733 h 997634"/>
              <a:gd name="connsiteX46" fmla="*/ 807072 w 943807"/>
              <a:gd name="connsiteY46" fmla="*/ 161677 h 997634"/>
              <a:gd name="connsiteX47" fmla="*/ 669055 w 943807"/>
              <a:gd name="connsiteY47" fmla="*/ 23627 h 997634"/>
              <a:gd name="connsiteX48" fmla="*/ 531038 w 943807"/>
              <a:gd name="connsiteY48" fmla="*/ 161677 h 997634"/>
              <a:gd name="connsiteX49" fmla="*/ 540732 w 943807"/>
              <a:gd name="connsiteY49" fmla="*/ 212547 h 997634"/>
              <a:gd name="connsiteX50" fmla="*/ 633598 w 943807"/>
              <a:gd name="connsiteY50" fmla="*/ 358845 h 997634"/>
              <a:gd name="connsiteX51" fmla="*/ 563078 w 943807"/>
              <a:gd name="connsiteY51" fmla="*/ 492294 h 997634"/>
              <a:gd name="connsiteX52" fmla="*/ 746640 w 943807"/>
              <a:gd name="connsiteY52" fmla="*/ 751208 h 997634"/>
              <a:gd name="connsiteX53" fmla="*/ 746608 w 943807"/>
              <a:gd name="connsiteY53" fmla="*/ 997635 h 997634"/>
              <a:gd name="connsiteX54" fmla="*/ 746608 w 943807"/>
              <a:gd name="connsiteY54" fmla="*/ 997635 h 99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43807" h="997634">
                <a:moveTo>
                  <a:pt x="746608" y="997635"/>
                </a:moveTo>
                <a:lnTo>
                  <a:pt x="722948" y="997635"/>
                </a:lnTo>
                <a:lnTo>
                  <a:pt x="722948" y="751175"/>
                </a:lnTo>
                <a:cubicBezTo>
                  <a:pt x="722948" y="634452"/>
                  <a:pt x="643620" y="534160"/>
                  <a:pt x="529986" y="507213"/>
                </a:cubicBezTo>
                <a:cubicBezTo>
                  <a:pt x="525057" y="506030"/>
                  <a:pt x="521409" y="501857"/>
                  <a:pt x="520949" y="496829"/>
                </a:cubicBezTo>
                <a:cubicBezTo>
                  <a:pt x="520457" y="491769"/>
                  <a:pt x="523283" y="486971"/>
                  <a:pt x="527916" y="484901"/>
                </a:cubicBezTo>
                <a:cubicBezTo>
                  <a:pt x="577767" y="462719"/>
                  <a:pt x="609938" y="413230"/>
                  <a:pt x="609938" y="358845"/>
                </a:cubicBezTo>
                <a:cubicBezTo>
                  <a:pt x="609938" y="282738"/>
                  <a:pt x="548027" y="220795"/>
                  <a:pt x="471920" y="220795"/>
                </a:cubicBezTo>
                <a:cubicBezTo>
                  <a:pt x="395814" y="220795"/>
                  <a:pt x="333870" y="282705"/>
                  <a:pt x="333870" y="358845"/>
                </a:cubicBezTo>
                <a:cubicBezTo>
                  <a:pt x="333870" y="413230"/>
                  <a:pt x="366074" y="462752"/>
                  <a:pt x="415892" y="484901"/>
                </a:cubicBezTo>
                <a:cubicBezTo>
                  <a:pt x="420525" y="486971"/>
                  <a:pt x="423351" y="491769"/>
                  <a:pt x="422859" y="496829"/>
                </a:cubicBezTo>
                <a:cubicBezTo>
                  <a:pt x="422399" y="501857"/>
                  <a:pt x="418751" y="506063"/>
                  <a:pt x="413822" y="507213"/>
                </a:cubicBezTo>
                <a:cubicBezTo>
                  <a:pt x="300188" y="534160"/>
                  <a:pt x="220860" y="634452"/>
                  <a:pt x="220860" y="751175"/>
                </a:cubicBezTo>
                <a:lnTo>
                  <a:pt x="220860" y="997635"/>
                </a:lnTo>
                <a:lnTo>
                  <a:pt x="197168" y="997635"/>
                </a:lnTo>
                <a:lnTo>
                  <a:pt x="197168" y="751175"/>
                </a:lnTo>
                <a:cubicBezTo>
                  <a:pt x="197168" y="633138"/>
                  <a:pt x="271335" y="530413"/>
                  <a:pt x="380698" y="492262"/>
                </a:cubicBezTo>
                <a:cubicBezTo>
                  <a:pt x="337124" y="462456"/>
                  <a:pt x="310177" y="412704"/>
                  <a:pt x="310177" y="358812"/>
                </a:cubicBezTo>
                <a:cubicBezTo>
                  <a:pt x="310177" y="294273"/>
                  <a:pt x="348198" y="238408"/>
                  <a:pt x="403043" y="212514"/>
                </a:cubicBezTo>
                <a:cubicBezTo>
                  <a:pt x="409484" y="196379"/>
                  <a:pt x="412737" y="179291"/>
                  <a:pt x="412737" y="161677"/>
                </a:cubicBezTo>
                <a:cubicBezTo>
                  <a:pt x="412737" y="85571"/>
                  <a:pt x="350827" y="23627"/>
                  <a:pt x="274720" y="23627"/>
                </a:cubicBezTo>
                <a:cubicBezTo>
                  <a:pt x="198613" y="23627"/>
                  <a:pt x="136670" y="85538"/>
                  <a:pt x="136670" y="161677"/>
                </a:cubicBezTo>
                <a:cubicBezTo>
                  <a:pt x="136670" y="216096"/>
                  <a:pt x="168874" y="265585"/>
                  <a:pt x="218692" y="287733"/>
                </a:cubicBezTo>
                <a:cubicBezTo>
                  <a:pt x="223358" y="289803"/>
                  <a:pt x="226118" y="294601"/>
                  <a:pt x="225658" y="299662"/>
                </a:cubicBezTo>
                <a:cubicBezTo>
                  <a:pt x="225198" y="304690"/>
                  <a:pt x="221551" y="308896"/>
                  <a:pt x="216621" y="310046"/>
                </a:cubicBezTo>
                <a:cubicBezTo>
                  <a:pt x="102987" y="336992"/>
                  <a:pt x="23660" y="437285"/>
                  <a:pt x="23660" y="554008"/>
                </a:cubicBezTo>
                <a:lnTo>
                  <a:pt x="23660" y="800467"/>
                </a:lnTo>
                <a:lnTo>
                  <a:pt x="0" y="800467"/>
                </a:lnTo>
                <a:lnTo>
                  <a:pt x="0" y="554008"/>
                </a:lnTo>
                <a:cubicBezTo>
                  <a:pt x="0" y="435970"/>
                  <a:pt x="74168" y="333246"/>
                  <a:pt x="183530" y="295094"/>
                </a:cubicBezTo>
                <a:cubicBezTo>
                  <a:pt x="139956" y="265289"/>
                  <a:pt x="113043" y="215537"/>
                  <a:pt x="113043" y="161677"/>
                </a:cubicBezTo>
                <a:cubicBezTo>
                  <a:pt x="113043" y="72525"/>
                  <a:pt x="185567" y="0"/>
                  <a:pt x="274720" y="0"/>
                </a:cubicBezTo>
                <a:cubicBezTo>
                  <a:pt x="363873" y="0"/>
                  <a:pt x="436397" y="72525"/>
                  <a:pt x="436397" y="161677"/>
                </a:cubicBezTo>
                <a:cubicBezTo>
                  <a:pt x="436397" y="175545"/>
                  <a:pt x="434689" y="189149"/>
                  <a:pt x="431238" y="202327"/>
                </a:cubicBezTo>
                <a:cubicBezTo>
                  <a:pt x="457231" y="195590"/>
                  <a:pt x="486544" y="195590"/>
                  <a:pt x="512504" y="202327"/>
                </a:cubicBezTo>
                <a:cubicBezTo>
                  <a:pt x="509087" y="189149"/>
                  <a:pt x="507345" y="175545"/>
                  <a:pt x="507345" y="161677"/>
                </a:cubicBezTo>
                <a:cubicBezTo>
                  <a:pt x="507345" y="72525"/>
                  <a:pt x="579903" y="0"/>
                  <a:pt x="669055" y="0"/>
                </a:cubicBezTo>
                <a:cubicBezTo>
                  <a:pt x="758208" y="0"/>
                  <a:pt x="830765" y="72525"/>
                  <a:pt x="830765" y="161677"/>
                </a:cubicBezTo>
                <a:cubicBezTo>
                  <a:pt x="830765" y="215570"/>
                  <a:pt x="803819" y="265322"/>
                  <a:pt x="760245" y="295127"/>
                </a:cubicBezTo>
                <a:cubicBezTo>
                  <a:pt x="869640" y="333279"/>
                  <a:pt x="943808" y="436003"/>
                  <a:pt x="943808" y="554041"/>
                </a:cubicBezTo>
                <a:lnTo>
                  <a:pt x="943808" y="800467"/>
                </a:lnTo>
                <a:lnTo>
                  <a:pt x="920115" y="800467"/>
                </a:lnTo>
                <a:lnTo>
                  <a:pt x="920115" y="554008"/>
                </a:lnTo>
                <a:cubicBezTo>
                  <a:pt x="920115" y="437285"/>
                  <a:pt x="840788" y="336992"/>
                  <a:pt x="727154" y="310046"/>
                </a:cubicBezTo>
                <a:cubicBezTo>
                  <a:pt x="722225" y="308863"/>
                  <a:pt x="718577" y="304690"/>
                  <a:pt x="718117" y="299662"/>
                </a:cubicBezTo>
                <a:cubicBezTo>
                  <a:pt x="717624" y="294601"/>
                  <a:pt x="720450" y="289803"/>
                  <a:pt x="725084" y="287733"/>
                </a:cubicBezTo>
                <a:cubicBezTo>
                  <a:pt x="774901" y="265552"/>
                  <a:pt x="807072" y="216063"/>
                  <a:pt x="807072" y="161677"/>
                </a:cubicBezTo>
                <a:cubicBezTo>
                  <a:pt x="807072" y="85571"/>
                  <a:pt x="745162" y="23627"/>
                  <a:pt x="669055" y="23627"/>
                </a:cubicBezTo>
                <a:cubicBezTo>
                  <a:pt x="592948" y="23627"/>
                  <a:pt x="531038" y="85538"/>
                  <a:pt x="531038" y="161677"/>
                </a:cubicBezTo>
                <a:cubicBezTo>
                  <a:pt x="531038" y="179291"/>
                  <a:pt x="534291" y="196379"/>
                  <a:pt x="540732" y="212547"/>
                </a:cubicBezTo>
                <a:cubicBezTo>
                  <a:pt x="595577" y="238474"/>
                  <a:pt x="633598" y="294305"/>
                  <a:pt x="633598" y="358845"/>
                </a:cubicBezTo>
                <a:cubicBezTo>
                  <a:pt x="633598" y="412737"/>
                  <a:pt x="606652" y="462489"/>
                  <a:pt x="563078" y="492294"/>
                </a:cubicBezTo>
                <a:cubicBezTo>
                  <a:pt x="672473" y="530446"/>
                  <a:pt x="746640" y="633171"/>
                  <a:pt x="746640" y="751208"/>
                </a:cubicBezTo>
                <a:lnTo>
                  <a:pt x="746608" y="997635"/>
                </a:lnTo>
                <a:lnTo>
                  <a:pt x="746608" y="997635"/>
                </a:lnTo>
                <a:close/>
              </a:path>
            </a:pathLst>
          </a:custGeom>
          <a:solidFill>
            <a:schemeClr val="accent1"/>
          </a:solidFill>
          <a:ln w="32742"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
        <p:nvSpPr>
          <p:cNvPr id="14" name="Freeform 13">
            <a:extLst>
              <a:ext uri="{FF2B5EF4-FFF2-40B4-BE49-F238E27FC236}">
                <a16:creationId xmlns:a16="http://schemas.microsoft.com/office/drawing/2014/main" id="{6964EFDD-0E64-B038-0B12-01D118AECC3F}"/>
              </a:ext>
            </a:extLst>
          </p:cNvPr>
          <p:cNvSpPr/>
          <p:nvPr/>
        </p:nvSpPr>
        <p:spPr>
          <a:xfrm>
            <a:off x="18781486" y="585016"/>
            <a:ext cx="1051424" cy="1051424"/>
          </a:xfrm>
          <a:custGeom>
            <a:avLst/>
            <a:gdLst>
              <a:gd name="connsiteX0" fmla="*/ 0 w 1051560"/>
              <a:gd name="connsiteY0" fmla="*/ 0 h 1051560"/>
              <a:gd name="connsiteX1" fmla="*/ 1051560 w 1051560"/>
              <a:gd name="connsiteY1" fmla="*/ 0 h 1051560"/>
              <a:gd name="connsiteX2" fmla="*/ 1051560 w 1051560"/>
              <a:gd name="connsiteY2" fmla="*/ 1051560 h 1051560"/>
              <a:gd name="connsiteX3" fmla="*/ 0 w 1051560"/>
              <a:gd name="connsiteY3" fmla="*/ 1051560 h 1051560"/>
            </a:gdLst>
            <a:ahLst/>
            <a:cxnLst>
              <a:cxn ang="0">
                <a:pos x="connsiteX0" y="connsiteY0"/>
              </a:cxn>
              <a:cxn ang="0">
                <a:pos x="connsiteX1" y="connsiteY1"/>
              </a:cxn>
              <a:cxn ang="0">
                <a:pos x="connsiteX2" y="connsiteY2"/>
              </a:cxn>
              <a:cxn ang="0">
                <a:pos x="connsiteX3" y="connsiteY3"/>
              </a:cxn>
            </a:cxnLst>
            <a:rect l="l" t="t" r="r" b="b"/>
            <a:pathLst>
              <a:path w="1051560" h="1051560">
                <a:moveTo>
                  <a:pt x="0" y="0"/>
                </a:moveTo>
                <a:lnTo>
                  <a:pt x="1051560" y="0"/>
                </a:lnTo>
                <a:lnTo>
                  <a:pt x="1051560" y="1051560"/>
                </a:lnTo>
                <a:lnTo>
                  <a:pt x="0" y="1051560"/>
                </a:lnTo>
                <a:close/>
              </a:path>
            </a:pathLst>
          </a:custGeom>
          <a:noFill/>
          <a:ln w="32742"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
        <p:nvSpPr>
          <p:cNvPr id="15" name="Freeform 14">
            <a:extLst>
              <a:ext uri="{FF2B5EF4-FFF2-40B4-BE49-F238E27FC236}">
                <a16:creationId xmlns:a16="http://schemas.microsoft.com/office/drawing/2014/main" id="{620193F5-49F8-3E55-21BE-4B0B40D92313}"/>
              </a:ext>
            </a:extLst>
          </p:cNvPr>
          <p:cNvSpPr/>
          <p:nvPr/>
        </p:nvSpPr>
        <p:spPr>
          <a:xfrm>
            <a:off x="12763861" y="581567"/>
            <a:ext cx="710237" cy="1053352"/>
          </a:xfrm>
          <a:custGeom>
            <a:avLst/>
            <a:gdLst>
              <a:gd name="connsiteX0" fmla="*/ 406613 w 710329"/>
              <a:gd name="connsiteY0" fmla="*/ 715474 h 1053488"/>
              <a:gd name="connsiteX1" fmla="*/ 367512 w 710329"/>
              <a:gd name="connsiteY1" fmla="*/ 765276 h 1053488"/>
              <a:gd name="connsiteX2" fmla="*/ 367512 w 710329"/>
              <a:gd name="connsiteY2" fmla="*/ 835520 h 1053488"/>
              <a:gd name="connsiteX3" fmla="*/ 355165 w 710329"/>
              <a:gd name="connsiteY3" fmla="*/ 847867 h 1053488"/>
              <a:gd name="connsiteX4" fmla="*/ 342817 w 710329"/>
              <a:gd name="connsiteY4" fmla="*/ 835520 h 1053488"/>
              <a:gd name="connsiteX5" fmla="*/ 342817 w 710329"/>
              <a:gd name="connsiteY5" fmla="*/ 765276 h 1053488"/>
              <a:gd name="connsiteX6" fmla="*/ 303716 w 710329"/>
              <a:gd name="connsiteY6" fmla="*/ 715474 h 1053488"/>
              <a:gd name="connsiteX7" fmla="*/ 355165 w 710329"/>
              <a:gd name="connsiteY7" fmla="*/ 664026 h 1053488"/>
              <a:gd name="connsiteX8" fmla="*/ 406613 w 710329"/>
              <a:gd name="connsiteY8" fmla="*/ 715474 h 1053488"/>
              <a:gd name="connsiteX9" fmla="*/ 710329 w 710329"/>
              <a:gd name="connsiteY9" fmla="*/ 423934 h 1053488"/>
              <a:gd name="connsiteX10" fmla="*/ 710329 w 710329"/>
              <a:gd name="connsiteY10" fmla="*/ 1041313 h 1053488"/>
              <a:gd name="connsiteX11" fmla="*/ 698153 w 710329"/>
              <a:gd name="connsiteY11" fmla="*/ 1053489 h 1053488"/>
              <a:gd name="connsiteX12" fmla="*/ 12176 w 710329"/>
              <a:gd name="connsiteY12" fmla="*/ 1053489 h 1053488"/>
              <a:gd name="connsiteX13" fmla="*/ 0 w 710329"/>
              <a:gd name="connsiteY13" fmla="*/ 1041313 h 1053488"/>
              <a:gd name="connsiteX14" fmla="*/ 0 w 710329"/>
              <a:gd name="connsiteY14" fmla="*/ 423934 h 1053488"/>
              <a:gd name="connsiteX15" fmla="*/ 12176 w 710329"/>
              <a:gd name="connsiteY15" fmla="*/ 411758 h 1053488"/>
              <a:gd name="connsiteX16" fmla="*/ 171323 w 710329"/>
              <a:gd name="connsiteY16" fmla="*/ 411758 h 1053488"/>
              <a:gd name="connsiteX17" fmla="*/ 171323 w 710329"/>
              <a:gd name="connsiteY17" fmla="*/ 183842 h 1053488"/>
              <a:gd name="connsiteX18" fmla="*/ 355165 w 710329"/>
              <a:gd name="connsiteY18" fmla="*/ 0 h 1053488"/>
              <a:gd name="connsiteX19" fmla="*/ 539006 w 710329"/>
              <a:gd name="connsiteY19" fmla="*/ 183842 h 1053488"/>
              <a:gd name="connsiteX20" fmla="*/ 539006 w 710329"/>
              <a:gd name="connsiteY20" fmla="*/ 411758 h 1053488"/>
              <a:gd name="connsiteX21" fmla="*/ 698153 w 710329"/>
              <a:gd name="connsiteY21" fmla="*/ 411758 h 1053488"/>
              <a:gd name="connsiteX22" fmla="*/ 710329 w 710329"/>
              <a:gd name="connsiteY22" fmla="*/ 423934 h 1053488"/>
              <a:gd name="connsiteX23" fmla="*/ 195984 w 710329"/>
              <a:gd name="connsiteY23" fmla="*/ 411758 h 1053488"/>
              <a:gd name="connsiteX24" fmla="*/ 514277 w 710329"/>
              <a:gd name="connsiteY24" fmla="*/ 411758 h 1053488"/>
              <a:gd name="connsiteX25" fmla="*/ 514277 w 710329"/>
              <a:gd name="connsiteY25" fmla="*/ 183842 h 1053488"/>
              <a:gd name="connsiteX26" fmla="*/ 355130 w 710329"/>
              <a:gd name="connsiteY26" fmla="*/ 24695 h 1053488"/>
              <a:gd name="connsiteX27" fmla="*/ 196018 w 710329"/>
              <a:gd name="connsiteY27" fmla="*/ 183842 h 1053488"/>
              <a:gd name="connsiteX28" fmla="*/ 195984 w 710329"/>
              <a:gd name="connsiteY28" fmla="*/ 411758 h 1053488"/>
              <a:gd name="connsiteX29" fmla="*/ 24352 w 710329"/>
              <a:gd name="connsiteY29" fmla="*/ 436110 h 1053488"/>
              <a:gd name="connsiteX30" fmla="*/ 24352 w 710329"/>
              <a:gd name="connsiteY30" fmla="*/ 1029103 h 1053488"/>
              <a:gd name="connsiteX31" fmla="*/ 685943 w 710329"/>
              <a:gd name="connsiteY31" fmla="*/ 1029103 h 1053488"/>
              <a:gd name="connsiteX32" fmla="*/ 685943 w 710329"/>
              <a:gd name="connsiteY32" fmla="*/ 436110 h 1053488"/>
              <a:gd name="connsiteX33" fmla="*/ 24352 w 710329"/>
              <a:gd name="connsiteY33" fmla="*/ 436110 h 105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10329" h="1053488">
                <a:moveTo>
                  <a:pt x="406613" y="715474"/>
                </a:moveTo>
                <a:cubicBezTo>
                  <a:pt x="406613" y="739620"/>
                  <a:pt x="389909" y="759719"/>
                  <a:pt x="367512" y="765276"/>
                </a:cubicBezTo>
                <a:lnTo>
                  <a:pt x="367512" y="835520"/>
                </a:lnTo>
                <a:cubicBezTo>
                  <a:pt x="367512" y="842345"/>
                  <a:pt x="361990" y="847867"/>
                  <a:pt x="355165" y="847867"/>
                </a:cubicBezTo>
                <a:cubicBezTo>
                  <a:pt x="348339" y="847867"/>
                  <a:pt x="342817" y="842345"/>
                  <a:pt x="342817" y="835520"/>
                </a:cubicBezTo>
                <a:lnTo>
                  <a:pt x="342817" y="765276"/>
                </a:lnTo>
                <a:cubicBezTo>
                  <a:pt x="320386" y="759719"/>
                  <a:pt x="303716" y="739620"/>
                  <a:pt x="303716" y="715474"/>
                </a:cubicBezTo>
                <a:cubicBezTo>
                  <a:pt x="303716" y="687075"/>
                  <a:pt x="326765" y="664026"/>
                  <a:pt x="355165" y="664026"/>
                </a:cubicBezTo>
                <a:cubicBezTo>
                  <a:pt x="383564" y="664026"/>
                  <a:pt x="406613" y="687075"/>
                  <a:pt x="406613" y="715474"/>
                </a:cubicBezTo>
                <a:close/>
                <a:moveTo>
                  <a:pt x="710329" y="423934"/>
                </a:moveTo>
                <a:lnTo>
                  <a:pt x="710329" y="1041313"/>
                </a:lnTo>
                <a:cubicBezTo>
                  <a:pt x="710329" y="1048035"/>
                  <a:pt x="704876" y="1053489"/>
                  <a:pt x="698153" y="1053489"/>
                </a:cubicBezTo>
                <a:lnTo>
                  <a:pt x="12176" y="1053489"/>
                </a:lnTo>
                <a:cubicBezTo>
                  <a:pt x="5454" y="1053489"/>
                  <a:pt x="0" y="1048035"/>
                  <a:pt x="0" y="1041313"/>
                </a:cubicBezTo>
                <a:lnTo>
                  <a:pt x="0" y="423934"/>
                </a:lnTo>
                <a:cubicBezTo>
                  <a:pt x="0" y="417211"/>
                  <a:pt x="5454" y="411758"/>
                  <a:pt x="12176" y="411758"/>
                </a:cubicBezTo>
                <a:lnTo>
                  <a:pt x="171323" y="411758"/>
                </a:lnTo>
                <a:lnTo>
                  <a:pt x="171323" y="183842"/>
                </a:lnTo>
                <a:cubicBezTo>
                  <a:pt x="171323" y="82454"/>
                  <a:pt x="253777" y="0"/>
                  <a:pt x="355165" y="0"/>
                </a:cubicBezTo>
                <a:cubicBezTo>
                  <a:pt x="456518" y="0"/>
                  <a:pt x="539006" y="82454"/>
                  <a:pt x="539006" y="183842"/>
                </a:cubicBezTo>
                <a:lnTo>
                  <a:pt x="539006" y="411758"/>
                </a:lnTo>
                <a:lnTo>
                  <a:pt x="698153" y="411758"/>
                </a:lnTo>
                <a:cubicBezTo>
                  <a:pt x="704876" y="411758"/>
                  <a:pt x="710329" y="417211"/>
                  <a:pt x="710329" y="423934"/>
                </a:cubicBezTo>
                <a:close/>
                <a:moveTo>
                  <a:pt x="195984" y="411758"/>
                </a:moveTo>
                <a:lnTo>
                  <a:pt x="514277" y="411758"/>
                </a:lnTo>
                <a:lnTo>
                  <a:pt x="514277" y="183842"/>
                </a:lnTo>
                <a:cubicBezTo>
                  <a:pt x="514277" y="96071"/>
                  <a:pt x="442901" y="24695"/>
                  <a:pt x="355130" y="24695"/>
                </a:cubicBezTo>
                <a:cubicBezTo>
                  <a:pt x="267359" y="24695"/>
                  <a:pt x="196018" y="96071"/>
                  <a:pt x="196018" y="183842"/>
                </a:cubicBezTo>
                <a:lnTo>
                  <a:pt x="195984" y="411758"/>
                </a:lnTo>
                <a:close/>
                <a:moveTo>
                  <a:pt x="24352" y="436110"/>
                </a:moveTo>
                <a:lnTo>
                  <a:pt x="24352" y="1029103"/>
                </a:lnTo>
                <a:lnTo>
                  <a:pt x="685943" y="1029103"/>
                </a:lnTo>
                <a:lnTo>
                  <a:pt x="685943" y="436110"/>
                </a:lnTo>
                <a:lnTo>
                  <a:pt x="24352" y="436110"/>
                </a:lnTo>
                <a:close/>
              </a:path>
            </a:pathLst>
          </a:custGeom>
          <a:solidFill>
            <a:schemeClr val="accent1"/>
          </a:solidFill>
          <a:ln w="34230"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
        <p:nvSpPr>
          <p:cNvPr id="16" name="Freeform 15">
            <a:extLst>
              <a:ext uri="{FF2B5EF4-FFF2-40B4-BE49-F238E27FC236}">
                <a16:creationId xmlns:a16="http://schemas.microsoft.com/office/drawing/2014/main" id="{5B497763-D053-2916-94C9-DC6EDF3B7C07}"/>
              </a:ext>
            </a:extLst>
          </p:cNvPr>
          <p:cNvSpPr/>
          <p:nvPr/>
        </p:nvSpPr>
        <p:spPr>
          <a:xfrm>
            <a:off x="12570271" y="559620"/>
            <a:ext cx="1097421" cy="1097421"/>
          </a:xfrm>
          <a:custGeom>
            <a:avLst/>
            <a:gdLst>
              <a:gd name="connsiteX0" fmla="*/ 0 w 1097563"/>
              <a:gd name="connsiteY0" fmla="*/ 0 h 1097563"/>
              <a:gd name="connsiteX1" fmla="*/ 1097563 w 1097563"/>
              <a:gd name="connsiteY1" fmla="*/ 0 h 1097563"/>
              <a:gd name="connsiteX2" fmla="*/ 1097563 w 1097563"/>
              <a:gd name="connsiteY2" fmla="*/ 1097563 h 1097563"/>
              <a:gd name="connsiteX3" fmla="*/ 0 w 1097563"/>
              <a:gd name="connsiteY3" fmla="*/ 1097563 h 1097563"/>
            </a:gdLst>
            <a:ahLst/>
            <a:cxnLst>
              <a:cxn ang="0">
                <a:pos x="connsiteX0" y="connsiteY0"/>
              </a:cxn>
              <a:cxn ang="0">
                <a:pos x="connsiteX1" y="connsiteY1"/>
              </a:cxn>
              <a:cxn ang="0">
                <a:pos x="connsiteX2" y="connsiteY2"/>
              </a:cxn>
              <a:cxn ang="0">
                <a:pos x="connsiteX3" y="connsiteY3"/>
              </a:cxn>
            </a:cxnLst>
            <a:rect l="l" t="t" r="r" b="b"/>
            <a:pathLst>
              <a:path w="1097563" h="1097563">
                <a:moveTo>
                  <a:pt x="0" y="0"/>
                </a:moveTo>
                <a:lnTo>
                  <a:pt x="1097563" y="0"/>
                </a:lnTo>
                <a:lnTo>
                  <a:pt x="1097563" y="1097563"/>
                </a:lnTo>
                <a:lnTo>
                  <a:pt x="0" y="1097563"/>
                </a:lnTo>
                <a:close/>
              </a:path>
            </a:pathLst>
          </a:custGeom>
          <a:noFill/>
          <a:ln w="34230"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
        <p:nvSpPr>
          <p:cNvPr id="17" name="Freeform 16">
            <a:extLst>
              <a:ext uri="{FF2B5EF4-FFF2-40B4-BE49-F238E27FC236}">
                <a16:creationId xmlns:a16="http://schemas.microsoft.com/office/drawing/2014/main" id="{C25FF5BE-B561-1CE0-71A6-D9C88669979E}"/>
              </a:ext>
            </a:extLst>
          </p:cNvPr>
          <p:cNvSpPr/>
          <p:nvPr/>
        </p:nvSpPr>
        <p:spPr>
          <a:xfrm>
            <a:off x="6537275" y="606079"/>
            <a:ext cx="1093669" cy="1093704"/>
          </a:xfrm>
          <a:custGeom>
            <a:avLst/>
            <a:gdLst>
              <a:gd name="connsiteX0" fmla="*/ 760541 w 1093811"/>
              <a:gd name="connsiteY0" fmla="*/ 1093847 h 1093847"/>
              <a:gd name="connsiteX1" fmla="*/ 427519 w 1093811"/>
              <a:gd name="connsiteY1" fmla="*/ 773395 h 1093847"/>
              <a:gd name="connsiteX2" fmla="*/ 297665 w 1093811"/>
              <a:gd name="connsiteY2" fmla="*/ 773395 h 1093847"/>
              <a:gd name="connsiteX3" fmla="*/ 284847 w 1093811"/>
              <a:gd name="connsiteY3" fmla="*/ 760576 h 1093847"/>
              <a:gd name="connsiteX4" fmla="*/ 284847 w 1093811"/>
              <a:gd name="connsiteY4" fmla="*/ 297700 h 1093847"/>
              <a:gd name="connsiteX5" fmla="*/ 297665 w 1093811"/>
              <a:gd name="connsiteY5" fmla="*/ 284882 h 1093847"/>
              <a:gd name="connsiteX6" fmla="*/ 475694 w 1093811"/>
              <a:gd name="connsiteY6" fmla="*/ 284882 h 1093847"/>
              <a:gd name="connsiteX7" fmla="*/ 484738 w 1093811"/>
              <a:gd name="connsiteY7" fmla="*/ 288621 h 1093847"/>
              <a:gd name="connsiteX8" fmla="*/ 488512 w 1093811"/>
              <a:gd name="connsiteY8" fmla="*/ 297700 h 1093847"/>
              <a:gd name="connsiteX9" fmla="*/ 488512 w 1093811"/>
              <a:gd name="connsiteY9" fmla="*/ 568127 h 1093847"/>
              <a:gd name="connsiteX10" fmla="*/ 569694 w 1093811"/>
              <a:gd name="connsiteY10" fmla="*/ 487444 h 1093847"/>
              <a:gd name="connsiteX11" fmla="*/ 569694 w 1093811"/>
              <a:gd name="connsiteY11" fmla="*/ 12818 h 1093847"/>
              <a:gd name="connsiteX12" fmla="*/ 582512 w 1093811"/>
              <a:gd name="connsiteY12" fmla="*/ 0 h 1093847"/>
              <a:gd name="connsiteX13" fmla="*/ 760541 w 1093811"/>
              <a:gd name="connsiteY13" fmla="*/ 0 h 1093847"/>
              <a:gd name="connsiteX14" fmla="*/ 769620 w 1093811"/>
              <a:gd name="connsiteY14" fmla="*/ 3739 h 1093847"/>
              <a:gd name="connsiteX15" fmla="*/ 773359 w 1093811"/>
              <a:gd name="connsiteY15" fmla="*/ 12854 h 1093847"/>
              <a:gd name="connsiteX16" fmla="*/ 773323 w 1093811"/>
              <a:gd name="connsiteY16" fmla="*/ 427555 h 1093847"/>
              <a:gd name="connsiteX17" fmla="*/ 1093812 w 1093811"/>
              <a:gd name="connsiteY17" fmla="*/ 760576 h 1093847"/>
              <a:gd name="connsiteX18" fmla="*/ 760541 w 1093811"/>
              <a:gd name="connsiteY18" fmla="*/ 1093847 h 1093847"/>
              <a:gd name="connsiteX19" fmla="*/ 760541 w 1093811"/>
              <a:gd name="connsiteY19" fmla="*/ 452942 h 1093847"/>
              <a:gd name="connsiteX20" fmla="*/ 589633 w 1093811"/>
              <a:gd name="connsiteY20" fmla="*/ 504891 h 1093847"/>
              <a:gd name="connsiteX21" fmla="*/ 487124 w 1093811"/>
              <a:gd name="connsiteY21" fmla="*/ 620076 h 1093847"/>
              <a:gd name="connsiteX22" fmla="*/ 452906 w 1093811"/>
              <a:gd name="connsiteY22" fmla="*/ 760576 h 1093847"/>
              <a:gd name="connsiteX23" fmla="*/ 760541 w 1093811"/>
              <a:gd name="connsiteY23" fmla="*/ 1068211 h 1093847"/>
              <a:gd name="connsiteX24" fmla="*/ 1068175 w 1093811"/>
              <a:gd name="connsiteY24" fmla="*/ 760576 h 1093847"/>
              <a:gd name="connsiteX25" fmla="*/ 760541 w 1093811"/>
              <a:gd name="connsiteY25" fmla="*/ 452942 h 1093847"/>
              <a:gd name="connsiteX26" fmla="*/ 310483 w 1093811"/>
              <a:gd name="connsiteY26" fmla="*/ 747758 h 1093847"/>
              <a:gd name="connsiteX27" fmla="*/ 427519 w 1093811"/>
              <a:gd name="connsiteY27" fmla="*/ 747758 h 1093847"/>
              <a:gd name="connsiteX28" fmla="*/ 462876 w 1093811"/>
              <a:gd name="connsiteY28" fmla="*/ 611210 h 1093847"/>
              <a:gd name="connsiteX29" fmla="*/ 462876 w 1093811"/>
              <a:gd name="connsiteY29" fmla="*/ 310519 h 1093847"/>
              <a:gd name="connsiteX30" fmla="*/ 310483 w 1093811"/>
              <a:gd name="connsiteY30" fmla="*/ 310519 h 1093847"/>
              <a:gd name="connsiteX31" fmla="*/ 310483 w 1093811"/>
              <a:gd name="connsiteY31" fmla="*/ 747758 h 1093847"/>
              <a:gd name="connsiteX32" fmla="*/ 595330 w 1093811"/>
              <a:gd name="connsiteY32" fmla="*/ 25672 h 1093847"/>
              <a:gd name="connsiteX33" fmla="*/ 595294 w 1093811"/>
              <a:gd name="connsiteY33" fmla="*/ 471208 h 1093847"/>
              <a:gd name="connsiteX34" fmla="*/ 604445 w 1093811"/>
              <a:gd name="connsiteY34" fmla="*/ 466152 h 1093847"/>
              <a:gd name="connsiteX35" fmla="*/ 673271 w 1093811"/>
              <a:gd name="connsiteY35" fmla="*/ 438878 h 1093847"/>
              <a:gd name="connsiteX36" fmla="*/ 747687 w 1093811"/>
              <a:gd name="connsiteY36" fmla="*/ 427555 h 1093847"/>
              <a:gd name="connsiteX37" fmla="*/ 747723 w 1093811"/>
              <a:gd name="connsiteY37" fmla="*/ 25672 h 1093847"/>
              <a:gd name="connsiteX38" fmla="*/ 595330 w 1093811"/>
              <a:gd name="connsiteY38" fmla="*/ 25672 h 1093847"/>
              <a:gd name="connsiteX39" fmla="*/ 773359 w 1093811"/>
              <a:gd name="connsiteY39" fmla="*/ 938606 h 1093847"/>
              <a:gd name="connsiteX40" fmla="*/ 747723 w 1093811"/>
              <a:gd name="connsiteY40" fmla="*/ 938606 h 1093847"/>
              <a:gd name="connsiteX41" fmla="*/ 747723 w 1093811"/>
              <a:gd name="connsiteY41" fmla="*/ 880212 h 1093847"/>
              <a:gd name="connsiteX42" fmla="*/ 653723 w 1093811"/>
              <a:gd name="connsiteY42" fmla="*/ 880212 h 1093847"/>
              <a:gd name="connsiteX43" fmla="*/ 653723 w 1093811"/>
              <a:gd name="connsiteY43" fmla="*/ 854576 h 1093847"/>
              <a:gd name="connsiteX44" fmla="*/ 813950 w 1093811"/>
              <a:gd name="connsiteY44" fmla="*/ 854576 h 1093847"/>
              <a:gd name="connsiteX45" fmla="*/ 854540 w 1093811"/>
              <a:gd name="connsiteY45" fmla="*/ 813985 h 1093847"/>
              <a:gd name="connsiteX46" fmla="*/ 813950 w 1093811"/>
              <a:gd name="connsiteY46" fmla="*/ 773395 h 1093847"/>
              <a:gd name="connsiteX47" fmla="*/ 707097 w 1093811"/>
              <a:gd name="connsiteY47" fmla="*/ 773395 h 1093847"/>
              <a:gd name="connsiteX48" fmla="*/ 640905 w 1093811"/>
              <a:gd name="connsiteY48" fmla="*/ 707168 h 1093847"/>
              <a:gd name="connsiteX49" fmla="*/ 707097 w 1093811"/>
              <a:gd name="connsiteY49" fmla="*/ 640941 h 1093847"/>
              <a:gd name="connsiteX50" fmla="*/ 747723 w 1093811"/>
              <a:gd name="connsiteY50" fmla="*/ 640941 h 1093847"/>
              <a:gd name="connsiteX51" fmla="*/ 747723 w 1093811"/>
              <a:gd name="connsiteY51" fmla="*/ 582547 h 1093847"/>
              <a:gd name="connsiteX52" fmla="*/ 773395 w 1093811"/>
              <a:gd name="connsiteY52" fmla="*/ 582547 h 1093847"/>
              <a:gd name="connsiteX53" fmla="*/ 773395 w 1093811"/>
              <a:gd name="connsiteY53" fmla="*/ 640941 h 1093847"/>
              <a:gd name="connsiteX54" fmla="*/ 867358 w 1093811"/>
              <a:gd name="connsiteY54" fmla="*/ 640941 h 1093847"/>
              <a:gd name="connsiteX55" fmla="*/ 867358 w 1093811"/>
              <a:gd name="connsiteY55" fmla="*/ 666613 h 1093847"/>
              <a:gd name="connsiteX56" fmla="*/ 707097 w 1093811"/>
              <a:gd name="connsiteY56" fmla="*/ 666613 h 1093847"/>
              <a:gd name="connsiteX57" fmla="*/ 666541 w 1093811"/>
              <a:gd name="connsiteY57" fmla="*/ 707203 h 1093847"/>
              <a:gd name="connsiteX58" fmla="*/ 707097 w 1093811"/>
              <a:gd name="connsiteY58" fmla="*/ 747794 h 1093847"/>
              <a:gd name="connsiteX59" fmla="*/ 813950 w 1093811"/>
              <a:gd name="connsiteY59" fmla="*/ 747794 h 1093847"/>
              <a:gd name="connsiteX60" fmla="*/ 880177 w 1093811"/>
              <a:gd name="connsiteY60" fmla="*/ 814021 h 1093847"/>
              <a:gd name="connsiteX61" fmla="*/ 813950 w 1093811"/>
              <a:gd name="connsiteY61" fmla="*/ 880248 h 1093847"/>
              <a:gd name="connsiteX62" fmla="*/ 773359 w 1093811"/>
              <a:gd name="connsiteY62" fmla="*/ 880248 h 1093847"/>
              <a:gd name="connsiteX63" fmla="*/ 773359 w 1093811"/>
              <a:gd name="connsiteY63" fmla="*/ 938606 h 1093847"/>
              <a:gd name="connsiteX64" fmla="*/ 190847 w 1093811"/>
              <a:gd name="connsiteY64" fmla="*/ 773395 h 1093847"/>
              <a:gd name="connsiteX65" fmla="*/ 12818 w 1093811"/>
              <a:gd name="connsiteY65" fmla="*/ 773395 h 1093847"/>
              <a:gd name="connsiteX66" fmla="*/ 0 w 1093811"/>
              <a:gd name="connsiteY66" fmla="*/ 760576 h 1093847"/>
              <a:gd name="connsiteX67" fmla="*/ 0 w 1093811"/>
              <a:gd name="connsiteY67" fmla="*/ 511336 h 1093847"/>
              <a:gd name="connsiteX68" fmla="*/ 12818 w 1093811"/>
              <a:gd name="connsiteY68" fmla="*/ 498517 h 1093847"/>
              <a:gd name="connsiteX69" fmla="*/ 190847 w 1093811"/>
              <a:gd name="connsiteY69" fmla="*/ 498517 h 1093847"/>
              <a:gd name="connsiteX70" fmla="*/ 203665 w 1093811"/>
              <a:gd name="connsiteY70" fmla="*/ 511336 h 1093847"/>
              <a:gd name="connsiteX71" fmla="*/ 203665 w 1093811"/>
              <a:gd name="connsiteY71" fmla="*/ 760576 h 1093847"/>
              <a:gd name="connsiteX72" fmla="*/ 190847 w 1093811"/>
              <a:gd name="connsiteY72" fmla="*/ 773395 h 1093847"/>
              <a:gd name="connsiteX73" fmla="*/ 25636 w 1093811"/>
              <a:gd name="connsiteY73" fmla="*/ 747758 h 1093847"/>
              <a:gd name="connsiteX74" fmla="*/ 178029 w 1093811"/>
              <a:gd name="connsiteY74" fmla="*/ 747758 h 1093847"/>
              <a:gd name="connsiteX75" fmla="*/ 178029 w 1093811"/>
              <a:gd name="connsiteY75" fmla="*/ 524154 h 1093847"/>
              <a:gd name="connsiteX76" fmla="*/ 25636 w 1093811"/>
              <a:gd name="connsiteY76" fmla="*/ 524154 h 1093847"/>
              <a:gd name="connsiteX77" fmla="*/ 25636 w 1093811"/>
              <a:gd name="connsiteY77" fmla="*/ 747758 h 1093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093811" h="1093847">
                <a:moveTo>
                  <a:pt x="760541" y="1093847"/>
                </a:moveTo>
                <a:cubicBezTo>
                  <a:pt x="581052" y="1093847"/>
                  <a:pt x="434284" y="951210"/>
                  <a:pt x="427519" y="773395"/>
                </a:cubicBezTo>
                <a:lnTo>
                  <a:pt x="297665" y="773395"/>
                </a:lnTo>
                <a:cubicBezTo>
                  <a:pt x="290579" y="773395"/>
                  <a:pt x="284847" y="767662"/>
                  <a:pt x="284847" y="760576"/>
                </a:cubicBezTo>
                <a:lnTo>
                  <a:pt x="284847" y="297700"/>
                </a:lnTo>
                <a:cubicBezTo>
                  <a:pt x="284847" y="290615"/>
                  <a:pt x="290579" y="284882"/>
                  <a:pt x="297665" y="284882"/>
                </a:cubicBezTo>
                <a:lnTo>
                  <a:pt x="475694" y="284882"/>
                </a:lnTo>
                <a:cubicBezTo>
                  <a:pt x="479112" y="284882"/>
                  <a:pt x="482352" y="286235"/>
                  <a:pt x="484738" y="288621"/>
                </a:cubicBezTo>
                <a:cubicBezTo>
                  <a:pt x="487159" y="291042"/>
                  <a:pt x="488512" y="294282"/>
                  <a:pt x="488512" y="297700"/>
                </a:cubicBezTo>
                <a:lnTo>
                  <a:pt x="488512" y="568127"/>
                </a:lnTo>
                <a:cubicBezTo>
                  <a:pt x="510588" y="536758"/>
                  <a:pt x="538111" y="509342"/>
                  <a:pt x="569694" y="487444"/>
                </a:cubicBezTo>
                <a:lnTo>
                  <a:pt x="569694" y="12818"/>
                </a:lnTo>
                <a:cubicBezTo>
                  <a:pt x="569694" y="5733"/>
                  <a:pt x="575426" y="0"/>
                  <a:pt x="582512" y="0"/>
                </a:cubicBezTo>
                <a:lnTo>
                  <a:pt x="760541" y="0"/>
                </a:lnTo>
                <a:cubicBezTo>
                  <a:pt x="763959" y="0"/>
                  <a:pt x="767235" y="1353"/>
                  <a:pt x="769620" y="3739"/>
                </a:cubicBezTo>
                <a:cubicBezTo>
                  <a:pt x="772006" y="6195"/>
                  <a:pt x="773359" y="9471"/>
                  <a:pt x="773359" y="12854"/>
                </a:cubicBezTo>
                <a:lnTo>
                  <a:pt x="773323" y="427555"/>
                </a:lnTo>
                <a:cubicBezTo>
                  <a:pt x="951175" y="434285"/>
                  <a:pt x="1093812" y="581087"/>
                  <a:pt x="1093812" y="760576"/>
                </a:cubicBezTo>
                <a:cubicBezTo>
                  <a:pt x="1093812" y="944338"/>
                  <a:pt x="944303" y="1093847"/>
                  <a:pt x="760541" y="1093847"/>
                </a:cubicBezTo>
                <a:close/>
                <a:moveTo>
                  <a:pt x="760541" y="452942"/>
                </a:moveTo>
                <a:cubicBezTo>
                  <a:pt x="699334" y="452942"/>
                  <a:pt x="640264" y="470887"/>
                  <a:pt x="589633" y="504891"/>
                </a:cubicBezTo>
                <a:cubicBezTo>
                  <a:pt x="546194" y="533660"/>
                  <a:pt x="510766" y="573468"/>
                  <a:pt x="487124" y="620076"/>
                </a:cubicBezTo>
                <a:cubicBezTo>
                  <a:pt x="464728" y="663123"/>
                  <a:pt x="452906" y="711690"/>
                  <a:pt x="452906" y="760576"/>
                </a:cubicBezTo>
                <a:cubicBezTo>
                  <a:pt x="452906" y="930203"/>
                  <a:pt x="590915" y="1068211"/>
                  <a:pt x="760541" y="1068211"/>
                </a:cubicBezTo>
                <a:cubicBezTo>
                  <a:pt x="930167" y="1068211"/>
                  <a:pt x="1068175" y="930203"/>
                  <a:pt x="1068175" y="760576"/>
                </a:cubicBezTo>
                <a:cubicBezTo>
                  <a:pt x="1068175" y="590950"/>
                  <a:pt x="930167" y="452942"/>
                  <a:pt x="760541" y="452942"/>
                </a:cubicBezTo>
                <a:close/>
                <a:moveTo>
                  <a:pt x="310483" y="747758"/>
                </a:moveTo>
                <a:lnTo>
                  <a:pt x="427519" y="747758"/>
                </a:lnTo>
                <a:cubicBezTo>
                  <a:pt x="429371" y="700225"/>
                  <a:pt x="441477" y="653332"/>
                  <a:pt x="462876" y="611210"/>
                </a:cubicBezTo>
                <a:lnTo>
                  <a:pt x="462876" y="310519"/>
                </a:lnTo>
                <a:lnTo>
                  <a:pt x="310483" y="310519"/>
                </a:lnTo>
                <a:lnTo>
                  <a:pt x="310483" y="747758"/>
                </a:lnTo>
                <a:close/>
                <a:moveTo>
                  <a:pt x="595330" y="25672"/>
                </a:moveTo>
                <a:lnTo>
                  <a:pt x="595294" y="471208"/>
                </a:lnTo>
                <a:cubicBezTo>
                  <a:pt x="598321" y="469499"/>
                  <a:pt x="601347" y="467790"/>
                  <a:pt x="604445" y="466152"/>
                </a:cubicBezTo>
                <a:cubicBezTo>
                  <a:pt x="626342" y="454473"/>
                  <a:pt x="649415" y="445358"/>
                  <a:pt x="673271" y="438878"/>
                </a:cubicBezTo>
                <a:cubicBezTo>
                  <a:pt x="697447" y="432326"/>
                  <a:pt x="722371" y="428516"/>
                  <a:pt x="747687" y="427555"/>
                </a:cubicBezTo>
                <a:lnTo>
                  <a:pt x="747723" y="25672"/>
                </a:lnTo>
                <a:lnTo>
                  <a:pt x="595330" y="25672"/>
                </a:lnTo>
                <a:close/>
                <a:moveTo>
                  <a:pt x="773359" y="938606"/>
                </a:moveTo>
                <a:lnTo>
                  <a:pt x="747723" y="938606"/>
                </a:lnTo>
                <a:lnTo>
                  <a:pt x="747723" y="880212"/>
                </a:lnTo>
                <a:lnTo>
                  <a:pt x="653723" y="880212"/>
                </a:lnTo>
                <a:lnTo>
                  <a:pt x="653723" y="854576"/>
                </a:lnTo>
                <a:lnTo>
                  <a:pt x="813950" y="854576"/>
                </a:lnTo>
                <a:cubicBezTo>
                  <a:pt x="836346" y="854576"/>
                  <a:pt x="854540" y="836381"/>
                  <a:pt x="854540" y="813985"/>
                </a:cubicBezTo>
                <a:cubicBezTo>
                  <a:pt x="854540" y="791589"/>
                  <a:pt x="836346" y="773395"/>
                  <a:pt x="813950" y="773395"/>
                </a:cubicBezTo>
                <a:lnTo>
                  <a:pt x="707097" y="773395"/>
                </a:lnTo>
                <a:cubicBezTo>
                  <a:pt x="670601" y="773395"/>
                  <a:pt x="640905" y="743664"/>
                  <a:pt x="640905" y="707168"/>
                </a:cubicBezTo>
                <a:cubicBezTo>
                  <a:pt x="640905" y="670672"/>
                  <a:pt x="670601" y="640941"/>
                  <a:pt x="707097" y="640941"/>
                </a:cubicBezTo>
                <a:lnTo>
                  <a:pt x="747723" y="640941"/>
                </a:lnTo>
                <a:lnTo>
                  <a:pt x="747723" y="582547"/>
                </a:lnTo>
                <a:lnTo>
                  <a:pt x="773395" y="582547"/>
                </a:lnTo>
                <a:lnTo>
                  <a:pt x="773395" y="640941"/>
                </a:lnTo>
                <a:lnTo>
                  <a:pt x="867358" y="640941"/>
                </a:lnTo>
                <a:lnTo>
                  <a:pt x="867358" y="666613"/>
                </a:lnTo>
                <a:lnTo>
                  <a:pt x="707097" y="666613"/>
                </a:lnTo>
                <a:cubicBezTo>
                  <a:pt x="684736" y="666613"/>
                  <a:pt x="666541" y="684807"/>
                  <a:pt x="666541" y="707203"/>
                </a:cubicBezTo>
                <a:cubicBezTo>
                  <a:pt x="666541" y="729599"/>
                  <a:pt x="684736" y="747794"/>
                  <a:pt x="707097" y="747794"/>
                </a:cubicBezTo>
                <a:lnTo>
                  <a:pt x="813950" y="747794"/>
                </a:lnTo>
                <a:cubicBezTo>
                  <a:pt x="850446" y="747794"/>
                  <a:pt x="880177" y="777525"/>
                  <a:pt x="880177" y="814021"/>
                </a:cubicBezTo>
                <a:cubicBezTo>
                  <a:pt x="880177" y="850517"/>
                  <a:pt x="850446" y="880248"/>
                  <a:pt x="813950" y="880248"/>
                </a:cubicBezTo>
                <a:lnTo>
                  <a:pt x="773359" y="880248"/>
                </a:lnTo>
                <a:lnTo>
                  <a:pt x="773359" y="938606"/>
                </a:lnTo>
                <a:close/>
                <a:moveTo>
                  <a:pt x="190847" y="773395"/>
                </a:moveTo>
                <a:lnTo>
                  <a:pt x="12818" y="773395"/>
                </a:lnTo>
                <a:cubicBezTo>
                  <a:pt x="5733" y="773395"/>
                  <a:pt x="0" y="767662"/>
                  <a:pt x="0" y="760576"/>
                </a:cubicBezTo>
                <a:lnTo>
                  <a:pt x="0" y="511336"/>
                </a:lnTo>
                <a:cubicBezTo>
                  <a:pt x="0" y="504250"/>
                  <a:pt x="5733" y="498517"/>
                  <a:pt x="12818" y="498517"/>
                </a:cubicBezTo>
                <a:lnTo>
                  <a:pt x="190847" y="498517"/>
                </a:lnTo>
                <a:cubicBezTo>
                  <a:pt x="197933" y="498517"/>
                  <a:pt x="203665" y="504250"/>
                  <a:pt x="203665" y="511336"/>
                </a:cubicBezTo>
                <a:lnTo>
                  <a:pt x="203665" y="760576"/>
                </a:lnTo>
                <a:cubicBezTo>
                  <a:pt x="203665" y="767662"/>
                  <a:pt x="197933" y="773395"/>
                  <a:pt x="190847" y="773395"/>
                </a:cubicBezTo>
                <a:close/>
                <a:moveTo>
                  <a:pt x="25636" y="747758"/>
                </a:moveTo>
                <a:lnTo>
                  <a:pt x="178029" y="747758"/>
                </a:lnTo>
                <a:lnTo>
                  <a:pt x="178029" y="524154"/>
                </a:lnTo>
                <a:lnTo>
                  <a:pt x="25636" y="524154"/>
                </a:lnTo>
                <a:lnTo>
                  <a:pt x="25636" y="747758"/>
                </a:lnTo>
                <a:close/>
              </a:path>
            </a:pathLst>
          </a:custGeom>
          <a:solidFill>
            <a:schemeClr val="accent1"/>
          </a:solidFill>
          <a:ln w="12700"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
        <p:nvSpPr>
          <p:cNvPr id="18" name="Freeform 17">
            <a:extLst>
              <a:ext uri="{FF2B5EF4-FFF2-40B4-BE49-F238E27FC236}">
                <a16:creationId xmlns:a16="http://schemas.microsoft.com/office/drawing/2014/main" id="{AEFFC005-FAD4-3294-A164-BA1A9827ABF5}"/>
              </a:ext>
            </a:extLst>
          </p:cNvPr>
          <p:cNvSpPr/>
          <p:nvPr/>
        </p:nvSpPr>
        <p:spPr>
          <a:xfrm>
            <a:off x="18833238" y="572758"/>
            <a:ext cx="1139237" cy="1139237"/>
          </a:xfrm>
          <a:custGeom>
            <a:avLst/>
            <a:gdLst>
              <a:gd name="connsiteX0" fmla="*/ 0 w 1139387"/>
              <a:gd name="connsiteY0" fmla="*/ 0 h 1139387"/>
              <a:gd name="connsiteX1" fmla="*/ 1139387 w 1139387"/>
              <a:gd name="connsiteY1" fmla="*/ 0 h 1139387"/>
              <a:gd name="connsiteX2" fmla="*/ 1139387 w 1139387"/>
              <a:gd name="connsiteY2" fmla="*/ 1139387 h 1139387"/>
              <a:gd name="connsiteX3" fmla="*/ 0 w 1139387"/>
              <a:gd name="connsiteY3" fmla="*/ 1139387 h 1139387"/>
            </a:gdLst>
            <a:ahLst/>
            <a:cxnLst>
              <a:cxn ang="0">
                <a:pos x="connsiteX0" y="connsiteY0"/>
              </a:cxn>
              <a:cxn ang="0">
                <a:pos x="connsiteX1" y="connsiteY1"/>
              </a:cxn>
              <a:cxn ang="0">
                <a:pos x="connsiteX2" y="connsiteY2"/>
              </a:cxn>
              <a:cxn ang="0">
                <a:pos x="connsiteX3" y="connsiteY3"/>
              </a:cxn>
            </a:cxnLst>
            <a:rect l="l" t="t" r="r" b="b"/>
            <a:pathLst>
              <a:path w="1139387" h="1139387">
                <a:moveTo>
                  <a:pt x="0" y="0"/>
                </a:moveTo>
                <a:lnTo>
                  <a:pt x="1139387" y="0"/>
                </a:lnTo>
                <a:lnTo>
                  <a:pt x="1139387" y="1139387"/>
                </a:lnTo>
                <a:lnTo>
                  <a:pt x="0" y="1139387"/>
                </a:lnTo>
                <a:close/>
              </a:path>
            </a:pathLst>
          </a:custGeom>
          <a:noFill/>
          <a:ln w="12700" cap="flat">
            <a:noFill/>
            <a:prstDash val="solid"/>
            <a:miter/>
          </a:ln>
        </p:spPr>
        <p:txBody>
          <a:bodyPr rtlCol="0" anchor="ctr"/>
          <a:lstStyle/>
          <a:p>
            <a:pPr defTabSz="1829402"/>
            <a:endParaRPr lang="en-US" sz="9600">
              <a:solidFill>
                <a:srgbClr val="000000"/>
              </a:solidFill>
              <a:latin typeface="IBM Plex Sans Light" panose="020B0403050203000203" pitchFamily="34" charset="0"/>
            </a:endParaRPr>
          </a:p>
        </p:txBody>
      </p:sp>
    </p:spTree>
    <p:extLst>
      <p:ext uri="{BB962C8B-B14F-4D97-AF65-F5344CB8AC3E}">
        <p14:creationId xmlns:p14="http://schemas.microsoft.com/office/powerpoint/2010/main" val="33405402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1DEA13-F0BC-3822-F723-00DE6FDA34CD}"/>
              </a:ext>
            </a:extLst>
          </p:cNvPr>
          <p:cNvSpPr/>
          <p:nvPr/>
        </p:nvSpPr>
        <p:spPr bwMode="auto">
          <a:xfrm>
            <a:off x="1587" y="0"/>
            <a:ext cx="24384000" cy="6070827"/>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defTabSz="914411" fontAlgn="base">
              <a:spcBef>
                <a:spcPct val="0"/>
              </a:spcBef>
              <a:spcAft>
                <a:spcPct val="0"/>
              </a:spcAft>
            </a:pPr>
            <a:endParaRPr lang="en-US" sz="1400" dirty="0">
              <a:solidFill>
                <a:srgbClr val="FFFFFF"/>
              </a:solidFill>
              <a:latin typeface="IBM Plex Sans Light"/>
            </a:endParaRPr>
          </a:p>
        </p:txBody>
      </p:sp>
      <p:sp>
        <p:nvSpPr>
          <p:cNvPr id="2" name="Title 1">
            <a:extLst>
              <a:ext uri="{FF2B5EF4-FFF2-40B4-BE49-F238E27FC236}">
                <a16:creationId xmlns:a16="http://schemas.microsoft.com/office/drawing/2014/main" id="{F604F00B-0883-5E7D-2D91-B50E81DE8BF4}"/>
              </a:ext>
            </a:extLst>
          </p:cNvPr>
          <p:cNvSpPr>
            <a:spLocks noGrp="1"/>
          </p:cNvSpPr>
          <p:nvPr>
            <p:ph type="title"/>
          </p:nvPr>
        </p:nvSpPr>
        <p:spPr>
          <a:xfrm>
            <a:off x="576072" y="385200"/>
            <a:ext cx="12347448" cy="1527048"/>
          </a:xfrm>
        </p:spPr>
        <p:txBody>
          <a:bodyPr/>
          <a:lstStyle/>
          <a:p>
            <a:r>
              <a:rPr lang="en-US" dirty="0">
                <a:solidFill>
                  <a:schemeClr val="tx1"/>
                </a:solidFill>
                <a:latin typeface="IBM Plex Sans Light"/>
              </a:rPr>
              <a:t>Award winning market leader</a:t>
            </a:r>
            <a:endParaRPr lang="en-US" dirty="0"/>
          </a:p>
        </p:txBody>
      </p:sp>
      <p:sp>
        <p:nvSpPr>
          <p:cNvPr id="13" name="TextBox 12">
            <a:extLst>
              <a:ext uri="{FF2B5EF4-FFF2-40B4-BE49-F238E27FC236}">
                <a16:creationId xmlns:a16="http://schemas.microsoft.com/office/drawing/2014/main" id="{FE3AAC1A-EE8B-CC9F-F060-E79A6340F172}"/>
              </a:ext>
            </a:extLst>
          </p:cNvPr>
          <p:cNvSpPr txBox="1"/>
          <p:nvPr/>
        </p:nvSpPr>
        <p:spPr>
          <a:xfrm>
            <a:off x="1703912" y="9030021"/>
            <a:ext cx="3219355" cy="1832425"/>
          </a:xfrm>
          <a:prstGeom prst="rect">
            <a:avLst/>
          </a:prstGeom>
          <a:noFill/>
        </p:spPr>
        <p:txBody>
          <a:bodyPr wrap="square" lIns="0" rIns="0" rtlCol="0">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defTabSz="1828871">
              <a:defRPr/>
            </a:pPr>
            <a:r>
              <a:rPr lang="en-US" sz="2400" b="1">
                <a:latin typeface="IBM Plex Sans Light"/>
              </a:rPr>
              <a:t>“Leader” </a:t>
            </a:r>
            <a:r>
              <a:rPr lang="en-US" sz="2400">
                <a:latin typeface="IBM Plex Sans Light"/>
                <a:sym typeface="Helvetica Neue"/>
              </a:rPr>
              <a:t>in IDC’s </a:t>
            </a:r>
            <a:br>
              <a:rPr lang="en-US" sz="2400">
                <a:latin typeface="IBM Plex Sans Light"/>
                <a:sym typeface="Helvetica Neue"/>
              </a:rPr>
            </a:br>
            <a:r>
              <a:rPr lang="en-US" sz="2400">
                <a:latin typeface="IBM Plex Sans Light"/>
                <a:sym typeface="Helvetica Neue"/>
              </a:rPr>
              <a:t>new </a:t>
            </a:r>
            <a:r>
              <a:rPr lang="en-US" sz="2400" i="1">
                <a:latin typeface="IBM Plex Sans Light"/>
                <a:sym typeface="Helvetica Neue"/>
              </a:rPr>
              <a:t>Third Party Risk Management Vendor </a:t>
            </a:r>
            <a:r>
              <a:rPr lang="en-US" sz="2400">
                <a:latin typeface="IBM Plex Sans Light"/>
                <a:sym typeface="Helvetica Neue"/>
              </a:rPr>
              <a:t>Quadrant study. </a:t>
            </a:r>
            <a:endParaRPr lang="en-US" sz="2400">
              <a:latin typeface="IBM Plex Sans Light"/>
            </a:endParaRPr>
          </a:p>
        </p:txBody>
      </p:sp>
      <p:sp>
        <p:nvSpPr>
          <p:cNvPr id="15" name="TextBox 14">
            <a:extLst>
              <a:ext uri="{FF2B5EF4-FFF2-40B4-BE49-F238E27FC236}">
                <a16:creationId xmlns:a16="http://schemas.microsoft.com/office/drawing/2014/main" id="{AAB1515A-0CA9-3FF9-56A7-33EAA6E03E24}"/>
              </a:ext>
            </a:extLst>
          </p:cNvPr>
          <p:cNvSpPr txBox="1"/>
          <p:nvPr/>
        </p:nvSpPr>
        <p:spPr>
          <a:xfrm>
            <a:off x="3313591" y="6703959"/>
            <a:ext cx="4601128" cy="913007"/>
          </a:xfrm>
          <a:prstGeom prst="rect">
            <a:avLst/>
          </a:prstGeom>
          <a:noFill/>
        </p:spPr>
        <p:txBody>
          <a:bodyPr wrap="square" lIns="0" rIns="0" rtlCol="0">
            <a:spAutoFit/>
          </a:bodyPr>
          <a:lstStyle/>
          <a:p>
            <a:pPr algn="ctr" defTabSz="1828871">
              <a:defRPr/>
            </a:pPr>
            <a:r>
              <a:rPr lang="en-US" sz="5333">
                <a:solidFill>
                  <a:srgbClr val="0F62FE"/>
                </a:solidFill>
                <a:latin typeface="IBM Plex Sans Light"/>
              </a:rPr>
              <a:t>2022</a:t>
            </a:r>
          </a:p>
        </p:txBody>
      </p:sp>
      <p:cxnSp>
        <p:nvCxnSpPr>
          <p:cNvPr id="17" name="Straight Connector 16">
            <a:extLst>
              <a:ext uri="{FF2B5EF4-FFF2-40B4-BE49-F238E27FC236}">
                <a16:creationId xmlns:a16="http://schemas.microsoft.com/office/drawing/2014/main" id="{52CE08D8-0116-232A-62AD-72BD56E5BF85}"/>
              </a:ext>
            </a:extLst>
          </p:cNvPr>
          <p:cNvCxnSpPr/>
          <p:nvPr/>
        </p:nvCxnSpPr>
        <p:spPr bwMode="auto">
          <a:xfrm flipV="1">
            <a:off x="1545775" y="7789672"/>
            <a:ext cx="21456216" cy="2344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9" name="Graphic 18">
            <a:extLst>
              <a:ext uri="{FF2B5EF4-FFF2-40B4-BE49-F238E27FC236}">
                <a16:creationId xmlns:a16="http://schemas.microsoft.com/office/drawing/2014/main" id="{1E8D31C0-93D7-E7E8-0859-F4914BC3B8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5788" y="8132039"/>
            <a:ext cx="2341571" cy="709565"/>
          </a:xfrm>
          <a:prstGeom prst="rect">
            <a:avLst/>
          </a:prstGeom>
        </p:spPr>
      </p:pic>
      <p:pic>
        <p:nvPicPr>
          <p:cNvPr id="20" name="Picture 2" descr="MetricStream Category Leader Chartis Research RiskTech">
            <a:extLst>
              <a:ext uri="{FF2B5EF4-FFF2-40B4-BE49-F238E27FC236}">
                <a16:creationId xmlns:a16="http://schemas.microsoft.com/office/drawing/2014/main" id="{F5B4BEED-D60C-9224-3E5F-2E59ACC461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9967" y="7989957"/>
            <a:ext cx="3291411" cy="80770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C949522-D9AE-54A6-8674-CA1CC41C9391}"/>
              </a:ext>
            </a:extLst>
          </p:cNvPr>
          <p:cNvSpPr txBox="1"/>
          <p:nvPr/>
        </p:nvSpPr>
        <p:spPr>
          <a:xfrm>
            <a:off x="4745883" y="8922514"/>
            <a:ext cx="4413264" cy="3759106"/>
          </a:xfrm>
          <a:prstGeom prst="rect">
            <a:avLst/>
          </a:prstGeom>
          <a:noFill/>
        </p:spPr>
        <p:txBody>
          <a:bodyPr wrap="square" lIns="0" tIns="121920" rIns="0" bIns="121920" rtlCol="0" anchor="t">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defTabSz="1828871">
              <a:defRPr/>
            </a:pPr>
            <a:r>
              <a:rPr lang="en-US" sz="2400" b="1">
                <a:latin typeface="IBM Plex Sans Light"/>
              </a:rPr>
              <a:t>“Leader” </a:t>
            </a:r>
            <a:r>
              <a:rPr lang="en-US" sz="2400">
                <a:latin typeface="IBM Plex Sans Light"/>
                <a:sym typeface="Helvetica Neue"/>
              </a:rPr>
              <a:t>in </a:t>
            </a:r>
            <a:r>
              <a:rPr lang="en-US" sz="2400">
                <a:latin typeface="IBM Plex Sans Light"/>
              </a:rPr>
              <a:t>Market and </a:t>
            </a:r>
            <a:br>
              <a:rPr lang="en-US" sz="2400">
                <a:latin typeface="IBM Plex Sans Light"/>
              </a:rPr>
            </a:br>
            <a:r>
              <a:rPr lang="en-US" sz="2400">
                <a:latin typeface="IBM Plex Sans Light"/>
              </a:rPr>
              <a:t>Vendor Landscape reports </a:t>
            </a:r>
            <a:br>
              <a:rPr lang="en-US" sz="2400">
                <a:latin typeface="IBM Plex Sans Light"/>
              </a:rPr>
            </a:br>
            <a:r>
              <a:rPr lang="en-US" sz="2400">
                <a:latin typeface="IBM Plex Sans Light"/>
              </a:rPr>
              <a:t>for </a:t>
            </a:r>
            <a:r>
              <a:rPr lang="en-US" sz="2400" i="1">
                <a:latin typeface="IBM Plex Sans Light"/>
              </a:rPr>
              <a:t>Digitalization and Control Solutions, 2022 </a:t>
            </a:r>
            <a:r>
              <a:rPr lang="en-US" sz="2400">
                <a:latin typeface="IBM Plex Sans Light"/>
              </a:rPr>
              <a:t>and </a:t>
            </a:r>
            <a:r>
              <a:rPr lang="en-US" sz="2400" i="1">
                <a:latin typeface="IBM Plex Sans Light"/>
              </a:rPr>
              <a:t>Operational Risk and Conduct Risk, 2022.</a:t>
            </a:r>
          </a:p>
          <a:p>
            <a:pPr defTabSz="1828871">
              <a:defRPr/>
            </a:pPr>
            <a:endParaRPr lang="en-US" sz="2400" i="1">
              <a:latin typeface="IBM Plex Sans Light"/>
            </a:endParaRPr>
          </a:p>
          <a:p>
            <a:pPr defTabSz="1828871">
              <a:defRPr/>
            </a:pPr>
            <a:r>
              <a:rPr lang="en-US" sz="2400" i="1" err="1">
                <a:latin typeface="IBM Plex Sans Light"/>
              </a:rPr>
              <a:t>RiskTech</a:t>
            </a:r>
            <a:r>
              <a:rPr lang="en-US" sz="2400" i="1">
                <a:latin typeface="IBM Plex Sans Light"/>
              </a:rPr>
              <a:t> 100: </a:t>
            </a:r>
            <a:r>
              <a:rPr lang="en-US" sz="2400">
                <a:latin typeface="IBM Plex Sans Light"/>
              </a:rPr>
              <a:t>IBM </a:t>
            </a:r>
            <a:r>
              <a:rPr lang="en-US" sz="2400" err="1">
                <a:latin typeface="IBM Plex Sans Light"/>
              </a:rPr>
              <a:t>RegTech</a:t>
            </a:r>
            <a:r>
              <a:rPr lang="en-US" sz="2400" i="1">
                <a:latin typeface="IBM Plex Sans Light"/>
              </a:rPr>
              <a:t> </a:t>
            </a:r>
            <a:r>
              <a:rPr lang="en-US" sz="2400">
                <a:latin typeface="IBM Plex Sans Light"/>
              </a:rPr>
              <a:t>recognized as </a:t>
            </a:r>
            <a:r>
              <a:rPr lang="en-US" sz="2400" b="1">
                <a:latin typeface="IBM Plex Sans Light"/>
              </a:rPr>
              <a:t>top 20 vendor</a:t>
            </a:r>
            <a:r>
              <a:rPr lang="en-US" sz="2400">
                <a:latin typeface="IBM Plex Sans Light"/>
              </a:rPr>
              <a:t>.</a:t>
            </a:r>
            <a:endParaRPr lang="en-US" sz="2400" i="1">
              <a:latin typeface="IBM Plex Sans Light"/>
            </a:endParaRPr>
          </a:p>
        </p:txBody>
      </p:sp>
      <p:cxnSp>
        <p:nvCxnSpPr>
          <p:cNvPr id="22" name="Straight Connector 21">
            <a:extLst>
              <a:ext uri="{FF2B5EF4-FFF2-40B4-BE49-F238E27FC236}">
                <a16:creationId xmlns:a16="http://schemas.microsoft.com/office/drawing/2014/main" id="{512F78E0-EF1E-CD1C-29C9-D1A2E8DEDF6F}"/>
              </a:ext>
            </a:extLst>
          </p:cNvPr>
          <p:cNvCxnSpPr>
            <a:cxnSpLocks/>
          </p:cNvCxnSpPr>
          <p:nvPr/>
        </p:nvCxnSpPr>
        <p:spPr bwMode="auto">
          <a:xfrm>
            <a:off x="9572734" y="7942587"/>
            <a:ext cx="0" cy="463235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27CCF910-3492-606D-46A7-BB96161849B2}"/>
              </a:ext>
            </a:extLst>
          </p:cNvPr>
          <p:cNvSpPr txBox="1"/>
          <p:nvPr/>
        </p:nvSpPr>
        <p:spPr>
          <a:xfrm>
            <a:off x="15153831" y="6741948"/>
            <a:ext cx="4601128" cy="913007"/>
          </a:xfrm>
          <a:prstGeom prst="rect">
            <a:avLst/>
          </a:prstGeom>
          <a:noFill/>
        </p:spPr>
        <p:txBody>
          <a:bodyPr wrap="square" lIns="0" rIns="0" rtlCol="0">
            <a:spAutoFit/>
          </a:bodyPr>
          <a:lstStyle/>
          <a:p>
            <a:pPr algn="ctr" defTabSz="1828871">
              <a:defRPr/>
            </a:pPr>
            <a:r>
              <a:rPr lang="en-US" sz="5333">
                <a:solidFill>
                  <a:srgbClr val="0F62FE"/>
                </a:solidFill>
                <a:latin typeface="IBM Plex Sans Light"/>
              </a:rPr>
              <a:t>2023</a:t>
            </a:r>
          </a:p>
        </p:txBody>
      </p:sp>
      <p:pic>
        <p:nvPicPr>
          <p:cNvPr id="40" name="Picture 2" descr="MetricStream Category Leader Chartis Research RiskTech">
            <a:extLst>
              <a:ext uri="{FF2B5EF4-FFF2-40B4-BE49-F238E27FC236}">
                <a16:creationId xmlns:a16="http://schemas.microsoft.com/office/drawing/2014/main" id="{5C7098C8-C3A9-FE1E-746C-0C0A371A6E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02546" y="8041803"/>
            <a:ext cx="3291411" cy="807707"/>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F28AEDED-3EC5-C9A4-0A3D-92C747CEABDB}"/>
              </a:ext>
            </a:extLst>
          </p:cNvPr>
          <p:cNvSpPr txBox="1"/>
          <p:nvPr/>
        </p:nvSpPr>
        <p:spPr>
          <a:xfrm>
            <a:off x="15153830" y="9175295"/>
            <a:ext cx="3294800" cy="2872709"/>
          </a:xfrm>
          <a:prstGeom prst="rect">
            <a:avLst/>
          </a:prstGeom>
          <a:noFill/>
        </p:spPr>
        <p:txBody>
          <a:bodyPr wrap="square" lIns="0" tIns="121920" rIns="0" bIns="121920" rtlCol="0" anchor="t">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defTabSz="1828871">
              <a:defRPr/>
            </a:pPr>
            <a:r>
              <a:rPr lang="en-US" sz="2400" b="1">
                <a:latin typeface="IBM Plex Sans Light"/>
              </a:rPr>
              <a:t>Top “Leader” </a:t>
            </a:r>
            <a:r>
              <a:rPr lang="en-US" sz="2400">
                <a:latin typeface="IBM Plex Sans Light"/>
                <a:sym typeface="Helvetica Neue"/>
              </a:rPr>
              <a:t>in IDC’s MarketScape: </a:t>
            </a:r>
            <a:r>
              <a:rPr lang="en-US" sz="2400" i="1">
                <a:latin typeface="IBM Plex Sans Light"/>
                <a:sym typeface="Helvetica Neue"/>
              </a:rPr>
              <a:t>Worldwide AI Governance Platforms 2023.</a:t>
            </a:r>
          </a:p>
          <a:p>
            <a:pPr defTabSz="1828871">
              <a:defRPr/>
            </a:pPr>
            <a:endParaRPr lang="en-US" sz="2400">
              <a:latin typeface="IBM Plex Sans Light"/>
            </a:endParaRPr>
          </a:p>
        </p:txBody>
      </p:sp>
      <p:pic>
        <p:nvPicPr>
          <p:cNvPr id="42" name="Graphic 41">
            <a:extLst>
              <a:ext uri="{FF2B5EF4-FFF2-40B4-BE49-F238E27FC236}">
                <a16:creationId xmlns:a16="http://schemas.microsoft.com/office/drawing/2014/main" id="{E99B4265-6CE6-7E60-A163-A824ED237D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65703" y="8277311"/>
            <a:ext cx="2341571" cy="709565"/>
          </a:xfrm>
          <a:prstGeom prst="rect">
            <a:avLst/>
          </a:prstGeom>
        </p:spPr>
      </p:pic>
      <p:sp>
        <p:nvSpPr>
          <p:cNvPr id="43" name="TextBox 42">
            <a:extLst>
              <a:ext uri="{FF2B5EF4-FFF2-40B4-BE49-F238E27FC236}">
                <a16:creationId xmlns:a16="http://schemas.microsoft.com/office/drawing/2014/main" id="{8EDFCAF1-5CCA-263A-EDBF-44345DC3EDD0}"/>
              </a:ext>
            </a:extLst>
          </p:cNvPr>
          <p:cNvSpPr txBox="1"/>
          <p:nvPr/>
        </p:nvSpPr>
        <p:spPr>
          <a:xfrm>
            <a:off x="18936966" y="9024860"/>
            <a:ext cx="3582229" cy="4048416"/>
          </a:xfrm>
          <a:prstGeom prst="rect">
            <a:avLst/>
          </a:prstGeom>
          <a:noFill/>
        </p:spPr>
        <p:txBody>
          <a:bodyPr wrap="square" lIns="0" rIns="0" rtlCol="0">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defTabSz="1828871">
              <a:defRPr/>
            </a:pPr>
            <a:r>
              <a:rPr lang="en-US" sz="2400" b="1">
                <a:latin typeface="IBM Plex Sans Light"/>
              </a:rPr>
              <a:t>“Strong Performer” </a:t>
            </a:r>
            <a:r>
              <a:rPr lang="en-US" sz="2400">
                <a:latin typeface="IBM Plex Sans Light"/>
                <a:sym typeface="Helvetica Neue"/>
              </a:rPr>
              <a:t>in Q4 2023 for </a:t>
            </a:r>
            <a:r>
              <a:rPr lang="en-US" sz="2400" i="1">
                <a:latin typeface="IBM Plex Sans Light"/>
              </a:rPr>
              <a:t>The Forrester Wave: Governance, Risk, and Compliance Platforms</a:t>
            </a:r>
            <a:r>
              <a:rPr lang="en-US" sz="2400">
                <a:latin typeface="IBM Plex Sans Light"/>
              </a:rPr>
              <a:t>. </a:t>
            </a:r>
          </a:p>
          <a:p>
            <a:pPr defTabSz="1828871">
              <a:defRPr/>
            </a:pPr>
            <a:endParaRPr lang="en-US" sz="2400" b="1">
              <a:latin typeface="IBM Plex Sans Light"/>
            </a:endParaRPr>
          </a:p>
          <a:p>
            <a:pPr defTabSz="1828871">
              <a:defRPr/>
            </a:pPr>
            <a:r>
              <a:rPr lang="en-US" sz="2400" b="1">
                <a:latin typeface="IBM Plex Sans Light"/>
              </a:rPr>
              <a:t>Top </a:t>
            </a:r>
            <a:r>
              <a:rPr lang="en-US" sz="2400">
                <a:latin typeface="IBM Plex Sans Light"/>
              </a:rPr>
              <a:t>vendor placement for current offering functionality. </a:t>
            </a:r>
          </a:p>
        </p:txBody>
      </p:sp>
      <p:pic>
        <p:nvPicPr>
          <p:cNvPr id="44" name="Picture 4">
            <a:extLst>
              <a:ext uri="{FF2B5EF4-FFF2-40B4-BE49-F238E27FC236}">
                <a16:creationId xmlns:a16="http://schemas.microsoft.com/office/drawing/2014/main" id="{43B9D290-35F8-F173-81C5-AF892A7131AA}"/>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8936967" y="8144399"/>
            <a:ext cx="3295448" cy="56897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BA85AA1-3365-5FD9-0682-9361FE0A7326}"/>
              </a:ext>
            </a:extLst>
          </p:cNvPr>
          <p:cNvSpPr txBox="1"/>
          <p:nvPr/>
        </p:nvSpPr>
        <p:spPr>
          <a:xfrm>
            <a:off x="9447684" y="1654396"/>
            <a:ext cx="4601128" cy="913007"/>
          </a:xfrm>
          <a:prstGeom prst="rect">
            <a:avLst/>
          </a:prstGeom>
          <a:noFill/>
        </p:spPr>
        <p:txBody>
          <a:bodyPr wrap="square" lIns="0" rIns="0" rtlCol="0">
            <a:spAutoFit/>
          </a:bodyPr>
          <a:lstStyle/>
          <a:p>
            <a:pPr algn="ctr" defTabSz="1828871">
              <a:defRPr/>
            </a:pPr>
            <a:r>
              <a:rPr lang="en-US" sz="5333">
                <a:solidFill>
                  <a:srgbClr val="0F62FE"/>
                </a:solidFill>
                <a:latin typeface="IBM Plex Sans Light"/>
              </a:rPr>
              <a:t>2024</a:t>
            </a:r>
          </a:p>
        </p:txBody>
      </p:sp>
      <p:pic>
        <p:nvPicPr>
          <p:cNvPr id="46" name="Picture 2" descr="MetricStream Category Leader Chartis Research RiskTech">
            <a:extLst>
              <a:ext uri="{FF2B5EF4-FFF2-40B4-BE49-F238E27FC236}">
                <a16:creationId xmlns:a16="http://schemas.microsoft.com/office/drawing/2014/main" id="{6505CFAE-E319-7647-F36A-8378E40A3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0273" y="2840428"/>
            <a:ext cx="4265989" cy="1046867"/>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D3506C22-A275-4BAA-3EE3-4EE56C70CFB1}"/>
              </a:ext>
            </a:extLst>
          </p:cNvPr>
          <p:cNvSpPr txBox="1"/>
          <p:nvPr/>
        </p:nvSpPr>
        <p:spPr>
          <a:xfrm>
            <a:off x="1767970" y="4153039"/>
            <a:ext cx="6310595" cy="1194943"/>
          </a:xfrm>
          <a:prstGeom prst="rect">
            <a:avLst/>
          </a:prstGeom>
          <a:noFill/>
        </p:spPr>
        <p:txBody>
          <a:bodyPr wrap="square" lIns="0" tIns="121920" rIns="0" bIns="121920" rtlCol="0" anchor="t">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algn="ctr" defTabSz="1828871">
              <a:defRPr/>
            </a:pPr>
            <a:r>
              <a:rPr lang="en-US" sz="2667" kern="0">
                <a:solidFill>
                  <a:srgbClr val="161616"/>
                </a:solidFill>
                <a:latin typeface="IBM Plex Sans Light"/>
                <a:ea typeface="+mn-lt"/>
                <a:cs typeface="+mn-lt"/>
              </a:rPr>
              <a:t>Category </a:t>
            </a:r>
            <a:r>
              <a:rPr lang="en-US" sz="2667" b="1" kern="0">
                <a:solidFill>
                  <a:srgbClr val="161616"/>
                </a:solidFill>
                <a:latin typeface="IBM Plex Sans Light"/>
                <a:ea typeface="+mn-lt"/>
                <a:cs typeface="+mn-lt"/>
              </a:rPr>
              <a:t>“Leader” </a:t>
            </a:r>
            <a:r>
              <a:rPr lang="en-US" sz="2667" kern="0">
                <a:solidFill>
                  <a:srgbClr val="161616"/>
                </a:solidFill>
                <a:latin typeface="IBM Plex Sans Light"/>
                <a:ea typeface="+mn-lt"/>
                <a:cs typeface="+mn-lt"/>
              </a:rPr>
              <a:t>in ALL seven (</a:t>
            </a:r>
            <a:r>
              <a:rPr lang="en-US" sz="2667" kern="0">
                <a:solidFill>
                  <a:srgbClr val="161616"/>
                </a:solidFill>
                <a:latin typeface="IBM Plex Sans Light"/>
                <a:ea typeface="+mn-lt"/>
                <a:cs typeface="+mn-lt"/>
                <a:sym typeface="Helvetica Neue"/>
              </a:rPr>
              <a:t>7) Quadrant categories</a:t>
            </a:r>
            <a:endParaRPr lang="en-US" sz="2667" b="1" kern="0">
              <a:solidFill>
                <a:srgbClr val="161616"/>
              </a:solidFill>
              <a:latin typeface="IBM Plex Sans Light"/>
              <a:ea typeface="+mn-lt"/>
              <a:cs typeface="+mn-lt"/>
            </a:endParaRPr>
          </a:p>
        </p:txBody>
      </p:sp>
      <p:pic>
        <p:nvPicPr>
          <p:cNvPr id="48" name="Picture 47" descr="A logo for a company&#10;&#10;Description automatically generated">
            <a:extLst>
              <a:ext uri="{FF2B5EF4-FFF2-40B4-BE49-F238E27FC236}">
                <a16:creationId xmlns:a16="http://schemas.microsoft.com/office/drawing/2014/main" id="{A8B1D1CC-CEDA-373C-A3FB-8DB0B5E4EDC9}"/>
              </a:ext>
            </a:extLst>
          </p:cNvPr>
          <p:cNvPicPr>
            <a:picLocks noChangeAspect="1"/>
          </p:cNvPicPr>
          <p:nvPr/>
        </p:nvPicPr>
        <p:blipFill>
          <a:blip r:embed="rId7"/>
          <a:stretch>
            <a:fillRect/>
          </a:stretch>
        </p:blipFill>
        <p:spPr>
          <a:xfrm>
            <a:off x="8832707" y="2775080"/>
            <a:ext cx="5329979" cy="1331760"/>
          </a:xfrm>
          <a:prstGeom prst="rect">
            <a:avLst/>
          </a:prstGeom>
        </p:spPr>
      </p:pic>
      <p:sp>
        <p:nvSpPr>
          <p:cNvPr id="49" name="Interface and user experience design award for exceptional design and creativity in Red Dot’s Brands and Communication Design category…">
            <a:extLst>
              <a:ext uri="{FF2B5EF4-FFF2-40B4-BE49-F238E27FC236}">
                <a16:creationId xmlns:a16="http://schemas.microsoft.com/office/drawing/2014/main" id="{4666A718-680C-EDE6-927D-574424B49FB1}"/>
              </a:ext>
            </a:extLst>
          </p:cNvPr>
          <p:cNvSpPr txBox="1"/>
          <p:nvPr/>
        </p:nvSpPr>
        <p:spPr>
          <a:xfrm>
            <a:off x="8361242" y="4296143"/>
            <a:ext cx="6774008" cy="100553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43840" tIns="91440" rIns="243840" bIns="91440" anchor="t">
            <a:spAutoFit/>
          </a:bodyPr>
          <a:lstStyle/>
          <a:p>
            <a:pPr algn="ctr" defTabSz="1651021">
              <a:defRPr sz="2800">
                <a:solidFill>
                  <a:srgbClr val="B9BFC7"/>
                </a:solidFill>
                <a:latin typeface="IBM Plex Sans ExtraLight"/>
                <a:ea typeface="IBM Plex Sans ExtraLight"/>
                <a:cs typeface="IBM Plex Sans ExtraLight"/>
                <a:sym typeface="IBM Plex Sans ExtraLight"/>
              </a:defRPr>
            </a:pPr>
            <a:r>
              <a:rPr lang="en-US" sz="2667" kern="0">
                <a:solidFill>
                  <a:srgbClr val="161616"/>
                </a:solidFill>
                <a:latin typeface="IBM Plex Sans Light"/>
                <a:ea typeface="+mn-lt"/>
                <a:cs typeface="+mn-lt"/>
                <a:sym typeface="IBM Plex Sans"/>
              </a:rPr>
              <a:t>IDC </a:t>
            </a:r>
            <a:r>
              <a:rPr lang="en-US" sz="2667" b="1" kern="0">
                <a:solidFill>
                  <a:srgbClr val="161616"/>
                </a:solidFill>
                <a:latin typeface="IBM Plex Sans Light"/>
                <a:ea typeface="+mn-lt"/>
                <a:cs typeface="+mn-lt"/>
                <a:sym typeface="IBM Plex Sans"/>
              </a:rPr>
              <a:t>2024 </a:t>
            </a:r>
            <a:r>
              <a:rPr lang="en-US" sz="2667" b="1" kern="0">
                <a:solidFill>
                  <a:srgbClr val="161616"/>
                </a:solidFill>
                <a:latin typeface="IBM Plex Sans Light"/>
                <a:ea typeface="+mn-lt"/>
                <a:cs typeface="+mn-lt"/>
                <a:sym typeface="IBM Plex Sans ExtraLight"/>
              </a:rPr>
              <a:t>SaaS CSAT Award </a:t>
            </a:r>
            <a:r>
              <a:rPr lang="en-US" sz="2667" kern="0">
                <a:solidFill>
                  <a:srgbClr val="161616"/>
                </a:solidFill>
                <a:latin typeface="IBM Plex Sans Light"/>
                <a:ea typeface="+mn-lt"/>
                <a:cs typeface="+mn-lt"/>
                <a:sym typeface="IBM Plex Sans ExtraLight"/>
              </a:rPr>
              <a:t>for </a:t>
            </a:r>
            <a:r>
              <a:rPr lang="en-US" sz="2667" b="1" kern="0">
                <a:solidFill>
                  <a:srgbClr val="161616"/>
                </a:solidFill>
                <a:latin typeface="IBM Plex Sans Light"/>
                <a:ea typeface="+mn-lt"/>
                <a:cs typeface="+mn-lt"/>
                <a:sym typeface="IBM Plex Sans ExtraLight"/>
              </a:rPr>
              <a:t>Financial Governance, Risk &amp; Compliance </a:t>
            </a:r>
            <a:endParaRPr lang="en-US" sz="2667" kern="0">
              <a:solidFill>
                <a:srgbClr val="161616"/>
              </a:solidFill>
              <a:latin typeface="IBM Plex Sans Light"/>
              <a:ea typeface="+mn-lt"/>
              <a:cs typeface="+mn-lt"/>
            </a:endParaRPr>
          </a:p>
        </p:txBody>
      </p:sp>
      <p:cxnSp>
        <p:nvCxnSpPr>
          <p:cNvPr id="50" name="Straight Connector 49">
            <a:extLst>
              <a:ext uri="{FF2B5EF4-FFF2-40B4-BE49-F238E27FC236}">
                <a16:creationId xmlns:a16="http://schemas.microsoft.com/office/drawing/2014/main" id="{6B693CBD-797D-3F46-85D6-E342DEA5C3CC}"/>
              </a:ext>
            </a:extLst>
          </p:cNvPr>
          <p:cNvCxnSpPr>
            <a:cxnSpLocks/>
          </p:cNvCxnSpPr>
          <p:nvPr/>
        </p:nvCxnSpPr>
        <p:spPr bwMode="auto">
          <a:xfrm flipV="1">
            <a:off x="1451987" y="2561179"/>
            <a:ext cx="21446843" cy="4689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51" name="Picture 50" descr="A close-up of a logo&#10;&#10;Description automatically generated">
            <a:extLst>
              <a:ext uri="{FF2B5EF4-FFF2-40B4-BE49-F238E27FC236}">
                <a16:creationId xmlns:a16="http://schemas.microsoft.com/office/drawing/2014/main" id="{D69D0514-E046-29EA-0541-38F95B606471}"/>
              </a:ext>
            </a:extLst>
          </p:cNvPr>
          <p:cNvPicPr>
            <a:picLocks noChangeAspect="1"/>
          </p:cNvPicPr>
          <p:nvPr/>
        </p:nvPicPr>
        <p:blipFill>
          <a:blip r:embed="rId8"/>
          <a:stretch>
            <a:fillRect/>
          </a:stretch>
        </p:blipFill>
        <p:spPr>
          <a:xfrm>
            <a:off x="17778663" y="2738656"/>
            <a:ext cx="3043251" cy="1521627"/>
          </a:xfrm>
          <a:prstGeom prst="rect">
            <a:avLst/>
          </a:prstGeom>
        </p:spPr>
      </p:pic>
      <p:sp>
        <p:nvSpPr>
          <p:cNvPr id="52" name="Interface and user experience design award for exceptional design and creativity in Red Dot’s Brands and Communication Design category…">
            <a:extLst>
              <a:ext uri="{FF2B5EF4-FFF2-40B4-BE49-F238E27FC236}">
                <a16:creationId xmlns:a16="http://schemas.microsoft.com/office/drawing/2014/main" id="{FC9D4251-A3EA-F2B2-634E-3A96697BEB88}"/>
              </a:ext>
            </a:extLst>
          </p:cNvPr>
          <p:cNvSpPr txBox="1"/>
          <p:nvPr/>
        </p:nvSpPr>
        <p:spPr>
          <a:xfrm>
            <a:off x="15479883" y="4260283"/>
            <a:ext cx="7199813" cy="223683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43840" tIns="91440" rIns="243840" bIns="91440" anchor="t">
            <a:spAutoFit/>
          </a:bodyPr>
          <a:lstStyle/>
          <a:p>
            <a:pPr algn="ctr" defTabSz="1651021">
              <a:defRPr sz="2800">
                <a:solidFill>
                  <a:srgbClr val="B9BFC7"/>
                </a:solidFill>
                <a:latin typeface="IBM Plex Sans ExtraLight"/>
                <a:ea typeface="IBM Plex Sans ExtraLight"/>
                <a:cs typeface="IBM Plex Sans ExtraLight"/>
                <a:sym typeface="IBM Plex Sans ExtraLight"/>
              </a:defRPr>
            </a:pPr>
            <a:r>
              <a:rPr lang="en-US" sz="2667" kern="0">
                <a:solidFill>
                  <a:srgbClr val="161616"/>
                </a:solidFill>
                <a:latin typeface="IBM Plex Sans Light" panose="020B0403050203000203" pitchFamily="34" charset="0"/>
                <a:ea typeface="+mn-lt"/>
                <a:cs typeface="+mn-lt"/>
                <a:sym typeface="IBM Plex Sans"/>
              </a:rPr>
              <a:t>IBM for watson</a:t>
            </a:r>
            <a:r>
              <a:rPr lang="en-US" sz="2667" kern="0">
                <a:solidFill>
                  <a:srgbClr val="0D62FF"/>
                </a:solidFill>
                <a:latin typeface="IBM Plex Sans Light" panose="020B0403050203000203" pitchFamily="34" charset="0"/>
                <a:ea typeface="+mn-lt"/>
                <a:cs typeface="+mn-lt"/>
                <a:sym typeface="IBM Plex Sans"/>
              </a:rPr>
              <a:t>x</a:t>
            </a:r>
            <a:r>
              <a:rPr lang="en-US" sz="2667" kern="0">
                <a:solidFill>
                  <a:srgbClr val="161616"/>
                </a:solidFill>
                <a:latin typeface="IBM Plex Sans Light" panose="020B0403050203000203" pitchFamily="34" charset="0"/>
                <a:ea typeface="+mn-lt"/>
                <a:cs typeface="+mn-lt"/>
                <a:sym typeface="IBM Plex Sans"/>
              </a:rPr>
              <a:t>.governance award for software provider that </a:t>
            </a:r>
            <a:r>
              <a:rPr lang="en-US" sz="2667" b="1" kern="0">
                <a:solidFill>
                  <a:srgbClr val="161616"/>
                </a:solidFill>
                <a:latin typeface="IBM Plex Sans Light" panose="020B0403050203000203" pitchFamily="34" charset="0"/>
                <a:ea typeface="+mn-lt"/>
                <a:cs typeface="+mn-lt"/>
                <a:sym typeface="IBM Plex Sans"/>
              </a:rPr>
              <a:t>best exemplifies innovation </a:t>
            </a:r>
            <a:r>
              <a:rPr lang="en-US" sz="2667" kern="0">
                <a:solidFill>
                  <a:srgbClr val="161616"/>
                </a:solidFill>
                <a:latin typeface="IBM Plex Sans Light" panose="020B0403050203000203" pitchFamily="34" charset="0"/>
                <a:ea typeface="+mn-lt"/>
                <a:cs typeface="+mn-lt"/>
                <a:sym typeface="IBM Plex Sans"/>
              </a:rPr>
              <a:t>in any use or application of AI across the business and/or IT.</a:t>
            </a:r>
          </a:p>
          <a:p>
            <a:pPr algn="ctr" defTabSz="1651021">
              <a:defRPr sz="2800">
                <a:solidFill>
                  <a:srgbClr val="B9BFC7"/>
                </a:solidFill>
                <a:latin typeface="IBM Plex Sans ExtraLight"/>
                <a:ea typeface="IBM Plex Sans ExtraLight"/>
                <a:cs typeface="IBM Plex Sans ExtraLight"/>
                <a:sym typeface="IBM Plex Sans ExtraLight"/>
              </a:defRPr>
            </a:pPr>
            <a:endParaRPr lang="en-US" sz="2667" kern="0">
              <a:solidFill>
                <a:srgbClr val="161616"/>
              </a:solidFill>
              <a:latin typeface="IBM Plex Sans Light" panose="020B0403050203000203" pitchFamily="34" charset="0"/>
              <a:ea typeface="+mn-lt"/>
              <a:cs typeface="+mn-lt"/>
              <a:sym typeface="IBM Plex Sans"/>
            </a:endParaRPr>
          </a:p>
        </p:txBody>
      </p:sp>
      <p:sp>
        <p:nvSpPr>
          <p:cNvPr id="53" name="TextBox 52">
            <a:extLst>
              <a:ext uri="{FF2B5EF4-FFF2-40B4-BE49-F238E27FC236}">
                <a16:creationId xmlns:a16="http://schemas.microsoft.com/office/drawing/2014/main" id="{F70E0021-8726-94E2-209A-0EAB261767D9}"/>
              </a:ext>
            </a:extLst>
          </p:cNvPr>
          <p:cNvSpPr txBox="1"/>
          <p:nvPr/>
        </p:nvSpPr>
        <p:spPr>
          <a:xfrm>
            <a:off x="10269033" y="8974356"/>
            <a:ext cx="4192981" cy="4645502"/>
          </a:xfrm>
          <a:prstGeom prst="rect">
            <a:avLst/>
          </a:prstGeom>
          <a:noFill/>
        </p:spPr>
        <p:txBody>
          <a:bodyPr wrap="square" lIns="0" tIns="121920" rIns="0" bIns="121920" rtlCol="0" anchor="t">
            <a:spAutoFit/>
          </a:bodyPr>
          <a:lstStyle>
            <a:defPPr>
              <a:defRPr lang="en-US"/>
            </a:defPPr>
            <a:lvl1pPr marR="0" lvl="0" indent="0" fontAlgn="auto">
              <a:lnSpc>
                <a:spcPct val="120000"/>
              </a:lnSpc>
              <a:spcBef>
                <a:spcPts val="0"/>
              </a:spcBef>
              <a:spcAft>
                <a:spcPts val="0"/>
              </a:spcAft>
              <a:buClrTx/>
              <a:buSzTx/>
              <a:buFontTx/>
              <a:buNone/>
              <a:tabLst/>
              <a:defRPr kumimoji="0" sz="1400" b="0" i="0" u="none" strike="noStrike" cap="none" spc="0" normalizeH="0" baseline="0">
                <a:ln>
                  <a:noFill/>
                </a:ln>
                <a:solidFill>
                  <a:srgbClr val="000000"/>
                </a:solidFill>
                <a:effectLst/>
                <a:uLnTx/>
                <a:uFillTx/>
                <a:latin typeface="Arial" panose="020B0604020202020204" pitchFamily="34" charset="0"/>
              </a:defRPr>
            </a:lvl1pPr>
          </a:lstStyle>
          <a:p>
            <a:pPr defTabSz="1828871">
              <a:defRPr/>
            </a:pPr>
            <a:r>
              <a:rPr lang="en-US" sz="2400" b="1" dirty="0">
                <a:latin typeface="IBM Plex Sans Light"/>
              </a:rPr>
              <a:t>Top “Leader” </a:t>
            </a:r>
            <a:r>
              <a:rPr lang="en-US" sz="2400" dirty="0">
                <a:latin typeface="IBM Plex Sans Light"/>
                <a:sym typeface="Helvetica Neue"/>
              </a:rPr>
              <a:t>for</a:t>
            </a:r>
            <a:r>
              <a:rPr lang="en-US" sz="2400" dirty="0">
                <a:latin typeface="IBM Plex Sans Light"/>
              </a:rPr>
              <a:t> </a:t>
            </a:r>
            <a:r>
              <a:rPr lang="en-US" sz="2400" dirty="0" err="1">
                <a:latin typeface="IBM Plex Sans Light"/>
              </a:rPr>
              <a:t>Chartis</a:t>
            </a:r>
            <a:r>
              <a:rPr lang="en-US" sz="2400" dirty="0">
                <a:latin typeface="IBM Plex Sans Light"/>
              </a:rPr>
              <a:t> </a:t>
            </a:r>
            <a:r>
              <a:rPr lang="en-US" sz="2400" dirty="0" err="1">
                <a:latin typeface="IBM Plex Sans Light"/>
              </a:rPr>
              <a:t>RiskTech</a:t>
            </a:r>
            <a:r>
              <a:rPr lang="en-US" sz="2400" dirty="0">
                <a:latin typeface="IBM Plex Sans Light"/>
              </a:rPr>
              <a:t> Quadrant for </a:t>
            </a:r>
            <a:r>
              <a:rPr lang="en-US" sz="2400" i="1" dirty="0">
                <a:latin typeface="IBM Plex Sans Light"/>
              </a:rPr>
              <a:t>Enterprise GRC Solutions, 2023.</a:t>
            </a:r>
          </a:p>
          <a:p>
            <a:pPr defTabSz="1828871">
              <a:defRPr/>
            </a:pPr>
            <a:r>
              <a:rPr lang="en-US" sz="2400" b="1" dirty="0">
                <a:latin typeface="IBM Plex Sans Light"/>
              </a:rPr>
              <a:t>Category “Leader” </a:t>
            </a:r>
            <a:r>
              <a:rPr lang="en-US" sz="2400" dirty="0">
                <a:latin typeface="IBM Plex Sans Light"/>
                <a:sym typeface="Helvetica Neue"/>
              </a:rPr>
              <a:t>for </a:t>
            </a:r>
            <a:r>
              <a:rPr lang="en-US" sz="2400" i="1" dirty="0" err="1">
                <a:latin typeface="IBM Plex Sans Light"/>
                <a:sym typeface="Helvetica Neue"/>
              </a:rPr>
              <a:t>Chartis</a:t>
            </a:r>
            <a:r>
              <a:rPr lang="en-US" sz="2400" i="1" dirty="0">
                <a:latin typeface="IBM Plex Sans Light"/>
                <a:sym typeface="Helvetica Neue"/>
              </a:rPr>
              <a:t> Model Risk Management, 2023. </a:t>
            </a:r>
            <a:endParaRPr lang="en-US" sz="2400" i="1" dirty="0">
              <a:latin typeface="IBM Plex Sans Light"/>
            </a:endParaRPr>
          </a:p>
          <a:p>
            <a:pPr defTabSz="1828871">
              <a:defRPr/>
            </a:pPr>
            <a:r>
              <a:rPr lang="en-US" sz="2400" i="1" dirty="0" err="1">
                <a:latin typeface="IBM Plex Sans Light"/>
              </a:rPr>
              <a:t>RiskTech</a:t>
            </a:r>
            <a:r>
              <a:rPr lang="en-US" sz="2400" i="1" dirty="0">
                <a:latin typeface="IBM Plex Sans Light"/>
              </a:rPr>
              <a:t> 100: </a:t>
            </a:r>
            <a:r>
              <a:rPr lang="en-US" sz="2400" dirty="0">
                <a:latin typeface="IBM Plex Sans Light"/>
              </a:rPr>
              <a:t>IBM </a:t>
            </a:r>
            <a:r>
              <a:rPr lang="en-US" sz="2400" dirty="0" err="1">
                <a:latin typeface="IBM Plex Sans Light"/>
              </a:rPr>
              <a:t>RegTech</a:t>
            </a:r>
            <a:r>
              <a:rPr lang="en-US" sz="2400" i="1" dirty="0">
                <a:latin typeface="IBM Plex Sans Light"/>
              </a:rPr>
              <a:t> </a:t>
            </a:r>
            <a:r>
              <a:rPr lang="en-US" sz="2400" dirty="0">
                <a:latin typeface="IBM Plex Sans Light"/>
              </a:rPr>
              <a:t>recognized as </a:t>
            </a:r>
            <a:r>
              <a:rPr lang="en-US" sz="2400" b="1" dirty="0">
                <a:latin typeface="IBM Plex Sans Light"/>
              </a:rPr>
              <a:t>top 20 vendor</a:t>
            </a:r>
            <a:endParaRPr lang="en-US" sz="2400" b="1" i="1" dirty="0">
              <a:latin typeface="IBM Plex Sans Light"/>
            </a:endParaRPr>
          </a:p>
          <a:p>
            <a:pPr defTabSz="1828871">
              <a:defRPr/>
            </a:pPr>
            <a:endParaRPr lang="en-US" sz="2400" dirty="0">
              <a:latin typeface="IBM Plex Sans Light"/>
            </a:endParaRPr>
          </a:p>
        </p:txBody>
      </p:sp>
    </p:spTree>
    <p:extLst>
      <p:ext uri="{BB962C8B-B14F-4D97-AF65-F5344CB8AC3E}">
        <p14:creationId xmlns:p14="http://schemas.microsoft.com/office/powerpoint/2010/main" val="198252255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52B0BF-0025-6C15-7489-D18FA4386614}"/>
              </a:ext>
            </a:extLst>
          </p:cNvPr>
          <p:cNvSpPr>
            <a:spLocks noGrp="1"/>
          </p:cNvSpPr>
          <p:nvPr>
            <p:ph type="title"/>
          </p:nvPr>
        </p:nvSpPr>
        <p:spPr>
          <a:xfrm>
            <a:off x="576072" y="384048"/>
            <a:ext cx="14310360" cy="4573587"/>
          </a:xfrm>
        </p:spPr>
        <p:txBody>
          <a:bodyPr/>
          <a:lstStyle/>
          <a:p>
            <a:r>
              <a:rPr lang="en-US" dirty="0">
                <a:solidFill>
                  <a:schemeClr val="tx1"/>
                </a:solidFill>
                <a:latin typeface="+mn-lt"/>
              </a:rPr>
              <a:t>IBM OpenPages delivers value rapidly</a:t>
            </a:r>
            <a:endParaRPr lang="en-US" dirty="0">
              <a:solidFill>
                <a:schemeClr val="tx1"/>
              </a:solidFill>
              <a:highlight>
                <a:srgbClr val="FFFF00"/>
              </a:highlight>
              <a:latin typeface="+mn-lt"/>
            </a:endParaRPr>
          </a:p>
        </p:txBody>
      </p:sp>
      <p:sp>
        <p:nvSpPr>
          <p:cNvPr id="6" name="Text Placeholder 19">
            <a:extLst>
              <a:ext uri="{FF2B5EF4-FFF2-40B4-BE49-F238E27FC236}">
                <a16:creationId xmlns:a16="http://schemas.microsoft.com/office/drawing/2014/main" id="{20651FC6-28B1-70B4-C60D-36C8D2A679BB}"/>
              </a:ext>
            </a:extLst>
          </p:cNvPr>
          <p:cNvSpPr txBox="1">
            <a:spLocks/>
          </p:cNvSpPr>
          <p:nvPr/>
        </p:nvSpPr>
        <p:spPr>
          <a:xfrm>
            <a:off x="544661" y="1832699"/>
            <a:ext cx="10707539" cy="2457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2438430">
              <a:lnSpc>
                <a:spcPct val="100000"/>
              </a:lnSpc>
              <a:defRPr/>
            </a:pPr>
            <a:r>
              <a:rPr lang="en-US" sz="3600" kern="0" dirty="0">
                <a:solidFill>
                  <a:srgbClr val="000000"/>
                </a:solidFill>
                <a:latin typeface="+mn-lt"/>
              </a:rPr>
              <a:t>IBM commissioned </a:t>
            </a:r>
            <a:r>
              <a:rPr lang="en-US" sz="3600" kern="0" dirty="0">
                <a:solidFill>
                  <a:srgbClr val="0F62FE"/>
                </a:solidFill>
                <a:latin typeface="+mn-lt"/>
              </a:rPr>
              <a:t>Forrester Consulting</a:t>
            </a:r>
            <a:r>
              <a:rPr lang="en-US" sz="3600" kern="0" dirty="0">
                <a:solidFill>
                  <a:srgbClr val="000000"/>
                </a:solidFill>
                <a:latin typeface="+mn-lt"/>
              </a:rPr>
              <a:t> to conduct a Total Economic Impact study of </a:t>
            </a:r>
            <a:r>
              <a:rPr lang="en-US" sz="3600" kern="0" dirty="0">
                <a:solidFill>
                  <a:srgbClr val="0F62FE"/>
                </a:solidFill>
                <a:latin typeface="+mn-lt"/>
              </a:rPr>
              <a:t>IBM OpenPages</a:t>
            </a:r>
          </a:p>
        </p:txBody>
      </p:sp>
      <p:cxnSp>
        <p:nvCxnSpPr>
          <p:cNvPr id="8" name="Straight Connector 7">
            <a:extLst>
              <a:ext uri="{FF2B5EF4-FFF2-40B4-BE49-F238E27FC236}">
                <a16:creationId xmlns:a16="http://schemas.microsoft.com/office/drawing/2014/main" id="{36B4533F-081C-3791-54EE-2E4FB4553BDA}"/>
              </a:ext>
            </a:extLst>
          </p:cNvPr>
          <p:cNvCxnSpPr/>
          <p:nvPr/>
        </p:nvCxnSpPr>
        <p:spPr bwMode="auto">
          <a:xfrm>
            <a:off x="569839" y="6096099"/>
            <a:ext cx="232411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119F0C8C-B145-3D17-FA39-06EBA23BD5B2}"/>
              </a:ext>
            </a:extLst>
          </p:cNvPr>
          <p:cNvCxnSpPr>
            <a:cxnSpLocks/>
          </p:cNvCxnSpPr>
          <p:nvPr/>
        </p:nvCxnSpPr>
        <p:spPr bwMode="auto">
          <a:xfrm>
            <a:off x="6096795" y="6096100"/>
            <a:ext cx="0" cy="586968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CB95C11-6FC8-ED32-DAE2-B15F96079593}"/>
              </a:ext>
            </a:extLst>
          </p:cNvPr>
          <p:cNvCxnSpPr>
            <a:cxnSpLocks/>
          </p:cNvCxnSpPr>
          <p:nvPr/>
        </p:nvCxnSpPr>
        <p:spPr bwMode="auto">
          <a:xfrm>
            <a:off x="12188952" y="6099148"/>
            <a:ext cx="0" cy="588986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1FA3C5E-46B2-59EC-E26D-45DEA62FD8EB}"/>
              </a:ext>
            </a:extLst>
          </p:cNvPr>
          <p:cNvCxnSpPr>
            <a:cxnSpLocks/>
          </p:cNvCxnSpPr>
          <p:nvPr/>
        </p:nvCxnSpPr>
        <p:spPr bwMode="auto">
          <a:xfrm>
            <a:off x="18287206" y="6096100"/>
            <a:ext cx="0" cy="586756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2" name="Text Placeholder 19">
            <a:extLst>
              <a:ext uri="{FF2B5EF4-FFF2-40B4-BE49-F238E27FC236}">
                <a16:creationId xmlns:a16="http://schemas.microsoft.com/office/drawing/2014/main" id="{5D38E55D-1BFB-BCFA-DCFB-9242A9076A89}"/>
              </a:ext>
            </a:extLst>
          </p:cNvPr>
          <p:cNvSpPr txBox="1">
            <a:spLocks/>
          </p:cNvSpPr>
          <p:nvPr/>
        </p:nvSpPr>
        <p:spPr>
          <a:xfrm>
            <a:off x="576072" y="6782719"/>
            <a:ext cx="3050997" cy="1789560"/>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8847"/>
            <a:r>
              <a:rPr lang="en-US" kern="1200" dirty="0">
                <a:latin typeface="+mn-lt"/>
                <a:ea typeface="+mn-ea"/>
                <a:cs typeface="+mn-cs"/>
              </a:rPr>
              <a:t>Return on investment</a:t>
            </a:r>
          </a:p>
        </p:txBody>
      </p:sp>
      <p:sp>
        <p:nvSpPr>
          <p:cNvPr id="33" name="Text Placeholder 1">
            <a:extLst>
              <a:ext uri="{FF2B5EF4-FFF2-40B4-BE49-F238E27FC236}">
                <a16:creationId xmlns:a16="http://schemas.microsoft.com/office/drawing/2014/main" id="{CA887982-D3F5-8F52-7F1B-F8DA26B1B316}"/>
              </a:ext>
            </a:extLst>
          </p:cNvPr>
          <p:cNvSpPr txBox="1">
            <a:spLocks/>
          </p:cNvSpPr>
          <p:nvPr/>
        </p:nvSpPr>
        <p:spPr>
          <a:xfrm>
            <a:off x="6634187" y="6782719"/>
            <a:ext cx="3085157" cy="1789560"/>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8847"/>
            <a:r>
              <a:rPr lang="en-US" kern="1200">
                <a:latin typeface="+mn-lt"/>
                <a:ea typeface="+mn-ea"/>
                <a:cs typeface="+mn-cs"/>
              </a:rPr>
              <a:t>Benefits over three years </a:t>
            </a:r>
          </a:p>
          <a:p>
            <a:endParaRPr lang="en-US" kern="0">
              <a:latin typeface="+mn-lt"/>
            </a:endParaRPr>
          </a:p>
        </p:txBody>
      </p:sp>
      <p:sp>
        <p:nvSpPr>
          <p:cNvPr id="34" name="Text Placeholder 3">
            <a:extLst>
              <a:ext uri="{FF2B5EF4-FFF2-40B4-BE49-F238E27FC236}">
                <a16:creationId xmlns:a16="http://schemas.microsoft.com/office/drawing/2014/main" id="{9CC98E02-D57D-4028-572C-8DFF4773A2D1}"/>
              </a:ext>
            </a:extLst>
          </p:cNvPr>
          <p:cNvSpPr txBox="1">
            <a:spLocks/>
          </p:cNvSpPr>
          <p:nvPr/>
        </p:nvSpPr>
        <p:spPr>
          <a:xfrm>
            <a:off x="12723712" y="6782719"/>
            <a:ext cx="4992064" cy="1789560"/>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8847"/>
            <a:r>
              <a:rPr lang="en-US" kern="1200" dirty="0">
                <a:latin typeface="+mn-lt"/>
                <a:ea typeface="+mn-ea"/>
                <a:cs typeface="+mn-cs"/>
              </a:rPr>
              <a:t>Reduction in risk management effort</a:t>
            </a:r>
          </a:p>
        </p:txBody>
      </p:sp>
      <p:sp>
        <p:nvSpPr>
          <p:cNvPr id="35" name="Text Placeholder 4">
            <a:extLst>
              <a:ext uri="{FF2B5EF4-FFF2-40B4-BE49-F238E27FC236}">
                <a16:creationId xmlns:a16="http://schemas.microsoft.com/office/drawing/2014/main" id="{73FA50A9-B3F7-3CAE-AEE8-0EC7F61053E0}"/>
              </a:ext>
            </a:extLst>
          </p:cNvPr>
          <p:cNvSpPr txBox="1">
            <a:spLocks/>
          </p:cNvSpPr>
          <p:nvPr/>
        </p:nvSpPr>
        <p:spPr>
          <a:xfrm>
            <a:off x="18844767" y="6782719"/>
            <a:ext cx="4966189" cy="1789560"/>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8847"/>
            <a:r>
              <a:rPr lang="en-US" kern="1200">
                <a:latin typeface="+mn-lt"/>
                <a:ea typeface="+mn-ea"/>
                <a:cs typeface="+mn-cs"/>
              </a:rPr>
              <a:t>Payback period</a:t>
            </a:r>
          </a:p>
          <a:p>
            <a:endParaRPr lang="en-US" kern="0" dirty="0">
              <a:latin typeface="+mn-lt"/>
            </a:endParaRPr>
          </a:p>
        </p:txBody>
      </p:sp>
      <p:sp>
        <p:nvSpPr>
          <p:cNvPr id="36" name="TextBox 35">
            <a:extLst>
              <a:ext uri="{FF2B5EF4-FFF2-40B4-BE49-F238E27FC236}">
                <a16:creationId xmlns:a16="http://schemas.microsoft.com/office/drawing/2014/main" id="{E5EABE62-5B4B-4252-7EA8-00C87FE1223A}"/>
              </a:ext>
            </a:extLst>
          </p:cNvPr>
          <p:cNvSpPr txBox="1"/>
          <p:nvPr/>
        </p:nvSpPr>
        <p:spPr>
          <a:xfrm>
            <a:off x="18732526" y="10925841"/>
            <a:ext cx="5517557" cy="14157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828847">
              <a:defRPr/>
            </a:pPr>
            <a:r>
              <a:rPr lang="en-US" sz="8600" dirty="0">
                <a:solidFill>
                  <a:srgbClr val="0F62FE"/>
                </a:solidFill>
              </a:rPr>
              <a:t>&lt;6 Months</a:t>
            </a:r>
          </a:p>
        </p:txBody>
      </p:sp>
      <p:sp>
        <p:nvSpPr>
          <p:cNvPr id="37" name="TextBox 36">
            <a:extLst>
              <a:ext uri="{FF2B5EF4-FFF2-40B4-BE49-F238E27FC236}">
                <a16:creationId xmlns:a16="http://schemas.microsoft.com/office/drawing/2014/main" id="{104362FB-C73F-78E6-EC54-CD4F8D028FF4}"/>
              </a:ext>
            </a:extLst>
          </p:cNvPr>
          <p:cNvSpPr txBox="1"/>
          <p:nvPr/>
        </p:nvSpPr>
        <p:spPr>
          <a:xfrm>
            <a:off x="12673977" y="10925841"/>
            <a:ext cx="5517557" cy="14157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828847">
              <a:defRPr/>
            </a:pPr>
            <a:r>
              <a:rPr lang="en-US" sz="8600" dirty="0">
                <a:solidFill>
                  <a:srgbClr val="0F62FE"/>
                </a:solidFill>
              </a:rPr>
              <a:t>$2M</a:t>
            </a:r>
          </a:p>
        </p:txBody>
      </p:sp>
      <p:sp>
        <p:nvSpPr>
          <p:cNvPr id="38" name="TextBox 37">
            <a:extLst>
              <a:ext uri="{FF2B5EF4-FFF2-40B4-BE49-F238E27FC236}">
                <a16:creationId xmlns:a16="http://schemas.microsoft.com/office/drawing/2014/main" id="{483962ED-57A1-4EA9-968C-C16FA7EA9263}"/>
              </a:ext>
            </a:extLst>
          </p:cNvPr>
          <p:cNvSpPr txBox="1"/>
          <p:nvPr/>
        </p:nvSpPr>
        <p:spPr>
          <a:xfrm>
            <a:off x="6554393" y="10925841"/>
            <a:ext cx="5517557" cy="14157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828847">
              <a:defRPr/>
            </a:pPr>
            <a:r>
              <a:rPr lang="en-US" sz="8600" dirty="0">
                <a:solidFill>
                  <a:srgbClr val="0F62FE"/>
                </a:solidFill>
              </a:rPr>
              <a:t>$3M</a:t>
            </a:r>
          </a:p>
        </p:txBody>
      </p:sp>
      <p:sp>
        <p:nvSpPr>
          <p:cNvPr id="39" name="TextBox 38">
            <a:extLst>
              <a:ext uri="{FF2B5EF4-FFF2-40B4-BE49-F238E27FC236}">
                <a16:creationId xmlns:a16="http://schemas.microsoft.com/office/drawing/2014/main" id="{98E248FD-83BD-60DF-BEDF-77C96F7813A8}"/>
              </a:ext>
            </a:extLst>
          </p:cNvPr>
          <p:cNvSpPr txBox="1"/>
          <p:nvPr/>
        </p:nvSpPr>
        <p:spPr>
          <a:xfrm>
            <a:off x="434811" y="10925841"/>
            <a:ext cx="5517557" cy="14157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828847">
              <a:defRPr/>
            </a:pPr>
            <a:r>
              <a:rPr lang="en-US" sz="8600" dirty="0">
                <a:solidFill>
                  <a:srgbClr val="0F62FE"/>
                </a:solidFill>
              </a:rPr>
              <a:t>249%</a:t>
            </a:r>
          </a:p>
        </p:txBody>
      </p:sp>
    </p:spTree>
    <p:extLst>
      <p:ext uri="{BB962C8B-B14F-4D97-AF65-F5344CB8AC3E}">
        <p14:creationId xmlns:p14="http://schemas.microsoft.com/office/powerpoint/2010/main" val="241011216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1046F-5577-15FE-C4DC-80B01E8B569F}"/>
              </a:ext>
            </a:extLst>
          </p:cNvPr>
          <p:cNvSpPr>
            <a:spLocks noGrp="1"/>
          </p:cNvSpPr>
          <p:nvPr>
            <p:ph type="title"/>
          </p:nvPr>
        </p:nvSpPr>
        <p:spPr>
          <a:xfrm>
            <a:off x="576072" y="385200"/>
            <a:ext cx="5385816" cy="1525588"/>
          </a:xfrm>
        </p:spPr>
        <p:txBody>
          <a:bodyPr/>
          <a:lstStyle/>
          <a:p>
            <a:r>
              <a:rPr lang="en-US" dirty="0">
                <a:solidFill>
                  <a:srgbClr val="000000"/>
                </a:solidFill>
                <a:latin typeface="IBM Plex Sans Light"/>
              </a:rPr>
              <a:t>Client use cases for IBM OpenPages</a:t>
            </a:r>
            <a:br>
              <a:rPr lang="en-US" kern="0" dirty="0">
                <a:solidFill>
                  <a:srgbClr val="000000"/>
                </a:solidFill>
                <a:latin typeface="IBM Plex Sans Light"/>
              </a:rPr>
            </a:br>
            <a:endParaRPr lang="en-US" dirty="0"/>
          </a:p>
        </p:txBody>
      </p:sp>
      <p:sp>
        <p:nvSpPr>
          <p:cNvPr id="5" name="Text Placeholder 2">
            <a:extLst>
              <a:ext uri="{FF2B5EF4-FFF2-40B4-BE49-F238E27FC236}">
                <a16:creationId xmlns:a16="http://schemas.microsoft.com/office/drawing/2014/main" id="{012F2937-7CA1-AB7D-94CE-195A356A66C1}"/>
              </a:ext>
            </a:extLst>
          </p:cNvPr>
          <p:cNvSpPr txBox="1">
            <a:spLocks/>
          </p:cNvSpPr>
          <p:nvPr/>
        </p:nvSpPr>
        <p:spPr>
          <a:xfrm>
            <a:off x="12763428" y="3334868"/>
            <a:ext cx="4952355" cy="5494807"/>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latin typeface="+mn-lt"/>
              </a:rPr>
              <a:t>Operational risk management use case</a:t>
            </a:r>
          </a:p>
          <a:p>
            <a:endParaRPr lang="en-US" sz="2800" kern="0" dirty="0">
              <a:latin typeface="+mn-lt"/>
            </a:endParaRPr>
          </a:p>
          <a:p>
            <a:r>
              <a:rPr lang="en-US" sz="2800" kern="0" dirty="0">
                <a:latin typeface="+mn-lt"/>
              </a:rPr>
              <a:t>Aviva has modernized its operational risk management solution with the help of new IBM OpenPages product enhancements, opening </a:t>
            </a:r>
            <a:br>
              <a:rPr lang="en-US" sz="2800" kern="0" dirty="0">
                <a:latin typeface="+mn-lt"/>
              </a:rPr>
            </a:br>
            <a:r>
              <a:rPr lang="en-US" sz="2800" kern="0" dirty="0">
                <a:latin typeface="+mn-lt"/>
              </a:rPr>
              <a:t>up GRC capabilities to optimize the user </a:t>
            </a:r>
            <a:br>
              <a:rPr lang="en-US" sz="2800" kern="0" dirty="0">
                <a:latin typeface="+mn-lt"/>
              </a:rPr>
            </a:br>
            <a:r>
              <a:rPr lang="en-US" sz="2800" kern="0" dirty="0">
                <a:latin typeface="+mn-lt"/>
              </a:rPr>
              <a:t>experience.</a:t>
            </a:r>
          </a:p>
          <a:p>
            <a:endParaRPr lang="en-US" sz="2800" kern="0" dirty="0"/>
          </a:p>
          <a:p>
            <a:endParaRPr lang="en-US" sz="2800" kern="0" dirty="0"/>
          </a:p>
          <a:p>
            <a:endParaRPr lang="en-US" sz="2800" kern="0" dirty="0"/>
          </a:p>
          <a:p>
            <a:endParaRPr lang="en-US" sz="2800" kern="0" dirty="0"/>
          </a:p>
          <a:p>
            <a:endParaRPr lang="en-US" sz="2800" kern="0" dirty="0"/>
          </a:p>
          <a:p>
            <a:endParaRPr lang="en-US" sz="2800" kern="0" dirty="0"/>
          </a:p>
        </p:txBody>
      </p:sp>
      <p:sp>
        <p:nvSpPr>
          <p:cNvPr id="7" name="Text Placeholder 4">
            <a:extLst>
              <a:ext uri="{FF2B5EF4-FFF2-40B4-BE49-F238E27FC236}">
                <a16:creationId xmlns:a16="http://schemas.microsoft.com/office/drawing/2014/main" id="{544D84F8-2465-288D-BA9D-603691BB0110}"/>
              </a:ext>
            </a:extLst>
          </p:cNvPr>
          <p:cNvSpPr txBox="1">
            <a:spLocks/>
          </p:cNvSpPr>
          <p:nvPr/>
        </p:nvSpPr>
        <p:spPr>
          <a:xfrm>
            <a:off x="6616288" y="3334868"/>
            <a:ext cx="4958704" cy="6031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914400" rtl="0" eaLnBrk="1" latinLnBrk="0" hangingPunct="1">
              <a:lnSpc>
                <a:spcPct val="110000"/>
              </a:lnSpc>
              <a:spcBef>
                <a:spcPts val="0"/>
              </a:spcBef>
              <a:spcAft>
                <a:spcPts val="0"/>
              </a:spcAft>
              <a:buClrTx/>
              <a:buSzTx/>
              <a:buFontTx/>
              <a:buNone/>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1pPr>
            <a:lvl2pPr marL="68580" marR="0" indent="-68580" algn="l" defTabSz="914400"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2pPr>
            <a:lvl3pPr marL="137160" marR="0" indent="-68580" algn="l" defTabSz="914400"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3pPr>
            <a:lvl4pPr marL="205740" marR="0" indent="-68580" algn="l" defTabSz="914400"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4pPr>
            <a:lvl5pPr marL="428625" marR="0" indent="-171450" algn="l" defTabSz="914400" rtl="0" eaLnBrk="1" latinLnBrk="0" hangingPunct="1">
              <a:lnSpc>
                <a:spcPct val="110000"/>
              </a:lnSpc>
              <a:spcBef>
                <a:spcPts val="0"/>
              </a:spcBef>
              <a:spcAft>
                <a:spcPts val="0"/>
              </a:spcAft>
              <a:buClrTx/>
              <a:buSzPct val="100000"/>
              <a:buFont typeface="Arial" panose="020B0604020202020204" pitchFamily="34" charset="0"/>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5pPr>
            <a:lvl6pPr marL="691148" marR="0" indent="-145878" algn="l" defTabSz="914400"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7112" marR="0" indent="-145878" algn="l" defTabSz="914400"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3075" marR="0" indent="-145878" algn="l" defTabSz="914400"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9038" marR="0" indent="-145878" algn="l" defTabSz="914400"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r>
              <a:rPr lang="en-US" sz="3600" kern="0" dirty="0">
                <a:solidFill>
                  <a:schemeClr val="accent1"/>
                </a:solidFill>
                <a:latin typeface="+mn-lt"/>
              </a:rPr>
              <a:t>Internal audit </a:t>
            </a:r>
            <a:br>
              <a:rPr lang="en-US" sz="3600" kern="0" dirty="0">
                <a:solidFill>
                  <a:schemeClr val="accent1"/>
                </a:solidFill>
                <a:latin typeface="+mn-lt"/>
              </a:rPr>
            </a:br>
            <a:r>
              <a:rPr lang="en-US" sz="3600" kern="0" dirty="0">
                <a:solidFill>
                  <a:schemeClr val="accent1"/>
                </a:solidFill>
                <a:latin typeface="+mn-lt"/>
              </a:rPr>
              <a:t>use case</a:t>
            </a:r>
          </a:p>
          <a:p>
            <a:endParaRPr lang="en-US" sz="2800" kern="0" dirty="0">
              <a:latin typeface="+mn-lt"/>
            </a:endParaRPr>
          </a:p>
          <a:p>
            <a:r>
              <a:rPr lang="en-US" sz="2800" kern="0" dirty="0">
                <a:latin typeface="+mn-lt"/>
              </a:rPr>
              <a:t>Citi transformed critical internal audit processes </a:t>
            </a:r>
            <a:br>
              <a:rPr lang="en-US" sz="2800" kern="0" dirty="0">
                <a:latin typeface="+mn-lt"/>
              </a:rPr>
            </a:br>
            <a:r>
              <a:rPr lang="en-US" sz="2800" kern="0" dirty="0">
                <a:latin typeface="+mn-lt"/>
              </a:rPr>
              <a:t>by giving auditors access </a:t>
            </a:r>
            <a:br>
              <a:rPr lang="en-US" sz="2800" kern="0" dirty="0">
                <a:latin typeface="+mn-lt"/>
              </a:rPr>
            </a:br>
            <a:r>
              <a:rPr lang="en-US" sz="2800" kern="0" dirty="0">
                <a:latin typeface="+mn-lt"/>
              </a:rPr>
              <a:t>to tooling that analyzes </a:t>
            </a:r>
            <a:br>
              <a:rPr lang="en-US" sz="2800" kern="0" dirty="0">
                <a:latin typeface="+mn-lt"/>
              </a:rPr>
            </a:br>
            <a:r>
              <a:rPr lang="en-US" sz="2800" kern="0" dirty="0">
                <a:latin typeface="+mn-lt"/>
              </a:rPr>
              <a:t>the control definitions </a:t>
            </a:r>
            <a:br>
              <a:rPr lang="en-US" sz="2800" kern="0" dirty="0">
                <a:latin typeface="+mn-lt"/>
              </a:rPr>
            </a:br>
            <a:r>
              <a:rPr lang="en-US" sz="2800" kern="0" dirty="0">
                <a:latin typeface="+mn-lt"/>
              </a:rPr>
              <a:t>and scores them based </a:t>
            </a:r>
            <a:br>
              <a:rPr lang="en-US" sz="2800" kern="0" dirty="0">
                <a:latin typeface="+mn-lt"/>
              </a:rPr>
            </a:br>
            <a:r>
              <a:rPr lang="en-US" sz="2800" kern="0" dirty="0">
                <a:latin typeface="+mn-lt"/>
              </a:rPr>
              <a:t>upon the 5 “W”s. </a:t>
            </a:r>
          </a:p>
          <a:p>
            <a:endParaRPr lang="en-US" sz="2800" kern="0" dirty="0">
              <a:latin typeface="+mn-lt"/>
            </a:endParaRPr>
          </a:p>
          <a:p>
            <a:endParaRPr lang="en-US" sz="2800" kern="0" dirty="0">
              <a:latin typeface="+mn-lt"/>
            </a:endParaRPr>
          </a:p>
          <a:p>
            <a:endParaRPr lang="en-US" sz="2800" kern="0" dirty="0">
              <a:latin typeface="+mn-lt"/>
            </a:endParaRPr>
          </a:p>
          <a:p>
            <a:endParaRPr lang="en-US" sz="2800" kern="0" dirty="0">
              <a:latin typeface="IBM Plex Sans Light" panose="020B0403050203000203" pitchFamily="34" charset="0"/>
            </a:endParaRPr>
          </a:p>
        </p:txBody>
      </p:sp>
      <p:pic>
        <p:nvPicPr>
          <p:cNvPr id="8" name="Picture 7" descr="Citigroup - Wikipedia">
            <a:extLst>
              <a:ext uri="{FF2B5EF4-FFF2-40B4-BE49-F238E27FC236}">
                <a16:creationId xmlns:a16="http://schemas.microsoft.com/office/drawing/2014/main" id="{A974CDBE-DB8C-C546-A5EE-56686B58CCE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272530" y="480735"/>
            <a:ext cx="1646221" cy="10699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viva logo">
            <a:extLst>
              <a:ext uri="{FF2B5EF4-FFF2-40B4-BE49-F238E27FC236}">
                <a16:creationId xmlns:a16="http://schemas.microsoft.com/office/drawing/2014/main" id="{85B6F118-B2C1-0D85-C743-0A3F26198B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2495" y="176510"/>
            <a:ext cx="3054792" cy="1754501"/>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4">
            <a:extLst>
              <a:ext uri="{FF2B5EF4-FFF2-40B4-BE49-F238E27FC236}">
                <a16:creationId xmlns:a16="http://schemas.microsoft.com/office/drawing/2014/main" id="{D24CAD94-829E-D34A-EDF5-BE0100428D62}"/>
              </a:ext>
            </a:extLst>
          </p:cNvPr>
          <p:cNvSpPr txBox="1">
            <a:spLocks/>
          </p:cNvSpPr>
          <p:nvPr/>
        </p:nvSpPr>
        <p:spPr>
          <a:xfrm>
            <a:off x="18858634" y="3334868"/>
            <a:ext cx="5280029" cy="6866407"/>
          </a:xfrm>
          <a:prstGeom prst="rect">
            <a:avLst/>
          </a:prstGeom>
        </p:spPr>
        <p:txBody>
          <a:bodyPr/>
          <a:lst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latin typeface="+mn-lt"/>
              </a:rPr>
              <a:t>Enterprise risk management</a:t>
            </a:r>
          </a:p>
          <a:p>
            <a:endParaRPr lang="en-US" sz="2133" kern="0" dirty="0">
              <a:latin typeface="+mn-lt"/>
            </a:endParaRPr>
          </a:p>
          <a:p>
            <a:r>
              <a:rPr lang="en-US" sz="2800" kern="0" dirty="0">
                <a:latin typeface="+mn-lt"/>
              </a:rPr>
              <a:t>By using OpenPages to </a:t>
            </a:r>
            <a:br>
              <a:rPr lang="en-US" sz="2800" kern="0" dirty="0">
                <a:latin typeface="+mn-lt"/>
              </a:rPr>
            </a:br>
            <a:r>
              <a:rPr lang="en-US" sz="2800" kern="0" dirty="0">
                <a:latin typeface="+mn-lt"/>
              </a:rPr>
              <a:t>support Audit, Risk and </a:t>
            </a:r>
            <a:br>
              <a:rPr lang="en-US" sz="2800" kern="0" dirty="0">
                <a:latin typeface="+mn-lt"/>
              </a:rPr>
            </a:br>
            <a:r>
              <a:rPr lang="en-US" sz="2800" kern="0" dirty="0">
                <a:latin typeface="+mn-lt"/>
              </a:rPr>
              <a:t>Control activities, GM has gained a more granular </a:t>
            </a:r>
            <a:br>
              <a:rPr lang="en-US" sz="2800" kern="0" dirty="0">
                <a:latin typeface="+mn-lt"/>
              </a:rPr>
            </a:br>
            <a:r>
              <a:rPr lang="en-US" sz="2800" kern="0" dirty="0">
                <a:latin typeface="+mn-lt"/>
              </a:rPr>
              <a:t>(and at the same time enterprise-wide) view of potential threats to its business — empowering the company </a:t>
            </a:r>
            <a:br>
              <a:rPr lang="en-US" sz="2800" kern="0" dirty="0">
                <a:latin typeface="+mn-lt"/>
              </a:rPr>
            </a:br>
            <a:r>
              <a:rPr lang="en-US" sz="2800" kern="0" dirty="0">
                <a:latin typeface="+mn-lt"/>
              </a:rPr>
              <a:t>to control and mitigate risk, </a:t>
            </a:r>
            <a:br>
              <a:rPr lang="en-US" sz="2800" kern="0" dirty="0">
                <a:latin typeface="+mn-lt"/>
              </a:rPr>
            </a:br>
            <a:r>
              <a:rPr lang="en-US" sz="2800" kern="0" dirty="0">
                <a:latin typeface="+mn-lt"/>
              </a:rPr>
              <a:t>as well as prevent losses </a:t>
            </a:r>
            <a:br>
              <a:rPr lang="en-US" sz="2800" kern="0" dirty="0">
                <a:latin typeface="+mn-lt"/>
              </a:rPr>
            </a:br>
            <a:r>
              <a:rPr lang="en-US" sz="2800" kern="0" dirty="0">
                <a:latin typeface="+mn-lt"/>
              </a:rPr>
              <a:t>and reputational damage.</a:t>
            </a:r>
          </a:p>
          <a:p>
            <a:endParaRPr lang="en-US" sz="2800" kern="0" dirty="0">
              <a:latin typeface="+mn-lt"/>
              <a:hlinkClick r:id="" action="ppaction://noaction"/>
            </a:endParaRPr>
          </a:p>
          <a:p>
            <a:endParaRPr lang="en-US" sz="2800" kern="0" dirty="0">
              <a:latin typeface="+mn-lt"/>
              <a:hlinkClick r:id="" action="ppaction://noaction"/>
            </a:endParaRPr>
          </a:p>
        </p:txBody>
      </p:sp>
      <p:pic>
        <p:nvPicPr>
          <p:cNvPr id="4" name="Picture 3">
            <a:extLst>
              <a:ext uri="{FF2B5EF4-FFF2-40B4-BE49-F238E27FC236}">
                <a16:creationId xmlns:a16="http://schemas.microsoft.com/office/drawing/2014/main" id="{D85F4397-9257-7B11-572D-85FE239BD3B7}"/>
              </a:ext>
            </a:extLst>
          </p:cNvPr>
          <p:cNvPicPr>
            <a:picLocks noChangeAspect="1"/>
          </p:cNvPicPr>
          <p:nvPr/>
        </p:nvPicPr>
        <p:blipFill>
          <a:blip r:embed="rId5"/>
          <a:stretch>
            <a:fillRect/>
          </a:stretch>
        </p:blipFill>
        <p:spPr>
          <a:xfrm>
            <a:off x="20452126" y="480735"/>
            <a:ext cx="1169984" cy="1176867"/>
          </a:xfrm>
          <a:prstGeom prst="rect">
            <a:avLst/>
          </a:prstGeom>
        </p:spPr>
      </p:pic>
      <p:sp>
        <p:nvSpPr>
          <p:cNvPr id="6" name="TextBox 5">
            <a:extLst>
              <a:ext uri="{FF2B5EF4-FFF2-40B4-BE49-F238E27FC236}">
                <a16:creationId xmlns:a16="http://schemas.microsoft.com/office/drawing/2014/main" id="{C7624198-F13C-AEC2-239E-A25579E60E7A}"/>
              </a:ext>
            </a:extLst>
          </p:cNvPr>
          <p:cNvSpPr txBox="1"/>
          <p:nvPr/>
        </p:nvSpPr>
        <p:spPr>
          <a:xfrm>
            <a:off x="12763428" y="11058525"/>
            <a:ext cx="2771775"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2438430">
              <a:lnSpc>
                <a:spcPct val="110000"/>
              </a:lnSpc>
              <a:buClrTx/>
              <a:defRPr/>
            </a:pPr>
            <a:r>
              <a:rPr lang="en-US" sz="2400" kern="0" dirty="0">
                <a:solidFill>
                  <a:srgbClr val="000000"/>
                </a:solidFill>
                <a:ea typeface="+mn-ea"/>
                <a:cs typeface="+mn-cs"/>
                <a:hlinkClick r:id="rId6"/>
              </a:rPr>
              <a:t>Read the blog</a:t>
            </a:r>
            <a:endParaRPr lang="en-US" sz="2400" kern="0" dirty="0">
              <a:solidFill>
                <a:srgbClr val="000000"/>
              </a:solidFill>
              <a:ea typeface="+mn-ea"/>
              <a:cs typeface="+mn-cs"/>
            </a:endParaRPr>
          </a:p>
        </p:txBody>
      </p:sp>
      <p:sp>
        <p:nvSpPr>
          <p:cNvPr id="10" name="TextBox 9">
            <a:extLst>
              <a:ext uri="{FF2B5EF4-FFF2-40B4-BE49-F238E27FC236}">
                <a16:creationId xmlns:a16="http://schemas.microsoft.com/office/drawing/2014/main" id="{ECE7FA17-04D3-FE88-3D60-CFCFE27FA445}"/>
              </a:ext>
            </a:extLst>
          </p:cNvPr>
          <p:cNvSpPr txBox="1"/>
          <p:nvPr/>
        </p:nvSpPr>
        <p:spPr>
          <a:xfrm>
            <a:off x="6616288" y="11058525"/>
            <a:ext cx="2771775"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2438430">
              <a:defRPr/>
            </a:pPr>
            <a:r>
              <a:rPr lang="en-US" sz="2400" kern="0" dirty="0">
                <a:solidFill>
                  <a:srgbClr val="000000"/>
                </a:solidFill>
                <a:latin typeface="IBM Plex Sans Light" panose="020B0403050203000203" pitchFamily="34" charset="0"/>
                <a:hlinkClick r:id="rId7"/>
              </a:rPr>
              <a:t>Read the blog</a:t>
            </a:r>
            <a:endParaRPr lang="en-US" sz="2400" kern="0" dirty="0">
              <a:solidFill>
                <a:srgbClr val="000000"/>
              </a:solidFill>
              <a:latin typeface="IBM Plex Sans Light" panose="020B0403050203000203" pitchFamily="34" charset="0"/>
            </a:endParaRPr>
          </a:p>
        </p:txBody>
      </p:sp>
      <p:sp>
        <p:nvSpPr>
          <p:cNvPr id="11" name="TextBox 10">
            <a:extLst>
              <a:ext uri="{FF2B5EF4-FFF2-40B4-BE49-F238E27FC236}">
                <a16:creationId xmlns:a16="http://schemas.microsoft.com/office/drawing/2014/main" id="{CC26BBE4-5887-7148-53ED-A131E1D5CCDD}"/>
              </a:ext>
            </a:extLst>
          </p:cNvPr>
          <p:cNvSpPr txBox="1"/>
          <p:nvPr/>
        </p:nvSpPr>
        <p:spPr>
          <a:xfrm>
            <a:off x="18858634" y="11058525"/>
            <a:ext cx="2771775"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r>
              <a:rPr lang="en-US" sz="2400" kern="0" dirty="0">
                <a:latin typeface="+mn-lt"/>
                <a:hlinkClick r:id="rId8"/>
              </a:rPr>
              <a:t>Read client story</a:t>
            </a:r>
            <a:endParaRPr lang="en-US" sz="2400" kern="0" dirty="0"/>
          </a:p>
        </p:txBody>
      </p:sp>
    </p:spTree>
    <p:extLst>
      <p:ext uri="{BB962C8B-B14F-4D97-AF65-F5344CB8AC3E}">
        <p14:creationId xmlns:p14="http://schemas.microsoft.com/office/powerpoint/2010/main" val="110925654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779027"/>
      </p:ext>
    </p:extLst>
  </p:cSld>
  <p:clrMapOvr>
    <a:masterClrMapping/>
  </p:clrMapOvr>
  <p:transition spd="med"/>
</p:sld>
</file>

<file path=ppt/theme/theme1.xml><?xml version="1.0" encoding="utf-8"?>
<a:theme xmlns:a="http://schemas.openxmlformats.org/drawingml/2006/main" name="IBM presentation enablement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327600" marR="0" indent="-3276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kumimoji="0" sz="20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algn="l" defTabSz="2438400">
          <a:buSzPct val="100000"/>
          <a:defRPr sz="2400" dirty="0" smtClean="0">
            <a:cs typeface="Arial" panose="020B0604020202020204" pitchFamily="34"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4_Plex" id="{461DE280-6773-3240-A149-7E3C0A49F9FC}" vid="{119F70B9-3B70-5545-8722-9A4DAAA12CBF}"/>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30893</TotalTime>
  <Words>3505</Words>
  <Application>Microsoft Macintosh PowerPoint</Application>
  <PresentationFormat>Custom</PresentationFormat>
  <Paragraphs>329</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IBM Plex Sans</vt:lpstr>
      <vt:lpstr>Arial</vt:lpstr>
      <vt:lpstr>IBM Plex Sans Light</vt:lpstr>
      <vt:lpstr>IBM presentation enablement template</vt:lpstr>
      <vt:lpstr>IBM OpenPages   Achieve business objectives  in a world of dynamic risk         </vt:lpstr>
      <vt:lpstr>Lack of GRC processes  lead to legal, financial, &amp; reputational damage</vt:lpstr>
      <vt:lpstr>Sanctions Under Indonesia’s Personal Data Protection (PDP) Law </vt:lpstr>
      <vt:lpstr>  More than following rules   Safeguarding your identity, your data, your tomorrow </vt:lpstr>
      <vt:lpstr>Challenges test us.  Actions define us.</vt:lpstr>
      <vt:lpstr>AI for risk  and compliance  has arrived!</vt:lpstr>
      <vt:lpstr>The AI for risk and compliance advantage </vt:lpstr>
      <vt:lpstr>AI integrations help to radically improve user  decision making  and accelerate customer time  to value </vt:lpstr>
      <vt:lpstr>Operationalizing AI with confidence</vt:lpstr>
      <vt:lpstr>PowerPoint Presentation</vt:lpstr>
      <vt:lpstr>Award winning market leader</vt:lpstr>
      <vt:lpstr>IBM OpenPages delivers value rapidly</vt:lpstr>
      <vt:lpstr>Client use cases for IBM OpenPages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Plex embedded template – enablement version</dc:title>
  <dc:subject/>
  <dc:creator>Cailey Giorgi</dc:creator>
  <cp:keywords/>
  <dc:description/>
  <cp:lastModifiedBy>Muhammad Raihan</cp:lastModifiedBy>
  <cp:revision>411</cp:revision>
  <cp:lastPrinted>2023-02-08T15:46:20Z</cp:lastPrinted>
  <dcterms:created xsi:type="dcterms:W3CDTF">2023-01-13T17:40:38Z</dcterms:created>
  <dcterms:modified xsi:type="dcterms:W3CDTF">2025-09-23T12:29:05Z</dcterms:modified>
  <cp:category/>
</cp:coreProperties>
</file>